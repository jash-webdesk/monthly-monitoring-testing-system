
<file path=[Content_Types].xml><?xml version="1.0" encoding="utf-8"?>
<Types xmlns="http://schemas.openxmlformats.org/package/2006/content-types">
  <Default Extension="jpg" ContentType="image/jp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charts/chart1.xml" ContentType="application/vnd.openxmlformats-officedocument.drawingml.chart+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charts/chart2.xml" ContentType="application/vnd.openxmlformats-officedocument.drawingml.chart+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5"/>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611"/>
    <p:restoredTop sz="94610"/>
  </p:normalViewPr>
  <p:slideViewPr>
    <p:cSldViewPr snapToGrid="0" snapToObjects="1">
      <p:cViewPr varScale="1">
        <p:scale>
          <a:sx n="98" d="100"/>
          <a:sy n="98" d="100"/>
        </p:scale>
        <p:origin x="609" y="8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theme" Target="theme/theme1.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viewProps" Target="viewProps.xml"/><Relationship Id="rId2" Type="http://schemas.openxmlformats.org/officeDocument/2006/relationships/slide" Target="slides/slide1.xml"/><Relationship Id="rId16"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notesMaster" Target="notesMasters/notesMaster1.xml"/><Relationship Id="rId10" Type="http://schemas.openxmlformats.org/officeDocument/2006/relationships/slide" Target="slides/slide9.xml"/><Relationship Id="rId19"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title>
      <c:tx>
        <c:rich>
          <a:bodyPr/>
          <a:lstStyle/>
          <a:p>
            <a:pPr>
              <a:defRPr sz="1200" b="0" i="0" u="none" strike="noStrike">
                <a:solidFill>
                  <a:srgbClr val="475569"/>
                </a:solidFill>
                <a:latin typeface="Arial"/>
              </a:defRPr>
            </a:pPr>
            <a:r>
              <a:rPr lang="fr-FR" sz="1200" b="0" i="0" u="none" strike="noStrike">
                <a:solidFill>
                  <a:srgbClr val="475569"/>
                </a:solidFill>
                <a:latin typeface="Arial"/>
              </a:rPr>
              <a:t>Page response time (378 pages)</a:t>
            </a:r>
          </a:p>
        </c:rich>
      </c:tx>
      <c:overlay val="0"/>
    </c:title>
    <c:autoTitleDeleted val="0"/>
    <c:plotArea>
      <c:layout/>
      <c:barChart>
        <c:barDir val="bar"/>
        <c:grouping val="clustered"/>
        <c:varyColors val="0"/>
        <c:ser>
          <c:idx val="0"/>
          <c:order val="0"/>
          <c:tx>
            <c:strRef>
              <c:f>Sheet1!$B$1</c:f>
              <c:strCache>
                <c:ptCount val="1"/>
                <c:pt idx="0">
                  <c:v>Pages</c:v>
                </c:pt>
              </c:strCache>
            </c:strRef>
          </c:tx>
          <c:spPr>
            <a:solidFill>
              <a:srgbClr val="0086C7"/>
            </a:solidFill>
            <a:effectLst/>
          </c:spPr>
          <c:invertIfNegative val="0"/>
          <c:dLbls>
            <c:numFmt formatCode="#,##0" sourceLinked="0"/>
            <c:spPr>
              <a:noFill/>
              <a:ln>
                <a:noFill/>
              </a:ln>
              <a:effectLst/>
            </c:spPr>
            <c:txPr>
              <a:bodyPr/>
              <a:lstStyle/>
              <a:p>
                <a:pPr>
                  <a:defRPr sz="1100" b="0" i="0" u="none" strike="noStrike">
                    <a:solidFill>
                      <a:srgbClr val="0F172A"/>
                    </a:solidFill>
                    <a:latin typeface="Arial"/>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Sheet1!$A$2:$A$4</c:f>
              <c:strCache>
                <c:ptCount val="3"/>
                <c:pt idx="0">
                  <c:v>Under 1 second</c:v>
                </c:pt>
                <c:pt idx="1">
                  <c:v>1 to 2 seconds</c:v>
                </c:pt>
                <c:pt idx="2">
                  <c:v>Over 2 seconds</c:v>
                </c:pt>
              </c:strCache>
            </c:strRef>
          </c:cat>
          <c:val>
            <c:numRef>
              <c:f>Sheet1!$B$2:$B$4</c:f>
              <c:numCache>
                <c:formatCode>General</c:formatCode>
                <c:ptCount val="3"/>
                <c:pt idx="0">
                  <c:v>154</c:v>
                </c:pt>
                <c:pt idx="1">
                  <c:v>220</c:v>
                </c:pt>
                <c:pt idx="2">
                  <c:v>4</c:v>
                </c:pt>
              </c:numCache>
            </c:numRef>
          </c:val>
          <c:extLst>
            <c:ext xmlns:c16="http://schemas.microsoft.com/office/drawing/2014/chart" uri="{C3380CC4-5D6E-409C-BE32-E72D297353CC}">
              <c16:uniqueId val="{00000000-02C5-48FF-BB74-C05BA9647E06}"/>
            </c:ext>
          </c:extLst>
        </c:ser>
        <c:dLbls>
          <c:showLegendKey val="0"/>
          <c:showVal val="1"/>
          <c:showCatName val="0"/>
          <c:showSerName val="0"/>
          <c:showPercent val="0"/>
          <c:showBubbleSize val="0"/>
        </c:dLbls>
        <c:gapWidth val="150"/>
        <c:axId val="2094734554"/>
        <c:axId val="2094734552"/>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100" b="0" i="0" u="none" strike="noStrike">
                <a:solidFill>
                  <a:srgbClr val="0F172A"/>
                </a:solidFill>
                <a:latin typeface="Arial"/>
              </a:defRPr>
            </a:pPr>
            <a:endParaRPr lang="en-US"/>
          </a:p>
        </c:txPr>
        <c:crossAx val="2094734552"/>
        <c:crosses val="autoZero"/>
        <c:auto val="1"/>
        <c:lblAlgn val="ctr"/>
        <c:lblOffset val="100"/>
        <c:noMultiLvlLbl val="1"/>
      </c:catAx>
      <c:valAx>
        <c:axId val="2094734552"/>
        <c:scaling>
          <c:orientation val="minMax"/>
        </c:scaling>
        <c:delete val="1"/>
        <c:axPos val="t"/>
        <c:numFmt formatCode="General" sourceLinked="0"/>
        <c:majorTickMark val="out"/>
        <c:minorTickMark val="none"/>
        <c:tickLblPos val="low"/>
        <c:crossAx val="2094734554"/>
        <c:crosses val="autoZero"/>
        <c:crossBetween val="between"/>
      </c:valAx>
      <c:spPr>
        <a:noFill/>
        <a:ln>
          <a:noFill/>
        </a:ln>
        <a:effectLst/>
      </c:spPr>
    </c:plotArea>
    <c:plotVisOnly val="1"/>
    <c:dispBlanksAs val="span"/>
    <c:showDLblsOverMax val="1"/>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doughnutChart>
        <c:varyColors val="1"/>
        <c:ser>
          <c:idx val="0"/>
          <c:order val="0"/>
          <c:tx>
            <c:strRef>
              <c:f>Sheet1!$B$1</c:f>
              <c:strCache>
                <c:ptCount val="1"/>
                <c:pt idx="0">
                  <c:v>Priority</c:v>
                </c:pt>
              </c:strCache>
            </c:strRef>
          </c:tx>
          <c:spPr>
            <a:solidFill>
              <a:schemeClr val="accent1"/>
            </a:solidFill>
            <a:ln w="9525" cap="flat">
              <a:solidFill>
                <a:srgbClr val="F9F9F9"/>
              </a:solidFill>
              <a:prstDash val="solid"/>
              <a:round/>
            </a:ln>
            <a:effectLst/>
          </c:spPr>
          <c:dPt>
            <c:idx val="0"/>
            <c:bubble3D val="0"/>
            <c:spPr>
              <a:solidFill>
                <a:srgbClr val="DC2626"/>
              </a:solidFill>
              <a:ln w="19050">
                <a:solidFill>
                  <a:srgbClr val="FFFFFF"/>
                </a:solidFill>
              </a:ln>
            </c:spPr>
            <c:extLst>
              <c:ext xmlns:c16="http://schemas.microsoft.com/office/drawing/2014/chart" uri="{C3380CC4-5D6E-409C-BE32-E72D297353CC}">
                <c16:uniqueId val="{00000001-6BE8-4623-9CC3-F97092E6BD83}"/>
              </c:ext>
            </c:extLst>
          </c:dPt>
          <c:dPt>
            <c:idx val="1"/>
            <c:bubble3D val="0"/>
            <c:spPr>
              <a:solidFill>
                <a:srgbClr val="D9962B"/>
              </a:solidFill>
              <a:ln w="19050">
                <a:solidFill>
                  <a:srgbClr val="FFFFFF"/>
                </a:solidFill>
              </a:ln>
            </c:spPr>
            <c:extLst>
              <c:ext xmlns:c16="http://schemas.microsoft.com/office/drawing/2014/chart" uri="{C3380CC4-5D6E-409C-BE32-E72D297353CC}">
                <c16:uniqueId val="{00000003-6BE8-4623-9CC3-F97092E6BD83}"/>
              </c:ext>
            </c:extLst>
          </c:dPt>
          <c:dPt>
            <c:idx val="2"/>
            <c:bubble3D val="0"/>
            <c:spPr>
              <a:solidFill>
                <a:srgbClr val="3A9AD8"/>
              </a:solidFill>
              <a:ln w="19050">
                <a:solidFill>
                  <a:srgbClr val="FFFFFF"/>
                </a:solidFill>
              </a:ln>
            </c:spPr>
            <c:extLst>
              <c:ext xmlns:c16="http://schemas.microsoft.com/office/drawing/2014/chart" uri="{C3380CC4-5D6E-409C-BE32-E72D297353CC}">
                <c16:uniqueId val="{00000005-6BE8-4623-9CC3-F97092E6BD83}"/>
              </c:ext>
            </c:extLst>
          </c:dPt>
          <c:dLbls>
            <c:dLbl>
              <c:idx val="0"/>
              <c:numFmt formatCode="General" sourceLinked="0"/>
              <c:spPr/>
              <c:txPr>
                <a:bodyPr/>
                <a:lstStyle/>
                <a:p>
                  <a:pPr>
                    <a:defRPr sz="1200" b="0" i="0" u="none" strike="noStrike">
                      <a:solidFill>
                        <a:srgbClr val="FFFFFF"/>
                      </a:solidFill>
                      <a:latin typeface="Arial"/>
                    </a:defRPr>
                  </a:pPr>
                  <a:endParaRPr lang="en-US"/>
                </a:p>
              </c:txPr>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1-6BE8-4623-9CC3-F97092E6BD83}"/>
                </c:ext>
              </c:extLst>
            </c:dLbl>
            <c:dLbl>
              <c:idx val="1"/>
              <c:numFmt formatCode="General" sourceLinked="0"/>
              <c:spPr/>
              <c:txPr>
                <a:bodyPr/>
                <a:lstStyle/>
                <a:p>
                  <a:pPr>
                    <a:defRPr sz="1200" b="0" i="0" u="none" strike="noStrike">
                      <a:solidFill>
                        <a:srgbClr val="FFFFFF"/>
                      </a:solidFill>
                      <a:latin typeface="Arial"/>
                    </a:defRPr>
                  </a:pPr>
                  <a:endParaRPr lang="en-US"/>
                </a:p>
              </c:txPr>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3-6BE8-4623-9CC3-F97092E6BD83}"/>
                </c:ext>
              </c:extLst>
            </c:dLbl>
            <c:dLbl>
              <c:idx val="2"/>
              <c:numFmt formatCode="General" sourceLinked="0"/>
              <c:spPr/>
              <c:txPr>
                <a:bodyPr/>
                <a:lstStyle/>
                <a:p>
                  <a:pPr>
                    <a:defRPr sz="1200" b="0" i="0" u="none" strike="noStrike">
                      <a:solidFill>
                        <a:srgbClr val="FFFFFF"/>
                      </a:solidFill>
                      <a:latin typeface="Arial"/>
                    </a:defRPr>
                  </a:pPr>
                  <a:endParaRPr lang="en-US"/>
                </a:p>
              </c:txPr>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5-6BE8-4623-9CC3-F97092E6BD83}"/>
                </c:ext>
              </c:extLst>
            </c:dLbl>
            <c:numFmt formatCode="General" sourceLinked="0"/>
            <c:spPr>
              <a:noFill/>
              <a:ln>
                <a:noFill/>
              </a:ln>
              <a:effectLst/>
            </c:spPr>
            <c:txPr>
              <a:bodyPr/>
              <a:lstStyle/>
              <a:p>
                <a:pPr>
                  <a:defRPr sz="1800" b="0" i="0" u="none" strike="noStrike">
                    <a:solidFill>
                      <a:srgbClr val="000000"/>
                    </a:solidFill>
                    <a:latin typeface="Arial"/>
                  </a:defRPr>
                </a:pPr>
                <a:endParaRPr lang="en-US"/>
              </a:p>
            </c:txPr>
            <c:showLegendKey val="0"/>
            <c:showVal val="0"/>
            <c:showCatName val="1"/>
            <c:showSerName val="0"/>
            <c:showPercent val="1"/>
            <c:showBubbleSize val="0"/>
            <c:showLeaderLines val="0"/>
            <c:extLst>
              <c:ext xmlns:c15="http://schemas.microsoft.com/office/drawing/2012/chart" uri="{CE6537A1-D6FC-4f65-9D91-7224C49458BB}"/>
            </c:extLst>
          </c:dLbls>
          <c:cat>
            <c:strRef>
              <c:f>Sheet1!$A$2:$A$4</c:f>
              <c:strCache>
                <c:ptCount val="3"/>
                <c:pt idx="0">
                  <c:v>High</c:v>
                </c:pt>
                <c:pt idx="1">
                  <c:v>Medium</c:v>
                </c:pt>
                <c:pt idx="2">
                  <c:v>Low</c:v>
                </c:pt>
              </c:strCache>
            </c:strRef>
          </c:cat>
          <c:val>
            <c:numRef>
              <c:f>Sheet1!$B$2:$B$4</c:f>
              <c:numCache>
                <c:formatCode>General</c:formatCode>
                <c:ptCount val="3"/>
                <c:pt idx="0">
                  <c:v>4</c:v>
                </c:pt>
                <c:pt idx="1">
                  <c:v>11</c:v>
                </c:pt>
                <c:pt idx="2">
                  <c:v>8</c:v>
                </c:pt>
              </c:numCache>
            </c:numRef>
          </c:val>
          <c:extLst>
            <c:ext xmlns:c16="http://schemas.microsoft.com/office/drawing/2014/chart" uri="{C3380CC4-5D6E-409C-BE32-E72D297353CC}">
              <c16:uniqueId val="{00000006-6BE8-4623-9CC3-F97092E6BD83}"/>
            </c:ext>
          </c:extLst>
        </c:ser>
        <c:dLbls>
          <c:showLegendKey val="0"/>
          <c:showVal val="0"/>
          <c:showCatName val="0"/>
          <c:showSerName val="0"/>
          <c:showPercent val="0"/>
          <c:showBubbleSize val="0"/>
          <c:showLeaderLines val="0"/>
        </c:dLbls>
        <c:firstSliceAng val="0"/>
        <c:holeSize val="60"/>
      </c:doughnutChart>
      <c:spPr>
        <a:noFill/>
        <a:ln>
          <a:noFill/>
        </a:ln>
        <a:effectLst/>
      </c:spPr>
    </c:plotArea>
    <c:legend>
      <c:legendPos val="b"/>
      <c:overlay val="0"/>
      <c:txPr>
        <a:bodyPr/>
        <a:lstStyle/>
        <a:p>
          <a:pPr>
            <a:defRPr sz="1100">
              <a:solidFill>
                <a:srgbClr val="0F172A"/>
              </a:solidFill>
            </a:defRPr>
          </a:pPr>
          <a:endParaRPr lang="en-US"/>
        </a:p>
      </c:txPr>
    </c:legend>
    <c:plotVisOnly val="1"/>
    <c:dispBlanksAs val="span"/>
    <c:showDLblsOverMax val="1"/>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06297946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8" Type="http://schemas.openxmlformats.org/officeDocument/2006/relationships/image" Target="../media/image7.png"/><Relationship Id="rId3" Type="http://schemas.openxmlformats.org/officeDocument/2006/relationships/image" Target="../media/image2.png"/><Relationship Id="rId7" Type="http://schemas.openxmlformats.org/officeDocument/2006/relationships/image" Target="../media/image6.png"/><Relationship Id="rId2" Type="http://schemas.openxmlformats.org/officeDocument/2006/relationships/notesSlide" Target="../notesSlides/notesSlide3.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 Id="rId9" Type="http://schemas.openxmlformats.org/officeDocument/2006/relationships/image" Target="../media/image8.png"/></Relationships>
</file>

<file path=ppt/slides/_rels/slide4.xml.rels><?xml version="1.0" encoding="UTF-8" standalone="yes"?>
<Relationships xmlns="http://schemas.openxmlformats.org/package/2006/relationships"><Relationship Id="rId3" Type="http://schemas.openxmlformats.org/officeDocument/2006/relationships/image" Target="../media/image2.png"/><Relationship Id="rId7" Type="http://schemas.openxmlformats.org/officeDocument/2006/relationships/image" Target="../media/image12.jpg"/><Relationship Id="rId2" Type="http://schemas.openxmlformats.org/officeDocument/2006/relationships/notesSlide" Target="../notesSlides/notesSlide4.xml"/><Relationship Id="rId1" Type="http://schemas.openxmlformats.org/officeDocument/2006/relationships/slideLayout" Target="../slideLayouts/slideLayout1.xml"/><Relationship Id="rId6" Type="http://schemas.openxmlformats.org/officeDocument/2006/relationships/image" Target="../media/image11.jpg"/><Relationship Id="rId5" Type="http://schemas.openxmlformats.org/officeDocument/2006/relationships/image" Target="../media/image10.jpg"/><Relationship Id="rId4" Type="http://schemas.openxmlformats.org/officeDocument/2006/relationships/image" Target="../media/image9.jpg"/></Relationships>
</file>

<file path=ppt/slides/_rels/slide5.xml.rels><?xml version="1.0" encoding="UTF-8" standalone="yes"?>
<Relationships xmlns="http://schemas.openxmlformats.org/package/2006/relationships"><Relationship Id="rId8" Type="http://schemas.openxmlformats.org/officeDocument/2006/relationships/image" Target="../media/image15.jpg"/><Relationship Id="rId3" Type="http://schemas.openxmlformats.org/officeDocument/2006/relationships/image" Target="../media/image2.png"/><Relationship Id="rId7" Type="http://schemas.openxmlformats.org/officeDocument/2006/relationships/image" Target="../media/image14.png"/><Relationship Id="rId2" Type="http://schemas.openxmlformats.org/officeDocument/2006/relationships/notesSlide" Target="../notesSlides/notesSlide5.xml"/><Relationship Id="rId1" Type="http://schemas.openxmlformats.org/officeDocument/2006/relationships/slideLayout" Target="../slideLayouts/slideLayout1.xml"/><Relationship Id="rId6" Type="http://schemas.openxmlformats.org/officeDocument/2006/relationships/image" Target="../media/image7.png"/><Relationship Id="rId5" Type="http://schemas.openxmlformats.org/officeDocument/2006/relationships/image" Target="../media/image13.png"/><Relationship Id="rId10" Type="http://schemas.openxmlformats.org/officeDocument/2006/relationships/image" Target="../media/image17.jpg"/><Relationship Id="rId4" Type="http://schemas.openxmlformats.org/officeDocument/2006/relationships/image" Target="../media/image5.png"/><Relationship Id="rId9" Type="http://schemas.openxmlformats.org/officeDocument/2006/relationships/image" Target="../media/image16.jpg"/></Relationships>
</file>

<file path=ppt/slides/_rels/slide6.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7.xml"/><Relationship Id="rId1" Type="http://schemas.openxmlformats.org/officeDocument/2006/relationships/slideLayout" Target="../slideLayouts/slideLayout1.xml"/><Relationship Id="rId4" Type="http://schemas.openxmlformats.org/officeDocument/2006/relationships/chart" Target="../charts/chart1.xml"/></Relationships>
</file>

<file path=ppt/slides/_rels/slide8.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8.xml"/><Relationship Id="rId1" Type="http://schemas.openxmlformats.org/officeDocument/2006/relationships/slideLayout" Target="../slideLayouts/slideLayout1.xml"/><Relationship Id="rId5" Type="http://schemas.openxmlformats.org/officeDocument/2006/relationships/image" Target="../media/image19.png"/><Relationship Id="rId4" Type="http://schemas.openxmlformats.org/officeDocument/2006/relationships/image" Target="../media/image18.png"/></Relationships>
</file>

<file path=ppt/slides/_rels/slide9.xml.rels><?xml version="1.0" encoding="UTF-8" standalone="yes"?>
<Relationships xmlns="http://schemas.openxmlformats.org/package/2006/relationships"><Relationship Id="rId8" Type="http://schemas.openxmlformats.org/officeDocument/2006/relationships/image" Target="../media/image23.png"/><Relationship Id="rId3" Type="http://schemas.openxmlformats.org/officeDocument/2006/relationships/image" Target="../media/image2.png"/><Relationship Id="rId7" Type="http://schemas.openxmlformats.org/officeDocument/2006/relationships/image" Target="../media/image22.png"/><Relationship Id="rId2" Type="http://schemas.openxmlformats.org/officeDocument/2006/relationships/notesSlide" Target="../notesSlides/notesSlide9.xml"/><Relationship Id="rId1" Type="http://schemas.openxmlformats.org/officeDocument/2006/relationships/slideLayout" Target="../slideLayouts/slideLayout1.xml"/><Relationship Id="rId6" Type="http://schemas.openxmlformats.org/officeDocument/2006/relationships/image" Target="../media/image21.png"/><Relationship Id="rId5" Type="http://schemas.openxmlformats.org/officeDocument/2006/relationships/image" Target="../media/image20.png"/><Relationship Id="rId4" Type="http://schemas.openxmlformats.org/officeDocument/2006/relationships/image" Target="../media/image3.png"/></Relationships>
</file>

<file path=ppt/slides/_rels/slide10.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0.xml"/><Relationship Id="rId1" Type="http://schemas.openxmlformats.org/officeDocument/2006/relationships/slideLayout" Target="../slideLayouts/slideLayout1.xml"/><Relationship Id="rId4" Type="http://schemas.openxmlformats.org/officeDocument/2006/relationships/chart" Target="../charts/chart2.xml"/></Relationships>
</file>

<file path=ppt/slides/_rels/slide1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8" Type="http://schemas.openxmlformats.org/officeDocument/2006/relationships/image" Target="../media/image28.png"/><Relationship Id="rId3" Type="http://schemas.openxmlformats.org/officeDocument/2006/relationships/image" Target="../media/image1.png"/><Relationship Id="rId7" Type="http://schemas.openxmlformats.org/officeDocument/2006/relationships/image" Target="../media/image27.png"/><Relationship Id="rId2" Type="http://schemas.openxmlformats.org/officeDocument/2006/relationships/notesSlide" Target="../notesSlides/notesSlide12.xml"/><Relationship Id="rId1" Type="http://schemas.openxmlformats.org/officeDocument/2006/relationships/slideLayout" Target="../slideLayouts/slideLayout1.xml"/><Relationship Id="rId6" Type="http://schemas.openxmlformats.org/officeDocument/2006/relationships/image" Target="../media/image26.png"/><Relationship Id="rId11" Type="http://schemas.openxmlformats.org/officeDocument/2006/relationships/image" Target="../media/image31.png"/><Relationship Id="rId5" Type="http://schemas.openxmlformats.org/officeDocument/2006/relationships/image" Target="../media/image25.png"/><Relationship Id="rId10" Type="http://schemas.openxmlformats.org/officeDocument/2006/relationships/image" Target="../media/image30.png"/><Relationship Id="rId4" Type="http://schemas.openxmlformats.org/officeDocument/2006/relationships/image" Target="../media/image24.png"/><Relationship Id="rId9" Type="http://schemas.openxmlformats.org/officeDocument/2006/relationships/image" Target="../media/image29.png"/></Relationships>
</file>

<file path=ppt/slides/_rels/slide13.xml.rels><?xml version="1.0" encoding="UTF-8" standalone="yes"?>
<Relationships xmlns="http://schemas.openxmlformats.org/package/2006/relationships"><Relationship Id="rId3" Type="http://schemas.openxmlformats.org/officeDocument/2006/relationships/image" Target="../media/image1.png"/><Relationship Id="rId7" Type="http://schemas.openxmlformats.org/officeDocument/2006/relationships/image" Target="../media/image34.png"/><Relationship Id="rId2" Type="http://schemas.openxmlformats.org/officeDocument/2006/relationships/notesSlide" Target="../notesSlides/notesSlide13.xml"/><Relationship Id="rId1" Type="http://schemas.openxmlformats.org/officeDocument/2006/relationships/slideLayout" Target="../slideLayouts/slideLayout1.xml"/><Relationship Id="rId6" Type="http://schemas.openxmlformats.org/officeDocument/2006/relationships/image" Target="../media/image3.png"/><Relationship Id="rId5" Type="http://schemas.openxmlformats.org/officeDocument/2006/relationships/image" Target="../media/image33.png"/><Relationship Id="rId4" Type="http://schemas.openxmlformats.org/officeDocument/2006/relationships/image" Target="../media/image32.png"/></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B1929"/>
        </a:solidFill>
        <a:effectLst/>
      </p:bgPr>
    </p:bg>
    <p:spTree>
      <p:nvGrpSpPr>
        <p:cNvPr id="1" name=""/>
        <p:cNvGrpSpPr/>
        <p:nvPr/>
      </p:nvGrpSpPr>
      <p:grpSpPr>
        <a:xfrm>
          <a:off x="0" y="0"/>
          <a:ext cx="0" cy="0"/>
          <a:chOff x="0" y="0"/>
          <a:chExt cx="0" cy="0"/>
        </a:xfrm>
      </p:grpSpPr>
      <p:sp>
        <p:nvSpPr>
          <p:cNvPr id="2" name="Shape 0"/>
          <p:cNvSpPr/>
          <p:nvPr/>
        </p:nvSpPr>
        <p:spPr>
          <a:xfrm>
            <a:off x="8503920" y="-1280160"/>
            <a:ext cx="5943600" cy="5943600"/>
          </a:xfrm>
          <a:prstGeom prst="ellipse">
            <a:avLst/>
          </a:prstGeom>
          <a:solidFill>
            <a:srgbClr val="0086C7">
              <a:alpha val="45000"/>
            </a:srgbClr>
          </a:solidFill>
          <a:ln w="12700">
            <a:solidFill>
              <a:srgbClr val="0086C7">
                <a:alpha val="45000"/>
              </a:srgbClr>
            </a:solidFill>
            <a:prstDash val="solid"/>
          </a:ln>
        </p:spPr>
      </p:sp>
      <p:sp>
        <p:nvSpPr>
          <p:cNvPr id="3" name="Shape 1"/>
          <p:cNvSpPr/>
          <p:nvPr/>
        </p:nvSpPr>
        <p:spPr>
          <a:xfrm>
            <a:off x="9692640" y="3566160"/>
            <a:ext cx="3840480" cy="3840480"/>
          </a:xfrm>
          <a:prstGeom prst="ellipse">
            <a:avLst/>
          </a:prstGeom>
          <a:solidFill>
            <a:srgbClr val="0086C7">
              <a:alpha val="40000"/>
            </a:srgbClr>
          </a:solidFill>
          <a:ln w="12700">
            <a:solidFill>
              <a:srgbClr val="0086C7">
                <a:alpha val="40000"/>
              </a:srgbClr>
            </a:solidFill>
            <a:prstDash val="solid"/>
          </a:ln>
        </p:spPr>
      </p:sp>
      <p:pic>
        <p:nvPicPr>
          <p:cNvPr id="4" name="Image 0" descr="C:/Projects/OGH/build/brand/logo_white.png"/>
          <p:cNvPicPr>
            <a:picLocks noChangeAspect="1"/>
          </p:cNvPicPr>
          <p:nvPr/>
        </p:nvPicPr>
        <p:blipFill>
          <a:blip r:embed="rId3"/>
          <a:stretch>
            <a:fillRect/>
          </a:stretch>
        </p:blipFill>
        <p:spPr>
          <a:xfrm>
            <a:off x="731520" y="548640"/>
            <a:ext cx="2560320" cy="576072"/>
          </a:xfrm>
          <a:prstGeom prst="rect">
            <a:avLst/>
          </a:prstGeom>
        </p:spPr>
      </p:pic>
      <p:sp>
        <p:nvSpPr>
          <p:cNvPr id="5" name="Text 2"/>
          <p:cNvSpPr txBox="1"/>
          <p:nvPr/>
        </p:nvSpPr>
        <p:spPr>
          <a:xfrm>
            <a:off x="731520" y="1554480"/>
            <a:ext cx="8229600" cy="365760"/>
          </a:xfrm>
          <a:prstGeom prst="rect">
            <a:avLst/>
          </a:prstGeom>
          <a:noFill/>
          <a:ln/>
        </p:spPr>
        <p:txBody>
          <a:bodyPr wrap="square" lIns="0" tIns="0" rIns="0" bIns="0" rtlCol="0" anchor="ctr"/>
          <a:lstStyle/>
          <a:p>
            <a:pPr marL="0" indent="0">
              <a:buNone/>
            </a:pPr>
            <a:r>
              <a:rPr lang="en-US" sz="1400" b="1" kern="0" spc="400" dirty="0">
                <a:solidFill>
                  <a:srgbClr val="7CC4EC"/>
                </a:solidFill>
                <a:latin typeface="Calibri" pitchFamily="34" charset="0"/>
                <a:ea typeface="Calibri" pitchFamily="34" charset="-122"/>
                <a:cs typeface="Calibri" pitchFamily="34" charset="-120"/>
              </a:rPr>
              <a:t>MONTHLY WEBSITE HEALTH &amp; MAINTENANCE</a:t>
            </a:r>
            <a:endParaRPr lang="en-US" sz="1400" dirty="0"/>
          </a:p>
        </p:txBody>
      </p:sp>
      <p:sp>
        <p:nvSpPr>
          <p:cNvPr id="6" name="Text 3"/>
          <p:cNvSpPr txBox="1"/>
          <p:nvPr/>
        </p:nvSpPr>
        <p:spPr>
          <a:xfrm>
            <a:off x="731520" y="2011680"/>
            <a:ext cx="8412480" cy="1737360"/>
          </a:xfrm>
          <a:prstGeom prst="rect">
            <a:avLst/>
          </a:prstGeom>
          <a:noFill/>
          <a:ln/>
        </p:spPr>
        <p:txBody>
          <a:bodyPr wrap="square" lIns="0" tIns="0" rIns="0" bIns="0" rtlCol="0" anchor="t"/>
          <a:lstStyle/>
          <a:p>
            <a:pPr marL="0" indent="0">
              <a:buNone/>
            </a:pPr>
            <a:r>
              <a:rPr lang="en-US" sz="4600" b="1" dirty="0">
                <a:solidFill>
                  <a:srgbClr val="FFFFFF"/>
                </a:solidFill>
                <a:latin typeface="Calibri" pitchFamily="34" charset="0"/>
                <a:ea typeface="Calibri" pitchFamily="34" charset="-122"/>
                <a:cs typeface="Calibri" pitchFamily="34" charset="-120"/>
              </a:rPr>
              <a:t>Website Health &amp; Monthly Maintenance Report</a:t>
            </a:r>
            <a:endParaRPr lang="en-US" sz="4600" dirty="0"/>
          </a:p>
        </p:txBody>
      </p:sp>
      <p:sp>
        <p:nvSpPr>
          <p:cNvPr id="7" name="Text 4"/>
          <p:cNvSpPr txBox="1"/>
          <p:nvPr/>
        </p:nvSpPr>
        <p:spPr>
          <a:xfrm>
            <a:off x="731520" y="4023360"/>
            <a:ext cx="8229600" cy="411480"/>
          </a:xfrm>
          <a:prstGeom prst="rect">
            <a:avLst/>
          </a:prstGeom>
          <a:noFill/>
          <a:ln/>
        </p:spPr>
        <p:txBody>
          <a:bodyPr wrap="square" lIns="0" tIns="0" rIns="0" bIns="0" rtlCol="0" anchor="ctr"/>
          <a:lstStyle/>
          <a:p>
            <a:pPr marL="0" indent="0">
              <a:buNone/>
            </a:pPr>
            <a:r>
              <a:rPr lang="en-US" sz="2000" dirty="0">
                <a:solidFill>
                  <a:srgbClr val="FFFFFF"/>
                </a:solidFill>
                <a:latin typeface="Calibri" pitchFamily="34" charset="0"/>
                <a:ea typeface="Calibri" pitchFamily="34" charset="-122"/>
                <a:cs typeface="Calibri" pitchFamily="34" charset="-120"/>
              </a:rPr>
              <a:t>Our Green House  |  www.ourgreenhouse.com</a:t>
            </a:r>
            <a:endParaRPr lang="en-US" sz="2000" dirty="0"/>
          </a:p>
        </p:txBody>
      </p:sp>
      <p:sp>
        <p:nvSpPr>
          <p:cNvPr id="8" name="Text 5"/>
          <p:cNvSpPr txBox="1"/>
          <p:nvPr/>
        </p:nvSpPr>
        <p:spPr>
          <a:xfrm>
            <a:off x="731520" y="4480560"/>
            <a:ext cx="8229600" cy="365760"/>
          </a:xfrm>
          <a:prstGeom prst="rect">
            <a:avLst/>
          </a:prstGeom>
          <a:noFill/>
          <a:ln/>
        </p:spPr>
        <p:txBody>
          <a:bodyPr wrap="square" lIns="0" tIns="0" rIns="0" bIns="0" rtlCol="0" anchor="ctr"/>
          <a:lstStyle/>
          <a:p>
            <a:pPr marL="0" indent="0">
              <a:buNone/>
            </a:pPr>
            <a:r>
              <a:rPr lang="en-US" sz="1600" dirty="0">
                <a:solidFill>
                  <a:srgbClr val="CBD5E1"/>
                </a:solidFill>
                <a:latin typeface="Calibri" pitchFamily="34" charset="0"/>
                <a:ea typeface="Calibri" pitchFamily="34" charset="-122"/>
                <a:cs typeface="Calibri" pitchFamily="34" charset="-120"/>
              </a:rPr>
              <a:t>Reporting month: October 2026</a:t>
            </a:r>
            <a:endParaRPr lang="en-US" sz="1600" dirty="0"/>
          </a:p>
        </p:txBody>
      </p:sp>
      <p:sp>
        <p:nvSpPr>
          <p:cNvPr id="9" name="Text 6"/>
          <p:cNvSpPr txBox="1"/>
          <p:nvPr/>
        </p:nvSpPr>
        <p:spPr>
          <a:xfrm>
            <a:off x="731520" y="5760720"/>
            <a:ext cx="8229600" cy="365760"/>
          </a:xfrm>
          <a:prstGeom prst="rect">
            <a:avLst/>
          </a:prstGeom>
          <a:noFill/>
          <a:ln/>
        </p:spPr>
        <p:txBody>
          <a:bodyPr wrap="square" lIns="0" tIns="0" rIns="0" bIns="0" rtlCol="0" anchor="ctr"/>
          <a:lstStyle/>
          <a:p>
            <a:pPr marL="0" indent="0">
              <a:buNone/>
            </a:pPr>
            <a:r>
              <a:rPr lang="en-US" sz="1400" dirty="0">
                <a:solidFill>
                  <a:srgbClr val="CBD5E1"/>
                </a:solidFill>
                <a:latin typeface="Calibri" pitchFamily="34" charset="0"/>
                <a:ea typeface="Calibri" pitchFamily="34" charset="-122"/>
                <a:cs typeface="Calibri" pitchFamily="34" charset="-120"/>
              </a:rPr>
              <a:t>Prepared by WebDesk Solution  |  webdesksolution.com</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365760"/>
            <a:ext cx="8229600" cy="274320"/>
          </a:xfrm>
          <a:prstGeom prst="rect">
            <a:avLst/>
          </a:prstGeom>
          <a:noFill/>
          <a:ln/>
        </p:spPr>
        <p:txBody>
          <a:bodyPr wrap="square" lIns="0" tIns="0" rIns="0" bIns="0" rtlCol="0" anchor="ctr"/>
          <a:lstStyle/>
          <a:p>
            <a:pPr marL="0" indent="0">
              <a:buNone/>
            </a:pPr>
            <a:r>
              <a:rPr lang="en-US" sz="1200" b="1" kern="0" spc="300" dirty="0">
                <a:solidFill>
                  <a:srgbClr val="0086C7"/>
                </a:solidFill>
                <a:latin typeface="Calibri" pitchFamily="34" charset="0"/>
                <a:ea typeface="Calibri" pitchFamily="34" charset="-122"/>
                <a:cs typeface="Calibri" pitchFamily="34" charset="-120"/>
              </a:rPr>
              <a:t>MONTHLY OVERVIEW</a:t>
            </a:r>
            <a:endParaRPr lang="en-US" sz="1200" dirty="0"/>
          </a:p>
        </p:txBody>
      </p:sp>
      <p:pic>
        <p:nvPicPr>
          <p:cNvPr id="3" name="Image 0" descr="C:/Projects/OGH/build/brand/logo_color_big.png"/>
          <p:cNvPicPr>
            <a:picLocks noChangeAspect="1"/>
          </p:cNvPicPr>
          <p:nvPr/>
        </p:nvPicPr>
        <p:blipFill>
          <a:blip r:embed="rId3"/>
          <a:stretch>
            <a:fillRect/>
          </a:stretch>
        </p:blipFill>
        <p:spPr>
          <a:xfrm>
            <a:off x="10058400" y="347472"/>
            <a:ext cx="1554480" cy="347472"/>
          </a:xfrm>
          <a:prstGeom prst="rect">
            <a:avLst/>
          </a:prstGeom>
        </p:spPr>
      </p:pic>
      <p:sp>
        <p:nvSpPr>
          <p:cNvPr id="4" name="Text 1"/>
          <p:cNvSpPr txBox="1"/>
          <p:nvPr/>
        </p:nvSpPr>
        <p:spPr>
          <a:xfrm>
            <a:off x="548640" y="658368"/>
            <a:ext cx="9326880" cy="731520"/>
          </a:xfrm>
          <a:prstGeom prst="rect">
            <a:avLst/>
          </a:prstGeom>
          <a:noFill/>
          <a:ln/>
        </p:spPr>
        <p:txBody>
          <a:bodyPr wrap="square" lIns="0" tIns="0" rIns="0" bIns="0" rtlCol="0" anchor="t"/>
          <a:lstStyle/>
          <a:p>
            <a:pPr marL="0" indent="0">
              <a:buNone/>
            </a:pPr>
            <a:r>
              <a:rPr lang="en-US" sz="3200" b="1" dirty="0">
                <a:solidFill>
                  <a:srgbClr val="0B1929"/>
                </a:solidFill>
                <a:latin typeface="Calibri" pitchFamily="34" charset="0"/>
                <a:ea typeface="Calibri" pitchFamily="34" charset="-122"/>
                <a:cs typeface="Calibri" pitchFamily="34" charset="-120"/>
              </a:rPr>
              <a:t>This month at a glance</a:t>
            </a:r>
            <a:endParaRPr lang="en-US" sz="3200" dirty="0"/>
          </a:p>
        </p:txBody>
      </p:sp>
      <p:sp>
        <p:nvSpPr>
          <p:cNvPr id="5" name="Text 2"/>
          <p:cNvSpPr txBox="1"/>
          <p:nvPr/>
        </p:nvSpPr>
        <p:spPr>
          <a:xfrm>
            <a:off x="548640" y="6446520"/>
            <a:ext cx="7315200" cy="228600"/>
          </a:xfrm>
          <a:prstGeom prst="rect">
            <a:avLst/>
          </a:prstGeom>
          <a:noFill/>
          <a:ln/>
        </p:spPr>
        <p:txBody>
          <a:bodyPr wrap="square" lIns="0" tIns="0" rIns="0" bIns="0" rtlCol="0" anchor="ctr"/>
          <a:lstStyle/>
          <a:p>
            <a:pPr marL="0" indent="0">
              <a:buNone/>
            </a:pPr>
            <a:r>
              <a:rPr lang="en-US" sz="1000" dirty="0">
                <a:solidFill>
                  <a:srgbClr val="475569"/>
                </a:solidFill>
                <a:latin typeface="Calibri" pitchFamily="34" charset="0"/>
                <a:ea typeface="Calibri" pitchFamily="34" charset="-122"/>
                <a:cs typeface="Calibri" pitchFamily="34" charset="-120"/>
              </a:rPr>
              <a:t>Prepared by WebDesk Solution  |  Our Green House  |  October 2026</a:t>
            </a:r>
            <a:endParaRPr lang="en-US" sz="1000" dirty="0"/>
          </a:p>
        </p:txBody>
      </p:sp>
      <p:sp>
        <p:nvSpPr>
          <p:cNvPr id="6" name="Text 3"/>
          <p:cNvSpPr txBox="1"/>
          <p:nvPr/>
        </p:nvSpPr>
        <p:spPr>
          <a:xfrm>
            <a:off x="11064240" y="6446520"/>
            <a:ext cx="548640" cy="228600"/>
          </a:xfrm>
          <a:prstGeom prst="rect">
            <a:avLst/>
          </a:prstGeom>
          <a:noFill/>
          <a:ln/>
        </p:spPr>
        <p:txBody>
          <a:bodyPr wrap="square" lIns="0" tIns="0" rIns="0" bIns="0" rtlCol="0" anchor="ctr"/>
          <a:lstStyle/>
          <a:p>
            <a:pPr marL="0" indent="0" algn="r">
              <a:buNone/>
            </a:pPr>
            <a:r>
              <a:rPr lang="en-US" sz="1000" dirty="0">
                <a:solidFill>
                  <a:srgbClr val="475569"/>
                </a:solidFill>
                <a:latin typeface="Calibri" pitchFamily="34" charset="0"/>
                <a:ea typeface="Calibri" pitchFamily="34" charset="-122"/>
                <a:cs typeface="Calibri" pitchFamily="34" charset="-120"/>
              </a:rPr>
              <a:t>2</a:t>
            </a:r>
            <a:endParaRPr lang="en-US" sz="1000" dirty="0"/>
          </a:p>
        </p:txBody>
      </p:sp>
      <p:sp>
        <p:nvSpPr>
          <p:cNvPr id="7" name="Shape 4"/>
          <p:cNvSpPr/>
          <p:nvPr/>
        </p:nvSpPr>
        <p:spPr>
          <a:xfrm>
            <a:off x="548640" y="1600200"/>
            <a:ext cx="3520440" cy="1645920"/>
          </a:xfrm>
          <a:prstGeom prst="roundRect">
            <a:avLst>
              <a:gd name="adj" fmla="val 6667"/>
            </a:avLst>
          </a:prstGeom>
          <a:solidFill>
            <a:srgbClr val="F1F5F9"/>
          </a:solidFill>
          <a:ln w="12700">
            <a:solidFill>
              <a:srgbClr val="F1F5F9"/>
            </a:solidFill>
            <a:prstDash val="solid"/>
          </a:ln>
        </p:spPr>
      </p:sp>
      <p:sp>
        <p:nvSpPr>
          <p:cNvPr id="8" name="Text 5"/>
          <p:cNvSpPr txBox="1"/>
          <p:nvPr/>
        </p:nvSpPr>
        <p:spPr>
          <a:xfrm>
            <a:off x="822960" y="1783080"/>
            <a:ext cx="3017520" cy="822960"/>
          </a:xfrm>
          <a:prstGeom prst="rect">
            <a:avLst/>
          </a:prstGeom>
          <a:noFill/>
          <a:ln/>
        </p:spPr>
        <p:txBody>
          <a:bodyPr wrap="square" lIns="0" tIns="0" rIns="0" bIns="0" rtlCol="0" anchor="ctr"/>
          <a:lstStyle/>
          <a:p>
            <a:pPr marL="0" indent="0">
              <a:buNone/>
            </a:pPr>
            <a:r>
              <a:rPr lang="en-US" sz="4800" b="1" dirty="0">
                <a:solidFill>
                  <a:srgbClr val="0B1929"/>
                </a:solidFill>
                <a:latin typeface="Calibri" pitchFamily="34" charset="0"/>
                <a:ea typeface="Calibri" pitchFamily="34" charset="-122"/>
                <a:cs typeface="Calibri" pitchFamily="34" charset="-120"/>
              </a:rPr>
              <a:t>378</a:t>
            </a:r>
            <a:endParaRPr lang="en-US" sz="4800" dirty="0"/>
          </a:p>
        </p:txBody>
      </p:sp>
      <p:sp>
        <p:nvSpPr>
          <p:cNvPr id="9" name="Text 6"/>
          <p:cNvSpPr txBox="1"/>
          <p:nvPr/>
        </p:nvSpPr>
        <p:spPr>
          <a:xfrm>
            <a:off x="822960" y="2606040"/>
            <a:ext cx="3017520" cy="548640"/>
          </a:xfrm>
          <a:prstGeom prst="rect">
            <a:avLst/>
          </a:prstGeom>
          <a:noFill/>
          <a:ln/>
        </p:spPr>
        <p:txBody>
          <a:bodyPr wrap="square" lIns="0" tIns="0" rIns="0" bIns="0" rtlCol="0" anchor="t"/>
          <a:lstStyle/>
          <a:p>
            <a:pPr marL="0" indent="0">
              <a:buNone/>
            </a:pPr>
            <a:r>
              <a:rPr lang="en-US" sz="1400" dirty="0">
                <a:solidFill>
                  <a:srgbClr val="475569"/>
                </a:solidFill>
                <a:latin typeface="Calibri" pitchFamily="34" charset="0"/>
                <a:ea typeface="Calibri" pitchFamily="34" charset="-122"/>
                <a:cs typeface="Calibri" pitchFamily="34" charset="-120"/>
              </a:rPr>
              <a:t>Navigation pages checked for availability</a:t>
            </a:r>
            <a:endParaRPr lang="en-US" sz="1400" dirty="0"/>
          </a:p>
        </p:txBody>
      </p:sp>
      <p:sp>
        <p:nvSpPr>
          <p:cNvPr id="10" name="Shape 7"/>
          <p:cNvSpPr/>
          <p:nvPr/>
        </p:nvSpPr>
        <p:spPr>
          <a:xfrm>
            <a:off x="4297680" y="1600200"/>
            <a:ext cx="3520440" cy="1645920"/>
          </a:xfrm>
          <a:prstGeom prst="roundRect">
            <a:avLst>
              <a:gd name="adj" fmla="val 6667"/>
            </a:avLst>
          </a:prstGeom>
          <a:solidFill>
            <a:srgbClr val="F1F5F9"/>
          </a:solidFill>
          <a:ln w="12700">
            <a:solidFill>
              <a:srgbClr val="F1F5F9"/>
            </a:solidFill>
            <a:prstDash val="solid"/>
          </a:ln>
        </p:spPr>
      </p:sp>
      <p:sp>
        <p:nvSpPr>
          <p:cNvPr id="11" name="Text 8"/>
          <p:cNvSpPr txBox="1"/>
          <p:nvPr/>
        </p:nvSpPr>
        <p:spPr>
          <a:xfrm>
            <a:off x="4572000" y="1783080"/>
            <a:ext cx="3017520" cy="822960"/>
          </a:xfrm>
          <a:prstGeom prst="rect">
            <a:avLst/>
          </a:prstGeom>
          <a:noFill/>
          <a:ln/>
        </p:spPr>
        <p:txBody>
          <a:bodyPr wrap="square" lIns="0" tIns="0" rIns="0" bIns="0" rtlCol="0" anchor="ctr"/>
          <a:lstStyle/>
          <a:p>
            <a:pPr marL="0" indent="0">
              <a:buNone/>
            </a:pPr>
            <a:r>
              <a:rPr lang="en-US" sz="4800" b="1" dirty="0">
                <a:solidFill>
                  <a:srgbClr val="0B1929"/>
                </a:solidFill>
                <a:latin typeface="Calibri" pitchFamily="34" charset="0"/>
                <a:ea typeface="Calibri" pitchFamily="34" charset="-122"/>
                <a:cs typeface="Calibri" pitchFamily="34" charset="-120"/>
              </a:rPr>
              <a:t>8</a:t>
            </a:r>
            <a:endParaRPr lang="en-US" sz="4800" dirty="0"/>
          </a:p>
        </p:txBody>
      </p:sp>
      <p:sp>
        <p:nvSpPr>
          <p:cNvPr id="12" name="Text 9"/>
          <p:cNvSpPr txBox="1"/>
          <p:nvPr/>
        </p:nvSpPr>
        <p:spPr>
          <a:xfrm>
            <a:off x="4572000" y="2606040"/>
            <a:ext cx="3017520" cy="548640"/>
          </a:xfrm>
          <a:prstGeom prst="rect">
            <a:avLst/>
          </a:prstGeom>
          <a:noFill/>
          <a:ln/>
        </p:spPr>
        <p:txBody>
          <a:bodyPr wrap="square" lIns="0" tIns="0" rIns="0" bIns="0" rtlCol="0" anchor="t"/>
          <a:lstStyle/>
          <a:p>
            <a:pPr marL="0" indent="0">
              <a:buNone/>
            </a:pPr>
            <a:r>
              <a:rPr lang="en-US" sz="1400" dirty="0">
                <a:solidFill>
                  <a:srgbClr val="475569"/>
                </a:solidFill>
                <a:latin typeface="Calibri" pitchFamily="34" charset="0"/>
                <a:ea typeface="Calibri" pitchFamily="34" charset="-122"/>
                <a:cs typeface="Calibri" pitchFamily="34" charset="-120"/>
              </a:rPr>
              <a:t>Customer journeys reviewed</a:t>
            </a:r>
            <a:endParaRPr lang="en-US" sz="1400" dirty="0"/>
          </a:p>
        </p:txBody>
      </p:sp>
      <p:sp>
        <p:nvSpPr>
          <p:cNvPr id="13" name="Shape 10"/>
          <p:cNvSpPr/>
          <p:nvPr/>
        </p:nvSpPr>
        <p:spPr>
          <a:xfrm>
            <a:off x="8046720" y="1600200"/>
            <a:ext cx="3520440" cy="1645920"/>
          </a:xfrm>
          <a:prstGeom prst="roundRect">
            <a:avLst>
              <a:gd name="adj" fmla="val 6667"/>
            </a:avLst>
          </a:prstGeom>
          <a:solidFill>
            <a:srgbClr val="F1F5F9"/>
          </a:solidFill>
          <a:ln w="12700">
            <a:solidFill>
              <a:srgbClr val="F1F5F9"/>
            </a:solidFill>
            <a:prstDash val="solid"/>
          </a:ln>
        </p:spPr>
      </p:sp>
      <p:sp>
        <p:nvSpPr>
          <p:cNvPr id="14" name="Text 11"/>
          <p:cNvSpPr txBox="1"/>
          <p:nvPr/>
        </p:nvSpPr>
        <p:spPr>
          <a:xfrm>
            <a:off x="8321040" y="1783080"/>
            <a:ext cx="3017520" cy="822960"/>
          </a:xfrm>
          <a:prstGeom prst="rect">
            <a:avLst/>
          </a:prstGeom>
          <a:noFill/>
          <a:ln/>
        </p:spPr>
        <p:txBody>
          <a:bodyPr wrap="square" lIns="0" tIns="0" rIns="0" bIns="0" rtlCol="0" anchor="ctr"/>
          <a:lstStyle/>
          <a:p>
            <a:pPr marL="0" indent="0">
              <a:buNone/>
            </a:pPr>
            <a:r>
              <a:rPr lang="en-US" sz="4800" b="1" dirty="0">
                <a:solidFill>
                  <a:srgbClr val="0B1929"/>
                </a:solidFill>
                <a:latin typeface="Calibri" pitchFamily="34" charset="0"/>
                <a:ea typeface="Calibri" pitchFamily="34" charset="-122"/>
                <a:cs typeface="Calibri" pitchFamily="34" charset="-120"/>
              </a:rPr>
              <a:t>3</a:t>
            </a:r>
            <a:endParaRPr lang="en-US" sz="4800" dirty="0"/>
          </a:p>
        </p:txBody>
      </p:sp>
      <p:sp>
        <p:nvSpPr>
          <p:cNvPr id="15" name="Text 12"/>
          <p:cNvSpPr txBox="1"/>
          <p:nvPr/>
        </p:nvSpPr>
        <p:spPr>
          <a:xfrm>
            <a:off x="8321040" y="2606040"/>
            <a:ext cx="3017520" cy="548640"/>
          </a:xfrm>
          <a:prstGeom prst="rect">
            <a:avLst/>
          </a:prstGeom>
          <a:noFill/>
          <a:ln/>
        </p:spPr>
        <p:txBody>
          <a:bodyPr wrap="square" lIns="0" tIns="0" rIns="0" bIns="0" rtlCol="0" anchor="t"/>
          <a:lstStyle/>
          <a:p>
            <a:pPr marL="0" indent="0">
              <a:buNone/>
            </a:pPr>
            <a:r>
              <a:rPr lang="en-US" sz="1400" dirty="0">
                <a:solidFill>
                  <a:srgbClr val="475569"/>
                </a:solidFill>
                <a:latin typeface="Calibri" pitchFamily="34" charset="0"/>
                <a:ea typeface="Calibri" pitchFamily="34" charset="-122"/>
                <a:cs typeface="Calibri" pitchFamily="34" charset="-120"/>
              </a:rPr>
              <a:t>Screen sizes reviewed (desktop, tablet, mobile)</a:t>
            </a:r>
            <a:endParaRPr lang="en-US" sz="1400" dirty="0"/>
          </a:p>
        </p:txBody>
      </p:sp>
      <p:sp>
        <p:nvSpPr>
          <p:cNvPr id="16" name="Shape 13"/>
          <p:cNvSpPr/>
          <p:nvPr/>
        </p:nvSpPr>
        <p:spPr>
          <a:xfrm>
            <a:off x="548640" y="3429000"/>
            <a:ext cx="3520440" cy="1645920"/>
          </a:xfrm>
          <a:prstGeom prst="roundRect">
            <a:avLst>
              <a:gd name="adj" fmla="val 6667"/>
            </a:avLst>
          </a:prstGeom>
          <a:solidFill>
            <a:srgbClr val="F1F5F9"/>
          </a:solidFill>
          <a:ln w="12700">
            <a:solidFill>
              <a:srgbClr val="F1F5F9"/>
            </a:solidFill>
            <a:prstDash val="solid"/>
          </a:ln>
        </p:spPr>
      </p:sp>
      <p:sp>
        <p:nvSpPr>
          <p:cNvPr id="17" name="Text 14"/>
          <p:cNvSpPr txBox="1"/>
          <p:nvPr/>
        </p:nvSpPr>
        <p:spPr>
          <a:xfrm>
            <a:off x="822960" y="3611880"/>
            <a:ext cx="3017520" cy="822960"/>
          </a:xfrm>
          <a:prstGeom prst="rect">
            <a:avLst/>
          </a:prstGeom>
          <a:noFill/>
          <a:ln/>
        </p:spPr>
        <p:txBody>
          <a:bodyPr wrap="square" lIns="0" tIns="0" rIns="0" bIns="0" rtlCol="0" anchor="ctr"/>
          <a:lstStyle/>
          <a:p>
            <a:pPr marL="0" indent="0">
              <a:buNone/>
            </a:pPr>
            <a:r>
              <a:rPr lang="en-US" sz="4800" b="1" dirty="0">
                <a:solidFill>
                  <a:srgbClr val="0B1929"/>
                </a:solidFill>
                <a:latin typeface="Calibri" pitchFamily="34" charset="0"/>
                <a:ea typeface="Calibri" pitchFamily="34" charset="-122"/>
                <a:cs typeface="Calibri" pitchFamily="34" charset="-120"/>
              </a:rPr>
              <a:t>19</a:t>
            </a:r>
            <a:endParaRPr lang="en-US" sz="4800" dirty="0"/>
          </a:p>
        </p:txBody>
      </p:sp>
      <p:sp>
        <p:nvSpPr>
          <p:cNvPr id="18" name="Text 15"/>
          <p:cNvSpPr txBox="1"/>
          <p:nvPr/>
        </p:nvSpPr>
        <p:spPr>
          <a:xfrm>
            <a:off x="822960" y="4434840"/>
            <a:ext cx="3017520" cy="548640"/>
          </a:xfrm>
          <a:prstGeom prst="rect">
            <a:avLst/>
          </a:prstGeom>
          <a:noFill/>
          <a:ln/>
        </p:spPr>
        <p:txBody>
          <a:bodyPr wrap="square" lIns="0" tIns="0" rIns="0" bIns="0" rtlCol="0" anchor="t"/>
          <a:lstStyle/>
          <a:p>
            <a:pPr marL="0" indent="0">
              <a:buNone/>
            </a:pPr>
            <a:r>
              <a:rPr lang="en-US" sz="1400" dirty="0">
                <a:solidFill>
                  <a:srgbClr val="475569"/>
                </a:solidFill>
                <a:latin typeface="Calibri" pitchFamily="34" charset="0"/>
                <a:ea typeface="Calibri" pitchFamily="34" charset="-122"/>
                <a:cs typeface="Calibri" pitchFamily="34" charset="-120"/>
              </a:rPr>
              <a:t>Pages sampled for SEO and content structure</a:t>
            </a:r>
            <a:endParaRPr lang="en-US" sz="1400" dirty="0"/>
          </a:p>
        </p:txBody>
      </p:sp>
      <p:sp>
        <p:nvSpPr>
          <p:cNvPr id="19" name="Shape 16"/>
          <p:cNvSpPr/>
          <p:nvPr/>
        </p:nvSpPr>
        <p:spPr>
          <a:xfrm>
            <a:off x="4297680" y="3429000"/>
            <a:ext cx="3520440" cy="1645920"/>
          </a:xfrm>
          <a:prstGeom prst="roundRect">
            <a:avLst>
              <a:gd name="adj" fmla="val 6667"/>
            </a:avLst>
          </a:prstGeom>
          <a:solidFill>
            <a:srgbClr val="F1F5F9"/>
          </a:solidFill>
          <a:ln w="12700">
            <a:solidFill>
              <a:srgbClr val="F1F5F9"/>
            </a:solidFill>
            <a:prstDash val="solid"/>
          </a:ln>
        </p:spPr>
      </p:sp>
      <p:sp>
        <p:nvSpPr>
          <p:cNvPr id="20" name="Text 17"/>
          <p:cNvSpPr txBox="1"/>
          <p:nvPr/>
        </p:nvSpPr>
        <p:spPr>
          <a:xfrm>
            <a:off x="4572000" y="3611880"/>
            <a:ext cx="3017520" cy="822960"/>
          </a:xfrm>
          <a:prstGeom prst="rect">
            <a:avLst/>
          </a:prstGeom>
          <a:noFill/>
          <a:ln/>
        </p:spPr>
        <p:txBody>
          <a:bodyPr wrap="square" lIns="0" tIns="0" rIns="0" bIns="0" rtlCol="0" anchor="ctr"/>
          <a:lstStyle/>
          <a:p>
            <a:pPr marL="0" indent="0">
              <a:buNone/>
            </a:pPr>
            <a:r>
              <a:rPr lang="en-US" sz="4800" b="1" dirty="0">
                <a:solidFill>
                  <a:srgbClr val="0B1929"/>
                </a:solidFill>
                <a:latin typeface="Calibri" pitchFamily="34" charset="0"/>
                <a:ea typeface="Calibri" pitchFamily="34" charset="-122"/>
                <a:cs typeface="Calibri" pitchFamily="34" charset="-120"/>
              </a:rPr>
              <a:t>23</a:t>
            </a:r>
            <a:endParaRPr lang="en-US" sz="4800" dirty="0"/>
          </a:p>
        </p:txBody>
      </p:sp>
      <p:sp>
        <p:nvSpPr>
          <p:cNvPr id="21" name="Text 18"/>
          <p:cNvSpPr txBox="1"/>
          <p:nvPr/>
        </p:nvSpPr>
        <p:spPr>
          <a:xfrm>
            <a:off x="4572000" y="4434840"/>
            <a:ext cx="3017520" cy="548640"/>
          </a:xfrm>
          <a:prstGeom prst="rect">
            <a:avLst/>
          </a:prstGeom>
          <a:noFill/>
          <a:ln/>
        </p:spPr>
        <p:txBody>
          <a:bodyPr wrap="square" lIns="0" tIns="0" rIns="0" bIns="0" rtlCol="0" anchor="t"/>
          <a:lstStyle/>
          <a:p>
            <a:pPr marL="0" indent="0">
              <a:buNone/>
            </a:pPr>
            <a:r>
              <a:rPr lang="en-US" sz="1400" dirty="0">
                <a:solidFill>
                  <a:srgbClr val="475569"/>
                </a:solidFill>
                <a:latin typeface="Calibri" pitchFamily="34" charset="0"/>
                <a:ea typeface="Calibri" pitchFamily="34" charset="-122"/>
                <a:cs typeface="Calibri" pitchFamily="34" charset="-120"/>
              </a:rPr>
              <a:t>Observations documented for follow-up</a:t>
            </a:r>
            <a:endParaRPr lang="en-US" sz="1400" dirty="0"/>
          </a:p>
        </p:txBody>
      </p:sp>
      <p:sp>
        <p:nvSpPr>
          <p:cNvPr id="22" name="Shape 19"/>
          <p:cNvSpPr/>
          <p:nvPr/>
        </p:nvSpPr>
        <p:spPr>
          <a:xfrm>
            <a:off x="8046720" y="3429000"/>
            <a:ext cx="3520440" cy="1645920"/>
          </a:xfrm>
          <a:prstGeom prst="roundRect">
            <a:avLst>
              <a:gd name="adj" fmla="val 6667"/>
            </a:avLst>
          </a:prstGeom>
          <a:solidFill>
            <a:srgbClr val="F1F5F9"/>
          </a:solidFill>
          <a:ln w="12700">
            <a:solidFill>
              <a:srgbClr val="F1F5F9"/>
            </a:solidFill>
            <a:prstDash val="solid"/>
          </a:ln>
        </p:spPr>
      </p:sp>
      <p:sp>
        <p:nvSpPr>
          <p:cNvPr id="23" name="Text 20"/>
          <p:cNvSpPr txBox="1"/>
          <p:nvPr/>
        </p:nvSpPr>
        <p:spPr>
          <a:xfrm>
            <a:off x="8321040" y="3611880"/>
            <a:ext cx="3017520" cy="822960"/>
          </a:xfrm>
          <a:prstGeom prst="rect">
            <a:avLst/>
          </a:prstGeom>
          <a:noFill/>
          <a:ln/>
        </p:spPr>
        <p:txBody>
          <a:bodyPr wrap="square" lIns="0" tIns="0" rIns="0" bIns="0" rtlCol="0" anchor="ctr"/>
          <a:lstStyle/>
          <a:p>
            <a:pPr marL="0" indent="0">
              <a:buNone/>
            </a:pPr>
            <a:r>
              <a:rPr lang="en-US" sz="4800" b="1" dirty="0">
                <a:solidFill>
                  <a:srgbClr val="DC2626"/>
                </a:solidFill>
                <a:latin typeface="Calibri" pitchFamily="34" charset="0"/>
                <a:ea typeface="Calibri" pitchFamily="34" charset="-122"/>
                <a:cs typeface="Calibri" pitchFamily="34" charset="-120"/>
              </a:rPr>
              <a:t>4</a:t>
            </a:r>
            <a:endParaRPr lang="en-US" sz="4800" dirty="0"/>
          </a:p>
        </p:txBody>
      </p:sp>
      <p:sp>
        <p:nvSpPr>
          <p:cNvPr id="24" name="Text 21"/>
          <p:cNvSpPr txBox="1"/>
          <p:nvPr/>
        </p:nvSpPr>
        <p:spPr>
          <a:xfrm>
            <a:off x="8321040" y="4434840"/>
            <a:ext cx="3017520" cy="548640"/>
          </a:xfrm>
          <a:prstGeom prst="rect">
            <a:avLst/>
          </a:prstGeom>
          <a:noFill/>
          <a:ln/>
        </p:spPr>
        <p:txBody>
          <a:bodyPr wrap="square" lIns="0" tIns="0" rIns="0" bIns="0" rtlCol="0" anchor="t"/>
          <a:lstStyle/>
          <a:p>
            <a:pPr marL="0" indent="0">
              <a:buNone/>
            </a:pPr>
            <a:r>
              <a:rPr lang="en-US" sz="1400" dirty="0">
                <a:solidFill>
                  <a:srgbClr val="475569"/>
                </a:solidFill>
                <a:latin typeface="Calibri" pitchFamily="34" charset="0"/>
                <a:ea typeface="Calibri" pitchFamily="34" charset="-122"/>
                <a:cs typeface="Calibri" pitchFamily="34" charset="-120"/>
              </a:rPr>
              <a:t>Critical or high-priority issues found</a:t>
            </a:r>
            <a:endParaRPr lang="en-US" sz="1400" dirty="0"/>
          </a:p>
        </p:txBody>
      </p:sp>
      <p:sp>
        <p:nvSpPr>
          <p:cNvPr id="25" name="Text 22"/>
          <p:cNvSpPr txBox="1"/>
          <p:nvPr/>
        </p:nvSpPr>
        <p:spPr>
          <a:xfrm>
            <a:off x="548640" y="5349240"/>
            <a:ext cx="11064240" cy="822960"/>
          </a:xfrm>
          <a:prstGeom prst="rect">
            <a:avLst/>
          </a:prstGeom>
          <a:noFill/>
          <a:ln/>
        </p:spPr>
        <p:txBody>
          <a:bodyPr wrap="square" lIns="0" tIns="0" rIns="0" bIns="0" rtlCol="0" anchor="t"/>
          <a:lstStyle/>
          <a:p>
            <a:pPr marL="0" indent="0">
              <a:buNone/>
            </a:pPr>
            <a:r>
              <a:rPr lang="en-US" sz="1500" dirty="0">
                <a:solidFill>
                  <a:srgbClr val="0F172A"/>
                </a:solidFill>
                <a:latin typeface="Calibri" pitchFamily="34" charset="0"/>
                <a:ea typeface="Calibri" pitchFamily="34" charset="-122"/>
                <a:cs typeface="Calibri" pitchFamily="34" charset="-120"/>
              </a:rPr>
              <a:t>Reviewed this month: functionality, user experience, responsive layout, technical health, SEO, performance, integrations and safe security checks. The same areas were reviewed in September, when 32 observations were documented.</a:t>
            </a:r>
            <a:endParaRPr lang="en-US" sz="15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365760"/>
            <a:ext cx="8229600" cy="274320"/>
          </a:xfrm>
          <a:prstGeom prst="rect">
            <a:avLst/>
          </a:prstGeom>
          <a:noFill/>
          <a:ln/>
        </p:spPr>
        <p:txBody>
          <a:bodyPr wrap="square" lIns="0" tIns="0" rIns="0" bIns="0" rtlCol="0" anchor="ctr"/>
          <a:lstStyle/>
          <a:p>
            <a:pPr marL="0" indent="0">
              <a:buNone/>
            </a:pPr>
            <a:r>
              <a:rPr lang="en-US" sz="1200" b="1" kern="0" spc="300" dirty="0">
                <a:solidFill>
                  <a:srgbClr val="0086C7"/>
                </a:solidFill>
                <a:latin typeface="Calibri" pitchFamily="34" charset="0"/>
                <a:ea typeface="Calibri" pitchFamily="34" charset="-122"/>
                <a:cs typeface="Calibri" pitchFamily="34" charset="-120"/>
              </a:rPr>
              <a:t>WEBSITE HEALTH</a:t>
            </a:r>
            <a:endParaRPr lang="en-US" sz="1200" dirty="0"/>
          </a:p>
        </p:txBody>
      </p:sp>
      <p:pic>
        <p:nvPicPr>
          <p:cNvPr id="3" name="Image 0" descr="C:/Projects/OGH/build/brand/logo_color_big.png"/>
          <p:cNvPicPr>
            <a:picLocks noChangeAspect="1"/>
          </p:cNvPicPr>
          <p:nvPr/>
        </p:nvPicPr>
        <p:blipFill>
          <a:blip r:embed="rId3"/>
          <a:stretch>
            <a:fillRect/>
          </a:stretch>
        </p:blipFill>
        <p:spPr>
          <a:xfrm>
            <a:off x="10058400" y="347472"/>
            <a:ext cx="1554480" cy="347472"/>
          </a:xfrm>
          <a:prstGeom prst="rect">
            <a:avLst/>
          </a:prstGeom>
        </p:spPr>
      </p:pic>
      <p:sp>
        <p:nvSpPr>
          <p:cNvPr id="4" name="Text 1"/>
          <p:cNvSpPr txBox="1"/>
          <p:nvPr/>
        </p:nvSpPr>
        <p:spPr>
          <a:xfrm>
            <a:off x="548640" y="658368"/>
            <a:ext cx="9326880" cy="731520"/>
          </a:xfrm>
          <a:prstGeom prst="rect">
            <a:avLst/>
          </a:prstGeom>
          <a:noFill/>
          <a:ln/>
        </p:spPr>
        <p:txBody>
          <a:bodyPr wrap="square" lIns="0" tIns="0" rIns="0" bIns="0" rtlCol="0" anchor="t"/>
          <a:lstStyle/>
          <a:p>
            <a:pPr marL="0" indent="0">
              <a:buNone/>
            </a:pPr>
            <a:r>
              <a:rPr lang="en-US" sz="3200" b="1" dirty="0">
                <a:solidFill>
                  <a:srgbClr val="0B1929"/>
                </a:solidFill>
                <a:latin typeface="Calibri" pitchFamily="34" charset="0"/>
                <a:ea typeface="Calibri" pitchFamily="34" charset="-122"/>
                <a:cs typeface="Calibri" pitchFamily="34" charset="-120"/>
              </a:rPr>
              <a:t>Website health &amp; stability</a:t>
            </a:r>
            <a:endParaRPr lang="en-US" sz="3200" dirty="0"/>
          </a:p>
        </p:txBody>
      </p:sp>
      <p:sp>
        <p:nvSpPr>
          <p:cNvPr id="5" name="Text 2"/>
          <p:cNvSpPr txBox="1"/>
          <p:nvPr/>
        </p:nvSpPr>
        <p:spPr>
          <a:xfrm>
            <a:off x="548640" y="6446520"/>
            <a:ext cx="7315200" cy="228600"/>
          </a:xfrm>
          <a:prstGeom prst="rect">
            <a:avLst/>
          </a:prstGeom>
          <a:noFill/>
          <a:ln/>
        </p:spPr>
        <p:txBody>
          <a:bodyPr wrap="square" lIns="0" tIns="0" rIns="0" bIns="0" rtlCol="0" anchor="ctr"/>
          <a:lstStyle/>
          <a:p>
            <a:pPr marL="0" indent="0">
              <a:buNone/>
            </a:pPr>
            <a:r>
              <a:rPr lang="en-US" sz="1000" dirty="0">
                <a:solidFill>
                  <a:srgbClr val="475569"/>
                </a:solidFill>
                <a:latin typeface="Calibri" pitchFamily="34" charset="0"/>
                <a:ea typeface="Calibri" pitchFamily="34" charset="-122"/>
                <a:cs typeface="Calibri" pitchFamily="34" charset="-120"/>
              </a:rPr>
              <a:t>Prepared by WebDesk Solution  |  Our Green House  |  October 2026</a:t>
            </a:r>
            <a:endParaRPr lang="en-US" sz="1000" dirty="0"/>
          </a:p>
        </p:txBody>
      </p:sp>
      <p:sp>
        <p:nvSpPr>
          <p:cNvPr id="6" name="Text 3"/>
          <p:cNvSpPr txBox="1"/>
          <p:nvPr/>
        </p:nvSpPr>
        <p:spPr>
          <a:xfrm>
            <a:off x="11064240" y="6446520"/>
            <a:ext cx="548640" cy="228600"/>
          </a:xfrm>
          <a:prstGeom prst="rect">
            <a:avLst/>
          </a:prstGeom>
          <a:noFill/>
          <a:ln/>
        </p:spPr>
        <p:txBody>
          <a:bodyPr wrap="square" lIns="0" tIns="0" rIns="0" bIns="0" rtlCol="0" anchor="ctr"/>
          <a:lstStyle/>
          <a:p>
            <a:pPr marL="0" indent="0" algn="r">
              <a:buNone/>
            </a:pPr>
            <a:r>
              <a:rPr lang="en-US" sz="1000" dirty="0">
                <a:solidFill>
                  <a:srgbClr val="475569"/>
                </a:solidFill>
                <a:latin typeface="Calibri" pitchFamily="34" charset="0"/>
                <a:ea typeface="Calibri" pitchFamily="34" charset="-122"/>
                <a:cs typeface="Calibri" pitchFamily="34" charset="-120"/>
              </a:rPr>
              <a:t>3</a:t>
            </a:r>
            <a:endParaRPr lang="en-US" sz="1000" dirty="0"/>
          </a:p>
        </p:txBody>
      </p:sp>
      <p:sp>
        <p:nvSpPr>
          <p:cNvPr id="7" name="Shape 4"/>
          <p:cNvSpPr/>
          <p:nvPr/>
        </p:nvSpPr>
        <p:spPr>
          <a:xfrm>
            <a:off x="548640" y="1600200"/>
            <a:ext cx="5440680" cy="1371600"/>
          </a:xfrm>
          <a:prstGeom prst="roundRect">
            <a:avLst>
              <a:gd name="adj" fmla="val 8000"/>
            </a:avLst>
          </a:prstGeom>
          <a:solidFill>
            <a:srgbClr val="F1F5F9"/>
          </a:solidFill>
          <a:ln w="12700">
            <a:solidFill>
              <a:srgbClr val="F1F5F9"/>
            </a:solidFill>
            <a:prstDash val="solid"/>
          </a:ln>
        </p:spPr>
      </p:sp>
      <p:sp>
        <p:nvSpPr>
          <p:cNvPr id="8" name="Shape 5"/>
          <p:cNvSpPr/>
          <p:nvPr/>
        </p:nvSpPr>
        <p:spPr>
          <a:xfrm>
            <a:off x="777240" y="1920240"/>
            <a:ext cx="731520" cy="731520"/>
          </a:xfrm>
          <a:prstGeom prst="ellipse">
            <a:avLst/>
          </a:prstGeom>
          <a:solidFill>
            <a:srgbClr val="0B1929"/>
          </a:solidFill>
          <a:ln w="12700">
            <a:solidFill>
              <a:srgbClr val="0B1929"/>
            </a:solidFill>
            <a:prstDash val="solid"/>
          </a:ln>
        </p:spPr>
      </p:sp>
      <p:pic>
        <p:nvPicPr>
          <p:cNvPr id="9" name="Image 1" descr="preencoded.png"/>
          <p:cNvPicPr>
            <a:picLocks noChangeAspect="1"/>
          </p:cNvPicPr>
          <p:nvPr/>
        </p:nvPicPr>
        <p:blipFill>
          <a:blip r:embed="rId4"/>
          <a:stretch>
            <a:fillRect/>
          </a:stretch>
        </p:blipFill>
        <p:spPr>
          <a:xfrm>
            <a:off x="960120" y="2103120"/>
            <a:ext cx="365760" cy="365760"/>
          </a:xfrm>
          <a:prstGeom prst="rect">
            <a:avLst/>
          </a:prstGeom>
        </p:spPr>
      </p:pic>
      <p:sp>
        <p:nvSpPr>
          <p:cNvPr id="10" name="Text 6"/>
          <p:cNvSpPr txBox="1"/>
          <p:nvPr/>
        </p:nvSpPr>
        <p:spPr>
          <a:xfrm>
            <a:off x="1737360" y="1783080"/>
            <a:ext cx="4023360" cy="365760"/>
          </a:xfrm>
          <a:prstGeom prst="rect">
            <a:avLst/>
          </a:prstGeom>
          <a:noFill/>
          <a:ln/>
        </p:spPr>
        <p:txBody>
          <a:bodyPr wrap="square" lIns="0" tIns="0" rIns="0" bIns="0" rtlCol="0" anchor="ctr"/>
          <a:lstStyle/>
          <a:p>
            <a:pPr marL="0" indent="0">
              <a:buNone/>
            </a:pPr>
            <a:r>
              <a:rPr lang="en-US" sz="1800" b="1" dirty="0">
                <a:solidFill>
                  <a:srgbClr val="0B1929"/>
                </a:solidFill>
                <a:latin typeface="Calibri" pitchFamily="34" charset="0"/>
                <a:ea typeface="Calibri" pitchFamily="34" charset="-122"/>
                <a:cs typeface="Calibri" pitchFamily="34" charset="-120"/>
              </a:rPr>
              <a:t>Availability</a:t>
            </a:r>
            <a:endParaRPr lang="en-US" sz="1800" dirty="0"/>
          </a:p>
        </p:txBody>
      </p:sp>
      <p:sp>
        <p:nvSpPr>
          <p:cNvPr id="11" name="Text 7"/>
          <p:cNvSpPr txBox="1"/>
          <p:nvPr/>
        </p:nvSpPr>
        <p:spPr>
          <a:xfrm>
            <a:off x="1737360" y="2167128"/>
            <a:ext cx="4069080" cy="731520"/>
          </a:xfrm>
          <a:prstGeom prst="rect">
            <a:avLst/>
          </a:prstGeom>
          <a:noFill/>
          <a:ln/>
        </p:spPr>
        <p:txBody>
          <a:bodyPr wrap="square" lIns="0" tIns="0" rIns="0" bIns="0" rtlCol="0" anchor="t"/>
          <a:lstStyle/>
          <a:p>
            <a:pPr marL="0" indent="0">
              <a:buNone/>
            </a:pPr>
            <a:r>
              <a:rPr lang="en-US" sz="1300" dirty="0">
                <a:solidFill>
                  <a:srgbClr val="0F172A"/>
                </a:solidFill>
                <a:latin typeface="Calibri" pitchFamily="34" charset="0"/>
                <a:ea typeface="Calibri" pitchFamily="34" charset="-122"/>
                <a:cs typeface="Calibri" pitchFamily="34" charset="-120"/>
              </a:rPr>
              <a:t>All 378 pages linked from the main navigation loaded successfully, with no server errors observed.</a:t>
            </a:r>
            <a:endParaRPr lang="en-US" sz="1300" dirty="0"/>
          </a:p>
        </p:txBody>
      </p:sp>
      <p:sp>
        <p:nvSpPr>
          <p:cNvPr id="12" name="Shape 8"/>
          <p:cNvSpPr/>
          <p:nvPr/>
        </p:nvSpPr>
        <p:spPr>
          <a:xfrm>
            <a:off x="6172200" y="1600200"/>
            <a:ext cx="5440680" cy="1371600"/>
          </a:xfrm>
          <a:prstGeom prst="roundRect">
            <a:avLst>
              <a:gd name="adj" fmla="val 8000"/>
            </a:avLst>
          </a:prstGeom>
          <a:solidFill>
            <a:srgbClr val="F1F5F9"/>
          </a:solidFill>
          <a:ln w="12700">
            <a:solidFill>
              <a:srgbClr val="F1F5F9"/>
            </a:solidFill>
            <a:prstDash val="solid"/>
          </a:ln>
        </p:spPr>
      </p:sp>
      <p:sp>
        <p:nvSpPr>
          <p:cNvPr id="13" name="Shape 9"/>
          <p:cNvSpPr/>
          <p:nvPr/>
        </p:nvSpPr>
        <p:spPr>
          <a:xfrm>
            <a:off x="6400800" y="1920240"/>
            <a:ext cx="731520" cy="731520"/>
          </a:xfrm>
          <a:prstGeom prst="ellipse">
            <a:avLst/>
          </a:prstGeom>
          <a:solidFill>
            <a:srgbClr val="0B1929"/>
          </a:solidFill>
          <a:ln w="12700">
            <a:solidFill>
              <a:srgbClr val="0B1929"/>
            </a:solidFill>
            <a:prstDash val="solid"/>
          </a:ln>
        </p:spPr>
      </p:sp>
      <p:pic>
        <p:nvPicPr>
          <p:cNvPr id="14" name="Image 2" descr="preencoded.png"/>
          <p:cNvPicPr>
            <a:picLocks noChangeAspect="1"/>
          </p:cNvPicPr>
          <p:nvPr/>
        </p:nvPicPr>
        <p:blipFill>
          <a:blip r:embed="rId5"/>
          <a:stretch>
            <a:fillRect/>
          </a:stretch>
        </p:blipFill>
        <p:spPr>
          <a:xfrm>
            <a:off x="6583680" y="2103120"/>
            <a:ext cx="365760" cy="365760"/>
          </a:xfrm>
          <a:prstGeom prst="rect">
            <a:avLst/>
          </a:prstGeom>
        </p:spPr>
      </p:pic>
      <p:sp>
        <p:nvSpPr>
          <p:cNvPr id="15" name="Text 10"/>
          <p:cNvSpPr txBox="1"/>
          <p:nvPr/>
        </p:nvSpPr>
        <p:spPr>
          <a:xfrm>
            <a:off x="7360920" y="1783080"/>
            <a:ext cx="4023360" cy="365760"/>
          </a:xfrm>
          <a:prstGeom prst="rect">
            <a:avLst/>
          </a:prstGeom>
          <a:noFill/>
          <a:ln/>
        </p:spPr>
        <p:txBody>
          <a:bodyPr wrap="square" lIns="0" tIns="0" rIns="0" bIns="0" rtlCol="0" anchor="ctr"/>
          <a:lstStyle/>
          <a:p>
            <a:pPr marL="0" indent="0">
              <a:buNone/>
            </a:pPr>
            <a:r>
              <a:rPr lang="en-US" sz="1800" b="1" dirty="0">
                <a:solidFill>
                  <a:srgbClr val="0B1929"/>
                </a:solidFill>
                <a:latin typeface="Calibri" pitchFamily="34" charset="0"/>
                <a:ea typeface="Calibri" pitchFamily="34" charset="-122"/>
                <a:cs typeface="Calibri" pitchFamily="34" charset="-120"/>
              </a:rPr>
              <a:t>Navigation</a:t>
            </a:r>
            <a:endParaRPr lang="en-US" sz="1800" dirty="0"/>
          </a:p>
        </p:txBody>
      </p:sp>
      <p:sp>
        <p:nvSpPr>
          <p:cNvPr id="16" name="Text 11"/>
          <p:cNvSpPr txBox="1"/>
          <p:nvPr/>
        </p:nvSpPr>
        <p:spPr>
          <a:xfrm>
            <a:off x="7360920" y="2167128"/>
            <a:ext cx="4069080" cy="731520"/>
          </a:xfrm>
          <a:prstGeom prst="rect">
            <a:avLst/>
          </a:prstGeom>
          <a:noFill/>
          <a:ln/>
        </p:spPr>
        <p:txBody>
          <a:bodyPr wrap="square" lIns="0" tIns="0" rIns="0" bIns="0" rtlCol="0" anchor="t"/>
          <a:lstStyle/>
          <a:p>
            <a:pPr marL="0" indent="0">
              <a:buNone/>
            </a:pPr>
            <a:r>
              <a:rPr lang="en-US" sz="1300" dirty="0">
                <a:solidFill>
                  <a:srgbClr val="0F172A"/>
                </a:solidFill>
                <a:latin typeface="Calibri" pitchFamily="34" charset="0"/>
                <a:ea typeface="Calibri" pitchFamily="34" charset="-122"/>
                <a:cs typeface="Calibri" pitchFamily="34" charset="-120"/>
              </a:rPr>
              <a:t>Header, menus and footer links were reviewed, including 3 pages that redirect to their current versions.</a:t>
            </a:r>
            <a:endParaRPr lang="en-US" sz="1300" dirty="0"/>
          </a:p>
        </p:txBody>
      </p:sp>
      <p:sp>
        <p:nvSpPr>
          <p:cNvPr id="17" name="Shape 12"/>
          <p:cNvSpPr/>
          <p:nvPr/>
        </p:nvSpPr>
        <p:spPr>
          <a:xfrm>
            <a:off x="548640" y="3154680"/>
            <a:ext cx="5440680" cy="1371600"/>
          </a:xfrm>
          <a:prstGeom prst="roundRect">
            <a:avLst>
              <a:gd name="adj" fmla="val 8000"/>
            </a:avLst>
          </a:prstGeom>
          <a:solidFill>
            <a:srgbClr val="F1F5F9"/>
          </a:solidFill>
          <a:ln w="12700">
            <a:solidFill>
              <a:srgbClr val="F1F5F9"/>
            </a:solidFill>
            <a:prstDash val="solid"/>
          </a:ln>
        </p:spPr>
      </p:sp>
      <p:sp>
        <p:nvSpPr>
          <p:cNvPr id="18" name="Shape 13"/>
          <p:cNvSpPr/>
          <p:nvPr/>
        </p:nvSpPr>
        <p:spPr>
          <a:xfrm>
            <a:off x="777240" y="3474720"/>
            <a:ext cx="731520" cy="731520"/>
          </a:xfrm>
          <a:prstGeom prst="ellipse">
            <a:avLst/>
          </a:prstGeom>
          <a:solidFill>
            <a:srgbClr val="0B1929"/>
          </a:solidFill>
          <a:ln w="12700">
            <a:solidFill>
              <a:srgbClr val="0B1929"/>
            </a:solidFill>
            <a:prstDash val="solid"/>
          </a:ln>
        </p:spPr>
      </p:sp>
      <p:pic>
        <p:nvPicPr>
          <p:cNvPr id="19" name="Image 3" descr="preencoded.png"/>
          <p:cNvPicPr>
            <a:picLocks noChangeAspect="1"/>
          </p:cNvPicPr>
          <p:nvPr/>
        </p:nvPicPr>
        <p:blipFill>
          <a:blip r:embed="rId6"/>
          <a:stretch>
            <a:fillRect/>
          </a:stretch>
        </p:blipFill>
        <p:spPr>
          <a:xfrm>
            <a:off x="960120" y="3657600"/>
            <a:ext cx="365760" cy="365760"/>
          </a:xfrm>
          <a:prstGeom prst="rect">
            <a:avLst/>
          </a:prstGeom>
        </p:spPr>
      </p:pic>
      <p:sp>
        <p:nvSpPr>
          <p:cNvPr id="20" name="Text 14"/>
          <p:cNvSpPr txBox="1"/>
          <p:nvPr/>
        </p:nvSpPr>
        <p:spPr>
          <a:xfrm>
            <a:off x="1737360" y="3337560"/>
            <a:ext cx="4023360" cy="365760"/>
          </a:xfrm>
          <a:prstGeom prst="rect">
            <a:avLst/>
          </a:prstGeom>
          <a:noFill/>
          <a:ln/>
        </p:spPr>
        <p:txBody>
          <a:bodyPr wrap="square" lIns="0" tIns="0" rIns="0" bIns="0" rtlCol="0" anchor="ctr"/>
          <a:lstStyle/>
          <a:p>
            <a:pPr marL="0" indent="0">
              <a:buNone/>
            </a:pPr>
            <a:r>
              <a:rPr lang="en-US" sz="1800" b="1" dirty="0">
                <a:solidFill>
                  <a:srgbClr val="0B1929"/>
                </a:solidFill>
                <a:latin typeface="Calibri" pitchFamily="34" charset="0"/>
                <a:ea typeface="Calibri" pitchFamily="34" charset="-122"/>
                <a:cs typeface="Calibri" pitchFamily="34" charset="-120"/>
              </a:rPr>
              <a:t>Search</a:t>
            </a:r>
            <a:endParaRPr lang="en-US" sz="1800" dirty="0"/>
          </a:p>
        </p:txBody>
      </p:sp>
      <p:sp>
        <p:nvSpPr>
          <p:cNvPr id="21" name="Text 15"/>
          <p:cNvSpPr txBox="1"/>
          <p:nvPr/>
        </p:nvSpPr>
        <p:spPr>
          <a:xfrm>
            <a:off x="1737360" y="3721608"/>
            <a:ext cx="4069080" cy="731520"/>
          </a:xfrm>
          <a:prstGeom prst="rect">
            <a:avLst/>
          </a:prstGeom>
          <a:noFill/>
          <a:ln/>
        </p:spPr>
        <p:txBody>
          <a:bodyPr wrap="square" lIns="0" tIns="0" rIns="0" bIns="0" rtlCol="0" anchor="t"/>
          <a:lstStyle/>
          <a:p>
            <a:pPr marL="0" indent="0">
              <a:buNone/>
            </a:pPr>
            <a:r>
              <a:rPr lang="en-US" sz="1300" dirty="0">
                <a:solidFill>
                  <a:srgbClr val="0F172A"/>
                </a:solidFill>
                <a:latin typeface="Calibri" pitchFamily="34" charset="0"/>
                <a:ea typeface="Calibri" pitchFamily="34" charset="-122"/>
                <a:cs typeface="Calibri" pitchFamily="34" charset="-120"/>
              </a:rPr>
              <a:t>Valid, partial, no-result and unusual searches were all handled gracefully.</a:t>
            </a:r>
            <a:endParaRPr lang="en-US" sz="1300" dirty="0"/>
          </a:p>
        </p:txBody>
      </p:sp>
      <p:sp>
        <p:nvSpPr>
          <p:cNvPr id="22" name="Shape 16"/>
          <p:cNvSpPr/>
          <p:nvPr/>
        </p:nvSpPr>
        <p:spPr>
          <a:xfrm>
            <a:off x="6172200" y="3154680"/>
            <a:ext cx="5440680" cy="1371600"/>
          </a:xfrm>
          <a:prstGeom prst="roundRect">
            <a:avLst>
              <a:gd name="adj" fmla="val 8000"/>
            </a:avLst>
          </a:prstGeom>
          <a:solidFill>
            <a:srgbClr val="F1F5F9"/>
          </a:solidFill>
          <a:ln w="12700">
            <a:solidFill>
              <a:srgbClr val="F1F5F9"/>
            </a:solidFill>
            <a:prstDash val="solid"/>
          </a:ln>
        </p:spPr>
      </p:sp>
      <p:sp>
        <p:nvSpPr>
          <p:cNvPr id="23" name="Shape 17"/>
          <p:cNvSpPr/>
          <p:nvPr/>
        </p:nvSpPr>
        <p:spPr>
          <a:xfrm>
            <a:off x="6400800" y="3474720"/>
            <a:ext cx="731520" cy="731520"/>
          </a:xfrm>
          <a:prstGeom prst="ellipse">
            <a:avLst/>
          </a:prstGeom>
          <a:solidFill>
            <a:srgbClr val="0B1929"/>
          </a:solidFill>
          <a:ln w="12700">
            <a:solidFill>
              <a:srgbClr val="0B1929"/>
            </a:solidFill>
            <a:prstDash val="solid"/>
          </a:ln>
        </p:spPr>
      </p:sp>
      <p:pic>
        <p:nvPicPr>
          <p:cNvPr id="24" name="Image 4" descr="preencoded.png"/>
          <p:cNvPicPr>
            <a:picLocks noChangeAspect="1"/>
          </p:cNvPicPr>
          <p:nvPr/>
        </p:nvPicPr>
        <p:blipFill>
          <a:blip r:embed="rId7"/>
          <a:stretch>
            <a:fillRect/>
          </a:stretch>
        </p:blipFill>
        <p:spPr>
          <a:xfrm>
            <a:off x="6583680" y="3657600"/>
            <a:ext cx="365760" cy="365760"/>
          </a:xfrm>
          <a:prstGeom prst="rect">
            <a:avLst/>
          </a:prstGeom>
        </p:spPr>
      </p:pic>
      <p:sp>
        <p:nvSpPr>
          <p:cNvPr id="25" name="Text 18"/>
          <p:cNvSpPr txBox="1"/>
          <p:nvPr/>
        </p:nvSpPr>
        <p:spPr>
          <a:xfrm>
            <a:off x="7360920" y="3337560"/>
            <a:ext cx="4023360" cy="365760"/>
          </a:xfrm>
          <a:prstGeom prst="rect">
            <a:avLst/>
          </a:prstGeom>
          <a:noFill/>
          <a:ln/>
        </p:spPr>
        <p:txBody>
          <a:bodyPr wrap="square" lIns="0" tIns="0" rIns="0" bIns="0" rtlCol="0" anchor="ctr"/>
          <a:lstStyle/>
          <a:p>
            <a:pPr marL="0" indent="0">
              <a:buNone/>
            </a:pPr>
            <a:r>
              <a:rPr lang="en-US" sz="1800" b="1" dirty="0">
                <a:solidFill>
                  <a:srgbClr val="0B1929"/>
                </a:solidFill>
                <a:latin typeface="Calibri" pitchFamily="34" charset="0"/>
                <a:ea typeface="Calibri" pitchFamily="34" charset="-122"/>
                <a:cs typeface="Calibri" pitchFamily="34" charset="-120"/>
              </a:rPr>
              <a:t>Error handling</a:t>
            </a:r>
            <a:endParaRPr lang="en-US" sz="1800" dirty="0"/>
          </a:p>
        </p:txBody>
      </p:sp>
      <p:sp>
        <p:nvSpPr>
          <p:cNvPr id="26" name="Text 19"/>
          <p:cNvSpPr txBox="1"/>
          <p:nvPr/>
        </p:nvSpPr>
        <p:spPr>
          <a:xfrm>
            <a:off x="7360920" y="3721608"/>
            <a:ext cx="4069080" cy="731520"/>
          </a:xfrm>
          <a:prstGeom prst="rect">
            <a:avLst/>
          </a:prstGeom>
          <a:noFill/>
          <a:ln/>
        </p:spPr>
        <p:txBody>
          <a:bodyPr wrap="square" lIns="0" tIns="0" rIns="0" bIns="0" rtlCol="0" anchor="t"/>
          <a:lstStyle/>
          <a:p>
            <a:pPr marL="0" indent="0">
              <a:buNone/>
            </a:pPr>
            <a:r>
              <a:rPr lang="en-US" sz="1300" dirty="0">
                <a:solidFill>
                  <a:srgbClr val="0F172A"/>
                </a:solidFill>
                <a:latin typeface="Calibri" pitchFamily="34" charset="0"/>
                <a:ea typeface="Calibri" pitchFamily="34" charset="-122"/>
                <a:cs typeface="Calibri" pitchFamily="34" charset="-120"/>
              </a:rPr>
              <a:t>A missing page correctly shows a friendly "not found" page.</a:t>
            </a:r>
            <a:endParaRPr lang="en-US" sz="1300" dirty="0"/>
          </a:p>
        </p:txBody>
      </p:sp>
      <p:sp>
        <p:nvSpPr>
          <p:cNvPr id="27" name="Shape 20"/>
          <p:cNvSpPr/>
          <p:nvPr/>
        </p:nvSpPr>
        <p:spPr>
          <a:xfrm>
            <a:off x="548640" y="4709160"/>
            <a:ext cx="5440680" cy="1371600"/>
          </a:xfrm>
          <a:prstGeom prst="roundRect">
            <a:avLst>
              <a:gd name="adj" fmla="val 8000"/>
            </a:avLst>
          </a:prstGeom>
          <a:solidFill>
            <a:srgbClr val="F1F5F9"/>
          </a:solidFill>
          <a:ln w="12700">
            <a:solidFill>
              <a:srgbClr val="F1F5F9"/>
            </a:solidFill>
            <a:prstDash val="solid"/>
          </a:ln>
        </p:spPr>
      </p:sp>
      <p:sp>
        <p:nvSpPr>
          <p:cNvPr id="28" name="Shape 21"/>
          <p:cNvSpPr/>
          <p:nvPr/>
        </p:nvSpPr>
        <p:spPr>
          <a:xfrm>
            <a:off x="777240" y="5029200"/>
            <a:ext cx="731520" cy="731520"/>
          </a:xfrm>
          <a:prstGeom prst="ellipse">
            <a:avLst/>
          </a:prstGeom>
          <a:solidFill>
            <a:srgbClr val="0B1929"/>
          </a:solidFill>
          <a:ln w="12700">
            <a:solidFill>
              <a:srgbClr val="0B1929"/>
            </a:solidFill>
            <a:prstDash val="solid"/>
          </a:ln>
        </p:spPr>
      </p:sp>
      <p:pic>
        <p:nvPicPr>
          <p:cNvPr id="29" name="Image 5" descr="preencoded.png"/>
          <p:cNvPicPr>
            <a:picLocks noChangeAspect="1"/>
          </p:cNvPicPr>
          <p:nvPr/>
        </p:nvPicPr>
        <p:blipFill>
          <a:blip r:embed="rId8"/>
          <a:stretch>
            <a:fillRect/>
          </a:stretch>
        </p:blipFill>
        <p:spPr>
          <a:xfrm>
            <a:off x="960120" y="5212080"/>
            <a:ext cx="365760" cy="365760"/>
          </a:xfrm>
          <a:prstGeom prst="rect">
            <a:avLst/>
          </a:prstGeom>
        </p:spPr>
      </p:pic>
      <p:sp>
        <p:nvSpPr>
          <p:cNvPr id="30" name="Text 22"/>
          <p:cNvSpPr txBox="1"/>
          <p:nvPr/>
        </p:nvSpPr>
        <p:spPr>
          <a:xfrm>
            <a:off x="1737360" y="4892040"/>
            <a:ext cx="4023360" cy="365760"/>
          </a:xfrm>
          <a:prstGeom prst="rect">
            <a:avLst/>
          </a:prstGeom>
          <a:noFill/>
          <a:ln/>
        </p:spPr>
        <p:txBody>
          <a:bodyPr wrap="square" lIns="0" tIns="0" rIns="0" bIns="0" rtlCol="0" anchor="ctr"/>
          <a:lstStyle/>
          <a:p>
            <a:pPr marL="0" indent="0">
              <a:buNone/>
            </a:pPr>
            <a:r>
              <a:rPr lang="en-US" sz="1800" b="1" dirty="0">
                <a:solidFill>
                  <a:srgbClr val="0B1929"/>
                </a:solidFill>
                <a:latin typeface="Calibri" pitchFamily="34" charset="0"/>
                <a:ea typeface="Calibri" pitchFamily="34" charset="-122"/>
                <a:cs typeface="Calibri" pitchFamily="34" charset="-120"/>
              </a:rPr>
              <a:t>Cart &amp; checkout</a:t>
            </a:r>
            <a:endParaRPr lang="en-US" sz="1800" dirty="0"/>
          </a:p>
        </p:txBody>
      </p:sp>
      <p:sp>
        <p:nvSpPr>
          <p:cNvPr id="31" name="Text 23"/>
          <p:cNvSpPr txBox="1"/>
          <p:nvPr/>
        </p:nvSpPr>
        <p:spPr>
          <a:xfrm>
            <a:off x="1737360" y="5276088"/>
            <a:ext cx="4069080" cy="731520"/>
          </a:xfrm>
          <a:prstGeom prst="rect">
            <a:avLst/>
          </a:prstGeom>
          <a:noFill/>
          <a:ln/>
        </p:spPr>
        <p:txBody>
          <a:bodyPr wrap="square" lIns="0" tIns="0" rIns="0" bIns="0" rtlCol="0" anchor="t"/>
          <a:lstStyle/>
          <a:p>
            <a:pPr marL="0" indent="0">
              <a:buNone/>
            </a:pPr>
            <a:r>
              <a:rPr lang="en-US" sz="1300" dirty="0">
                <a:solidFill>
                  <a:srgbClr val="0F172A"/>
                </a:solidFill>
                <a:latin typeface="Calibri" pitchFamily="34" charset="0"/>
                <a:ea typeface="Calibri" pitchFamily="34" charset="-122"/>
                <a:cs typeface="Calibri" pitchFamily="34" charset="-120"/>
              </a:rPr>
              <a:t>Adding, changing and removing items worked, with correct totals.</a:t>
            </a:r>
            <a:endParaRPr lang="en-US" sz="1300" dirty="0"/>
          </a:p>
        </p:txBody>
      </p:sp>
      <p:sp>
        <p:nvSpPr>
          <p:cNvPr id="32" name="Shape 24"/>
          <p:cNvSpPr/>
          <p:nvPr/>
        </p:nvSpPr>
        <p:spPr>
          <a:xfrm>
            <a:off x="6172200" y="4709160"/>
            <a:ext cx="5440680" cy="1371600"/>
          </a:xfrm>
          <a:prstGeom prst="roundRect">
            <a:avLst>
              <a:gd name="adj" fmla="val 8000"/>
            </a:avLst>
          </a:prstGeom>
          <a:solidFill>
            <a:srgbClr val="F1F5F9"/>
          </a:solidFill>
          <a:ln w="12700">
            <a:solidFill>
              <a:srgbClr val="F1F5F9"/>
            </a:solidFill>
            <a:prstDash val="solid"/>
          </a:ln>
        </p:spPr>
      </p:sp>
      <p:sp>
        <p:nvSpPr>
          <p:cNvPr id="33" name="Shape 25"/>
          <p:cNvSpPr/>
          <p:nvPr/>
        </p:nvSpPr>
        <p:spPr>
          <a:xfrm>
            <a:off x="6400800" y="5029200"/>
            <a:ext cx="731520" cy="731520"/>
          </a:xfrm>
          <a:prstGeom prst="ellipse">
            <a:avLst/>
          </a:prstGeom>
          <a:solidFill>
            <a:srgbClr val="0B1929"/>
          </a:solidFill>
          <a:ln w="12700">
            <a:solidFill>
              <a:srgbClr val="0B1929"/>
            </a:solidFill>
            <a:prstDash val="solid"/>
          </a:ln>
        </p:spPr>
      </p:sp>
      <p:pic>
        <p:nvPicPr>
          <p:cNvPr id="34" name="Image 6" descr="preencoded.png"/>
          <p:cNvPicPr>
            <a:picLocks noChangeAspect="1"/>
          </p:cNvPicPr>
          <p:nvPr/>
        </p:nvPicPr>
        <p:blipFill>
          <a:blip r:embed="rId9"/>
          <a:stretch>
            <a:fillRect/>
          </a:stretch>
        </p:blipFill>
        <p:spPr>
          <a:xfrm>
            <a:off x="6583680" y="5212080"/>
            <a:ext cx="365760" cy="365760"/>
          </a:xfrm>
          <a:prstGeom prst="rect">
            <a:avLst/>
          </a:prstGeom>
        </p:spPr>
      </p:pic>
      <p:sp>
        <p:nvSpPr>
          <p:cNvPr id="35" name="Text 26"/>
          <p:cNvSpPr txBox="1"/>
          <p:nvPr/>
        </p:nvSpPr>
        <p:spPr>
          <a:xfrm>
            <a:off x="7360920" y="4892040"/>
            <a:ext cx="4023360" cy="365760"/>
          </a:xfrm>
          <a:prstGeom prst="rect">
            <a:avLst/>
          </a:prstGeom>
          <a:noFill/>
          <a:ln/>
        </p:spPr>
        <p:txBody>
          <a:bodyPr wrap="square" lIns="0" tIns="0" rIns="0" bIns="0" rtlCol="0" anchor="ctr"/>
          <a:lstStyle/>
          <a:p>
            <a:pPr marL="0" indent="0">
              <a:buNone/>
            </a:pPr>
            <a:r>
              <a:rPr lang="en-US" sz="1800" b="1" dirty="0">
                <a:solidFill>
                  <a:srgbClr val="0B1929"/>
                </a:solidFill>
                <a:latin typeface="Calibri" pitchFamily="34" charset="0"/>
                <a:ea typeface="Calibri" pitchFamily="34" charset="-122"/>
                <a:cs typeface="Calibri" pitchFamily="34" charset="-120"/>
              </a:rPr>
              <a:t>Sign-in</a:t>
            </a:r>
            <a:endParaRPr lang="en-US" sz="1800" dirty="0"/>
          </a:p>
        </p:txBody>
      </p:sp>
      <p:sp>
        <p:nvSpPr>
          <p:cNvPr id="36" name="Text 27"/>
          <p:cNvSpPr txBox="1"/>
          <p:nvPr/>
        </p:nvSpPr>
        <p:spPr>
          <a:xfrm>
            <a:off x="7360920" y="5276088"/>
            <a:ext cx="4069080" cy="731520"/>
          </a:xfrm>
          <a:prstGeom prst="rect">
            <a:avLst/>
          </a:prstGeom>
          <a:noFill/>
          <a:ln/>
        </p:spPr>
        <p:txBody>
          <a:bodyPr wrap="square" lIns="0" tIns="0" rIns="0" bIns="0" rtlCol="0" anchor="t"/>
          <a:lstStyle/>
          <a:p>
            <a:pPr marL="0" indent="0">
              <a:buNone/>
            </a:pPr>
            <a:r>
              <a:rPr lang="en-US" sz="1300" dirty="0">
                <a:solidFill>
                  <a:srgbClr val="0F172A"/>
                </a:solidFill>
                <a:latin typeface="Calibri" pitchFamily="34" charset="0"/>
                <a:ea typeface="Calibri" pitchFamily="34" charset="-122"/>
                <a:cs typeface="Calibri" pitchFamily="34" charset="-120"/>
              </a:rPr>
              <a:t>Empty and invalid sign-in details produce clear, helpful messages.</a:t>
            </a:r>
            <a:endParaRPr lang="en-US" sz="1300" dirty="0"/>
          </a:p>
        </p:txBody>
      </p:sp>
      <p:sp>
        <p:nvSpPr>
          <p:cNvPr id="37" name="Text 28"/>
          <p:cNvSpPr txBox="1"/>
          <p:nvPr/>
        </p:nvSpPr>
        <p:spPr>
          <a:xfrm>
            <a:off x="548640" y="6199632"/>
            <a:ext cx="10972800" cy="274320"/>
          </a:xfrm>
          <a:prstGeom prst="rect">
            <a:avLst/>
          </a:prstGeom>
          <a:noFill/>
          <a:ln/>
        </p:spPr>
        <p:txBody>
          <a:bodyPr wrap="square" lIns="0" tIns="0" rIns="0" bIns="0" rtlCol="0" anchor="ctr"/>
          <a:lstStyle/>
          <a:p>
            <a:pPr marL="0" indent="0">
              <a:buNone/>
            </a:pPr>
            <a:r>
              <a:rPr lang="en-US" sz="1200" i="1" dirty="0">
                <a:solidFill>
                  <a:srgbClr val="475569"/>
                </a:solidFill>
                <a:latin typeface="Calibri" pitchFamily="34" charset="0"/>
                <a:ea typeface="Calibri" pitchFamily="34" charset="-122"/>
                <a:cs typeface="Calibri" pitchFamily="34" charset="-120"/>
              </a:rPr>
              <a:t>Key journeys were reviewed to help maintain reliable day-to-day operation.</a:t>
            </a:r>
            <a:endParaRPr lang="en-US" sz="12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365760"/>
            <a:ext cx="8229600" cy="274320"/>
          </a:xfrm>
          <a:prstGeom prst="rect">
            <a:avLst/>
          </a:prstGeom>
          <a:noFill/>
          <a:ln/>
        </p:spPr>
        <p:txBody>
          <a:bodyPr wrap="square" lIns="0" tIns="0" rIns="0" bIns="0" rtlCol="0" anchor="ctr"/>
          <a:lstStyle/>
          <a:p>
            <a:pPr marL="0" indent="0">
              <a:buNone/>
            </a:pPr>
            <a:r>
              <a:rPr lang="en-US" sz="1200" b="1" kern="0" spc="300" dirty="0">
                <a:solidFill>
                  <a:srgbClr val="0086C7"/>
                </a:solidFill>
                <a:latin typeface="Calibri" pitchFamily="34" charset="0"/>
                <a:ea typeface="Calibri" pitchFamily="34" charset="-122"/>
                <a:cs typeface="Calibri" pitchFamily="34" charset="-120"/>
              </a:rPr>
              <a:t>USER EXPERIENCE &amp; RESPONSIVE QUALITY</a:t>
            </a:r>
            <a:endParaRPr lang="en-US" sz="1200" dirty="0"/>
          </a:p>
        </p:txBody>
      </p:sp>
      <p:pic>
        <p:nvPicPr>
          <p:cNvPr id="3" name="Image 0" descr="C:/Projects/OGH/build/brand/logo_color_big.png"/>
          <p:cNvPicPr>
            <a:picLocks noChangeAspect="1"/>
          </p:cNvPicPr>
          <p:nvPr/>
        </p:nvPicPr>
        <p:blipFill>
          <a:blip r:embed="rId3"/>
          <a:stretch>
            <a:fillRect/>
          </a:stretch>
        </p:blipFill>
        <p:spPr>
          <a:xfrm>
            <a:off x="10058400" y="347472"/>
            <a:ext cx="1554480" cy="347472"/>
          </a:xfrm>
          <a:prstGeom prst="rect">
            <a:avLst/>
          </a:prstGeom>
        </p:spPr>
      </p:pic>
      <p:sp>
        <p:nvSpPr>
          <p:cNvPr id="4" name="Text 1"/>
          <p:cNvSpPr txBox="1"/>
          <p:nvPr/>
        </p:nvSpPr>
        <p:spPr>
          <a:xfrm>
            <a:off x="548640" y="658368"/>
            <a:ext cx="9326880" cy="731520"/>
          </a:xfrm>
          <a:prstGeom prst="rect">
            <a:avLst/>
          </a:prstGeom>
          <a:noFill/>
          <a:ln/>
        </p:spPr>
        <p:txBody>
          <a:bodyPr wrap="square" lIns="0" tIns="0" rIns="0" bIns="0" rtlCol="0" anchor="t"/>
          <a:lstStyle/>
          <a:p>
            <a:pPr marL="0" indent="0">
              <a:buNone/>
            </a:pPr>
            <a:r>
              <a:rPr lang="en-US" sz="3200" b="1" dirty="0">
                <a:solidFill>
                  <a:srgbClr val="0B1929"/>
                </a:solidFill>
                <a:latin typeface="Calibri" pitchFamily="34" charset="0"/>
                <a:ea typeface="Calibri" pitchFamily="34" charset="-122"/>
                <a:cs typeface="Calibri" pitchFamily="34" charset="-120"/>
              </a:rPr>
              <a:t>Experience across devices</a:t>
            </a:r>
            <a:endParaRPr lang="en-US" sz="3200" dirty="0"/>
          </a:p>
        </p:txBody>
      </p:sp>
      <p:sp>
        <p:nvSpPr>
          <p:cNvPr id="5" name="Text 2"/>
          <p:cNvSpPr txBox="1"/>
          <p:nvPr/>
        </p:nvSpPr>
        <p:spPr>
          <a:xfrm>
            <a:off x="548640" y="6446520"/>
            <a:ext cx="7315200" cy="228600"/>
          </a:xfrm>
          <a:prstGeom prst="rect">
            <a:avLst/>
          </a:prstGeom>
          <a:noFill/>
          <a:ln/>
        </p:spPr>
        <p:txBody>
          <a:bodyPr wrap="square" lIns="0" tIns="0" rIns="0" bIns="0" rtlCol="0" anchor="ctr"/>
          <a:lstStyle/>
          <a:p>
            <a:pPr marL="0" indent="0">
              <a:buNone/>
            </a:pPr>
            <a:r>
              <a:rPr lang="en-US" sz="1000" dirty="0">
                <a:solidFill>
                  <a:srgbClr val="475569"/>
                </a:solidFill>
                <a:latin typeface="Calibri" pitchFamily="34" charset="0"/>
                <a:ea typeface="Calibri" pitchFamily="34" charset="-122"/>
                <a:cs typeface="Calibri" pitchFamily="34" charset="-120"/>
              </a:rPr>
              <a:t>Prepared by WebDesk Solution  |  Our Green House  |  October 2026</a:t>
            </a:r>
            <a:endParaRPr lang="en-US" sz="1000" dirty="0"/>
          </a:p>
        </p:txBody>
      </p:sp>
      <p:sp>
        <p:nvSpPr>
          <p:cNvPr id="6" name="Text 3"/>
          <p:cNvSpPr txBox="1"/>
          <p:nvPr/>
        </p:nvSpPr>
        <p:spPr>
          <a:xfrm>
            <a:off x="11064240" y="6446520"/>
            <a:ext cx="548640" cy="228600"/>
          </a:xfrm>
          <a:prstGeom prst="rect">
            <a:avLst/>
          </a:prstGeom>
          <a:noFill/>
          <a:ln/>
        </p:spPr>
        <p:txBody>
          <a:bodyPr wrap="square" lIns="0" tIns="0" rIns="0" bIns="0" rtlCol="0" anchor="ctr"/>
          <a:lstStyle/>
          <a:p>
            <a:pPr marL="0" indent="0" algn="r">
              <a:buNone/>
            </a:pPr>
            <a:r>
              <a:rPr lang="en-US" sz="1000" dirty="0">
                <a:solidFill>
                  <a:srgbClr val="475569"/>
                </a:solidFill>
                <a:latin typeface="Calibri" pitchFamily="34" charset="0"/>
                <a:ea typeface="Calibri" pitchFamily="34" charset="-122"/>
                <a:cs typeface="Calibri" pitchFamily="34" charset="-120"/>
              </a:rPr>
              <a:t>4</a:t>
            </a:r>
            <a:endParaRPr lang="en-US" sz="1000" dirty="0"/>
          </a:p>
        </p:txBody>
      </p:sp>
      <p:sp>
        <p:nvSpPr>
          <p:cNvPr id="7" name="Shape 4"/>
          <p:cNvSpPr/>
          <p:nvPr/>
        </p:nvSpPr>
        <p:spPr>
          <a:xfrm>
            <a:off x="527739" y="1609344"/>
            <a:ext cx="4248041" cy="2450592"/>
          </a:xfrm>
          <a:prstGeom prst="rect">
            <a:avLst/>
          </a:prstGeom>
          <a:solidFill>
            <a:srgbClr val="FFFFFF"/>
          </a:solidFill>
          <a:ln w="12700">
            <a:solidFill>
              <a:srgbClr val="D5DDE6"/>
            </a:solidFill>
            <a:prstDash val="solid"/>
          </a:ln>
          <a:effectLst>
            <a:outerShdw blurRad="76200" dist="25400" dir="5400000" algn="bl" rotWithShape="0">
              <a:srgbClr val="000000">
                <a:alpha val="15000"/>
              </a:srgbClr>
            </a:outerShdw>
          </a:effectLst>
        </p:spPr>
      </p:sp>
      <p:pic>
        <p:nvPicPr>
          <p:cNvPr id="8" name="Image 1" descr="C:/Projects/OGH/evidence/screenshots/03_desktop_product_page_sheep_blanket.jpg"/>
          <p:cNvPicPr>
            <a:picLocks noChangeAspect="1"/>
          </p:cNvPicPr>
          <p:nvPr/>
        </p:nvPicPr>
        <p:blipFill>
          <a:blip r:embed="rId4"/>
          <a:stretch>
            <a:fillRect/>
          </a:stretch>
        </p:blipFill>
        <p:spPr>
          <a:xfrm>
            <a:off x="564315" y="1645920"/>
            <a:ext cx="4174889" cy="2377440"/>
          </a:xfrm>
          <a:prstGeom prst="rect">
            <a:avLst/>
          </a:prstGeom>
        </p:spPr>
      </p:pic>
      <p:sp>
        <p:nvSpPr>
          <p:cNvPr id="9" name="Text 5"/>
          <p:cNvSpPr txBox="1"/>
          <p:nvPr/>
        </p:nvSpPr>
        <p:spPr>
          <a:xfrm>
            <a:off x="548640" y="4114800"/>
            <a:ext cx="4206240" cy="274320"/>
          </a:xfrm>
          <a:prstGeom prst="rect">
            <a:avLst/>
          </a:prstGeom>
          <a:noFill/>
          <a:ln/>
        </p:spPr>
        <p:txBody>
          <a:bodyPr wrap="square" lIns="0" tIns="0" rIns="0" bIns="0" rtlCol="0" anchor="ctr"/>
          <a:lstStyle/>
          <a:p>
            <a:pPr marL="0" indent="0" algn="ctr">
              <a:buNone/>
            </a:pPr>
            <a:r>
              <a:rPr lang="en-US" sz="1400" b="1" dirty="0">
                <a:solidFill>
                  <a:srgbClr val="0B1929"/>
                </a:solidFill>
                <a:latin typeface="Calibri" pitchFamily="34" charset="0"/>
                <a:ea typeface="Calibri" pitchFamily="34" charset="-122"/>
                <a:cs typeface="Calibri" pitchFamily="34" charset="-120"/>
              </a:rPr>
              <a:t>Desktop</a:t>
            </a:r>
            <a:endParaRPr lang="en-US" sz="1400" dirty="0"/>
          </a:p>
        </p:txBody>
      </p:sp>
      <p:sp>
        <p:nvSpPr>
          <p:cNvPr id="10" name="Shape 6"/>
          <p:cNvSpPr/>
          <p:nvPr/>
        </p:nvSpPr>
        <p:spPr>
          <a:xfrm>
            <a:off x="5129784" y="1617692"/>
            <a:ext cx="1810512" cy="2433896"/>
          </a:xfrm>
          <a:prstGeom prst="rect">
            <a:avLst/>
          </a:prstGeom>
          <a:solidFill>
            <a:srgbClr val="FFFFFF"/>
          </a:solidFill>
          <a:ln w="12700">
            <a:solidFill>
              <a:srgbClr val="D5DDE6"/>
            </a:solidFill>
            <a:prstDash val="solid"/>
          </a:ln>
          <a:effectLst>
            <a:outerShdw blurRad="76200" dist="25400" dir="5400000" algn="bl" rotWithShape="0">
              <a:srgbClr val="000000">
                <a:alpha val="15000"/>
              </a:srgbClr>
            </a:outerShdw>
          </a:effectLst>
        </p:spPr>
      </p:sp>
      <p:pic>
        <p:nvPicPr>
          <p:cNvPr id="11" name="Image 2" descr="C:/Projects/OGH/evidence/screenshots/19_tablet_768_about_us.jpg"/>
          <p:cNvPicPr>
            <a:picLocks noChangeAspect="1"/>
          </p:cNvPicPr>
          <p:nvPr/>
        </p:nvPicPr>
        <p:blipFill>
          <a:blip r:embed="rId5"/>
          <a:stretch>
            <a:fillRect/>
          </a:stretch>
        </p:blipFill>
        <p:spPr>
          <a:xfrm>
            <a:off x="5166360" y="1654268"/>
            <a:ext cx="1737360" cy="2360744"/>
          </a:xfrm>
          <a:prstGeom prst="rect">
            <a:avLst/>
          </a:prstGeom>
        </p:spPr>
      </p:pic>
      <p:sp>
        <p:nvSpPr>
          <p:cNvPr id="12" name="Text 7"/>
          <p:cNvSpPr txBox="1"/>
          <p:nvPr/>
        </p:nvSpPr>
        <p:spPr>
          <a:xfrm>
            <a:off x="4937760" y="4114800"/>
            <a:ext cx="2194560" cy="274320"/>
          </a:xfrm>
          <a:prstGeom prst="rect">
            <a:avLst/>
          </a:prstGeom>
          <a:noFill/>
          <a:ln/>
        </p:spPr>
        <p:txBody>
          <a:bodyPr wrap="square" lIns="0" tIns="0" rIns="0" bIns="0" rtlCol="0" anchor="ctr"/>
          <a:lstStyle/>
          <a:p>
            <a:pPr marL="0" indent="0" algn="ctr">
              <a:buNone/>
            </a:pPr>
            <a:r>
              <a:rPr lang="en-US" sz="1400" b="1" dirty="0">
                <a:solidFill>
                  <a:srgbClr val="0B1929"/>
                </a:solidFill>
                <a:latin typeface="Calibri" pitchFamily="34" charset="0"/>
                <a:ea typeface="Calibri" pitchFamily="34" charset="-122"/>
                <a:cs typeface="Calibri" pitchFamily="34" charset="-120"/>
              </a:rPr>
              <a:t>Tablet</a:t>
            </a:r>
            <a:endParaRPr lang="en-US" sz="1400" dirty="0"/>
          </a:p>
        </p:txBody>
      </p:sp>
      <p:sp>
        <p:nvSpPr>
          <p:cNvPr id="13" name="Shape 8"/>
          <p:cNvSpPr/>
          <p:nvPr/>
        </p:nvSpPr>
        <p:spPr>
          <a:xfrm>
            <a:off x="7370064" y="1610563"/>
            <a:ext cx="1170432" cy="2448154"/>
          </a:xfrm>
          <a:prstGeom prst="rect">
            <a:avLst/>
          </a:prstGeom>
          <a:solidFill>
            <a:srgbClr val="FFFFFF"/>
          </a:solidFill>
          <a:ln w="12700">
            <a:solidFill>
              <a:srgbClr val="D5DDE6"/>
            </a:solidFill>
            <a:prstDash val="solid"/>
          </a:ln>
          <a:effectLst>
            <a:outerShdw blurRad="76200" dist="25400" dir="5400000" algn="bl" rotWithShape="0">
              <a:srgbClr val="000000">
                <a:alpha val="15000"/>
              </a:srgbClr>
            </a:outerShdw>
          </a:effectLst>
        </p:spPr>
      </p:sp>
      <p:pic>
        <p:nvPicPr>
          <p:cNvPr id="14" name="Image 3" descr="C:/Projects/OGH/evidence/screenshots/11_mobile_homepage_375.jpg"/>
          <p:cNvPicPr>
            <a:picLocks noChangeAspect="1"/>
          </p:cNvPicPr>
          <p:nvPr/>
        </p:nvPicPr>
        <p:blipFill>
          <a:blip r:embed="rId6"/>
          <a:stretch>
            <a:fillRect/>
          </a:stretch>
        </p:blipFill>
        <p:spPr>
          <a:xfrm>
            <a:off x="7406640" y="1647139"/>
            <a:ext cx="1097280" cy="2375002"/>
          </a:xfrm>
          <a:prstGeom prst="rect">
            <a:avLst/>
          </a:prstGeom>
        </p:spPr>
      </p:pic>
      <p:sp>
        <p:nvSpPr>
          <p:cNvPr id="15" name="Shape 9"/>
          <p:cNvSpPr/>
          <p:nvPr/>
        </p:nvSpPr>
        <p:spPr>
          <a:xfrm>
            <a:off x="8741664" y="1610076"/>
            <a:ext cx="1170432" cy="2449129"/>
          </a:xfrm>
          <a:prstGeom prst="rect">
            <a:avLst/>
          </a:prstGeom>
          <a:solidFill>
            <a:srgbClr val="FFFFFF"/>
          </a:solidFill>
          <a:ln w="12700">
            <a:solidFill>
              <a:srgbClr val="D5DDE6"/>
            </a:solidFill>
            <a:prstDash val="solid"/>
          </a:ln>
          <a:effectLst>
            <a:outerShdw blurRad="76200" dist="25400" dir="5400000" algn="bl" rotWithShape="0">
              <a:srgbClr val="000000">
                <a:alpha val="15000"/>
              </a:srgbClr>
            </a:outerShdw>
          </a:effectLst>
        </p:spPr>
      </p:sp>
      <p:pic>
        <p:nvPicPr>
          <p:cNvPr id="16" name="Image 4" descr="C:/Projects/OGH/evidence/screenshots/12_mobile_menu_open.jpg"/>
          <p:cNvPicPr>
            <a:picLocks noChangeAspect="1"/>
          </p:cNvPicPr>
          <p:nvPr/>
        </p:nvPicPr>
        <p:blipFill>
          <a:blip r:embed="rId7"/>
          <a:stretch>
            <a:fillRect/>
          </a:stretch>
        </p:blipFill>
        <p:spPr>
          <a:xfrm>
            <a:off x="8778240" y="1646652"/>
            <a:ext cx="1097280" cy="2375977"/>
          </a:xfrm>
          <a:prstGeom prst="rect">
            <a:avLst/>
          </a:prstGeom>
        </p:spPr>
      </p:pic>
      <p:sp>
        <p:nvSpPr>
          <p:cNvPr id="17" name="Text 10"/>
          <p:cNvSpPr txBox="1"/>
          <p:nvPr/>
        </p:nvSpPr>
        <p:spPr>
          <a:xfrm>
            <a:off x="7406640" y="4114800"/>
            <a:ext cx="2468880" cy="274320"/>
          </a:xfrm>
          <a:prstGeom prst="rect">
            <a:avLst/>
          </a:prstGeom>
          <a:noFill/>
          <a:ln/>
        </p:spPr>
        <p:txBody>
          <a:bodyPr wrap="square" lIns="0" tIns="0" rIns="0" bIns="0" rtlCol="0" anchor="ctr"/>
          <a:lstStyle/>
          <a:p>
            <a:pPr marL="0" indent="0" algn="ctr">
              <a:buNone/>
            </a:pPr>
            <a:r>
              <a:rPr lang="en-US" sz="1400" b="1" dirty="0">
                <a:solidFill>
                  <a:srgbClr val="0B1929"/>
                </a:solidFill>
                <a:latin typeface="Calibri" pitchFamily="34" charset="0"/>
                <a:ea typeface="Calibri" pitchFamily="34" charset="-122"/>
                <a:cs typeface="Calibri" pitchFamily="34" charset="-120"/>
              </a:rPr>
              <a:t>Mobile</a:t>
            </a:r>
            <a:endParaRPr lang="en-US" sz="1400" dirty="0"/>
          </a:p>
        </p:txBody>
      </p:sp>
      <p:sp>
        <p:nvSpPr>
          <p:cNvPr id="20" name="Text 13"/>
          <p:cNvSpPr txBox="1"/>
          <p:nvPr/>
        </p:nvSpPr>
        <p:spPr>
          <a:xfrm>
            <a:off x="548640" y="4846320"/>
            <a:ext cx="11064240" cy="1371600"/>
          </a:xfrm>
          <a:prstGeom prst="rect">
            <a:avLst/>
          </a:prstGeom>
          <a:noFill/>
          <a:ln/>
        </p:spPr>
        <p:txBody>
          <a:bodyPr wrap="square" lIns="0" tIns="0" rIns="0" bIns="0" rtlCol="0" anchor="t"/>
          <a:lstStyle/>
          <a:p>
            <a:pPr marL="342900" indent="-342900">
              <a:spcAft>
                <a:spcPts val="800"/>
              </a:spcAft>
              <a:buSzPct val="100000"/>
              <a:buChar char="•"/>
            </a:pPr>
            <a:r>
              <a:rPr lang="en-US" sz="1500" dirty="0">
                <a:solidFill>
                  <a:srgbClr val="0F172A"/>
                </a:solidFill>
                <a:latin typeface="Calibri" pitchFamily="34" charset="0"/>
                <a:ea typeface="Calibri" pitchFamily="34" charset="-122"/>
                <a:cs typeface="Calibri" pitchFamily="34" charset="-120"/>
              </a:rPr>
              <a:t>Layouts adapt cleanly at desktop, tablet and mobile sizes, with no sideways scrolling.</a:t>
            </a:r>
            <a:endParaRPr lang="en-US" sz="1500" dirty="0"/>
          </a:p>
          <a:p>
            <a:pPr marL="342900" indent="-342900">
              <a:spcAft>
                <a:spcPts val="800"/>
              </a:spcAft>
              <a:buSzPct val="100000"/>
              <a:buChar char="•"/>
            </a:pPr>
            <a:r>
              <a:rPr lang="en-US" sz="1500" dirty="0">
                <a:solidFill>
                  <a:srgbClr val="0F172A"/>
                </a:solidFill>
                <a:latin typeface="Calibri" pitchFamily="34" charset="0"/>
                <a:ea typeface="Calibri" pitchFamily="34" charset="-122"/>
                <a:cs typeface="Calibri" pitchFamily="34" charset="-120"/>
              </a:rPr>
              <a:t>Mobile menu, cart and product pages remain easy to use.</a:t>
            </a:r>
            <a:endParaRPr lang="en-US" sz="1500" dirty="0"/>
          </a:p>
          <a:p>
            <a:pPr marL="342900" indent="-342900">
              <a:spcAft>
                <a:spcPts val="800"/>
              </a:spcAft>
              <a:buSzPct val="100000"/>
              <a:buChar char="•"/>
            </a:pPr>
            <a:r>
              <a:rPr lang="en-US" sz="1500" dirty="0">
                <a:solidFill>
                  <a:srgbClr val="0F172A"/>
                </a:solidFill>
                <a:latin typeface="Calibri" pitchFamily="34" charset="0"/>
                <a:ea typeface="Calibri" pitchFamily="34" charset="-122"/>
                <a:cs typeface="Calibri" pitchFamily="34" charset="-120"/>
              </a:rPr>
              <a:t>Buttons, forms and calls to action were reviewed for consistent behaviour.</a:t>
            </a:r>
            <a:endParaRPr lang="en-US" sz="1500" dirty="0"/>
          </a:p>
          <a:p>
            <a:pPr marL="342900" indent="-342900">
              <a:spcAft>
                <a:spcPts val="800"/>
              </a:spcAft>
              <a:buSzPct val="100000"/>
              <a:buChar char="•"/>
            </a:pPr>
            <a:r>
              <a:rPr lang="en-US" sz="1500" dirty="0">
                <a:solidFill>
                  <a:srgbClr val="0F172A"/>
                </a:solidFill>
                <a:latin typeface="Calibri" pitchFamily="34" charset="0"/>
                <a:ea typeface="Calibri" pitchFamily="34" charset="-122"/>
                <a:cs typeface="Calibri" pitchFamily="34" charset="-120"/>
              </a:rPr>
              <a:t>The gift-basket builder works on mobile.</a:t>
            </a:r>
            <a:endParaRPr lang="en-US" sz="15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365760"/>
            <a:ext cx="8229600" cy="274320"/>
          </a:xfrm>
          <a:prstGeom prst="rect">
            <a:avLst/>
          </a:prstGeom>
          <a:noFill/>
          <a:ln/>
        </p:spPr>
        <p:txBody>
          <a:bodyPr wrap="square" lIns="0" tIns="0" rIns="0" bIns="0" rtlCol="0" anchor="ctr"/>
          <a:lstStyle/>
          <a:p>
            <a:pPr marL="0" indent="0">
              <a:buNone/>
            </a:pPr>
            <a:r>
              <a:rPr lang="en-US" sz="1200" b="1" kern="0" spc="300" dirty="0">
                <a:solidFill>
                  <a:srgbClr val="0086C7"/>
                </a:solidFill>
                <a:latin typeface="Calibri" pitchFamily="34" charset="0"/>
                <a:ea typeface="Calibri" pitchFamily="34" charset="-122"/>
                <a:cs typeface="Calibri" pitchFamily="34" charset="-120"/>
              </a:rPr>
              <a:t>FUNCTIONAL &amp; BUSINESS FLOW VALIDATION</a:t>
            </a:r>
            <a:endParaRPr lang="en-US" sz="1200" dirty="0"/>
          </a:p>
        </p:txBody>
      </p:sp>
      <p:pic>
        <p:nvPicPr>
          <p:cNvPr id="3" name="Image 0" descr="C:/Projects/OGH/build/brand/logo_color_big.png"/>
          <p:cNvPicPr>
            <a:picLocks noChangeAspect="1"/>
          </p:cNvPicPr>
          <p:nvPr/>
        </p:nvPicPr>
        <p:blipFill>
          <a:blip r:embed="rId3"/>
          <a:stretch>
            <a:fillRect/>
          </a:stretch>
        </p:blipFill>
        <p:spPr>
          <a:xfrm>
            <a:off x="10058400" y="347472"/>
            <a:ext cx="1554480" cy="347472"/>
          </a:xfrm>
          <a:prstGeom prst="rect">
            <a:avLst/>
          </a:prstGeom>
        </p:spPr>
      </p:pic>
      <p:sp>
        <p:nvSpPr>
          <p:cNvPr id="4" name="Text 1"/>
          <p:cNvSpPr txBox="1"/>
          <p:nvPr/>
        </p:nvSpPr>
        <p:spPr>
          <a:xfrm>
            <a:off x="548640" y="658368"/>
            <a:ext cx="9326880" cy="731520"/>
          </a:xfrm>
          <a:prstGeom prst="rect">
            <a:avLst/>
          </a:prstGeom>
          <a:noFill/>
          <a:ln/>
        </p:spPr>
        <p:txBody>
          <a:bodyPr wrap="square" lIns="0" tIns="0" rIns="0" bIns="0" rtlCol="0" anchor="t"/>
          <a:lstStyle/>
          <a:p>
            <a:pPr marL="0" indent="0">
              <a:buNone/>
            </a:pPr>
            <a:r>
              <a:rPr lang="en-US" sz="3200" b="1" dirty="0">
                <a:solidFill>
                  <a:srgbClr val="0B1929"/>
                </a:solidFill>
                <a:latin typeface="Calibri" pitchFamily="34" charset="0"/>
                <a:ea typeface="Calibri" pitchFamily="34" charset="-122"/>
                <a:cs typeface="Calibri" pitchFamily="34" charset="-120"/>
              </a:rPr>
              <a:t>Business-critical journeys reviewed</a:t>
            </a:r>
            <a:endParaRPr lang="en-US" sz="3200" dirty="0"/>
          </a:p>
        </p:txBody>
      </p:sp>
      <p:sp>
        <p:nvSpPr>
          <p:cNvPr id="5" name="Text 2"/>
          <p:cNvSpPr txBox="1"/>
          <p:nvPr/>
        </p:nvSpPr>
        <p:spPr>
          <a:xfrm>
            <a:off x="548640" y="6446520"/>
            <a:ext cx="7315200" cy="228600"/>
          </a:xfrm>
          <a:prstGeom prst="rect">
            <a:avLst/>
          </a:prstGeom>
          <a:noFill/>
          <a:ln/>
        </p:spPr>
        <p:txBody>
          <a:bodyPr wrap="square" lIns="0" tIns="0" rIns="0" bIns="0" rtlCol="0" anchor="ctr"/>
          <a:lstStyle/>
          <a:p>
            <a:pPr marL="0" indent="0">
              <a:buNone/>
            </a:pPr>
            <a:r>
              <a:rPr lang="en-US" sz="1000" dirty="0">
                <a:solidFill>
                  <a:srgbClr val="475569"/>
                </a:solidFill>
                <a:latin typeface="Calibri" pitchFamily="34" charset="0"/>
                <a:ea typeface="Calibri" pitchFamily="34" charset="-122"/>
                <a:cs typeface="Calibri" pitchFamily="34" charset="-120"/>
              </a:rPr>
              <a:t>Prepared by WebDesk Solution  |  Our Green House  |  October 2026</a:t>
            </a:r>
            <a:endParaRPr lang="en-US" sz="1000" dirty="0"/>
          </a:p>
        </p:txBody>
      </p:sp>
      <p:sp>
        <p:nvSpPr>
          <p:cNvPr id="6" name="Text 3"/>
          <p:cNvSpPr txBox="1"/>
          <p:nvPr/>
        </p:nvSpPr>
        <p:spPr>
          <a:xfrm>
            <a:off x="11064240" y="6446520"/>
            <a:ext cx="548640" cy="228600"/>
          </a:xfrm>
          <a:prstGeom prst="rect">
            <a:avLst/>
          </a:prstGeom>
          <a:noFill/>
          <a:ln/>
        </p:spPr>
        <p:txBody>
          <a:bodyPr wrap="square" lIns="0" tIns="0" rIns="0" bIns="0" rtlCol="0" anchor="ctr"/>
          <a:lstStyle/>
          <a:p>
            <a:pPr marL="0" indent="0" algn="r">
              <a:buNone/>
            </a:pPr>
            <a:r>
              <a:rPr lang="en-US" sz="1000" dirty="0">
                <a:solidFill>
                  <a:srgbClr val="475569"/>
                </a:solidFill>
                <a:latin typeface="Calibri" pitchFamily="34" charset="0"/>
                <a:ea typeface="Calibri" pitchFamily="34" charset="-122"/>
                <a:cs typeface="Calibri" pitchFamily="34" charset="-120"/>
              </a:rPr>
              <a:t>5</a:t>
            </a:r>
            <a:endParaRPr lang="en-US" sz="1000" dirty="0"/>
          </a:p>
        </p:txBody>
      </p:sp>
      <p:sp>
        <p:nvSpPr>
          <p:cNvPr id="7" name="Shape 4"/>
          <p:cNvSpPr/>
          <p:nvPr/>
        </p:nvSpPr>
        <p:spPr>
          <a:xfrm>
            <a:off x="548640" y="1600200"/>
            <a:ext cx="2606040" cy="1554480"/>
          </a:xfrm>
          <a:prstGeom prst="roundRect">
            <a:avLst>
              <a:gd name="adj" fmla="val 7059"/>
            </a:avLst>
          </a:prstGeom>
          <a:solidFill>
            <a:srgbClr val="F1F5F9"/>
          </a:solidFill>
          <a:ln w="12700">
            <a:solidFill>
              <a:srgbClr val="F1F5F9"/>
            </a:solidFill>
            <a:prstDash val="solid"/>
          </a:ln>
        </p:spPr>
      </p:sp>
      <p:sp>
        <p:nvSpPr>
          <p:cNvPr id="8" name="Shape 5"/>
          <p:cNvSpPr/>
          <p:nvPr/>
        </p:nvSpPr>
        <p:spPr>
          <a:xfrm>
            <a:off x="777240" y="1783080"/>
            <a:ext cx="594360" cy="594360"/>
          </a:xfrm>
          <a:prstGeom prst="ellipse">
            <a:avLst/>
          </a:prstGeom>
          <a:solidFill>
            <a:srgbClr val="0B1929"/>
          </a:solidFill>
          <a:ln w="12700">
            <a:solidFill>
              <a:srgbClr val="0B1929"/>
            </a:solidFill>
            <a:prstDash val="solid"/>
          </a:ln>
        </p:spPr>
      </p:sp>
      <p:pic>
        <p:nvPicPr>
          <p:cNvPr id="9" name="Image 1" descr="preencoded.png"/>
          <p:cNvPicPr>
            <a:picLocks noChangeAspect="1"/>
          </p:cNvPicPr>
          <p:nvPr/>
        </p:nvPicPr>
        <p:blipFill>
          <a:blip r:embed="rId4"/>
          <a:stretch>
            <a:fillRect/>
          </a:stretch>
        </p:blipFill>
        <p:spPr>
          <a:xfrm>
            <a:off x="925830" y="1931670"/>
            <a:ext cx="297180" cy="297180"/>
          </a:xfrm>
          <a:prstGeom prst="rect">
            <a:avLst/>
          </a:prstGeom>
        </p:spPr>
      </p:pic>
      <p:sp>
        <p:nvSpPr>
          <p:cNvPr id="10" name="Text 6"/>
          <p:cNvSpPr txBox="1"/>
          <p:nvPr/>
        </p:nvSpPr>
        <p:spPr>
          <a:xfrm>
            <a:off x="1508760" y="1874520"/>
            <a:ext cx="1554480" cy="411480"/>
          </a:xfrm>
          <a:prstGeom prst="rect">
            <a:avLst/>
          </a:prstGeom>
          <a:noFill/>
          <a:ln/>
        </p:spPr>
        <p:txBody>
          <a:bodyPr wrap="square" lIns="0" tIns="0" rIns="0" bIns="0" rtlCol="0" anchor="ctr"/>
          <a:lstStyle/>
          <a:p>
            <a:pPr marL="0" indent="0">
              <a:buNone/>
            </a:pPr>
            <a:r>
              <a:rPr lang="en-US" sz="1800" b="1" dirty="0">
                <a:solidFill>
                  <a:srgbClr val="0B1929"/>
                </a:solidFill>
                <a:latin typeface="Calibri" pitchFamily="34" charset="0"/>
                <a:ea typeface="Calibri" pitchFamily="34" charset="-122"/>
                <a:cs typeface="Calibri" pitchFamily="34" charset="-120"/>
              </a:rPr>
              <a:t>Discover</a:t>
            </a:r>
            <a:endParaRPr lang="en-US" sz="1800" dirty="0"/>
          </a:p>
        </p:txBody>
      </p:sp>
      <p:sp>
        <p:nvSpPr>
          <p:cNvPr id="11" name="Text 7"/>
          <p:cNvSpPr txBox="1"/>
          <p:nvPr/>
        </p:nvSpPr>
        <p:spPr>
          <a:xfrm>
            <a:off x="777240" y="2514600"/>
            <a:ext cx="2194560" cy="594360"/>
          </a:xfrm>
          <a:prstGeom prst="rect">
            <a:avLst/>
          </a:prstGeom>
          <a:noFill/>
          <a:ln/>
        </p:spPr>
        <p:txBody>
          <a:bodyPr wrap="square" lIns="0" tIns="0" rIns="0" bIns="0" rtlCol="0" anchor="t"/>
          <a:lstStyle/>
          <a:p>
            <a:pPr marL="0" indent="0">
              <a:buNone/>
            </a:pPr>
            <a:r>
              <a:rPr lang="en-US" sz="1200" dirty="0">
                <a:solidFill>
                  <a:srgbClr val="0F172A"/>
                </a:solidFill>
                <a:latin typeface="Calibri" pitchFamily="34" charset="0"/>
                <a:ea typeface="Calibri" pitchFamily="34" charset="-122"/>
                <a:cs typeface="Calibri" pitchFamily="34" charset="-120"/>
              </a:rPr>
              <a:t>Search and category browsing</a:t>
            </a:r>
            <a:endParaRPr lang="en-US" sz="1200" dirty="0"/>
          </a:p>
        </p:txBody>
      </p:sp>
      <p:sp>
        <p:nvSpPr>
          <p:cNvPr id="12" name="Shape 8"/>
          <p:cNvSpPr/>
          <p:nvPr/>
        </p:nvSpPr>
        <p:spPr>
          <a:xfrm>
            <a:off x="3383280" y="1600200"/>
            <a:ext cx="2606040" cy="1554480"/>
          </a:xfrm>
          <a:prstGeom prst="roundRect">
            <a:avLst>
              <a:gd name="adj" fmla="val 7059"/>
            </a:avLst>
          </a:prstGeom>
          <a:solidFill>
            <a:srgbClr val="F1F5F9"/>
          </a:solidFill>
          <a:ln w="12700">
            <a:solidFill>
              <a:srgbClr val="F1F5F9"/>
            </a:solidFill>
            <a:prstDash val="solid"/>
          </a:ln>
        </p:spPr>
      </p:sp>
      <p:sp>
        <p:nvSpPr>
          <p:cNvPr id="13" name="Shape 9"/>
          <p:cNvSpPr/>
          <p:nvPr/>
        </p:nvSpPr>
        <p:spPr>
          <a:xfrm>
            <a:off x="3611880" y="1783080"/>
            <a:ext cx="594360" cy="594360"/>
          </a:xfrm>
          <a:prstGeom prst="ellipse">
            <a:avLst/>
          </a:prstGeom>
          <a:solidFill>
            <a:srgbClr val="0B1929"/>
          </a:solidFill>
          <a:ln w="12700">
            <a:solidFill>
              <a:srgbClr val="0B1929"/>
            </a:solidFill>
            <a:prstDash val="solid"/>
          </a:ln>
        </p:spPr>
      </p:sp>
      <p:pic>
        <p:nvPicPr>
          <p:cNvPr id="14" name="Image 2" descr="preencoded.png"/>
          <p:cNvPicPr>
            <a:picLocks noChangeAspect="1"/>
          </p:cNvPicPr>
          <p:nvPr/>
        </p:nvPicPr>
        <p:blipFill>
          <a:blip r:embed="rId5"/>
          <a:stretch>
            <a:fillRect/>
          </a:stretch>
        </p:blipFill>
        <p:spPr>
          <a:xfrm>
            <a:off x="3760470" y="1931670"/>
            <a:ext cx="297180" cy="297180"/>
          </a:xfrm>
          <a:prstGeom prst="rect">
            <a:avLst/>
          </a:prstGeom>
        </p:spPr>
      </p:pic>
      <p:sp>
        <p:nvSpPr>
          <p:cNvPr id="15" name="Text 10"/>
          <p:cNvSpPr txBox="1"/>
          <p:nvPr/>
        </p:nvSpPr>
        <p:spPr>
          <a:xfrm>
            <a:off x="4343400" y="1874520"/>
            <a:ext cx="1554480" cy="411480"/>
          </a:xfrm>
          <a:prstGeom prst="rect">
            <a:avLst/>
          </a:prstGeom>
          <a:noFill/>
          <a:ln/>
        </p:spPr>
        <p:txBody>
          <a:bodyPr wrap="square" lIns="0" tIns="0" rIns="0" bIns="0" rtlCol="0" anchor="ctr"/>
          <a:lstStyle/>
          <a:p>
            <a:pPr marL="0" indent="0">
              <a:buNone/>
            </a:pPr>
            <a:r>
              <a:rPr lang="en-US" sz="1800" b="1" dirty="0">
                <a:solidFill>
                  <a:srgbClr val="0B1929"/>
                </a:solidFill>
                <a:latin typeface="Calibri" pitchFamily="34" charset="0"/>
                <a:ea typeface="Calibri" pitchFamily="34" charset="-122"/>
                <a:cs typeface="Calibri" pitchFamily="34" charset="-120"/>
              </a:rPr>
              <a:t>Choose</a:t>
            </a:r>
            <a:endParaRPr lang="en-US" sz="1800" dirty="0"/>
          </a:p>
        </p:txBody>
      </p:sp>
      <p:sp>
        <p:nvSpPr>
          <p:cNvPr id="16" name="Text 11"/>
          <p:cNvSpPr txBox="1"/>
          <p:nvPr/>
        </p:nvSpPr>
        <p:spPr>
          <a:xfrm>
            <a:off x="3611880" y="2514600"/>
            <a:ext cx="2194560" cy="594360"/>
          </a:xfrm>
          <a:prstGeom prst="rect">
            <a:avLst/>
          </a:prstGeom>
          <a:noFill/>
          <a:ln/>
        </p:spPr>
        <p:txBody>
          <a:bodyPr wrap="square" lIns="0" tIns="0" rIns="0" bIns="0" rtlCol="0" anchor="t"/>
          <a:lstStyle/>
          <a:p>
            <a:pPr marL="0" indent="0">
              <a:buNone/>
            </a:pPr>
            <a:r>
              <a:rPr lang="en-US" sz="1200" dirty="0">
                <a:solidFill>
                  <a:srgbClr val="0F172A"/>
                </a:solidFill>
                <a:latin typeface="Calibri" pitchFamily="34" charset="0"/>
                <a:ea typeface="Calibri" pitchFamily="34" charset="-122"/>
                <a:cs typeface="Calibri" pitchFamily="34" charset="-120"/>
              </a:rPr>
              <a:t>Product pages and the Make Your Own Gift Basket builder</a:t>
            </a:r>
            <a:endParaRPr lang="en-US" sz="1200" dirty="0"/>
          </a:p>
        </p:txBody>
      </p:sp>
      <p:sp>
        <p:nvSpPr>
          <p:cNvPr id="17" name="Shape 12"/>
          <p:cNvSpPr/>
          <p:nvPr/>
        </p:nvSpPr>
        <p:spPr>
          <a:xfrm>
            <a:off x="6217920" y="1600200"/>
            <a:ext cx="2606040" cy="1554480"/>
          </a:xfrm>
          <a:prstGeom prst="roundRect">
            <a:avLst>
              <a:gd name="adj" fmla="val 7059"/>
            </a:avLst>
          </a:prstGeom>
          <a:solidFill>
            <a:srgbClr val="F1F5F9"/>
          </a:solidFill>
          <a:ln w="12700">
            <a:solidFill>
              <a:srgbClr val="F1F5F9"/>
            </a:solidFill>
            <a:prstDash val="solid"/>
          </a:ln>
        </p:spPr>
      </p:sp>
      <p:sp>
        <p:nvSpPr>
          <p:cNvPr id="18" name="Shape 13"/>
          <p:cNvSpPr/>
          <p:nvPr/>
        </p:nvSpPr>
        <p:spPr>
          <a:xfrm>
            <a:off x="6446520" y="1783080"/>
            <a:ext cx="594360" cy="594360"/>
          </a:xfrm>
          <a:prstGeom prst="ellipse">
            <a:avLst/>
          </a:prstGeom>
          <a:solidFill>
            <a:srgbClr val="0B1929"/>
          </a:solidFill>
          <a:ln w="12700">
            <a:solidFill>
              <a:srgbClr val="0B1929"/>
            </a:solidFill>
            <a:prstDash val="solid"/>
          </a:ln>
        </p:spPr>
      </p:sp>
      <p:pic>
        <p:nvPicPr>
          <p:cNvPr id="19" name="Image 3" descr="preencoded.png"/>
          <p:cNvPicPr>
            <a:picLocks noChangeAspect="1"/>
          </p:cNvPicPr>
          <p:nvPr/>
        </p:nvPicPr>
        <p:blipFill>
          <a:blip r:embed="rId6"/>
          <a:stretch>
            <a:fillRect/>
          </a:stretch>
        </p:blipFill>
        <p:spPr>
          <a:xfrm>
            <a:off x="6595110" y="1931670"/>
            <a:ext cx="297180" cy="297180"/>
          </a:xfrm>
          <a:prstGeom prst="rect">
            <a:avLst/>
          </a:prstGeom>
        </p:spPr>
      </p:pic>
      <p:sp>
        <p:nvSpPr>
          <p:cNvPr id="20" name="Text 14"/>
          <p:cNvSpPr txBox="1"/>
          <p:nvPr/>
        </p:nvSpPr>
        <p:spPr>
          <a:xfrm>
            <a:off x="7178040" y="1874520"/>
            <a:ext cx="1554480" cy="411480"/>
          </a:xfrm>
          <a:prstGeom prst="rect">
            <a:avLst/>
          </a:prstGeom>
          <a:noFill/>
          <a:ln/>
        </p:spPr>
        <p:txBody>
          <a:bodyPr wrap="square" lIns="0" tIns="0" rIns="0" bIns="0" rtlCol="0" anchor="ctr"/>
          <a:lstStyle/>
          <a:p>
            <a:pPr marL="0" indent="0">
              <a:buNone/>
            </a:pPr>
            <a:r>
              <a:rPr lang="en-US" sz="1800" b="1" dirty="0">
                <a:solidFill>
                  <a:srgbClr val="0B1929"/>
                </a:solidFill>
                <a:latin typeface="Calibri" pitchFamily="34" charset="0"/>
                <a:ea typeface="Calibri" pitchFamily="34" charset="-122"/>
                <a:cs typeface="Calibri" pitchFamily="34" charset="-120"/>
              </a:rPr>
              <a:t>Cart</a:t>
            </a:r>
            <a:endParaRPr lang="en-US" sz="1800" dirty="0"/>
          </a:p>
        </p:txBody>
      </p:sp>
      <p:sp>
        <p:nvSpPr>
          <p:cNvPr id="21" name="Text 15"/>
          <p:cNvSpPr txBox="1"/>
          <p:nvPr/>
        </p:nvSpPr>
        <p:spPr>
          <a:xfrm>
            <a:off x="6446520" y="2514600"/>
            <a:ext cx="2194560" cy="594360"/>
          </a:xfrm>
          <a:prstGeom prst="rect">
            <a:avLst/>
          </a:prstGeom>
          <a:noFill/>
          <a:ln/>
        </p:spPr>
        <p:txBody>
          <a:bodyPr wrap="square" lIns="0" tIns="0" rIns="0" bIns="0" rtlCol="0" anchor="t"/>
          <a:lstStyle/>
          <a:p>
            <a:pPr marL="0" indent="0">
              <a:buNone/>
            </a:pPr>
            <a:r>
              <a:rPr lang="en-US" sz="1200" dirty="0">
                <a:solidFill>
                  <a:srgbClr val="0F172A"/>
                </a:solidFill>
                <a:latin typeface="Calibri" pitchFamily="34" charset="0"/>
                <a:ea typeface="Calibri" pitchFamily="34" charset="-122"/>
                <a:cs typeface="Calibri" pitchFamily="34" charset="-120"/>
              </a:rPr>
              <a:t>Add, update quantity, remove, coupon check</a:t>
            </a:r>
            <a:endParaRPr lang="en-US" sz="1200" dirty="0"/>
          </a:p>
        </p:txBody>
      </p:sp>
      <p:sp>
        <p:nvSpPr>
          <p:cNvPr id="22" name="Shape 16"/>
          <p:cNvSpPr/>
          <p:nvPr/>
        </p:nvSpPr>
        <p:spPr>
          <a:xfrm>
            <a:off x="9052560" y="1600200"/>
            <a:ext cx="2606040" cy="1554480"/>
          </a:xfrm>
          <a:prstGeom prst="roundRect">
            <a:avLst>
              <a:gd name="adj" fmla="val 7059"/>
            </a:avLst>
          </a:prstGeom>
          <a:solidFill>
            <a:srgbClr val="F1F5F9"/>
          </a:solidFill>
          <a:ln w="12700">
            <a:solidFill>
              <a:srgbClr val="F1F5F9"/>
            </a:solidFill>
            <a:prstDash val="solid"/>
          </a:ln>
        </p:spPr>
      </p:sp>
      <p:sp>
        <p:nvSpPr>
          <p:cNvPr id="23" name="Shape 17"/>
          <p:cNvSpPr/>
          <p:nvPr/>
        </p:nvSpPr>
        <p:spPr>
          <a:xfrm>
            <a:off x="9281160" y="1783080"/>
            <a:ext cx="594360" cy="594360"/>
          </a:xfrm>
          <a:prstGeom prst="ellipse">
            <a:avLst/>
          </a:prstGeom>
          <a:solidFill>
            <a:srgbClr val="0B1929"/>
          </a:solidFill>
          <a:ln w="12700">
            <a:solidFill>
              <a:srgbClr val="0B1929"/>
            </a:solidFill>
            <a:prstDash val="solid"/>
          </a:ln>
        </p:spPr>
      </p:sp>
      <p:pic>
        <p:nvPicPr>
          <p:cNvPr id="24" name="Image 4" descr="preencoded.png"/>
          <p:cNvPicPr>
            <a:picLocks noChangeAspect="1"/>
          </p:cNvPicPr>
          <p:nvPr/>
        </p:nvPicPr>
        <p:blipFill>
          <a:blip r:embed="rId7"/>
          <a:stretch>
            <a:fillRect/>
          </a:stretch>
        </p:blipFill>
        <p:spPr>
          <a:xfrm>
            <a:off x="9429750" y="1931670"/>
            <a:ext cx="297180" cy="297180"/>
          </a:xfrm>
          <a:prstGeom prst="rect">
            <a:avLst/>
          </a:prstGeom>
        </p:spPr>
      </p:pic>
      <p:sp>
        <p:nvSpPr>
          <p:cNvPr id="25" name="Text 18"/>
          <p:cNvSpPr txBox="1"/>
          <p:nvPr/>
        </p:nvSpPr>
        <p:spPr>
          <a:xfrm>
            <a:off x="10012680" y="1874520"/>
            <a:ext cx="1554480" cy="411480"/>
          </a:xfrm>
          <a:prstGeom prst="rect">
            <a:avLst/>
          </a:prstGeom>
          <a:noFill/>
          <a:ln/>
        </p:spPr>
        <p:txBody>
          <a:bodyPr wrap="square" lIns="0" tIns="0" rIns="0" bIns="0" rtlCol="0" anchor="ctr"/>
          <a:lstStyle/>
          <a:p>
            <a:pPr marL="0" indent="0">
              <a:buNone/>
            </a:pPr>
            <a:r>
              <a:rPr lang="en-US" sz="1800" b="1" dirty="0">
                <a:solidFill>
                  <a:srgbClr val="0B1929"/>
                </a:solidFill>
                <a:latin typeface="Calibri" pitchFamily="34" charset="0"/>
                <a:ea typeface="Calibri" pitchFamily="34" charset="-122"/>
                <a:cs typeface="Calibri" pitchFamily="34" charset="-120"/>
              </a:rPr>
              <a:t>Checkout</a:t>
            </a:r>
            <a:endParaRPr lang="en-US" sz="1800" dirty="0"/>
          </a:p>
        </p:txBody>
      </p:sp>
      <p:sp>
        <p:nvSpPr>
          <p:cNvPr id="26" name="Text 19"/>
          <p:cNvSpPr txBox="1"/>
          <p:nvPr/>
        </p:nvSpPr>
        <p:spPr>
          <a:xfrm>
            <a:off x="9281160" y="2514600"/>
            <a:ext cx="2194560" cy="594360"/>
          </a:xfrm>
          <a:prstGeom prst="rect">
            <a:avLst/>
          </a:prstGeom>
          <a:noFill/>
          <a:ln/>
        </p:spPr>
        <p:txBody>
          <a:bodyPr wrap="square" lIns="0" tIns="0" rIns="0" bIns="0" rtlCol="0" anchor="t"/>
          <a:lstStyle/>
          <a:p>
            <a:pPr marL="0" indent="0">
              <a:buNone/>
            </a:pPr>
            <a:r>
              <a:rPr lang="en-US" sz="1200" dirty="0">
                <a:solidFill>
                  <a:srgbClr val="0F172A"/>
                </a:solidFill>
                <a:latin typeface="Calibri" pitchFamily="34" charset="0"/>
                <a:ea typeface="Calibri" pitchFamily="34" charset="-122"/>
                <a:cs typeface="Calibri" pitchFamily="34" charset="-120"/>
              </a:rPr>
              <a:t>Reviewed up to the payment boundary</a:t>
            </a:r>
            <a:endParaRPr lang="en-US" sz="1200" dirty="0"/>
          </a:p>
        </p:txBody>
      </p:sp>
      <p:sp>
        <p:nvSpPr>
          <p:cNvPr id="27" name="Shape 20"/>
          <p:cNvSpPr/>
          <p:nvPr/>
        </p:nvSpPr>
        <p:spPr>
          <a:xfrm>
            <a:off x="512064" y="3400997"/>
            <a:ext cx="3456432" cy="1976247"/>
          </a:xfrm>
          <a:prstGeom prst="rect">
            <a:avLst/>
          </a:prstGeom>
          <a:solidFill>
            <a:srgbClr val="FFFFFF"/>
          </a:solidFill>
          <a:ln w="12700">
            <a:solidFill>
              <a:srgbClr val="D5DDE6"/>
            </a:solidFill>
            <a:prstDash val="solid"/>
          </a:ln>
          <a:effectLst>
            <a:outerShdw blurRad="76200" dist="25400" dir="5400000" algn="bl" rotWithShape="0">
              <a:srgbClr val="000000">
                <a:alpha val="15000"/>
              </a:srgbClr>
            </a:outerShdw>
          </a:effectLst>
        </p:spPr>
      </p:sp>
      <p:pic>
        <p:nvPicPr>
          <p:cNvPr id="28" name="Image 5" descr="C:/Projects/OGH/evidence/screenshots/04_desktop_add_to_cart_modal.jpg"/>
          <p:cNvPicPr>
            <a:picLocks noChangeAspect="1"/>
          </p:cNvPicPr>
          <p:nvPr/>
        </p:nvPicPr>
        <p:blipFill>
          <a:blip r:embed="rId8"/>
          <a:stretch>
            <a:fillRect/>
          </a:stretch>
        </p:blipFill>
        <p:spPr>
          <a:xfrm>
            <a:off x="548640" y="3437573"/>
            <a:ext cx="3383280" cy="1903095"/>
          </a:xfrm>
          <a:prstGeom prst="rect">
            <a:avLst/>
          </a:prstGeom>
        </p:spPr>
      </p:pic>
      <p:sp>
        <p:nvSpPr>
          <p:cNvPr id="29" name="Shape 21"/>
          <p:cNvSpPr/>
          <p:nvPr/>
        </p:nvSpPr>
        <p:spPr>
          <a:xfrm>
            <a:off x="4078224" y="3400997"/>
            <a:ext cx="3456432" cy="1976247"/>
          </a:xfrm>
          <a:prstGeom prst="rect">
            <a:avLst/>
          </a:prstGeom>
          <a:solidFill>
            <a:srgbClr val="FFFFFF"/>
          </a:solidFill>
          <a:ln w="12700">
            <a:solidFill>
              <a:srgbClr val="D5DDE6"/>
            </a:solidFill>
            <a:prstDash val="solid"/>
          </a:ln>
          <a:effectLst>
            <a:outerShdw blurRad="76200" dist="25400" dir="5400000" algn="bl" rotWithShape="0">
              <a:srgbClr val="000000">
                <a:alpha val="15000"/>
              </a:srgbClr>
            </a:outerShdw>
          </a:effectLst>
        </p:spPr>
      </p:sp>
      <p:pic>
        <p:nvPicPr>
          <p:cNvPr id="30" name="Image 6" descr="C:/Projects/OGH/build/brand/coupon_clean.jpg"/>
          <p:cNvPicPr>
            <a:picLocks noChangeAspect="1"/>
          </p:cNvPicPr>
          <p:nvPr/>
        </p:nvPicPr>
        <p:blipFill>
          <a:blip r:embed="rId9"/>
          <a:stretch>
            <a:fillRect/>
          </a:stretch>
        </p:blipFill>
        <p:spPr>
          <a:xfrm>
            <a:off x="4114800" y="3437573"/>
            <a:ext cx="3383280" cy="1903095"/>
          </a:xfrm>
          <a:prstGeom prst="rect">
            <a:avLst/>
          </a:prstGeom>
        </p:spPr>
      </p:pic>
      <p:sp>
        <p:nvSpPr>
          <p:cNvPr id="31" name="Shape 22"/>
          <p:cNvSpPr/>
          <p:nvPr/>
        </p:nvSpPr>
        <p:spPr>
          <a:xfrm>
            <a:off x="7647901" y="3392424"/>
            <a:ext cx="3449398" cy="1993392"/>
          </a:xfrm>
          <a:prstGeom prst="rect">
            <a:avLst/>
          </a:prstGeom>
          <a:solidFill>
            <a:srgbClr val="FFFFFF"/>
          </a:solidFill>
          <a:ln w="12700">
            <a:solidFill>
              <a:srgbClr val="D5DDE6"/>
            </a:solidFill>
            <a:prstDash val="solid"/>
          </a:ln>
          <a:effectLst>
            <a:outerShdw blurRad="76200" dist="25400" dir="5400000" algn="bl" rotWithShape="0">
              <a:srgbClr val="000000">
                <a:alpha val="15000"/>
              </a:srgbClr>
            </a:outerShdw>
          </a:effectLst>
        </p:spPr>
      </p:sp>
      <p:pic>
        <p:nvPicPr>
          <p:cNvPr id="32" name="Image 7" descr="C:/Projects/OGH/evidence/screenshots/08_desktop_checkout_guest_email_step.jpg"/>
          <p:cNvPicPr>
            <a:picLocks noChangeAspect="1"/>
          </p:cNvPicPr>
          <p:nvPr/>
        </p:nvPicPr>
        <p:blipFill>
          <a:blip r:embed="rId10"/>
          <a:stretch>
            <a:fillRect/>
          </a:stretch>
        </p:blipFill>
        <p:spPr>
          <a:xfrm>
            <a:off x="7684477" y="3429000"/>
            <a:ext cx="3376246" cy="1920240"/>
          </a:xfrm>
          <a:prstGeom prst="rect">
            <a:avLst/>
          </a:prstGeom>
        </p:spPr>
      </p:pic>
      <p:sp>
        <p:nvSpPr>
          <p:cNvPr id="33" name="Text 23"/>
          <p:cNvSpPr txBox="1"/>
          <p:nvPr/>
        </p:nvSpPr>
        <p:spPr>
          <a:xfrm>
            <a:off x="548640" y="5440680"/>
            <a:ext cx="3383280" cy="274320"/>
          </a:xfrm>
          <a:prstGeom prst="rect">
            <a:avLst/>
          </a:prstGeom>
          <a:noFill/>
          <a:ln/>
        </p:spPr>
        <p:txBody>
          <a:bodyPr wrap="square" lIns="0" tIns="0" rIns="0" bIns="0" rtlCol="0" anchor="ctr"/>
          <a:lstStyle/>
          <a:p>
            <a:pPr marL="0" indent="0" algn="ctr">
              <a:buNone/>
            </a:pPr>
            <a:r>
              <a:rPr lang="en-US" sz="1200" dirty="0">
                <a:solidFill>
                  <a:srgbClr val="475569"/>
                </a:solidFill>
                <a:latin typeface="Calibri" pitchFamily="34" charset="0"/>
                <a:ea typeface="Calibri" pitchFamily="34" charset="-122"/>
                <a:cs typeface="Calibri" pitchFamily="34" charset="-120"/>
              </a:rPr>
              <a:t>Add to cart</a:t>
            </a:r>
            <a:endParaRPr lang="en-US" sz="1200" dirty="0"/>
          </a:p>
        </p:txBody>
      </p:sp>
      <p:sp>
        <p:nvSpPr>
          <p:cNvPr id="34" name="Text 24"/>
          <p:cNvSpPr txBox="1"/>
          <p:nvPr/>
        </p:nvSpPr>
        <p:spPr>
          <a:xfrm>
            <a:off x="4114800" y="5440680"/>
            <a:ext cx="3383280" cy="274320"/>
          </a:xfrm>
          <a:prstGeom prst="rect">
            <a:avLst/>
          </a:prstGeom>
          <a:noFill/>
          <a:ln/>
        </p:spPr>
        <p:txBody>
          <a:bodyPr wrap="square" lIns="0" tIns="0" rIns="0" bIns="0" rtlCol="0" anchor="ctr"/>
          <a:lstStyle/>
          <a:p>
            <a:pPr marL="0" indent="0" algn="ctr">
              <a:buNone/>
            </a:pPr>
            <a:r>
              <a:rPr lang="en-US" sz="1200" dirty="0">
                <a:solidFill>
                  <a:srgbClr val="475569"/>
                </a:solidFill>
                <a:latin typeface="Calibri" pitchFamily="34" charset="0"/>
                <a:ea typeface="Calibri" pitchFamily="34" charset="-122"/>
                <a:cs typeface="Calibri" pitchFamily="34" charset="-120"/>
              </a:rPr>
              <a:t>Invalid coupon message</a:t>
            </a:r>
            <a:endParaRPr lang="en-US" sz="1200" dirty="0"/>
          </a:p>
        </p:txBody>
      </p:sp>
      <p:sp>
        <p:nvSpPr>
          <p:cNvPr id="35" name="Text 25"/>
          <p:cNvSpPr txBox="1"/>
          <p:nvPr/>
        </p:nvSpPr>
        <p:spPr>
          <a:xfrm>
            <a:off x="7680960" y="5440680"/>
            <a:ext cx="3383280" cy="274320"/>
          </a:xfrm>
          <a:prstGeom prst="rect">
            <a:avLst/>
          </a:prstGeom>
          <a:noFill/>
          <a:ln/>
        </p:spPr>
        <p:txBody>
          <a:bodyPr wrap="square" lIns="0" tIns="0" rIns="0" bIns="0" rtlCol="0" anchor="ctr"/>
          <a:lstStyle/>
          <a:p>
            <a:pPr marL="0" indent="0" algn="ctr">
              <a:buNone/>
            </a:pPr>
            <a:r>
              <a:rPr lang="en-US" sz="1200" dirty="0">
                <a:solidFill>
                  <a:srgbClr val="475569"/>
                </a:solidFill>
                <a:latin typeface="Calibri" pitchFamily="34" charset="0"/>
                <a:ea typeface="Calibri" pitchFamily="34" charset="-122"/>
                <a:cs typeface="Calibri" pitchFamily="34" charset="-120"/>
              </a:rPr>
              <a:t>Guest checkout</a:t>
            </a:r>
            <a:endParaRPr lang="en-US" sz="1200" dirty="0"/>
          </a:p>
        </p:txBody>
      </p:sp>
      <p:sp>
        <p:nvSpPr>
          <p:cNvPr id="36" name="Text 26"/>
          <p:cNvSpPr txBox="1"/>
          <p:nvPr/>
        </p:nvSpPr>
        <p:spPr>
          <a:xfrm>
            <a:off x="548640" y="5852160"/>
            <a:ext cx="11064240" cy="548640"/>
          </a:xfrm>
          <a:prstGeom prst="rect">
            <a:avLst/>
          </a:prstGeom>
          <a:noFill/>
          <a:ln/>
        </p:spPr>
        <p:txBody>
          <a:bodyPr wrap="square" lIns="0" tIns="0" rIns="0" bIns="0" rtlCol="0" anchor="t"/>
          <a:lstStyle/>
          <a:p>
            <a:pPr marL="0" indent="0">
              <a:buNone/>
            </a:pPr>
            <a:r>
              <a:rPr lang="en-US" sz="1200" i="1" dirty="0">
                <a:solidFill>
                  <a:srgbClr val="475569"/>
                </a:solidFill>
                <a:latin typeface="Calibri" pitchFamily="34" charset="0"/>
                <a:ea typeface="Calibri" pitchFamily="34" charset="-122"/>
                <a:cs typeface="Calibri" pitchFamily="34" charset="-120"/>
              </a:rPr>
              <a:t>The customer journey from product discovery through checkout was reviewed, with payment submission excluded from the live store. Contact and newsletter form submissions were also excluded to avoid sending real communications.</a:t>
            </a:r>
            <a:endParaRPr lang="en-US" sz="12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365760"/>
            <a:ext cx="8229600" cy="274320"/>
          </a:xfrm>
          <a:prstGeom prst="rect">
            <a:avLst/>
          </a:prstGeom>
          <a:noFill/>
          <a:ln/>
        </p:spPr>
        <p:txBody>
          <a:bodyPr wrap="square" lIns="0" tIns="0" rIns="0" bIns="0" rtlCol="0" anchor="ctr"/>
          <a:lstStyle/>
          <a:p>
            <a:pPr marL="0" indent="0">
              <a:buNone/>
            </a:pPr>
            <a:r>
              <a:rPr lang="en-US" sz="1200" b="1" kern="0" spc="300" dirty="0">
                <a:solidFill>
                  <a:srgbClr val="0086C7"/>
                </a:solidFill>
                <a:latin typeface="Calibri" pitchFamily="34" charset="0"/>
                <a:ea typeface="Calibri" pitchFamily="34" charset="-122"/>
                <a:cs typeface="Calibri" pitchFamily="34" charset="-120"/>
              </a:rPr>
              <a:t>TECHNICAL HEALTH</a:t>
            </a:r>
            <a:endParaRPr lang="en-US" sz="1200" dirty="0"/>
          </a:p>
        </p:txBody>
      </p:sp>
      <p:pic>
        <p:nvPicPr>
          <p:cNvPr id="3" name="Image 0" descr="C:/Projects/OGH/build/brand/logo_color_big.png"/>
          <p:cNvPicPr>
            <a:picLocks noChangeAspect="1"/>
          </p:cNvPicPr>
          <p:nvPr/>
        </p:nvPicPr>
        <p:blipFill>
          <a:blip r:embed="rId3"/>
          <a:stretch>
            <a:fillRect/>
          </a:stretch>
        </p:blipFill>
        <p:spPr>
          <a:xfrm>
            <a:off x="10058400" y="347472"/>
            <a:ext cx="1554480" cy="347472"/>
          </a:xfrm>
          <a:prstGeom prst="rect">
            <a:avLst/>
          </a:prstGeom>
        </p:spPr>
      </p:pic>
      <p:sp>
        <p:nvSpPr>
          <p:cNvPr id="4" name="Text 1"/>
          <p:cNvSpPr txBox="1"/>
          <p:nvPr/>
        </p:nvSpPr>
        <p:spPr>
          <a:xfrm>
            <a:off x="548640" y="658368"/>
            <a:ext cx="9326880" cy="731520"/>
          </a:xfrm>
          <a:prstGeom prst="rect">
            <a:avLst/>
          </a:prstGeom>
          <a:noFill/>
          <a:ln/>
        </p:spPr>
        <p:txBody>
          <a:bodyPr wrap="square" lIns="0" tIns="0" rIns="0" bIns="0" rtlCol="0" anchor="t"/>
          <a:lstStyle/>
          <a:p>
            <a:pPr marL="0" indent="0">
              <a:buNone/>
            </a:pPr>
            <a:r>
              <a:rPr lang="en-US" sz="3200" b="1" dirty="0">
                <a:solidFill>
                  <a:srgbClr val="0B1929"/>
                </a:solidFill>
                <a:latin typeface="Calibri" pitchFamily="34" charset="0"/>
                <a:ea typeface="Calibri" pitchFamily="34" charset="-122"/>
                <a:cs typeface="Calibri" pitchFamily="34" charset="-120"/>
              </a:rPr>
              <a:t>Technical health monitoring</a:t>
            </a:r>
            <a:endParaRPr lang="en-US" sz="3200" dirty="0"/>
          </a:p>
        </p:txBody>
      </p:sp>
      <p:sp>
        <p:nvSpPr>
          <p:cNvPr id="5" name="Text 2"/>
          <p:cNvSpPr txBox="1"/>
          <p:nvPr/>
        </p:nvSpPr>
        <p:spPr>
          <a:xfrm>
            <a:off x="548640" y="6446520"/>
            <a:ext cx="7315200" cy="228600"/>
          </a:xfrm>
          <a:prstGeom prst="rect">
            <a:avLst/>
          </a:prstGeom>
          <a:noFill/>
          <a:ln/>
        </p:spPr>
        <p:txBody>
          <a:bodyPr wrap="square" lIns="0" tIns="0" rIns="0" bIns="0" rtlCol="0" anchor="ctr"/>
          <a:lstStyle/>
          <a:p>
            <a:pPr marL="0" indent="0">
              <a:buNone/>
            </a:pPr>
            <a:r>
              <a:rPr lang="en-US" sz="1000" dirty="0">
                <a:solidFill>
                  <a:srgbClr val="475569"/>
                </a:solidFill>
                <a:latin typeface="Calibri" pitchFamily="34" charset="0"/>
                <a:ea typeface="Calibri" pitchFamily="34" charset="-122"/>
                <a:cs typeface="Calibri" pitchFamily="34" charset="-120"/>
              </a:rPr>
              <a:t>Prepared by WebDesk Solution  |  Our Green House  |  October 2026</a:t>
            </a:r>
            <a:endParaRPr lang="en-US" sz="1000" dirty="0"/>
          </a:p>
        </p:txBody>
      </p:sp>
      <p:sp>
        <p:nvSpPr>
          <p:cNvPr id="6" name="Text 3"/>
          <p:cNvSpPr txBox="1"/>
          <p:nvPr/>
        </p:nvSpPr>
        <p:spPr>
          <a:xfrm>
            <a:off x="11064240" y="6446520"/>
            <a:ext cx="548640" cy="228600"/>
          </a:xfrm>
          <a:prstGeom prst="rect">
            <a:avLst/>
          </a:prstGeom>
          <a:noFill/>
          <a:ln/>
        </p:spPr>
        <p:txBody>
          <a:bodyPr wrap="square" lIns="0" tIns="0" rIns="0" bIns="0" rtlCol="0" anchor="ctr"/>
          <a:lstStyle/>
          <a:p>
            <a:pPr marL="0" indent="0" algn="r">
              <a:buNone/>
            </a:pPr>
            <a:r>
              <a:rPr lang="en-US" sz="1000" dirty="0">
                <a:solidFill>
                  <a:srgbClr val="475569"/>
                </a:solidFill>
                <a:latin typeface="Calibri" pitchFamily="34" charset="0"/>
                <a:ea typeface="Calibri" pitchFamily="34" charset="-122"/>
                <a:cs typeface="Calibri" pitchFamily="34" charset="-120"/>
              </a:rPr>
              <a:t>6</a:t>
            </a:r>
            <a:endParaRPr lang="en-US" sz="1000" dirty="0"/>
          </a:p>
        </p:txBody>
      </p:sp>
      <p:sp>
        <p:nvSpPr>
          <p:cNvPr id="7" name="Text 4"/>
          <p:cNvSpPr txBox="1"/>
          <p:nvPr/>
        </p:nvSpPr>
        <p:spPr>
          <a:xfrm>
            <a:off x="548640" y="1554480"/>
            <a:ext cx="5303520" cy="320040"/>
          </a:xfrm>
          <a:prstGeom prst="rect">
            <a:avLst/>
          </a:prstGeom>
          <a:noFill/>
          <a:ln/>
        </p:spPr>
        <p:txBody>
          <a:bodyPr wrap="square" lIns="0" tIns="0" rIns="0" bIns="0" rtlCol="0" anchor="ctr"/>
          <a:lstStyle/>
          <a:p>
            <a:pPr marL="0" indent="0">
              <a:buNone/>
            </a:pPr>
            <a:r>
              <a:rPr lang="en-US" sz="1300" b="1" dirty="0">
                <a:solidFill>
                  <a:srgbClr val="0086C7"/>
                </a:solidFill>
                <a:latin typeface="Calibri" pitchFamily="34" charset="0"/>
                <a:ea typeface="Calibri" pitchFamily="34" charset="-122"/>
                <a:cs typeface="Calibri" pitchFamily="34" charset="-120"/>
              </a:rPr>
              <a:t>Technical check</a:t>
            </a:r>
            <a:endParaRPr lang="en-US" sz="1300" dirty="0"/>
          </a:p>
        </p:txBody>
      </p:sp>
      <p:sp>
        <p:nvSpPr>
          <p:cNvPr id="8" name="Text 5"/>
          <p:cNvSpPr txBox="1"/>
          <p:nvPr/>
        </p:nvSpPr>
        <p:spPr>
          <a:xfrm>
            <a:off x="6217920" y="1554480"/>
            <a:ext cx="5394960" cy="320040"/>
          </a:xfrm>
          <a:prstGeom prst="rect">
            <a:avLst/>
          </a:prstGeom>
          <a:noFill/>
          <a:ln/>
        </p:spPr>
        <p:txBody>
          <a:bodyPr wrap="square" lIns="0" tIns="0" rIns="0" bIns="0" rtlCol="0" anchor="ctr"/>
          <a:lstStyle/>
          <a:p>
            <a:pPr marL="0" indent="0">
              <a:buNone/>
            </a:pPr>
            <a:r>
              <a:rPr lang="en-US" sz="1300" b="1" dirty="0">
                <a:solidFill>
                  <a:srgbClr val="0086C7"/>
                </a:solidFill>
                <a:latin typeface="Calibri" pitchFamily="34" charset="0"/>
                <a:ea typeface="Calibri" pitchFamily="34" charset="-122"/>
                <a:cs typeface="Calibri" pitchFamily="34" charset="-120"/>
              </a:rPr>
              <a:t>What it means for you</a:t>
            </a:r>
            <a:endParaRPr lang="en-US" sz="1300" dirty="0"/>
          </a:p>
        </p:txBody>
      </p:sp>
      <p:sp>
        <p:nvSpPr>
          <p:cNvPr id="9" name="Shape 6"/>
          <p:cNvSpPr/>
          <p:nvPr/>
        </p:nvSpPr>
        <p:spPr>
          <a:xfrm>
            <a:off x="548640" y="1920240"/>
            <a:ext cx="11064240" cy="603504"/>
          </a:xfrm>
          <a:prstGeom prst="roundRect">
            <a:avLst>
              <a:gd name="adj" fmla="val 18182"/>
            </a:avLst>
          </a:prstGeom>
          <a:solidFill>
            <a:srgbClr val="F1F5F9"/>
          </a:solidFill>
          <a:ln w="12700">
            <a:solidFill>
              <a:srgbClr val="F1F5F9"/>
            </a:solidFill>
            <a:prstDash val="solid"/>
          </a:ln>
        </p:spPr>
      </p:sp>
      <p:sp>
        <p:nvSpPr>
          <p:cNvPr id="10" name="Text 7"/>
          <p:cNvSpPr txBox="1"/>
          <p:nvPr/>
        </p:nvSpPr>
        <p:spPr>
          <a:xfrm>
            <a:off x="777240" y="1965960"/>
            <a:ext cx="5120640" cy="530352"/>
          </a:xfrm>
          <a:prstGeom prst="rect">
            <a:avLst/>
          </a:prstGeom>
          <a:noFill/>
          <a:ln/>
        </p:spPr>
        <p:txBody>
          <a:bodyPr wrap="square" lIns="0" tIns="0" rIns="0" bIns="0" rtlCol="0" anchor="ctr"/>
          <a:lstStyle/>
          <a:p>
            <a:pPr marL="0" indent="0">
              <a:buNone/>
            </a:pPr>
            <a:r>
              <a:rPr lang="en-US" sz="1500" b="1" dirty="0">
                <a:solidFill>
                  <a:srgbClr val="0B1929"/>
                </a:solidFill>
                <a:latin typeface="Calibri" pitchFamily="34" charset="0"/>
                <a:ea typeface="Calibri" pitchFamily="34" charset="-122"/>
                <a:cs typeface="Calibri" pitchFamily="34" charset="-120"/>
              </a:rPr>
              <a:t>Website pages and redirects</a:t>
            </a:r>
            <a:endParaRPr lang="en-US" sz="1500" dirty="0"/>
          </a:p>
        </p:txBody>
      </p:sp>
      <p:sp>
        <p:nvSpPr>
          <p:cNvPr id="11" name="Text 8"/>
          <p:cNvSpPr txBox="1"/>
          <p:nvPr/>
        </p:nvSpPr>
        <p:spPr>
          <a:xfrm>
            <a:off x="6217920" y="1965960"/>
            <a:ext cx="5212080" cy="530352"/>
          </a:xfrm>
          <a:prstGeom prst="rect">
            <a:avLst/>
          </a:prstGeom>
          <a:noFill/>
          <a:ln/>
        </p:spPr>
        <p:txBody>
          <a:bodyPr wrap="square" lIns="0" tIns="0" rIns="0" bIns="0" rtlCol="0" anchor="ctr"/>
          <a:lstStyle/>
          <a:p>
            <a:pPr marL="0" indent="0">
              <a:buNone/>
            </a:pPr>
            <a:r>
              <a:rPr lang="en-US" sz="1400" dirty="0">
                <a:solidFill>
                  <a:srgbClr val="0F172A"/>
                </a:solidFill>
                <a:latin typeface="Calibri" pitchFamily="34" charset="0"/>
                <a:ea typeface="Calibri" pitchFamily="34" charset="-122"/>
                <a:cs typeface="Calibri" pitchFamily="34" charset="-120"/>
              </a:rPr>
              <a:t>Helps confirm visitors reach the right page without errors</a:t>
            </a:r>
            <a:endParaRPr lang="en-US" sz="1400" dirty="0"/>
          </a:p>
        </p:txBody>
      </p:sp>
      <p:sp>
        <p:nvSpPr>
          <p:cNvPr id="12" name="Shape 9"/>
          <p:cNvSpPr/>
          <p:nvPr/>
        </p:nvSpPr>
        <p:spPr>
          <a:xfrm>
            <a:off x="548640" y="2624328"/>
            <a:ext cx="11064240" cy="603504"/>
          </a:xfrm>
          <a:prstGeom prst="roundRect">
            <a:avLst>
              <a:gd name="adj" fmla="val 18182"/>
            </a:avLst>
          </a:prstGeom>
          <a:solidFill>
            <a:srgbClr val="FFFFFF"/>
          </a:solidFill>
          <a:ln w="12700">
            <a:solidFill>
              <a:srgbClr val="FFFFFF"/>
            </a:solidFill>
            <a:prstDash val="solid"/>
          </a:ln>
        </p:spPr>
      </p:sp>
      <p:sp>
        <p:nvSpPr>
          <p:cNvPr id="13" name="Text 10"/>
          <p:cNvSpPr txBox="1"/>
          <p:nvPr/>
        </p:nvSpPr>
        <p:spPr>
          <a:xfrm>
            <a:off x="777240" y="2670048"/>
            <a:ext cx="5120640" cy="530352"/>
          </a:xfrm>
          <a:prstGeom prst="rect">
            <a:avLst/>
          </a:prstGeom>
          <a:noFill/>
          <a:ln/>
        </p:spPr>
        <p:txBody>
          <a:bodyPr wrap="square" lIns="0" tIns="0" rIns="0" bIns="0" rtlCol="0" anchor="ctr"/>
          <a:lstStyle/>
          <a:p>
            <a:pPr marL="0" indent="0">
              <a:buNone/>
            </a:pPr>
            <a:r>
              <a:rPr lang="en-US" sz="1500" b="1" dirty="0">
                <a:solidFill>
                  <a:srgbClr val="0B1929"/>
                </a:solidFill>
                <a:latin typeface="Calibri" pitchFamily="34" charset="0"/>
                <a:ea typeface="Calibri" pitchFamily="34" charset="-122"/>
                <a:cs typeface="Calibri" pitchFamily="34" charset="-120"/>
              </a:rPr>
              <a:t>Browser activity and script behaviour</a:t>
            </a:r>
            <a:endParaRPr lang="en-US" sz="1500" dirty="0"/>
          </a:p>
        </p:txBody>
      </p:sp>
      <p:sp>
        <p:nvSpPr>
          <p:cNvPr id="14" name="Text 11"/>
          <p:cNvSpPr txBox="1"/>
          <p:nvPr/>
        </p:nvSpPr>
        <p:spPr>
          <a:xfrm>
            <a:off x="6217920" y="2670048"/>
            <a:ext cx="5212080" cy="530352"/>
          </a:xfrm>
          <a:prstGeom prst="rect">
            <a:avLst/>
          </a:prstGeom>
          <a:noFill/>
          <a:ln/>
        </p:spPr>
        <p:txBody>
          <a:bodyPr wrap="square" lIns="0" tIns="0" rIns="0" bIns="0" rtlCol="0" anchor="ctr"/>
          <a:lstStyle/>
          <a:p>
            <a:pPr marL="0" indent="0">
              <a:buNone/>
            </a:pPr>
            <a:r>
              <a:rPr lang="en-US" sz="1400" dirty="0">
                <a:solidFill>
                  <a:srgbClr val="0F172A"/>
                </a:solidFill>
                <a:latin typeface="Calibri" pitchFamily="34" charset="0"/>
                <a:ea typeface="Calibri" pitchFamily="34" charset="-122"/>
                <a:cs typeface="Calibri" pitchFamily="34" charset="-120"/>
              </a:rPr>
              <a:t>Helps spot issues that can quietly affect page features</a:t>
            </a:r>
            <a:endParaRPr lang="en-US" sz="1400" dirty="0"/>
          </a:p>
        </p:txBody>
      </p:sp>
      <p:sp>
        <p:nvSpPr>
          <p:cNvPr id="15" name="Shape 12"/>
          <p:cNvSpPr/>
          <p:nvPr/>
        </p:nvSpPr>
        <p:spPr>
          <a:xfrm>
            <a:off x="548640" y="3328416"/>
            <a:ext cx="11064240" cy="603504"/>
          </a:xfrm>
          <a:prstGeom prst="roundRect">
            <a:avLst>
              <a:gd name="adj" fmla="val 18182"/>
            </a:avLst>
          </a:prstGeom>
          <a:solidFill>
            <a:srgbClr val="F1F5F9"/>
          </a:solidFill>
          <a:ln w="12700">
            <a:solidFill>
              <a:srgbClr val="F1F5F9"/>
            </a:solidFill>
            <a:prstDash val="solid"/>
          </a:ln>
        </p:spPr>
      </p:sp>
      <p:sp>
        <p:nvSpPr>
          <p:cNvPr id="16" name="Text 13"/>
          <p:cNvSpPr txBox="1"/>
          <p:nvPr/>
        </p:nvSpPr>
        <p:spPr>
          <a:xfrm>
            <a:off x="777240" y="3374136"/>
            <a:ext cx="5120640" cy="530352"/>
          </a:xfrm>
          <a:prstGeom prst="rect">
            <a:avLst/>
          </a:prstGeom>
          <a:noFill/>
          <a:ln/>
        </p:spPr>
        <p:txBody>
          <a:bodyPr wrap="square" lIns="0" tIns="0" rIns="0" bIns="0" rtlCol="0" anchor="ctr"/>
          <a:lstStyle/>
          <a:p>
            <a:pPr marL="0" indent="0">
              <a:buNone/>
            </a:pPr>
            <a:r>
              <a:rPr lang="en-US" sz="1500" b="1" dirty="0">
                <a:solidFill>
                  <a:srgbClr val="0B1929"/>
                </a:solidFill>
                <a:latin typeface="Calibri" pitchFamily="34" charset="0"/>
                <a:ea typeface="Calibri" pitchFamily="34" charset="-122"/>
                <a:cs typeface="Calibri" pitchFamily="34" charset="-120"/>
              </a:rPr>
              <a:t>Network and service responses</a:t>
            </a:r>
            <a:endParaRPr lang="en-US" sz="1500" dirty="0"/>
          </a:p>
        </p:txBody>
      </p:sp>
      <p:sp>
        <p:nvSpPr>
          <p:cNvPr id="17" name="Text 14"/>
          <p:cNvSpPr txBox="1"/>
          <p:nvPr/>
        </p:nvSpPr>
        <p:spPr>
          <a:xfrm>
            <a:off x="6217920" y="3374136"/>
            <a:ext cx="5212080" cy="530352"/>
          </a:xfrm>
          <a:prstGeom prst="rect">
            <a:avLst/>
          </a:prstGeom>
          <a:noFill/>
          <a:ln/>
        </p:spPr>
        <p:txBody>
          <a:bodyPr wrap="square" lIns="0" tIns="0" rIns="0" bIns="0" rtlCol="0" anchor="ctr"/>
          <a:lstStyle/>
          <a:p>
            <a:pPr marL="0" indent="0">
              <a:buNone/>
            </a:pPr>
            <a:r>
              <a:rPr lang="en-US" sz="1400" dirty="0">
                <a:solidFill>
                  <a:srgbClr val="0F172A"/>
                </a:solidFill>
                <a:latin typeface="Calibri" pitchFamily="34" charset="0"/>
                <a:ea typeface="Calibri" pitchFamily="34" charset="-122"/>
                <a:cs typeface="Calibri" pitchFamily="34" charset="-120"/>
              </a:rPr>
              <a:t>Helps identify potential integration interruptions early</a:t>
            </a:r>
            <a:endParaRPr lang="en-US" sz="1400" dirty="0"/>
          </a:p>
        </p:txBody>
      </p:sp>
      <p:sp>
        <p:nvSpPr>
          <p:cNvPr id="18" name="Shape 15"/>
          <p:cNvSpPr/>
          <p:nvPr/>
        </p:nvSpPr>
        <p:spPr>
          <a:xfrm>
            <a:off x="548640" y="4032504"/>
            <a:ext cx="11064240" cy="603504"/>
          </a:xfrm>
          <a:prstGeom prst="roundRect">
            <a:avLst>
              <a:gd name="adj" fmla="val 18182"/>
            </a:avLst>
          </a:prstGeom>
          <a:solidFill>
            <a:srgbClr val="FFFFFF"/>
          </a:solidFill>
          <a:ln w="12700">
            <a:solidFill>
              <a:srgbClr val="FFFFFF"/>
            </a:solidFill>
            <a:prstDash val="solid"/>
          </a:ln>
        </p:spPr>
      </p:sp>
      <p:sp>
        <p:nvSpPr>
          <p:cNvPr id="19" name="Text 16"/>
          <p:cNvSpPr txBox="1"/>
          <p:nvPr/>
        </p:nvSpPr>
        <p:spPr>
          <a:xfrm>
            <a:off x="777240" y="4078224"/>
            <a:ext cx="5120640" cy="530352"/>
          </a:xfrm>
          <a:prstGeom prst="rect">
            <a:avLst/>
          </a:prstGeom>
          <a:noFill/>
          <a:ln/>
        </p:spPr>
        <p:txBody>
          <a:bodyPr wrap="square" lIns="0" tIns="0" rIns="0" bIns="0" rtlCol="0" anchor="ctr"/>
          <a:lstStyle/>
          <a:p>
            <a:pPr marL="0" indent="0">
              <a:buNone/>
            </a:pPr>
            <a:r>
              <a:rPr lang="en-US" sz="1500" b="1" dirty="0">
                <a:solidFill>
                  <a:srgbClr val="0B1929"/>
                </a:solidFill>
                <a:latin typeface="Calibri" pitchFamily="34" charset="0"/>
                <a:ea typeface="Calibri" pitchFamily="34" charset="-122"/>
                <a:cs typeface="Calibri" pitchFamily="34" charset="-120"/>
              </a:rPr>
              <a:t>Third-party tools (analytics, ads, chat, video)</a:t>
            </a:r>
            <a:endParaRPr lang="en-US" sz="1500" dirty="0"/>
          </a:p>
        </p:txBody>
      </p:sp>
      <p:sp>
        <p:nvSpPr>
          <p:cNvPr id="20" name="Text 17"/>
          <p:cNvSpPr txBox="1"/>
          <p:nvPr/>
        </p:nvSpPr>
        <p:spPr>
          <a:xfrm>
            <a:off x="6217920" y="4078224"/>
            <a:ext cx="5212080" cy="530352"/>
          </a:xfrm>
          <a:prstGeom prst="rect">
            <a:avLst/>
          </a:prstGeom>
          <a:noFill/>
          <a:ln/>
        </p:spPr>
        <p:txBody>
          <a:bodyPr wrap="square" lIns="0" tIns="0" rIns="0" bIns="0" rtlCol="0" anchor="ctr"/>
          <a:lstStyle/>
          <a:p>
            <a:pPr marL="0" indent="0">
              <a:buNone/>
            </a:pPr>
            <a:r>
              <a:rPr lang="en-US" sz="1400" dirty="0">
                <a:solidFill>
                  <a:srgbClr val="0F172A"/>
                </a:solidFill>
                <a:latin typeface="Calibri" pitchFamily="34" charset="0"/>
                <a:ea typeface="Calibri" pitchFamily="34" charset="-122"/>
                <a:cs typeface="Calibri" pitchFamily="34" charset="-120"/>
              </a:rPr>
              <a:t>Confirms marketing and support tools are loading as expected</a:t>
            </a:r>
            <a:endParaRPr lang="en-US" sz="1400" dirty="0"/>
          </a:p>
        </p:txBody>
      </p:sp>
      <p:sp>
        <p:nvSpPr>
          <p:cNvPr id="21" name="Shape 18"/>
          <p:cNvSpPr/>
          <p:nvPr/>
        </p:nvSpPr>
        <p:spPr>
          <a:xfrm>
            <a:off x="548640" y="4736592"/>
            <a:ext cx="11064240" cy="603504"/>
          </a:xfrm>
          <a:prstGeom prst="roundRect">
            <a:avLst>
              <a:gd name="adj" fmla="val 18182"/>
            </a:avLst>
          </a:prstGeom>
          <a:solidFill>
            <a:srgbClr val="F1F5F9"/>
          </a:solidFill>
          <a:ln w="12700">
            <a:solidFill>
              <a:srgbClr val="F1F5F9"/>
            </a:solidFill>
            <a:prstDash val="solid"/>
          </a:ln>
        </p:spPr>
      </p:sp>
      <p:sp>
        <p:nvSpPr>
          <p:cNvPr id="22" name="Text 19"/>
          <p:cNvSpPr txBox="1"/>
          <p:nvPr/>
        </p:nvSpPr>
        <p:spPr>
          <a:xfrm>
            <a:off x="777240" y="4782312"/>
            <a:ext cx="5120640" cy="530352"/>
          </a:xfrm>
          <a:prstGeom prst="rect">
            <a:avLst/>
          </a:prstGeom>
          <a:noFill/>
          <a:ln/>
        </p:spPr>
        <p:txBody>
          <a:bodyPr wrap="square" lIns="0" tIns="0" rIns="0" bIns="0" rtlCol="0" anchor="ctr"/>
          <a:lstStyle/>
          <a:p>
            <a:pPr marL="0" indent="0">
              <a:buNone/>
            </a:pPr>
            <a:r>
              <a:rPr lang="en-US" sz="1500" b="1" dirty="0">
                <a:solidFill>
                  <a:srgbClr val="0B1929"/>
                </a:solidFill>
                <a:latin typeface="Calibri" pitchFamily="34" charset="0"/>
                <a:ea typeface="Calibri" pitchFamily="34" charset="-122"/>
                <a:cs typeface="Calibri" pitchFamily="34" charset="-120"/>
              </a:rPr>
              <a:t>Error pages and invalid addresses</a:t>
            </a:r>
            <a:endParaRPr lang="en-US" sz="1500" dirty="0"/>
          </a:p>
        </p:txBody>
      </p:sp>
      <p:sp>
        <p:nvSpPr>
          <p:cNvPr id="23" name="Text 20"/>
          <p:cNvSpPr txBox="1"/>
          <p:nvPr/>
        </p:nvSpPr>
        <p:spPr>
          <a:xfrm>
            <a:off x="6217920" y="4782312"/>
            <a:ext cx="5212080" cy="530352"/>
          </a:xfrm>
          <a:prstGeom prst="rect">
            <a:avLst/>
          </a:prstGeom>
          <a:noFill/>
          <a:ln/>
        </p:spPr>
        <p:txBody>
          <a:bodyPr wrap="square" lIns="0" tIns="0" rIns="0" bIns="0" rtlCol="0" anchor="ctr"/>
          <a:lstStyle/>
          <a:p>
            <a:pPr marL="0" indent="0">
              <a:buNone/>
            </a:pPr>
            <a:r>
              <a:rPr lang="en-US" sz="1400" dirty="0">
                <a:solidFill>
                  <a:srgbClr val="0F172A"/>
                </a:solidFill>
                <a:latin typeface="Calibri" pitchFamily="34" charset="0"/>
                <a:ea typeface="Calibri" pitchFamily="34" charset="-122"/>
                <a:cs typeface="Calibri" pitchFamily="34" charset="-120"/>
              </a:rPr>
              <a:t>Supports a smooth experience when a link is mistyped</a:t>
            </a:r>
            <a:endParaRPr lang="en-US" sz="1400" dirty="0"/>
          </a:p>
        </p:txBody>
      </p:sp>
      <p:sp>
        <p:nvSpPr>
          <p:cNvPr id="24" name="Shape 21"/>
          <p:cNvSpPr/>
          <p:nvPr/>
        </p:nvSpPr>
        <p:spPr>
          <a:xfrm>
            <a:off x="548640" y="5440680"/>
            <a:ext cx="11064240" cy="603504"/>
          </a:xfrm>
          <a:prstGeom prst="roundRect">
            <a:avLst>
              <a:gd name="adj" fmla="val 18182"/>
            </a:avLst>
          </a:prstGeom>
          <a:solidFill>
            <a:srgbClr val="FFFFFF"/>
          </a:solidFill>
          <a:ln w="12700">
            <a:solidFill>
              <a:srgbClr val="FFFFFF"/>
            </a:solidFill>
            <a:prstDash val="solid"/>
          </a:ln>
        </p:spPr>
      </p:sp>
      <p:sp>
        <p:nvSpPr>
          <p:cNvPr id="25" name="Text 22"/>
          <p:cNvSpPr txBox="1"/>
          <p:nvPr/>
        </p:nvSpPr>
        <p:spPr>
          <a:xfrm>
            <a:off x="777240" y="5486400"/>
            <a:ext cx="5120640" cy="530352"/>
          </a:xfrm>
          <a:prstGeom prst="rect">
            <a:avLst/>
          </a:prstGeom>
          <a:noFill/>
          <a:ln/>
        </p:spPr>
        <p:txBody>
          <a:bodyPr wrap="square" lIns="0" tIns="0" rIns="0" bIns="0" rtlCol="0" anchor="ctr"/>
          <a:lstStyle/>
          <a:p>
            <a:pPr marL="0" indent="0">
              <a:buNone/>
            </a:pPr>
            <a:r>
              <a:rPr lang="en-US" sz="1500" b="1" dirty="0">
                <a:solidFill>
                  <a:srgbClr val="0B1929"/>
                </a:solidFill>
                <a:latin typeface="Calibri" pitchFamily="34" charset="0"/>
                <a:ea typeface="Calibri" pitchFamily="34" charset="-122"/>
                <a:cs typeface="Calibri" pitchFamily="34" charset="-120"/>
              </a:rPr>
              <a:t>Secure connection (HTTPS)</a:t>
            </a:r>
            <a:endParaRPr lang="en-US" sz="1500" dirty="0"/>
          </a:p>
        </p:txBody>
      </p:sp>
      <p:sp>
        <p:nvSpPr>
          <p:cNvPr id="26" name="Text 23"/>
          <p:cNvSpPr txBox="1"/>
          <p:nvPr/>
        </p:nvSpPr>
        <p:spPr>
          <a:xfrm>
            <a:off x="6217920" y="5486400"/>
            <a:ext cx="5212080" cy="530352"/>
          </a:xfrm>
          <a:prstGeom prst="rect">
            <a:avLst/>
          </a:prstGeom>
          <a:noFill/>
          <a:ln/>
        </p:spPr>
        <p:txBody>
          <a:bodyPr wrap="square" lIns="0" tIns="0" rIns="0" bIns="0" rtlCol="0" anchor="ctr"/>
          <a:lstStyle/>
          <a:p>
            <a:pPr marL="0" indent="0">
              <a:buNone/>
            </a:pPr>
            <a:r>
              <a:rPr lang="en-US" sz="1400" dirty="0">
                <a:solidFill>
                  <a:srgbClr val="0F172A"/>
                </a:solidFill>
                <a:latin typeface="Calibri" pitchFamily="34" charset="0"/>
                <a:ea typeface="Calibri" pitchFamily="34" charset="-122"/>
                <a:cs typeface="Calibri" pitchFamily="34" charset="-120"/>
              </a:rPr>
              <a:t>Helps protect visitors and their data in transit</a:t>
            </a:r>
            <a:endParaRPr lang="en-US" sz="14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365760"/>
            <a:ext cx="8229600" cy="274320"/>
          </a:xfrm>
          <a:prstGeom prst="rect">
            <a:avLst/>
          </a:prstGeom>
          <a:noFill/>
          <a:ln/>
        </p:spPr>
        <p:txBody>
          <a:bodyPr wrap="square" lIns="0" tIns="0" rIns="0" bIns="0" rtlCol="0" anchor="ctr"/>
          <a:lstStyle/>
          <a:p>
            <a:pPr marL="0" indent="0">
              <a:buNone/>
            </a:pPr>
            <a:r>
              <a:rPr lang="en-US" sz="1200" b="1" kern="0" spc="300" dirty="0">
                <a:solidFill>
                  <a:srgbClr val="0086C7"/>
                </a:solidFill>
                <a:latin typeface="Calibri" pitchFamily="34" charset="0"/>
                <a:ea typeface="Calibri" pitchFamily="34" charset="-122"/>
                <a:cs typeface="Calibri" pitchFamily="34" charset="-120"/>
              </a:rPr>
              <a:t>PERFORMANCE AND SEO</a:t>
            </a:r>
            <a:endParaRPr lang="en-US" sz="1200" dirty="0"/>
          </a:p>
        </p:txBody>
      </p:sp>
      <p:pic>
        <p:nvPicPr>
          <p:cNvPr id="3" name="Image 0" descr="C:/Projects/OGH/build/brand/logo_color_big.png"/>
          <p:cNvPicPr>
            <a:picLocks noChangeAspect="1"/>
          </p:cNvPicPr>
          <p:nvPr/>
        </p:nvPicPr>
        <p:blipFill>
          <a:blip r:embed="rId3"/>
          <a:stretch>
            <a:fillRect/>
          </a:stretch>
        </p:blipFill>
        <p:spPr>
          <a:xfrm>
            <a:off x="10058400" y="347472"/>
            <a:ext cx="1554480" cy="347472"/>
          </a:xfrm>
          <a:prstGeom prst="rect">
            <a:avLst/>
          </a:prstGeom>
        </p:spPr>
      </p:pic>
      <p:sp>
        <p:nvSpPr>
          <p:cNvPr id="4" name="Text 1"/>
          <p:cNvSpPr txBox="1"/>
          <p:nvPr/>
        </p:nvSpPr>
        <p:spPr>
          <a:xfrm>
            <a:off x="548640" y="658368"/>
            <a:ext cx="9326880" cy="731520"/>
          </a:xfrm>
          <a:prstGeom prst="rect">
            <a:avLst/>
          </a:prstGeom>
          <a:noFill/>
          <a:ln/>
        </p:spPr>
        <p:txBody>
          <a:bodyPr wrap="square" lIns="0" tIns="0" rIns="0" bIns="0" rtlCol="0" anchor="t"/>
          <a:lstStyle/>
          <a:p>
            <a:pPr marL="0" indent="0">
              <a:buNone/>
            </a:pPr>
            <a:r>
              <a:rPr lang="en-US" sz="3200" b="1" dirty="0">
                <a:solidFill>
                  <a:srgbClr val="0B1929"/>
                </a:solidFill>
                <a:latin typeface="Calibri" pitchFamily="34" charset="0"/>
                <a:ea typeface="Calibri" pitchFamily="34" charset="-122"/>
                <a:cs typeface="Calibri" pitchFamily="34" charset="-120"/>
              </a:rPr>
              <a:t>Performance &amp; SEO health</a:t>
            </a:r>
            <a:endParaRPr lang="en-US" sz="3200" dirty="0"/>
          </a:p>
        </p:txBody>
      </p:sp>
      <p:sp>
        <p:nvSpPr>
          <p:cNvPr id="5" name="Text 2"/>
          <p:cNvSpPr txBox="1"/>
          <p:nvPr/>
        </p:nvSpPr>
        <p:spPr>
          <a:xfrm>
            <a:off x="548640" y="6446520"/>
            <a:ext cx="7315200" cy="228600"/>
          </a:xfrm>
          <a:prstGeom prst="rect">
            <a:avLst/>
          </a:prstGeom>
          <a:noFill/>
          <a:ln/>
        </p:spPr>
        <p:txBody>
          <a:bodyPr wrap="square" lIns="0" tIns="0" rIns="0" bIns="0" rtlCol="0" anchor="ctr"/>
          <a:lstStyle/>
          <a:p>
            <a:pPr marL="0" indent="0">
              <a:buNone/>
            </a:pPr>
            <a:r>
              <a:rPr lang="en-US" sz="1000" dirty="0">
                <a:solidFill>
                  <a:srgbClr val="475569"/>
                </a:solidFill>
                <a:latin typeface="Calibri" pitchFamily="34" charset="0"/>
                <a:ea typeface="Calibri" pitchFamily="34" charset="-122"/>
                <a:cs typeface="Calibri" pitchFamily="34" charset="-120"/>
              </a:rPr>
              <a:t>Prepared by WebDesk Solution  |  Our Green House  |  October 2026</a:t>
            </a:r>
            <a:endParaRPr lang="en-US" sz="1000" dirty="0"/>
          </a:p>
        </p:txBody>
      </p:sp>
      <p:sp>
        <p:nvSpPr>
          <p:cNvPr id="6" name="Text 3"/>
          <p:cNvSpPr txBox="1"/>
          <p:nvPr/>
        </p:nvSpPr>
        <p:spPr>
          <a:xfrm>
            <a:off x="11064240" y="6446520"/>
            <a:ext cx="548640" cy="228600"/>
          </a:xfrm>
          <a:prstGeom prst="rect">
            <a:avLst/>
          </a:prstGeom>
          <a:noFill/>
          <a:ln/>
        </p:spPr>
        <p:txBody>
          <a:bodyPr wrap="square" lIns="0" tIns="0" rIns="0" bIns="0" rtlCol="0" anchor="ctr"/>
          <a:lstStyle/>
          <a:p>
            <a:pPr marL="0" indent="0" algn="r">
              <a:buNone/>
            </a:pPr>
            <a:r>
              <a:rPr lang="en-US" sz="1000" dirty="0">
                <a:solidFill>
                  <a:srgbClr val="475569"/>
                </a:solidFill>
                <a:latin typeface="Calibri" pitchFamily="34" charset="0"/>
                <a:ea typeface="Calibri" pitchFamily="34" charset="-122"/>
                <a:cs typeface="Calibri" pitchFamily="34" charset="-120"/>
              </a:rPr>
              <a:t>7</a:t>
            </a:r>
            <a:endParaRPr lang="en-US" sz="1000" dirty="0"/>
          </a:p>
        </p:txBody>
      </p:sp>
      <p:sp>
        <p:nvSpPr>
          <p:cNvPr id="7" name="Shape 4"/>
          <p:cNvSpPr/>
          <p:nvPr/>
        </p:nvSpPr>
        <p:spPr>
          <a:xfrm>
            <a:off x="548640" y="1554480"/>
            <a:ext cx="5486400" cy="4663440"/>
          </a:xfrm>
          <a:prstGeom prst="roundRect">
            <a:avLst>
              <a:gd name="adj" fmla="val 2353"/>
            </a:avLst>
          </a:prstGeom>
          <a:solidFill>
            <a:srgbClr val="F1F5F9"/>
          </a:solidFill>
          <a:ln w="12700">
            <a:solidFill>
              <a:srgbClr val="F1F5F9"/>
            </a:solidFill>
            <a:prstDash val="solid"/>
          </a:ln>
        </p:spPr>
      </p:sp>
      <p:sp>
        <p:nvSpPr>
          <p:cNvPr id="8" name="Shape 5"/>
          <p:cNvSpPr/>
          <p:nvPr/>
        </p:nvSpPr>
        <p:spPr>
          <a:xfrm>
            <a:off x="6309360" y="1554480"/>
            <a:ext cx="5303520" cy="4663440"/>
          </a:xfrm>
          <a:prstGeom prst="roundRect">
            <a:avLst>
              <a:gd name="adj" fmla="val 2353"/>
            </a:avLst>
          </a:prstGeom>
          <a:solidFill>
            <a:srgbClr val="F1F5F9"/>
          </a:solidFill>
          <a:ln w="12700">
            <a:solidFill>
              <a:srgbClr val="F1F5F9"/>
            </a:solidFill>
            <a:prstDash val="solid"/>
          </a:ln>
        </p:spPr>
      </p:sp>
      <p:sp>
        <p:nvSpPr>
          <p:cNvPr id="9" name="Text 6"/>
          <p:cNvSpPr txBox="1"/>
          <p:nvPr/>
        </p:nvSpPr>
        <p:spPr>
          <a:xfrm>
            <a:off x="777240" y="1691640"/>
            <a:ext cx="5029200" cy="365760"/>
          </a:xfrm>
          <a:prstGeom prst="rect">
            <a:avLst/>
          </a:prstGeom>
          <a:noFill/>
          <a:ln/>
        </p:spPr>
        <p:txBody>
          <a:bodyPr wrap="square" lIns="0" tIns="0" rIns="0" bIns="0" rtlCol="0" anchor="ctr"/>
          <a:lstStyle/>
          <a:p>
            <a:pPr marL="0" indent="0">
              <a:buNone/>
            </a:pPr>
            <a:r>
              <a:rPr lang="en-US" sz="1900" b="1" dirty="0">
                <a:solidFill>
                  <a:srgbClr val="0B1929"/>
                </a:solidFill>
                <a:latin typeface="Calibri" pitchFamily="34" charset="0"/>
                <a:ea typeface="Calibri" pitchFamily="34" charset="-122"/>
                <a:cs typeface="Calibri" pitchFamily="34" charset="-120"/>
              </a:rPr>
              <a:t>Performance health reviewed</a:t>
            </a:r>
            <a:endParaRPr lang="en-US" sz="1900" dirty="0"/>
          </a:p>
        </p:txBody>
      </p:sp>
      <p:graphicFrame>
        <p:nvGraphicFramePr>
          <p:cNvPr id="10" name="Chart 0"/>
          <p:cNvGraphicFramePr/>
          <p:nvPr/>
        </p:nvGraphicFramePr>
        <p:xfrm>
          <a:off x="685800" y="2103120"/>
          <a:ext cx="5212080" cy="2286000"/>
        </p:xfrm>
        <a:graphic>
          <a:graphicData uri="http://schemas.openxmlformats.org/drawingml/2006/chart">
            <c:chart xmlns:c="http://schemas.openxmlformats.org/drawingml/2006/chart" xmlns:r="http://schemas.openxmlformats.org/officeDocument/2006/relationships" r:id="rId4"/>
          </a:graphicData>
        </a:graphic>
      </p:graphicFrame>
      <p:sp>
        <p:nvSpPr>
          <p:cNvPr id="11" name="Text 7"/>
          <p:cNvSpPr txBox="1"/>
          <p:nvPr/>
        </p:nvSpPr>
        <p:spPr>
          <a:xfrm>
            <a:off x="777240" y="4526280"/>
            <a:ext cx="5029200" cy="1554480"/>
          </a:xfrm>
          <a:prstGeom prst="rect">
            <a:avLst/>
          </a:prstGeom>
          <a:noFill/>
          <a:ln/>
        </p:spPr>
        <p:txBody>
          <a:bodyPr wrap="square" lIns="0" tIns="0" rIns="0" bIns="0" rtlCol="0" anchor="t"/>
          <a:lstStyle/>
          <a:p>
            <a:pPr marL="342900" indent="-342900">
              <a:spcAft>
                <a:spcPts val="600"/>
              </a:spcAft>
              <a:buSzPct val="100000"/>
              <a:buChar char="•"/>
            </a:pPr>
            <a:r>
              <a:rPr lang="en-US" sz="1300" dirty="0">
                <a:solidFill>
                  <a:srgbClr val="0F172A"/>
                </a:solidFill>
                <a:latin typeface="Calibri" pitchFamily="34" charset="0"/>
                <a:ea typeface="Calibri" pitchFamily="34" charset="-122"/>
                <a:cs typeface="Calibri" pitchFamily="34" charset="-120"/>
              </a:rPr>
              <a:t>Layout stability on the homepage measured at 0.020 (no unexpected shifting).</a:t>
            </a:r>
            <a:endParaRPr lang="en-US" sz="1300" dirty="0"/>
          </a:p>
          <a:p>
            <a:pPr marL="342900" indent="-342900">
              <a:spcAft>
                <a:spcPts val="600"/>
              </a:spcAft>
              <a:buSzPct val="100000"/>
              <a:buChar char="•"/>
            </a:pPr>
            <a:r>
              <a:rPr lang="en-US" sz="1300" dirty="0">
                <a:solidFill>
                  <a:srgbClr val="0F172A"/>
                </a:solidFill>
                <a:latin typeface="Calibri" pitchFamily="34" charset="0"/>
                <a:ea typeface="Calibri" pitchFamily="34" charset="-122"/>
                <a:cs typeface="Calibri" pitchFamily="34" charset="-120"/>
              </a:rPr>
              <a:t>Homepage full load took about 5 seconds in a single test run, which is acceptable; the main content appears sooner.</a:t>
            </a:r>
            <a:endParaRPr lang="en-US" sz="1300" dirty="0"/>
          </a:p>
          <a:p>
            <a:pPr marL="342900" indent="-342900">
              <a:spcAft>
                <a:spcPts val="600"/>
              </a:spcAft>
              <a:buSzPct val="100000"/>
              <a:buChar char="•"/>
            </a:pPr>
            <a:r>
              <a:rPr lang="en-US" sz="1300" dirty="0">
                <a:solidFill>
                  <a:srgbClr val="0F172A"/>
                </a:solidFill>
                <a:latin typeface="Calibri" pitchFamily="34" charset="0"/>
                <a:ea typeface="Calibri" pitchFamily="34" charset="-122"/>
                <a:cs typeface="Calibri" pitchFamily="34" charset="-120"/>
              </a:rPr>
              <a:t>The main content of the homepage appeared in about 1.4 s on desktop.</a:t>
            </a:r>
            <a:endParaRPr lang="en-US" sz="1300" dirty="0"/>
          </a:p>
        </p:txBody>
      </p:sp>
      <p:sp>
        <p:nvSpPr>
          <p:cNvPr id="12" name="Text 8"/>
          <p:cNvSpPr txBox="1"/>
          <p:nvPr/>
        </p:nvSpPr>
        <p:spPr>
          <a:xfrm>
            <a:off x="6537960" y="1691640"/>
            <a:ext cx="4846320" cy="365760"/>
          </a:xfrm>
          <a:prstGeom prst="rect">
            <a:avLst/>
          </a:prstGeom>
          <a:noFill/>
          <a:ln/>
        </p:spPr>
        <p:txBody>
          <a:bodyPr wrap="square" lIns="0" tIns="0" rIns="0" bIns="0" rtlCol="0" anchor="ctr"/>
          <a:lstStyle/>
          <a:p>
            <a:pPr marL="0" indent="0">
              <a:buNone/>
            </a:pPr>
            <a:r>
              <a:rPr lang="en-US" sz="1900" b="1" dirty="0">
                <a:solidFill>
                  <a:srgbClr val="0B1929"/>
                </a:solidFill>
                <a:latin typeface="Calibri" pitchFamily="34" charset="0"/>
                <a:ea typeface="Calibri" pitchFamily="34" charset="-122"/>
                <a:cs typeface="Calibri" pitchFamily="34" charset="-120"/>
              </a:rPr>
              <a:t>SEO health reviewed</a:t>
            </a:r>
            <a:endParaRPr lang="en-US" sz="1900" dirty="0"/>
          </a:p>
        </p:txBody>
      </p:sp>
      <p:sp>
        <p:nvSpPr>
          <p:cNvPr id="13" name="Shape 9"/>
          <p:cNvSpPr/>
          <p:nvPr/>
        </p:nvSpPr>
        <p:spPr>
          <a:xfrm>
            <a:off x="6537960" y="2221992"/>
            <a:ext cx="274320" cy="274320"/>
          </a:xfrm>
          <a:prstGeom prst="ellipse">
            <a:avLst/>
          </a:prstGeom>
          <a:solidFill>
            <a:srgbClr val="16A34A"/>
          </a:solidFill>
          <a:ln w="12700">
            <a:solidFill>
              <a:srgbClr val="16A34A"/>
            </a:solidFill>
            <a:prstDash val="solid"/>
          </a:ln>
        </p:spPr>
      </p:sp>
      <p:sp>
        <p:nvSpPr>
          <p:cNvPr id="14" name="Text 10"/>
          <p:cNvSpPr txBox="1"/>
          <p:nvPr/>
        </p:nvSpPr>
        <p:spPr>
          <a:xfrm>
            <a:off x="6995160" y="2148840"/>
            <a:ext cx="4389120" cy="566928"/>
          </a:xfrm>
          <a:prstGeom prst="rect">
            <a:avLst/>
          </a:prstGeom>
          <a:noFill/>
          <a:ln/>
        </p:spPr>
        <p:txBody>
          <a:bodyPr wrap="square" lIns="0" tIns="0" rIns="0" bIns="0" rtlCol="0" anchor="t"/>
          <a:lstStyle/>
          <a:p>
            <a:pPr marL="0" indent="0">
              <a:buNone/>
            </a:pPr>
            <a:r>
              <a:rPr lang="en-US" sz="1300" dirty="0">
                <a:solidFill>
                  <a:srgbClr val="0F172A"/>
                </a:solidFill>
                <a:latin typeface="Calibri" pitchFamily="34" charset="0"/>
                <a:ea typeface="Calibri" pitchFamily="34" charset="-122"/>
                <a:cs typeface="Calibri" pitchFamily="34" charset="-120"/>
              </a:rPr>
              <a:t>Search-engine files (robots.txt and sitemap) are in place and valid</a:t>
            </a:r>
            <a:endParaRPr lang="en-US" sz="1300" dirty="0"/>
          </a:p>
        </p:txBody>
      </p:sp>
      <p:sp>
        <p:nvSpPr>
          <p:cNvPr id="16" name="Text 12"/>
          <p:cNvSpPr txBox="1"/>
          <p:nvPr/>
        </p:nvSpPr>
        <p:spPr>
          <a:xfrm>
            <a:off x="6995160" y="2770632"/>
            <a:ext cx="4389120" cy="566928"/>
          </a:xfrm>
          <a:prstGeom prst="rect">
            <a:avLst/>
          </a:prstGeom>
          <a:noFill/>
          <a:ln/>
        </p:spPr>
        <p:txBody>
          <a:bodyPr wrap="square" lIns="0" tIns="0" rIns="0" bIns="0" rtlCol="0" anchor="t"/>
          <a:lstStyle/>
          <a:p>
            <a:pPr marL="0" indent="0">
              <a:buNone/>
            </a:pPr>
            <a:r>
              <a:rPr lang="en-US" sz="1300" dirty="0">
                <a:solidFill>
                  <a:srgbClr val="0F172A"/>
                </a:solidFill>
                <a:latin typeface="Calibri" pitchFamily="34" charset="0"/>
                <a:ea typeface="Calibri" pitchFamily="34" charset="-122"/>
                <a:cs typeface="Calibri" pitchFamily="34" charset="-120"/>
              </a:rPr>
              <a:t>Canonical addresses and social sharing tags found on sampled pages</a:t>
            </a:r>
            <a:endParaRPr lang="en-US" sz="1300" dirty="0"/>
          </a:p>
        </p:txBody>
      </p:sp>
      <p:sp>
        <p:nvSpPr>
          <p:cNvPr id="17" name="Shape 13"/>
          <p:cNvSpPr/>
          <p:nvPr/>
        </p:nvSpPr>
        <p:spPr>
          <a:xfrm>
            <a:off x="6537960" y="3465576"/>
            <a:ext cx="274320" cy="274320"/>
          </a:xfrm>
          <a:prstGeom prst="ellipse">
            <a:avLst/>
          </a:prstGeom>
          <a:solidFill>
            <a:srgbClr val="16A34A"/>
          </a:solidFill>
          <a:ln w="12700">
            <a:solidFill>
              <a:srgbClr val="16A34A"/>
            </a:solidFill>
            <a:prstDash val="solid"/>
          </a:ln>
        </p:spPr>
      </p:sp>
      <p:sp>
        <p:nvSpPr>
          <p:cNvPr id="18" name="Text 14"/>
          <p:cNvSpPr txBox="1"/>
          <p:nvPr/>
        </p:nvSpPr>
        <p:spPr>
          <a:xfrm>
            <a:off x="6995160" y="3392424"/>
            <a:ext cx="4389120" cy="566928"/>
          </a:xfrm>
          <a:prstGeom prst="rect">
            <a:avLst/>
          </a:prstGeom>
          <a:noFill/>
          <a:ln/>
        </p:spPr>
        <p:txBody>
          <a:bodyPr wrap="square" lIns="0" tIns="0" rIns="0" bIns="0" rtlCol="0" anchor="t"/>
          <a:lstStyle/>
          <a:p>
            <a:pPr marL="0" indent="0">
              <a:buNone/>
            </a:pPr>
            <a:r>
              <a:rPr lang="en-US" sz="1300" dirty="0">
                <a:solidFill>
                  <a:srgbClr val="0F172A"/>
                </a:solidFill>
                <a:latin typeface="Calibri" pitchFamily="34" charset="0"/>
                <a:ea typeface="Calibri" pitchFamily="34" charset="-122"/>
                <a:cs typeface="Calibri" pitchFamily="34" charset="-120"/>
              </a:rPr>
              <a:t>Structured data present (organisation, product, breadcrumbs)</a:t>
            </a:r>
            <a:endParaRPr lang="en-US" sz="1300" dirty="0"/>
          </a:p>
        </p:txBody>
      </p:sp>
      <p:sp>
        <p:nvSpPr>
          <p:cNvPr id="19" name="Shape 15"/>
          <p:cNvSpPr/>
          <p:nvPr/>
        </p:nvSpPr>
        <p:spPr>
          <a:xfrm>
            <a:off x="6537960" y="4087368"/>
            <a:ext cx="274320" cy="274320"/>
          </a:xfrm>
          <a:prstGeom prst="ellipse">
            <a:avLst/>
          </a:prstGeom>
          <a:solidFill>
            <a:srgbClr val="16A34A"/>
          </a:solidFill>
          <a:ln w="12700">
            <a:solidFill>
              <a:srgbClr val="16A34A"/>
            </a:solidFill>
            <a:prstDash val="solid"/>
          </a:ln>
        </p:spPr>
      </p:sp>
      <p:sp>
        <p:nvSpPr>
          <p:cNvPr id="20" name="Text 16"/>
          <p:cNvSpPr txBox="1"/>
          <p:nvPr/>
        </p:nvSpPr>
        <p:spPr>
          <a:xfrm>
            <a:off x="6995160" y="4014216"/>
            <a:ext cx="4389120" cy="566928"/>
          </a:xfrm>
          <a:prstGeom prst="rect">
            <a:avLst/>
          </a:prstGeom>
          <a:noFill/>
          <a:ln/>
        </p:spPr>
        <p:txBody>
          <a:bodyPr wrap="square" lIns="0" tIns="0" rIns="0" bIns="0" rtlCol="0" anchor="t"/>
          <a:lstStyle/>
          <a:p>
            <a:pPr marL="0" indent="0">
              <a:buNone/>
            </a:pPr>
            <a:r>
              <a:rPr lang="en-US" sz="1300" dirty="0">
                <a:solidFill>
                  <a:srgbClr val="0F172A"/>
                </a:solidFill>
                <a:latin typeface="Calibri" pitchFamily="34" charset="0"/>
                <a:ea typeface="Calibri" pitchFamily="34" charset="-122"/>
                <a:cs typeface="Calibri" pitchFamily="34" charset="-120"/>
              </a:rPr>
              <a:t>No pages blocked from search engines in the sample</a:t>
            </a:r>
            <a:endParaRPr lang="en-US" sz="1300" dirty="0"/>
          </a:p>
        </p:txBody>
      </p:sp>
      <p:sp>
        <p:nvSpPr>
          <p:cNvPr id="30" name="Shape 17">
            <a:extLst>
              <a:ext uri="{FF2B5EF4-FFF2-40B4-BE49-F238E27FC236}">
                <a16:creationId xmlns:a16="http://schemas.microsoft.com/office/drawing/2014/main" id="{97678EE9-A401-8420-C9D2-1F829123B75D}"/>
              </a:ext>
            </a:extLst>
          </p:cNvPr>
          <p:cNvSpPr/>
          <p:nvPr/>
        </p:nvSpPr>
        <p:spPr>
          <a:xfrm>
            <a:off x="6537960" y="4709160"/>
            <a:ext cx="274320" cy="274320"/>
          </a:xfrm>
          <a:prstGeom prst="ellipse">
            <a:avLst/>
          </a:prstGeom>
          <a:solidFill>
            <a:srgbClr val="D9962B"/>
          </a:solidFill>
          <a:ln w="12700">
            <a:solidFill>
              <a:srgbClr val="D9962B"/>
            </a:solidFill>
            <a:prstDash val="solid"/>
          </a:ln>
        </p:spPr>
      </p:sp>
      <p:sp>
        <p:nvSpPr>
          <p:cNvPr id="31" name="Text 18">
            <a:extLst>
              <a:ext uri="{FF2B5EF4-FFF2-40B4-BE49-F238E27FC236}">
                <a16:creationId xmlns:a16="http://schemas.microsoft.com/office/drawing/2014/main" id="{0DA4BC05-0C6C-5D99-62BA-C43C6238D0CE}"/>
              </a:ext>
            </a:extLst>
          </p:cNvPr>
          <p:cNvSpPr txBox="1"/>
          <p:nvPr/>
        </p:nvSpPr>
        <p:spPr>
          <a:xfrm>
            <a:off x="6995160" y="4636008"/>
            <a:ext cx="4389120" cy="566928"/>
          </a:xfrm>
          <a:prstGeom prst="rect">
            <a:avLst/>
          </a:prstGeom>
          <a:noFill/>
          <a:ln/>
        </p:spPr>
        <p:txBody>
          <a:bodyPr wrap="square" lIns="0" tIns="0" rIns="0" bIns="0" rtlCol="0" anchor="t"/>
          <a:lstStyle/>
          <a:p>
            <a:pPr marL="0" indent="0">
              <a:buNone/>
            </a:pPr>
            <a:r>
              <a:rPr lang="en-US" sz="1300" dirty="0">
                <a:solidFill>
                  <a:srgbClr val="0F172A"/>
                </a:solidFill>
                <a:latin typeface="Calibri" pitchFamily="34" charset="0"/>
                <a:ea typeface="Calibri" pitchFamily="34" charset="-122"/>
                <a:cs typeface="Calibri" pitchFamily="34" charset="-120"/>
              </a:rPr>
              <a:t>3 of 19 sampled pages have no meta description</a:t>
            </a:r>
            <a:endParaRPr lang="en-US" sz="1300" dirty="0"/>
          </a:p>
        </p:txBody>
      </p:sp>
      <p:sp>
        <p:nvSpPr>
          <p:cNvPr id="32" name="Shape 19">
            <a:extLst>
              <a:ext uri="{FF2B5EF4-FFF2-40B4-BE49-F238E27FC236}">
                <a16:creationId xmlns:a16="http://schemas.microsoft.com/office/drawing/2014/main" id="{5B290BAC-A480-056B-5837-EE04D5780373}"/>
              </a:ext>
            </a:extLst>
          </p:cNvPr>
          <p:cNvSpPr/>
          <p:nvPr/>
        </p:nvSpPr>
        <p:spPr>
          <a:xfrm>
            <a:off x="6537960" y="5330952"/>
            <a:ext cx="274320" cy="274320"/>
          </a:xfrm>
          <a:prstGeom prst="ellipse">
            <a:avLst/>
          </a:prstGeom>
          <a:solidFill>
            <a:srgbClr val="D9962B"/>
          </a:solidFill>
          <a:ln w="12700">
            <a:solidFill>
              <a:srgbClr val="D9962B"/>
            </a:solidFill>
            <a:prstDash val="solid"/>
          </a:ln>
        </p:spPr>
      </p:sp>
      <p:sp>
        <p:nvSpPr>
          <p:cNvPr id="33" name="Text 20">
            <a:extLst>
              <a:ext uri="{FF2B5EF4-FFF2-40B4-BE49-F238E27FC236}">
                <a16:creationId xmlns:a16="http://schemas.microsoft.com/office/drawing/2014/main" id="{503AEEEF-BE71-9215-1180-AFF874834AC3}"/>
              </a:ext>
            </a:extLst>
          </p:cNvPr>
          <p:cNvSpPr txBox="1"/>
          <p:nvPr/>
        </p:nvSpPr>
        <p:spPr>
          <a:xfrm>
            <a:off x="6995160" y="5257800"/>
            <a:ext cx="4389120" cy="566928"/>
          </a:xfrm>
          <a:prstGeom prst="rect">
            <a:avLst/>
          </a:prstGeom>
          <a:noFill/>
          <a:ln/>
        </p:spPr>
        <p:txBody>
          <a:bodyPr wrap="square" lIns="0" tIns="0" rIns="0" bIns="0" rtlCol="0" anchor="t"/>
          <a:lstStyle/>
          <a:p>
            <a:pPr marL="0" indent="0">
              <a:buNone/>
            </a:pPr>
            <a:r>
              <a:rPr lang="en-US" sz="1300" dirty="0">
                <a:solidFill>
                  <a:srgbClr val="0F172A"/>
                </a:solidFill>
                <a:latin typeface="Calibri" pitchFamily="34" charset="0"/>
                <a:ea typeface="Calibri" pitchFamily="34" charset="-122"/>
                <a:cs typeface="Calibri" pitchFamily="34" charset="-120"/>
              </a:rPr>
              <a:t>A few pages have missing or repeated headings</a:t>
            </a:r>
            <a:endParaRPr lang="en-US" sz="1300" dirty="0"/>
          </a:p>
        </p:txBody>
      </p:sp>
      <p:sp>
        <p:nvSpPr>
          <p:cNvPr id="35" name="Shape 9">
            <a:extLst>
              <a:ext uri="{FF2B5EF4-FFF2-40B4-BE49-F238E27FC236}">
                <a16:creationId xmlns:a16="http://schemas.microsoft.com/office/drawing/2014/main" id="{01B0849C-F35C-BF34-466C-21F954F3A85E}"/>
              </a:ext>
            </a:extLst>
          </p:cNvPr>
          <p:cNvSpPr/>
          <p:nvPr/>
        </p:nvSpPr>
        <p:spPr>
          <a:xfrm>
            <a:off x="6532190" y="2841654"/>
            <a:ext cx="274320" cy="274320"/>
          </a:xfrm>
          <a:prstGeom prst="ellipse">
            <a:avLst/>
          </a:prstGeom>
          <a:solidFill>
            <a:srgbClr val="16A34A"/>
          </a:solidFill>
          <a:ln w="12700">
            <a:solidFill>
              <a:srgbClr val="16A34A"/>
            </a:solidFill>
            <a:prstDash val="solid"/>
          </a:ln>
        </p:spPr>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365760"/>
            <a:ext cx="8229600" cy="274320"/>
          </a:xfrm>
          <a:prstGeom prst="rect">
            <a:avLst/>
          </a:prstGeom>
          <a:noFill/>
          <a:ln/>
        </p:spPr>
        <p:txBody>
          <a:bodyPr wrap="square" lIns="0" tIns="0" rIns="0" bIns="0" rtlCol="0" anchor="ctr"/>
          <a:lstStyle/>
          <a:p>
            <a:pPr marL="0" indent="0">
              <a:buNone/>
            </a:pPr>
            <a:r>
              <a:rPr lang="en-US" sz="1200" b="1" kern="0" spc="300" dirty="0">
                <a:solidFill>
                  <a:srgbClr val="0086C7"/>
                </a:solidFill>
                <a:latin typeface="Calibri" pitchFamily="34" charset="0"/>
                <a:ea typeface="Calibri" pitchFamily="34" charset="-122"/>
                <a:cs typeface="Calibri" pitchFamily="34" charset="-120"/>
              </a:rPr>
              <a:t>SECURITY CHECKS</a:t>
            </a:r>
            <a:endParaRPr lang="en-US" sz="1200" dirty="0"/>
          </a:p>
        </p:txBody>
      </p:sp>
      <p:pic>
        <p:nvPicPr>
          <p:cNvPr id="3" name="Image 0" descr="C:/Projects/OGH/build/brand/logo_color_big.png"/>
          <p:cNvPicPr>
            <a:picLocks noChangeAspect="1"/>
          </p:cNvPicPr>
          <p:nvPr/>
        </p:nvPicPr>
        <p:blipFill>
          <a:blip r:embed="rId3"/>
          <a:stretch>
            <a:fillRect/>
          </a:stretch>
        </p:blipFill>
        <p:spPr>
          <a:xfrm>
            <a:off x="10058400" y="347472"/>
            <a:ext cx="1554480" cy="347472"/>
          </a:xfrm>
          <a:prstGeom prst="rect">
            <a:avLst/>
          </a:prstGeom>
        </p:spPr>
      </p:pic>
      <p:sp>
        <p:nvSpPr>
          <p:cNvPr id="4" name="Text 1"/>
          <p:cNvSpPr txBox="1"/>
          <p:nvPr/>
        </p:nvSpPr>
        <p:spPr>
          <a:xfrm>
            <a:off x="548640" y="658368"/>
            <a:ext cx="9326880" cy="731520"/>
          </a:xfrm>
          <a:prstGeom prst="rect">
            <a:avLst/>
          </a:prstGeom>
          <a:noFill/>
          <a:ln/>
        </p:spPr>
        <p:txBody>
          <a:bodyPr wrap="square" lIns="0" tIns="0" rIns="0" bIns="0" rtlCol="0" anchor="t"/>
          <a:lstStyle/>
          <a:p>
            <a:pPr marL="0" indent="0">
              <a:buNone/>
            </a:pPr>
            <a:r>
              <a:rPr lang="en-US" sz="3200" b="1" dirty="0">
                <a:solidFill>
                  <a:srgbClr val="0B1929"/>
                </a:solidFill>
                <a:latin typeface="Calibri" pitchFamily="34" charset="0"/>
                <a:ea typeface="Calibri" pitchFamily="34" charset="-122"/>
                <a:cs typeface="Calibri" pitchFamily="34" charset="-120"/>
              </a:rPr>
              <a:t>Security &amp; website protection</a:t>
            </a:r>
            <a:endParaRPr lang="en-US" sz="3200" dirty="0"/>
          </a:p>
        </p:txBody>
      </p:sp>
      <p:sp>
        <p:nvSpPr>
          <p:cNvPr id="5" name="Text 2"/>
          <p:cNvSpPr txBox="1"/>
          <p:nvPr/>
        </p:nvSpPr>
        <p:spPr>
          <a:xfrm>
            <a:off x="548640" y="6446520"/>
            <a:ext cx="7315200" cy="228600"/>
          </a:xfrm>
          <a:prstGeom prst="rect">
            <a:avLst/>
          </a:prstGeom>
          <a:noFill/>
          <a:ln/>
        </p:spPr>
        <p:txBody>
          <a:bodyPr wrap="square" lIns="0" tIns="0" rIns="0" bIns="0" rtlCol="0" anchor="ctr"/>
          <a:lstStyle/>
          <a:p>
            <a:pPr marL="0" indent="0">
              <a:buNone/>
            </a:pPr>
            <a:r>
              <a:rPr lang="en-US" sz="1000" dirty="0">
                <a:solidFill>
                  <a:srgbClr val="475569"/>
                </a:solidFill>
                <a:latin typeface="Calibri" pitchFamily="34" charset="0"/>
                <a:ea typeface="Calibri" pitchFamily="34" charset="-122"/>
                <a:cs typeface="Calibri" pitchFamily="34" charset="-120"/>
              </a:rPr>
              <a:t>Prepared by WebDesk Solution  |  Our Green House  |  October 2026</a:t>
            </a:r>
            <a:endParaRPr lang="en-US" sz="1000" dirty="0"/>
          </a:p>
        </p:txBody>
      </p:sp>
      <p:sp>
        <p:nvSpPr>
          <p:cNvPr id="6" name="Text 3"/>
          <p:cNvSpPr txBox="1"/>
          <p:nvPr/>
        </p:nvSpPr>
        <p:spPr>
          <a:xfrm>
            <a:off x="11064240" y="6446520"/>
            <a:ext cx="548640" cy="228600"/>
          </a:xfrm>
          <a:prstGeom prst="rect">
            <a:avLst/>
          </a:prstGeom>
          <a:noFill/>
          <a:ln/>
        </p:spPr>
        <p:txBody>
          <a:bodyPr wrap="square" lIns="0" tIns="0" rIns="0" bIns="0" rtlCol="0" anchor="ctr"/>
          <a:lstStyle/>
          <a:p>
            <a:pPr marL="0" indent="0" algn="r">
              <a:buNone/>
            </a:pPr>
            <a:r>
              <a:rPr lang="en-US" sz="1000" dirty="0">
                <a:solidFill>
                  <a:srgbClr val="475569"/>
                </a:solidFill>
                <a:latin typeface="Calibri" pitchFamily="34" charset="0"/>
                <a:ea typeface="Calibri" pitchFamily="34" charset="-122"/>
                <a:cs typeface="Calibri" pitchFamily="34" charset="-120"/>
              </a:rPr>
              <a:t>8</a:t>
            </a:r>
            <a:endParaRPr lang="en-US" sz="1000" dirty="0"/>
          </a:p>
        </p:txBody>
      </p:sp>
      <p:sp>
        <p:nvSpPr>
          <p:cNvPr id="7" name="Text 4"/>
          <p:cNvSpPr txBox="1"/>
          <p:nvPr/>
        </p:nvSpPr>
        <p:spPr>
          <a:xfrm>
            <a:off x="548640" y="1508760"/>
            <a:ext cx="11064240" cy="457200"/>
          </a:xfrm>
          <a:prstGeom prst="rect">
            <a:avLst/>
          </a:prstGeom>
          <a:noFill/>
          <a:ln/>
        </p:spPr>
        <p:txBody>
          <a:bodyPr wrap="square" lIns="0" tIns="0" rIns="0" bIns="0" rtlCol="0" anchor="ctr"/>
          <a:lstStyle/>
          <a:p>
            <a:pPr marL="0" indent="0">
              <a:buNone/>
            </a:pPr>
            <a:r>
              <a:rPr lang="en-US" sz="1600" dirty="0">
                <a:solidFill>
                  <a:srgbClr val="0F172A"/>
                </a:solidFill>
                <a:latin typeface="Calibri" pitchFamily="34" charset="0"/>
                <a:ea typeface="Calibri" pitchFamily="34" charset="-122"/>
                <a:cs typeface="Calibri" pitchFamily="34" charset="-120"/>
              </a:rPr>
              <a:t>Routine, non-destructive security checks were performed across observable website behaviour.</a:t>
            </a:r>
            <a:endParaRPr lang="en-US" sz="1600" dirty="0"/>
          </a:p>
        </p:txBody>
      </p:sp>
      <p:sp>
        <p:nvSpPr>
          <p:cNvPr id="8" name="Shape 5"/>
          <p:cNvSpPr/>
          <p:nvPr/>
        </p:nvSpPr>
        <p:spPr>
          <a:xfrm>
            <a:off x="548640" y="2194560"/>
            <a:ext cx="5440680" cy="3291840"/>
          </a:xfrm>
          <a:prstGeom prst="roundRect">
            <a:avLst>
              <a:gd name="adj" fmla="val 3333"/>
            </a:avLst>
          </a:prstGeom>
          <a:solidFill>
            <a:srgbClr val="E3F1FA"/>
          </a:solidFill>
          <a:ln w="12700">
            <a:solidFill>
              <a:srgbClr val="E3F1FA"/>
            </a:solidFill>
            <a:prstDash val="solid"/>
          </a:ln>
        </p:spPr>
      </p:sp>
      <p:sp>
        <p:nvSpPr>
          <p:cNvPr id="9" name="Shape 6"/>
          <p:cNvSpPr/>
          <p:nvPr/>
        </p:nvSpPr>
        <p:spPr>
          <a:xfrm>
            <a:off x="6172200" y="2194560"/>
            <a:ext cx="5440680" cy="3291840"/>
          </a:xfrm>
          <a:prstGeom prst="roundRect">
            <a:avLst>
              <a:gd name="adj" fmla="val 3333"/>
            </a:avLst>
          </a:prstGeom>
          <a:solidFill>
            <a:srgbClr val="F1F5F9"/>
          </a:solidFill>
          <a:ln w="12700">
            <a:solidFill>
              <a:srgbClr val="F1F5F9"/>
            </a:solidFill>
            <a:prstDash val="solid"/>
          </a:ln>
        </p:spPr>
      </p:sp>
      <p:sp>
        <p:nvSpPr>
          <p:cNvPr id="10" name="Shape 7"/>
          <p:cNvSpPr/>
          <p:nvPr/>
        </p:nvSpPr>
        <p:spPr>
          <a:xfrm>
            <a:off x="777240" y="2377440"/>
            <a:ext cx="548640" cy="548640"/>
          </a:xfrm>
          <a:prstGeom prst="ellipse">
            <a:avLst/>
          </a:prstGeom>
          <a:solidFill>
            <a:srgbClr val="16A34A"/>
          </a:solidFill>
          <a:ln w="12700">
            <a:solidFill>
              <a:srgbClr val="16A34A"/>
            </a:solidFill>
            <a:prstDash val="solid"/>
          </a:ln>
        </p:spPr>
      </p:sp>
      <p:pic>
        <p:nvPicPr>
          <p:cNvPr id="11" name="Image 1" descr="preencoded.png"/>
          <p:cNvPicPr>
            <a:picLocks noChangeAspect="1"/>
          </p:cNvPicPr>
          <p:nvPr/>
        </p:nvPicPr>
        <p:blipFill>
          <a:blip r:embed="rId4"/>
          <a:stretch>
            <a:fillRect/>
          </a:stretch>
        </p:blipFill>
        <p:spPr>
          <a:xfrm>
            <a:off x="914400" y="2514600"/>
            <a:ext cx="274320" cy="274320"/>
          </a:xfrm>
          <a:prstGeom prst="rect">
            <a:avLst/>
          </a:prstGeom>
        </p:spPr>
      </p:pic>
      <p:sp>
        <p:nvSpPr>
          <p:cNvPr id="12" name="Text 8"/>
          <p:cNvSpPr txBox="1"/>
          <p:nvPr/>
        </p:nvSpPr>
        <p:spPr>
          <a:xfrm>
            <a:off x="1508760" y="2423160"/>
            <a:ext cx="4297680" cy="457200"/>
          </a:xfrm>
          <a:prstGeom prst="rect">
            <a:avLst/>
          </a:prstGeom>
          <a:noFill/>
          <a:ln/>
        </p:spPr>
        <p:txBody>
          <a:bodyPr wrap="square" lIns="0" tIns="0" rIns="0" bIns="0" rtlCol="0" anchor="ctr"/>
          <a:lstStyle/>
          <a:p>
            <a:pPr marL="0" indent="0">
              <a:buNone/>
            </a:pPr>
            <a:r>
              <a:rPr lang="en-US" sz="1800" b="1" dirty="0">
                <a:solidFill>
                  <a:srgbClr val="0B1929"/>
                </a:solidFill>
                <a:latin typeface="Calibri" pitchFamily="34" charset="0"/>
                <a:ea typeface="Calibri" pitchFamily="34" charset="-122"/>
                <a:cs typeface="Calibri" pitchFamily="34" charset="-120"/>
              </a:rPr>
              <a:t>Observed in good order</a:t>
            </a:r>
            <a:endParaRPr lang="en-US" sz="1800" dirty="0"/>
          </a:p>
        </p:txBody>
      </p:sp>
      <p:sp>
        <p:nvSpPr>
          <p:cNvPr id="13" name="Text 9"/>
          <p:cNvSpPr txBox="1"/>
          <p:nvPr/>
        </p:nvSpPr>
        <p:spPr>
          <a:xfrm>
            <a:off x="822960" y="3108960"/>
            <a:ext cx="4937760" cy="2743200"/>
          </a:xfrm>
          <a:prstGeom prst="rect">
            <a:avLst/>
          </a:prstGeom>
          <a:noFill/>
          <a:ln/>
        </p:spPr>
        <p:txBody>
          <a:bodyPr wrap="square" lIns="0" tIns="0" rIns="0" bIns="0" rtlCol="0" anchor="t"/>
          <a:lstStyle/>
          <a:p>
            <a:pPr marL="342900" indent="-342900">
              <a:spcAft>
                <a:spcPts val="800"/>
              </a:spcAft>
              <a:buSzPct val="100000"/>
              <a:buChar char="•"/>
            </a:pPr>
            <a:r>
              <a:rPr lang="en-US" sz="1400" dirty="0">
                <a:solidFill>
                  <a:srgbClr val="0F172A"/>
                </a:solidFill>
                <a:latin typeface="Calibri" pitchFamily="34" charset="0"/>
                <a:ea typeface="Calibri" pitchFamily="34" charset="-122"/>
                <a:cs typeface="Calibri" pitchFamily="34" charset="-120"/>
              </a:rPr>
              <a:t>Secure connection (HTTPS) active; visitors on the plain-web address are redirected to it</a:t>
            </a:r>
            <a:endParaRPr lang="en-US" sz="1400" dirty="0"/>
          </a:p>
          <a:p>
            <a:pPr marL="342900" indent="-342900">
              <a:spcAft>
                <a:spcPts val="800"/>
              </a:spcAft>
              <a:buSzPct val="100000"/>
              <a:buChar char="•"/>
            </a:pPr>
            <a:r>
              <a:rPr lang="en-US" sz="1400" dirty="0">
                <a:solidFill>
                  <a:srgbClr val="0F172A"/>
                </a:solidFill>
                <a:latin typeface="Calibri" pitchFamily="34" charset="0"/>
                <a:ea typeface="Calibri" pitchFamily="34" charset="-122"/>
                <a:cs typeface="Calibri" pitchFamily="34" charset="-120"/>
              </a:rPr>
              <a:t>No insecure content found loading on the pages checked</a:t>
            </a:r>
            <a:endParaRPr lang="en-US" sz="1400" dirty="0"/>
          </a:p>
          <a:p>
            <a:pPr marL="342900" indent="-342900">
              <a:spcAft>
                <a:spcPts val="800"/>
              </a:spcAft>
              <a:buSzPct val="100000"/>
              <a:buChar char="•"/>
            </a:pPr>
            <a:r>
              <a:rPr lang="en-US" sz="1400" dirty="0">
                <a:solidFill>
                  <a:srgbClr val="0F172A"/>
                </a:solidFill>
                <a:latin typeface="Calibri" pitchFamily="34" charset="0"/>
                <a:ea typeface="Calibri" pitchFamily="34" charset="-122"/>
                <a:cs typeface="Calibri" pitchFamily="34" charset="-120"/>
              </a:rPr>
              <a:t>Unusual characters typed into search were not displayed back unsafely</a:t>
            </a:r>
            <a:endParaRPr lang="en-US" sz="1400" dirty="0"/>
          </a:p>
          <a:p>
            <a:pPr marL="342900" indent="-342900">
              <a:spcAft>
                <a:spcPts val="800"/>
              </a:spcAft>
              <a:buSzPct val="100000"/>
              <a:buChar char="•"/>
            </a:pPr>
            <a:r>
              <a:rPr lang="en-US" sz="1400" dirty="0">
                <a:solidFill>
                  <a:srgbClr val="0F172A"/>
                </a:solidFill>
                <a:latin typeface="Calibri" pitchFamily="34" charset="0"/>
                <a:ea typeface="Calibri" pitchFamily="34" charset="-122"/>
                <a:cs typeface="Calibri" pitchFamily="34" charset="-120"/>
              </a:rPr>
              <a:t>Sign-in and checkout forms validate input and show clear messages</a:t>
            </a:r>
            <a:endParaRPr lang="en-US" sz="1400" dirty="0"/>
          </a:p>
        </p:txBody>
      </p:sp>
      <p:sp>
        <p:nvSpPr>
          <p:cNvPr id="14" name="Shape 10"/>
          <p:cNvSpPr/>
          <p:nvPr/>
        </p:nvSpPr>
        <p:spPr>
          <a:xfrm>
            <a:off x="6400800" y="2377440"/>
            <a:ext cx="548640" cy="548640"/>
          </a:xfrm>
          <a:prstGeom prst="ellipse">
            <a:avLst/>
          </a:prstGeom>
          <a:solidFill>
            <a:srgbClr val="0086C7"/>
          </a:solidFill>
          <a:ln w="12700">
            <a:solidFill>
              <a:srgbClr val="0086C7"/>
            </a:solidFill>
            <a:prstDash val="solid"/>
          </a:ln>
        </p:spPr>
      </p:sp>
      <p:pic>
        <p:nvPicPr>
          <p:cNvPr id="15" name="Image 2" descr="preencoded.png"/>
          <p:cNvPicPr>
            <a:picLocks noChangeAspect="1"/>
          </p:cNvPicPr>
          <p:nvPr/>
        </p:nvPicPr>
        <p:blipFill>
          <a:blip r:embed="rId5"/>
          <a:stretch>
            <a:fillRect/>
          </a:stretch>
        </p:blipFill>
        <p:spPr>
          <a:xfrm>
            <a:off x="6537960" y="2514600"/>
            <a:ext cx="274320" cy="274320"/>
          </a:xfrm>
          <a:prstGeom prst="rect">
            <a:avLst/>
          </a:prstGeom>
        </p:spPr>
      </p:pic>
      <p:sp>
        <p:nvSpPr>
          <p:cNvPr id="16" name="Text 11"/>
          <p:cNvSpPr txBox="1"/>
          <p:nvPr/>
        </p:nvSpPr>
        <p:spPr>
          <a:xfrm>
            <a:off x="7132320" y="2423160"/>
            <a:ext cx="4297680" cy="457200"/>
          </a:xfrm>
          <a:prstGeom prst="rect">
            <a:avLst/>
          </a:prstGeom>
          <a:noFill/>
          <a:ln/>
        </p:spPr>
        <p:txBody>
          <a:bodyPr wrap="square" lIns="0" tIns="0" rIns="0" bIns="0" rtlCol="0" anchor="ctr"/>
          <a:lstStyle/>
          <a:p>
            <a:pPr marL="0" indent="0">
              <a:buNone/>
            </a:pPr>
            <a:r>
              <a:rPr lang="en-US" sz="1800" b="1" dirty="0">
                <a:solidFill>
                  <a:srgbClr val="0B1929"/>
                </a:solidFill>
                <a:latin typeface="Calibri" pitchFamily="34" charset="0"/>
                <a:ea typeface="Calibri" pitchFamily="34" charset="-122"/>
                <a:cs typeface="Calibri" pitchFamily="34" charset="-120"/>
              </a:rPr>
              <a:t>Recommended hardening</a:t>
            </a:r>
            <a:endParaRPr lang="en-US" sz="1800" dirty="0"/>
          </a:p>
        </p:txBody>
      </p:sp>
      <p:sp>
        <p:nvSpPr>
          <p:cNvPr id="17" name="Text 12"/>
          <p:cNvSpPr txBox="1"/>
          <p:nvPr/>
        </p:nvSpPr>
        <p:spPr>
          <a:xfrm>
            <a:off x="6446520" y="3108960"/>
            <a:ext cx="4937760" cy="2743200"/>
          </a:xfrm>
          <a:prstGeom prst="rect">
            <a:avLst/>
          </a:prstGeom>
          <a:noFill/>
          <a:ln/>
        </p:spPr>
        <p:txBody>
          <a:bodyPr wrap="square" lIns="0" tIns="0" rIns="0" bIns="0" rtlCol="0" anchor="t"/>
          <a:lstStyle/>
          <a:p>
            <a:pPr marL="342900" indent="-342900">
              <a:spcAft>
                <a:spcPts val="800"/>
              </a:spcAft>
              <a:buSzPct val="100000"/>
              <a:buChar char="•"/>
            </a:pPr>
            <a:r>
              <a:rPr lang="en-US" sz="1400" dirty="0">
                <a:solidFill>
                  <a:srgbClr val="0F172A"/>
                </a:solidFill>
                <a:latin typeface="Calibri" pitchFamily="34" charset="0"/>
                <a:ea typeface="Calibri" pitchFamily="34" charset="-122"/>
                <a:cs typeface="Calibri" pitchFamily="34" charset="-120"/>
              </a:rPr>
              <a:t>Strengthen the browser security settings the site sends (for example, enforce secure connections for returning visitors)</a:t>
            </a:r>
            <a:endParaRPr lang="en-US" sz="1400" dirty="0"/>
          </a:p>
          <a:p>
            <a:pPr marL="342900" indent="-342900">
              <a:spcAft>
                <a:spcPts val="800"/>
              </a:spcAft>
              <a:buSzPct val="100000"/>
              <a:buChar char="•"/>
            </a:pPr>
            <a:r>
              <a:rPr lang="en-US" sz="1400" dirty="0">
                <a:solidFill>
                  <a:srgbClr val="0F172A"/>
                </a:solidFill>
                <a:latin typeface="Calibri" pitchFamily="34" charset="0"/>
                <a:ea typeface="Calibri" pitchFamily="34" charset="-122"/>
                <a:cs typeface="Calibri" pitchFamily="34" charset="-120"/>
              </a:rPr>
              <a:t>Add optional extra privacy and protection headers</a:t>
            </a:r>
            <a:endParaRPr lang="en-US" sz="1400" dirty="0"/>
          </a:p>
          <a:p>
            <a:pPr marL="342900" indent="-342900">
              <a:spcAft>
                <a:spcPts val="800"/>
              </a:spcAft>
              <a:buSzPct val="100000"/>
              <a:buChar char="•"/>
            </a:pPr>
            <a:r>
              <a:rPr lang="en-US" sz="1400" dirty="0">
                <a:solidFill>
                  <a:srgbClr val="0F172A"/>
                </a:solidFill>
                <a:latin typeface="Calibri" pitchFamily="34" charset="0"/>
                <a:ea typeface="Calibri" pitchFamily="34" charset="-122"/>
                <a:cs typeface="Calibri" pitchFamily="34" charset="-120"/>
              </a:rPr>
              <a:t>Update an older script library (jQuery) that has known security notices</a:t>
            </a:r>
            <a:endParaRPr lang="en-US" sz="1400" dirty="0"/>
          </a:p>
          <a:p>
            <a:pPr marL="342900" indent="-342900">
              <a:spcAft>
                <a:spcPts val="800"/>
              </a:spcAft>
              <a:buSzPct val="100000"/>
              <a:buChar char="•"/>
            </a:pPr>
            <a:r>
              <a:rPr lang="en-US" sz="1400" dirty="0">
                <a:solidFill>
                  <a:srgbClr val="0F172A"/>
                </a:solidFill>
                <a:latin typeface="Calibri" pitchFamily="34" charset="0"/>
                <a:ea typeface="Calibri" pitchFamily="34" charset="-122"/>
                <a:cs typeface="Calibri" pitchFamily="34" charset="-120"/>
              </a:rPr>
              <a:t>Add email sender protection (DMARC and DKIM records) so the shop's emails are trusted</a:t>
            </a:r>
            <a:endParaRPr lang="en-US" sz="14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365760"/>
            <a:ext cx="8229600" cy="274320"/>
          </a:xfrm>
          <a:prstGeom prst="rect">
            <a:avLst/>
          </a:prstGeom>
          <a:noFill/>
          <a:ln/>
        </p:spPr>
        <p:txBody>
          <a:bodyPr wrap="square" lIns="0" tIns="0" rIns="0" bIns="0" rtlCol="0" anchor="ctr"/>
          <a:lstStyle/>
          <a:p>
            <a:pPr marL="0" indent="0">
              <a:buNone/>
            </a:pPr>
            <a:r>
              <a:rPr lang="en-US" sz="1200" b="1" kern="0" spc="300" dirty="0">
                <a:solidFill>
                  <a:srgbClr val="0086C7"/>
                </a:solidFill>
                <a:latin typeface="Calibri" pitchFamily="34" charset="0"/>
                <a:ea typeface="Calibri" pitchFamily="34" charset="-122"/>
                <a:cs typeface="Calibri" pitchFamily="34" charset="-120"/>
              </a:rPr>
              <a:t>MAINTENANCE SUMMARY</a:t>
            </a:r>
            <a:endParaRPr lang="en-US" sz="1200" dirty="0"/>
          </a:p>
        </p:txBody>
      </p:sp>
      <p:pic>
        <p:nvPicPr>
          <p:cNvPr id="3" name="Image 0" descr="C:/Projects/OGH/build/brand/logo_color_big.png"/>
          <p:cNvPicPr>
            <a:picLocks noChangeAspect="1"/>
          </p:cNvPicPr>
          <p:nvPr/>
        </p:nvPicPr>
        <p:blipFill>
          <a:blip r:embed="rId3"/>
          <a:stretch>
            <a:fillRect/>
          </a:stretch>
        </p:blipFill>
        <p:spPr>
          <a:xfrm>
            <a:off x="10058400" y="347472"/>
            <a:ext cx="1554480" cy="347472"/>
          </a:xfrm>
          <a:prstGeom prst="rect">
            <a:avLst/>
          </a:prstGeom>
        </p:spPr>
      </p:pic>
      <p:sp>
        <p:nvSpPr>
          <p:cNvPr id="4" name="Text 1"/>
          <p:cNvSpPr txBox="1"/>
          <p:nvPr/>
        </p:nvSpPr>
        <p:spPr>
          <a:xfrm>
            <a:off x="548640" y="658368"/>
            <a:ext cx="9326880" cy="731520"/>
          </a:xfrm>
          <a:prstGeom prst="rect">
            <a:avLst/>
          </a:prstGeom>
          <a:noFill/>
          <a:ln/>
        </p:spPr>
        <p:txBody>
          <a:bodyPr wrap="square" lIns="0" tIns="0" rIns="0" bIns="0" rtlCol="0" anchor="t"/>
          <a:lstStyle/>
          <a:p>
            <a:pPr marL="0" indent="0">
              <a:buNone/>
            </a:pPr>
            <a:r>
              <a:rPr lang="en-US" sz="3200" b="1" dirty="0">
                <a:solidFill>
                  <a:srgbClr val="0B1929"/>
                </a:solidFill>
                <a:latin typeface="Calibri" pitchFamily="34" charset="0"/>
                <a:ea typeface="Calibri" pitchFamily="34" charset="-122"/>
                <a:cs typeface="Calibri" pitchFamily="34" charset="-120"/>
              </a:rPr>
              <a:t>Maintenance activities completed</a:t>
            </a:r>
            <a:endParaRPr lang="en-US" sz="3200" dirty="0"/>
          </a:p>
        </p:txBody>
      </p:sp>
      <p:sp>
        <p:nvSpPr>
          <p:cNvPr id="5" name="Text 2"/>
          <p:cNvSpPr txBox="1"/>
          <p:nvPr/>
        </p:nvSpPr>
        <p:spPr>
          <a:xfrm>
            <a:off x="548640" y="6446520"/>
            <a:ext cx="7315200" cy="228600"/>
          </a:xfrm>
          <a:prstGeom prst="rect">
            <a:avLst/>
          </a:prstGeom>
          <a:noFill/>
          <a:ln/>
        </p:spPr>
        <p:txBody>
          <a:bodyPr wrap="square" lIns="0" tIns="0" rIns="0" bIns="0" rtlCol="0" anchor="ctr"/>
          <a:lstStyle/>
          <a:p>
            <a:pPr marL="0" indent="0">
              <a:buNone/>
            </a:pPr>
            <a:r>
              <a:rPr lang="en-US" sz="1000" dirty="0">
                <a:solidFill>
                  <a:srgbClr val="475569"/>
                </a:solidFill>
                <a:latin typeface="Calibri" pitchFamily="34" charset="0"/>
                <a:ea typeface="Calibri" pitchFamily="34" charset="-122"/>
                <a:cs typeface="Calibri" pitchFamily="34" charset="-120"/>
              </a:rPr>
              <a:t>Prepared by WebDesk Solution  |  Our Green House  |  October 2026</a:t>
            </a:r>
            <a:endParaRPr lang="en-US" sz="1000" dirty="0"/>
          </a:p>
        </p:txBody>
      </p:sp>
      <p:sp>
        <p:nvSpPr>
          <p:cNvPr id="6" name="Text 3"/>
          <p:cNvSpPr txBox="1"/>
          <p:nvPr/>
        </p:nvSpPr>
        <p:spPr>
          <a:xfrm>
            <a:off x="11064240" y="6446520"/>
            <a:ext cx="548640" cy="228600"/>
          </a:xfrm>
          <a:prstGeom prst="rect">
            <a:avLst/>
          </a:prstGeom>
          <a:noFill/>
          <a:ln/>
        </p:spPr>
        <p:txBody>
          <a:bodyPr wrap="square" lIns="0" tIns="0" rIns="0" bIns="0" rtlCol="0" anchor="ctr"/>
          <a:lstStyle/>
          <a:p>
            <a:pPr marL="0" indent="0" algn="r">
              <a:buNone/>
            </a:pPr>
            <a:r>
              <a:rPr lang="en-US" sz="1000" dirty="0">
                <a:solidFill>
                  <a:srgbClr val="475569"/>
                </a:solidFill>
                <a:latin typeface="Calibri" pitchFamily="34" charset="0"/>
                <a:ea typeface="Calibri" pitchFamily="34" charset="-122"/>
                <a:cs typeface="Calibri" pitchFamily="34" charset="-120"/>
              </a:rPr>
              <a:t>9</a:t>
            </a:r>
            <a:endParaRPr lang="en-US" sz="1000" dirty="0"/>
          </a:p>
        </p:txBody>
      </p:sp>
      <p:sp>
        <p:nvSpPr>
          <p:cNvPr id="7" name="Shape 4"/>
          <p:cNvSpPr/>
          <p:nvPr/>
        </p:nvSpPr>
        <p:spPr>
          <a:xfrm>
            <a:off x="548640" y="1554480"/>
            <a:ext cx="3520440" cy="2194560"/>
          </a:xfrm>
          <a:prstGeom prst="roundRect">
            <a:avLst>
              <a:gd name="adj" fmla="val 5000"/>
            </a:avLst>
          </a:prstGeom>
          <a:solidFill>
            <a:srgbClr val="F1F5F9"/>
          </a:solidFill>
          <a:ln w="12700">
            <a:solidFill>
              <a:srgbClr val="F1F5F9"/>
            </a:solidFill>
            <a:prstDash val="solid"/>
          </a:ln>
        </p:spPr>
      </p:sp>
      <p:sp>
        <p:nvSpPr>
          <p:cNvPr id="8" name="Shape 5"/>
          <p:cNvSpPr/>
          <p:nvPr/>
        </p:nvSpPr>
        <p:spPr>
          <a:xfrm>
            <a:off x="731520" y="1737360"/>
            <a:ext cx="502920" cy="502920"/>
          </a:xfrm>
          <a:prstGeom prst="ellipse">
            <a:avLst/>
          </a:prstGeom>
          <a:solidFill>
            <a:srgbClr val="0B1929"/>
          </a:solidFill>
          <a:ln w="12700">
            <a:solidFill>
              <a:srgbClr val="0B1929"/>
            </a:solidFill>
            <a:prstDash val="solid"/>
          </a:ln>
        </p:spPr>
      </p:sp>
      <p:pic>
        <p:nvPicPr>
          <p:cNvPr id="9" name="Image 1" descr="preencoded.png"/>
          <p:cNvPicPr>
            <a:picLocks noChangeAspect="1"/>
          </p:cNvPicPr>
          <p:nvPr/>
        </p:nvPicPr>
        <p:blipFill>
          <a:blip r:embed="rId4"/>
          <a:stretch>
            <a:fillRect/>
          </a:stretch>
        </p:blipFill>
        <p:spPr>
          <a:xfrm>
            <a:off x="857250" y="1863090"/>
            <a:ext cx="251460" cy="251460"/>
          </a:xfrm>
          <a:prstGeom prst="rect">
            <a:avLst/>
          </a:prstGeom>
        </p:spPr>
      </p:pic>
      <p:sp>
        <p:nvSpPr>
          <p:cNvPr id="10" name="Text 6"/>
          <p:cNvSpPr txBox="1"/>
          <p:nvPr/>
        </p:nvSpPr>
        <p:spPr>
          <a:xfrm>
            <a:off x="1371600" y="1810512"/>
            <a:ext cx="2560320" cy="365760"/>
          </a:xfrm>
          <a:prstGeom prst="rect">
            <a:avLst/>
          </a:prstGeom>
          <a:noFill/>
          <a:ln/>
        </p:spPr>
        <p:txBody>
          <a:bodyPr wrap="square" lIns="0" tIns="0" rIns="0" bIns="0" rtlCol="0" anchor="ctr"/>
          <a:lstStyle/>
          <a:p>
            <a:pPr marL="0" indent="0">
              <a:buNone/>
            </a:pPr>
            <a:r>
              <a:rPr lang="en-US" sz="1700" b="1" dirty="0">
                <a:solidFill>
                  <a:srgbClr val="0B1929"/>
                </a:solidFill>
                <a:latin typeface="Calibri" pitchFamily="34" charset="0"/>
                <a:ea typeface="Calibri" pitchFamily="34" charset="-122"/>
                <a:cs typeface="Calibri" pitchFamily="34" charset="-120"/>
              </a:rPr>
              <a:t>Website</a:t>
            </a:r>
            <a:endParaRPr lang="en-US" sz="1700" dirty="0"/>
          </a:p>
        </p:txBody>
      </p:sp>
      <p:sp>
        <p:nvSpPr>
          <p:cNvPr id="11" name="Text 7"/>
          <p:cNvSpPr txBox="1"/>
          <p:nvPr/>
        </p:nvSpPr>
        <p:spPr>
          <a:xfrm>
            <a:off x="822960" y="2423160"/>
            <a:ext cx="3108960" cy="1280160"/>
          </a:xfrm>
          <a:prstGeom prst="rect">
            <a:avLst/>
          </a:prstGeom>
          <a:noFill/>
          <a:ln/>
        </p:spPr>
        <p:txBody>
          <a:bodyPr wrap="square" lIns="0" tIns="0" rIns="0" bIns="0" rtlCol="0" anchor="t"/>
          <a:lstStyle/>
          <a:p>
            <a:pPr marL="342900" indent="-342900">
              <a:spcAft>
                <a:spcPts val="300"/>
              </a:spcAft>
              <a:buSzPct val="100000"/>
              <a:buChar char="•"/>
            </a:pPr>
            <a:r>
              <a:rPr lang="en-US" sz="1250" dirty="0">
                <a:solidFill>
                  <a:srgbClr val="0F172A"/>
                </a:solidFill>
                <a:latin typeface="Calibri" pitchFamily="34" charset="0"/>
                <a:ea typeface="Calibri" pitchFamily="34" charset="-122"/>
                <a:cs typeface="Calibri" pitchFamily="34" charset="-120"/>
              </a:rPr>
              <a:t>Functional health review</a:t>
            </a:r>
            <a:endParaRPr lang="en-US" sz="1250" dirty="0"/>
          </a:p>
          <a:p>
            <a:pPr marL="342900" indent="-342900">
              <a:spcAft>
                <a:spcPts val="300"/>
              </a:spcAft>
              <a:buSzPct val="100000"/>
              <a:buChar char="•"/>
            </a:pPr>
            <a:r>
              <a:rPr lang="en-US" sz="1250" dirty="0">
                <a:solidFill>
                  <a:srgbClr val="0F172A"/>
                </a:solidFill>
                <a:latin typeface="Calibri" pitchFamily="34" charset="0"/>
                <a:ea typeface="Calibri" pitchFamily="34" charset="-122"/>
                <a:cs typeface="Calibri" pitchFamily="34" charset="-120"/>
              </a:rPr>
              <a:t>Navigation review</a:t>
            </a:r>
            <a:endParaRPr lang="en-US" sz="1250" dirty="0"/>
          </a:p>
          <a:p>
            <a:pPr marL="342900" indent="-342900">
              <a:spcAft>
                <a:spcPts val="300"/>
              </a:spcAft>
              <a:buSzPct val="100000"/>
              <a:buChar char="•"/>
            </a:pPr>
            <a:r>
              <a:rPr lang="en-US" sz="1250" dirty="0">
                <a:solidFill>
                  <a:srgbClr val="0F172A"/>
                </a:solidFill>
                <a:latin typeface="Calibri" pitchFamily="34" charset="0"/>
                <a:ea typeface="Calibri" pitchFamily="34" charset="-122"/>
                <a:cs typeface="Calibri" pitchFamily="34" charset="-120"/>
              </a:rPr>
              <a:t>Sign-in and checkout validation checks</a:t>
            </a:r>
            <a:endParaRPr lang="en-US" sz="1250" dirty="0"/>
          </a:p>
          <a:p>
            <a:pPr marL="342900" indent="-342900">
              <a:spcAft>
                <a:spcPts val="300"/>
              </a:spcAft>
              <a:buSzPct val="100000"/>
              <a:buChar char="•"/>
            </a:pPr>
            <a:r>
              <a:rPr lang="en-US" sz="1250" dirty="0">
                <a:solidFill>
                  <a:srgbClr val="0F172A"/>
                </a:solidFill>
                <a:latin typeface="Calibri" pitchFamily="34" charset="0"/>
                <a:ea typeface="Calibri" pitchFamily="34" charset="-122"/>
                <a:cs typeface="Calibri" pitchFamily="34" charset="-120"/>
              </a:rPr>
              <a:t>Link availability checks (378 pages)</a:t>
            </a:r>
            <a:endParaRPr lang="en-US" sz="1250" dirty="0"/>
          </a:p>
        </p:txBody>
      </p:sp>
      <p:sp>
        <p:nvSpPr>
          <p:cNvPr id="12" name="Shape 8"/>
          <p:cNvSpPr/>
          <p:nvPr/>
        </p:nvSpPr>
        <p:spPr>
          <a:xfrm>
            <a:off x="4297680" y="1554480"/>
            <a:ext cx="3520440" cy="2194560"/>
          </a:xfrm>
          <a:prstGeom prst="roundRect">
            <a:avLst>
              <a:gd name="adj" fmla="val 5000"/>
            </a:avLst>
          </a:prstGeom>
          <a:solidFill>
            <a:srgbClr val="F1F5F9"/>
          </a:solidFill>
          <a:ln w="12700">
            <a:solidFill>
              <a:srgbClr val="F1F5F9"/>
            </a:solidFill>
            <a:prstDash val="solid"/>
          </a:ln>
        </p:spPr>
      </p:sp>
      <p:sp>
        <p:nvSpPr>
          <p:cNvPr id="13" name="Shape 9"/>
          <p:cNvSpPr/>
          <p:nvPr/>
        </p:nvSpPr>
        <p:spPr>
          <a:xfrm>
            <a:off x="4480560" y="1737360"/>
            <a:ext cx="502920" cy="502920"/>
          </a:xfrm>
          <a:prstGeom prst="ellipse">
            <a:avLst/>
          </a:prstGeom>
          <a:solidFill>
            <a:srgbClr val="0B1929"/>
          </a:solidFill>
          <a:ln w="12700">
            <a:solidFill>
              <a:srgbClr val="0B1929"/>
            </a:solidFill>
            <a:prstDash val="solid"/>
          </a:ln>
        </p:spPr>
      </p:sp>
      <p:pic>
        <p:nvPicPr>
          <p:cNvPr id="14" name="Image 2" descr="preencoded.png"/>
          <p:cNvPicPr>
            <a:picLocks noChangeAspect="1"/>
          </p:cNvPicPr>
          <p:nvPr/>
        </p:nvPicPr>
        <p:blipFill>
          <a:blip r:embed="rId5"/>
          <a:stretch>
            <a:fillRect/>
          </a:stretch>
        </p:blipFill>
        <p:spPr>
          <a:xfrm>
            <a:off x="4606290" y="1863090"/>
            <a:ext cx="251460" cy="251460"/>
          </a:xfrm>
          <a:prstGeom prst="rect">
            <a:avLst/>
          </a:prstGeom>
        </p:spPr>
      </p:pic>
      <p:sp>
        <p:nvSpPr>
          <p:cNvPr id="15" name="Text 10"/>
          <p:cNvSpPr txBox="1"/>
          <p:nvPr/>
        </p:nvSpPr>
        <p:spPr>
          <a:xfrm>
            <a:off x="5120640" y="1810512"/>
            <a:ext cx="2560320" cy="365760"/>
          </a:xfrm>
          <a:prstGeom prst="rect">
            <a:avLst/>
          </a:prstGeom>
          <a:noFill/>
          <a:ln/>
        </p:spPr>
        <p:txBody>
          <a:bodyPr wrap="square" lIns="0" tIns="0" rIns="0" bIns="0" rtlCol="0" anchor="ctr"/>
          <a:lstStyle/>
          <a:p>
            <a:pPr marL="0" indent="0">
              <a:buNone/>
            </a:pPr>
            <a:r>
              <a:rPr lang="en-US" sz="1700" b="1" dirty="0">
                <a:solidFill>
                  <a:srgbClr val="0B1929"/>
                </a:solidFill>
                <a:latin typeface="Calibri" pitchFamily="34" charset="0"/>
                <a:ea typeface="Calibri" pitchFamily="34" charset="-122"/>
                <a:cs typeface="Calibri" pitchFamily="34" charset="-120"/>
              </a:rPr>
              <a:t>Technical</a:t>
            </a:r>
            <a:endParaRPr lang="en-US" sz="1700" dirty="0"/>
          </a:p>
        </p:txBody>
      </p:sp>
      <p:sp>
        <p:nvSpPr>
          <p:cNvPr id="16" name="Text 11"/>
          <p:cNvSpPr txBox="1"/>
          <p:nvPr/>
        </p:nvSpPr>
        <p:spPr>
          <a:xfrm>
            <a:off x="4572000" y="2423160"/>
            <a:ext cx="3108960" cy="1280160"/>
          </a:xfrm>
          <a:prstGeom prst="rect">
            <a:avLst/>
          </a:prstGeom>
          <a:noFill/>
          <a:ln/>
        </p:spPr>
        <p:txBody>
          <a:bodyPr wrap="square" lIns="0" tIns="0" rIns="0" bIns="0" rtlCol="0" anchor="t"/>
          <a:lstStyle/>
          <a:p>
            <a:pPr marL="342900" indent="-342900">
              <a:spcAft>
                <a:spcPts val="300"/>
              </a:spcAft>
              <a:buSzPct val="100000"/>
              <a:buChar char="•"/>
            </a:pPr>
            <a:r>
              <a:rPr lang="en-US" sz="1250" dirty="0">
                <a:solidFill>
                  <a:srgbClr val="0F172A"/>
                </a:solidFill>
                <a:latin typeface="Calibri" pitchFamily="34" charset="0"/>
                <a:ea typeface="Calibri" pitchFamily="34" charset="-122"/>
                <a:cs typeface="Calibri" pitchFamily="34" charset="-120"/>
              </a:rPr>
              <a:t>Browser and script monitoring</a:t>
            </a:r>
            <a:endParaRPr lang="en-US" sz="1250" dirty="0"/>
          </a:p>
          <a:p>
            <a:pPr marL="342900" indent="-342900">
              <a:spcAft>
                <a:spcPts val="300"/>
              </a:spcAft>
              <a:buSzPct val="100000"/>
              <a:buChar char="•"/>
            </a:pPr>
            <a:r>
              <a:rPr lang="en-US" sz="1250" dirty="0">
                <a:solidFill>
                  <a:srgbClr val="0F172A"/>
                </a:solidFill>
                <a:latin typeface="Calibri" pitchFamily="34" charset="0"/>
                <a:ea typeface="Calibri" pitchFamily="34" charset="-122"/>
                <a:cs typeface="Calibri" pitchFamily="34" charset="-120"/>
              </a:rPr>
              <a:t>Network and service checks</a:t>
            </a:r>
            <a:endParaRPr lang="en-US" sz="1250" dirty="0"/>
          </a:p>
          <a:p>
            <a:pPr marL="342900" indent="-342900">
              <a:spcAft>
                <a:spcPts val="300"/>
              </a:spcAft>
              <a:buSzPct val="100000"/>
              <a:buChar char="•"/>
            </a:pPr>
            <a:r>
              <a:rPr lang="en-US" sz="1250" dirty="0">
                <a:solidFill>
                  <a:srgbClr val="0F172A"/>
                </a:solidFill>
                <a:latin typeface="Calibri" pitchFamily="34" charset="0"/>
                <a:ea typeface="Calibri" pitchFamily="34" charset="-122"/>
                <a:cs typeface="Calibri" pitchFamily="34" charset="-120"/>
              </a:rPr>
              <a:t>Third-party tool review</a:t>
            </a:r>
            <a:endParaRPr lang="en-US" sz="1250" dirty="0"/>
          </a:p>
          <a:p>
            <a:pPr marL="342900" indent="-342900">
              <a:spcAft>
                <a:spcPts val="300"/>
              </a:spcAft>
              <a:buSzPct val="100000"/>
              <a:buChar char="•"/>
            </a:pPr>
            <a:r>
              <a:rPr lang="en-US" sz="1250" dirty="0">
                <a:solidFill>
                  <a:srgbClr val="0F172A"/>
                </a:solidFill>
                <a:latin typeface="Calibri" pitchFamily="34" charset="0"/>
                <a:ea typeface="Calibri" pitchFamily="34" charset="-122"/>
                <a:cs typeface="Calibri" pitchFamily="34" charset="-120"/>
              </a:rPr>
              <a:t>Resource loading review</a:t>
            </a:r>
            <a:endParaRPr lang="en-US" sz="1250" dirty="0"/>
          </a:p>
        </p:txBody>
      </p:sp>
      <p:sp>
        <p:nvSpPr>
          <p:cNvPr id="17" name="Shape 12"/>
          <p:cNvSpPr/>
          <p:nvPr/>
        </p:nvSpPr>
        <p:spPr>
          <a:xfrm>
            <a:off x="8046720" y="1554480"/>
            <a:ext cx="3520440" cy="2194560"/>
          </a:xfrm>
          <a:prstGeom prst="roundRect">
            <a:avLst>
              <a:gd name="adj" fmla="val 5000"/>
            </a:avLst>
          </a:prstGeom>
          <a:solidFill>
            <a:srgbClr val="F1F5F9"/>
          </a:solidFill>
          <a:ln w="12700">
            <a:solidFill>
              <a:srgbClr val="F1F5F9"/>
            </a:solidFill>
            <a:prstDash val="solid"/>
          </a:ln>
        </p:spPr>
      </p:sp>
      <p:sp>
        <p:nvSpPr>
          <p:cNvPr id="18" name="Shape 13"/>
          <p:cNvSpPr/>
          <p:nvPr/>
        </p:nvSpPr>
        <p:spPr>
          <a:xfrm>
            <a:off x="8229600" y="1737360"/>
            <a:ext cx="502920" cy="502920"/>
          </a:xfrm>
          <a:prstGeom prst="ellipse">
            <a:avLst/>
          </a:prstGeom>
          <a:solidFill>
            <a:srgbClr val="0B1929"/>
          </a:solidFill>
          <a:ln w="12700">
            <a:solidFill>
              <a:srgbClr val="0B1929"/>
            </a:solidFill>
            <a:prstDash val="solid"/>
          </a:ln>
        </p:spPr>
      </p:sp>
      <p:pic>
        <p:nvPicPr>
          <p:cNvPr id="19" name="Image 3" descr="preencoded.png"/>
          <p:cNvPicPr>
            <a:picLocks noChangeAspect="1"/>
          </p:cNvPicPr>
          <p:nvPr/>
        </p:nvPicPr>
        <p:blipFill>
          <a:blip r:embed="rId6"/>
          <a:stretch>
            <a:fillRect/>
          </a:stretch>
        </p:blipFill>
        <p:spPr>
          <a:xfrm>
            <a:off x="8355330" y="1863090"/>
            <a:ext cx="251460" cy="251460"/>
          </a:xfrm>
          <a:prstGeom prst="rect">
            <a:avLst/>
          </a:prstGeom>
        </p:spPr>
      </p:pic>
      <p:sp>
        <p:nvSpPr>
          <p:cNvPr id="20" name="Text 14"/>
          <p:cNvSpPr txBox="1"/>
          <p:nvPr/>
        </p:nvSpPr>
        <p:spPr>
          <a:xfrm>
            <a:off x="8869680" y="1810512"/>
            <a:ext cx="2560320" cy="365760"/>
          </a:xfrm>
          <a:prstGeom prst="rect">
            <a:avLst/>
          </a:prstGeom>
          <a:noFill/>
          <a:ln/>
        </p:spPr>
        <p:txBody>
          <a:bodyPr wrap="square" lIns="0" tIns="0" rIns="0" bIns="0" rtlCol="0" anchor="ctr"/>
          <a:lstStyle/>
          <a:p>
            <a:pPr marL="0" indent="0">
              <a:buNone/>
            </a:pPr>
            <a:r>
              <a:rPr lang="en-US" sz="1700" b="1" dirty="0">
                <a:solidFill>
                  <a:srgbClr val="0B1929"/>
                </a:solidFill>
                <a:latin typeface="Calibri" pitchFamily="34" charset="0"/>
                <a:ea typeface="Calibri" pitchFamily="34" charset="-122"/>
                <a:cs typeface="Calibri" pitchFamily="34" charset="-120"/>
              </a:rPr>
              <a:t>Experience</a:t>
            </a:r>
            <a:endParaRPr lang="en-US" sz="1700" dirty="0"/>
          </a:p>
        </p:txBody>
      </p:sp>
      <p:sp>
        <p:nvSpPr>
          <p:cNvPr id="21" name="Text 15"/>
          <p:cNvSpPr txBox="1"/>
          <p:nvPr/>
        </p:nvSpPr>
        <p:spPr>
          <a:xfrm>
            <a:off x="8321040" y="2423160"/>
            <a:ext cx="3108960" cy="1280160"/>
          </a:xfrm>
          <a:prstGeom prst="rect">
            <a:avLst/>
          </a:prstGeom>
          <a:noFill/>
          <a:ln/>
        </p:spPr>
        <p:txBody>
          <a:bodyPr wrap="square" lIns="0" tIns="0" rIns="0" bIns="0" rtlCol="0" anchor="t"/>
          <a:lstStyle/>
          <a:p>
            <a:pPr marL="342900" indent="-342900">
              <a:spcAft>
                <a:spcPts val="300"/>
              </a:spcAft>
              <a:buSzPct val="100000"/>
              <a:buChar char="•"/>
            </a:pPr>
            <a:r>
              <a:rPr lang="en-US" sz="1250" dirty="0">
                <a:solidFill>
                  <a:srgbClr val="0F172A"/>
                </a:solidFill>
                <a:latin typeface="Calibri" pitchFamily="34" charset="0"/>
                <a:ea typeface="Calibri" pitchFamily="34" charset="-122"/>
                <a:cs typeface="Calibri" pitchFamily="34" charset="-120"/>
              </a:rPr>
              <a:t>Desktop, tablet and mobile review</a:t>
            </a:r>
            <a:endParaRPr lang="en-US" sz="1250" dirty="0"/>
          </a:p>
          <a:p>
            <a:pPr marL="342900" indent="-342900">
              <a:spcAft>
                <a:spcPts val="300"/>
              </a:spcAft>
              <a:buSzPct val="100000"/>
              <a:buChar char="•"/>
            </a:pPr>
            <a:r>
              <a:rPr lang="en-US" sz="1250" dirty="0">
                <a:solidFill>
                  <a:srgbClr val="0F172A"/>
                </a:solidFill>
                <a:latin typeface="Calibri" pitchFamily="34" charset="0"/>
                <a:ea typeface="Calibri" pitchFamily="34" charset="-122"/>
                <a:cs typeface="Calibri" pitchFamily="34" charset="-120"/>
              </a:rPr>
              <a:t>Layout consistency</a:t>
            </a:r>
            <a:endParaRPr lang="en-US" sz="1250" dirty="0"/>
          </a:p>
          <a:p>
            <a:pPr marL="342900" indent="-342900">
              <a:spcAft>
                <a:spcPts val="300"/>
              </a:spcAft>
              <a:buSzPct val="100000"/>
              <a:buChar char="•"/>
            </a:pPr>
            <a:r>
              <a:rPr lang="en-US" sz="1250" dirty="0">
                <a:solidFill>
                  <a:srgbClr val="0F172A"/>
                </a:solidFill>
                <a:latin typeface="Calibri" pitchFamily="34" charset="0"/>
                <a:ea typeface="Calibri" pitchFamily="34" charset="-122"/>
                <a:cs typeface="Calibri" pitchFamily="34" charset="-120"/>
              </a:rPr>
              <a:t>Mobile menu and cart usability</a:t>
            </a:r>
            <a:endParaRPr lang="en-US" sz="1250" dirty="0"/>
          </a:p>
          <a:p>
            <a:pPr marL="342900" indent="-342900">
              <a:spcAft>
                <a:spcPts val="300"/>
              </a:spcAft>
              <a:buSzPct val="100000"/>
              <a:buChar char="•"/>
            </a:pPr>
            <a:r>
              <a:rPr lang="en-US" sz="1250" dirty="0">
                <a:solidFill>
                  <a:srgbClr val="0F172A"/>
                </a:solidFill>
                <a:latin typeface="Calibri" pitchFamily="34" charset="0"/>
                <a:ea typeface="Calibri" pitchFamily="34" charset="-122"/>
                <a:cs typeface="Calibri" pitchFamily="34" charset="-120"/>
              </a:rPr>
              <a:t>Basic accessibility checks</a:t>
            </a:r>
            <a:endParaRPr lang="en-US" sz="1250" dirty="0"/>
          </a:p>
        </p:txBody>
      </p:sp>
      <p:sp>
        <p:nvSpPr>
          <p:cNvPr id="22" name="Shape 16"/>
          <p:cNvSpPr/>
          <p:nvPr/>
        </p:nvSpPr>
        <p:spPr>
          <a:xfrm>
            <a:off x="548640" y="3931920"/>
            <a:ext cx="3520440" cy="2194560"/>
          </a:xfrm>
          <a:prstGeom prst="roundRect">
            <a:avLst>
              <a:gd name="adj" fmla="val 5000"/>
            </a:avLst>
          </a:prstGeom>
          <a:solidFill>
            <a:srgbClr val="F1F5F9"/>
          </a:solidFill>
          <a:ln w="12700">
            <a:solidFill>
              <a:srgbClr val="F1F5F9"/>
            </a:solidFill>
            <a:prstDash val="solid"/>
          </a:ln>
        </p:spPr>
      </p:sp>
      <p:sp>
        <p:nvSpPr>
          <p:cNvPr id="23" name="Shape 17"/>
          <p:cNvSpPr/>
          <p:nvPr/>
        </p:nvSpPr>
        <p:spPr>
          <a:xfrm>
            <a:off x="731520" y="4114800"/>
            <a:ext cx="502920" cy="502920"/>
          </a:xfrm>
          <a:prstGeom prst="ellipse">
            <a:avLst/>
          </a:prstGeom>
          <a:solidFill>
            <a:srgbClr val="0B1929"/>
          </a:solidFill>
          <a:ln w="12700">
            <a:solidFill>
              <a:srgbClr val="0B1929"/>
            </a:solidFill>
            <a:prstDash val="solid"/>
          </a:ln>
        </p:spPr>
      </p:sp>
      <p:pic>
        <p:nvPicPr>
          <p:cNvPr id="24" name="Image 4" descr="preencoded.png"/>
          <p:cNvPicPr>
            <a:picLocks noChangeAspect="1"/>
          </p:cNvPicPr>
          <p:nvPr/>
        </p:nvPicPr>
        <p:blipFill>
          <a:blip r:embed="rId7"/>
          <a:stretch>
            <a:fillRect/>
          </a:stretch>
        </p:blipFill>
        <p:spPr>
          <a:xfrm>
            <a:off x="857250" y="4240530"/>
            <a:ext cx="251460" cy="251460"/>
          </a:xfrm>
          <a:prstGeom prst="rect">
            <a:avLst/>
          </a:prstGeom>
        </p:spPr>
      </p:pic>
      <p:sp>
        <p:nvSpPr>
          <p:cNvPr id="25" name="Text 18"/>
          <p:cNvSpPr txBox="1"/>
          <p:nvPr/>
        </p:nvSpPr>
        <p:spPr>
          <a:xfrm>
            <a:off x="1371600" y="4187952"/>
            <a:ext cx="2560320" cy="365760"/>
          </a:xfrm>
          <a:prstGeom prst="rect">
            <a:avLst/>
          </a:prstGeom>
          <a:noFill/>
          <a:ln/>
        </p:spPr>
        <p:txBody>
          <a:bodyPr wrap="square" lIns="0" tIns="0" rIns="0" bIns="0" rtlCol="0" anchor="ctr"/>
          <a:lstStyle/>
          <a:p>
            <a:pPr marL="0" indent="0">
              <a:buNone/>
            </a:pPr>
            <a:r>
              <a:rPr lang="en-US" sz="1700" b="1" dirty="0">
                <a:solidFill>
                  <a:srgbClr val="0B1929"/>
                </a:solidFill>
                <a:latin typeface="Calibri" pitchFamily="34" charset="0"/>
                <a:ea typeface="Calibri" pitchFamily="34" charset="-122"/>
                <a:cs typeface="Calibri" pitchFamily="34" charset="-120"/>
              </a:rPr>
              <a:t>SEO &amp; performance</a:t>
            </a:r>
            <a:endParaRPr lang="en-US" sz="1700" dirty="0"/>
          </a:p>
        </p:txBody>
      </p:sp>
      <p:sp>
        <p:nvSpPr>
          <p:cNvPr id="26" name="Text 19"/>
          <p:cNvSpPr txBox="1"/>
          <p:nvPr/>
        </p:nvSpPr>
        <p:spPr>
          <a:xfrm>
            <a:off x="822960" y="4800600"/>
            <a:ext cx="3108960" cy="1280160"/>
          </a:xfrm>
          <a:prstGeom prst="rect">
            <a:avLst/>
          </a:prstGeom>
          <a:noFill/>
          <a:ln/>
        </p:spPr>
        <p:txBody>
          <a:bodyPr wrap="square" lIns="0" tIns="0" rIns="0" bIns="0" rtlCol="0" anchor="t"/>
          <a:lstStyle/>
          <a:p>
            <a:pPr marL="342900" indent="-342900">
              <a:spcAft>
                <a:spcPts val="300"/>
              </a:spcAft>
              <a:buSzPct val="100000"/>
              <a:buChar char="•"/>
            </a:pPr>
            <a:r>
              <a:rPr lang="en-US" sz="1250" dirty="0">
                <a:solidFill>
                  <a:srgbClr val="0F172A"/>
                </a:solidFill>
                <a:latin typeface="Calibri" pitchFamily="34" charset="0"/>
                <a:ea typeface="Calibri" pitchFamily="34" charset="-122"/>
                <a:cs typeface="Calibri" pitchFamily="34" charset="-120"/>
              </a:rPr>
              <a:t>Search-engine file review</a:t>
            </a:r>
            <a:endParaRPr lang="en-US" sz="1250" dirty="0"/>
          </a:p>
          <a:p>
            <a:pPr marL="342900" indent="-342900">
              <a:spcAft>
                <a:spcPts val="300"/>
              </a:spcAft>
              <a:buSzPct val="100000"/>
              <a:buChar char="•"/>
            </a:pPr>
            <a:r>
              <a:rPr lang="en-US" sz="1250" dirty="0">
                <a:solidFill>
                  <a:srgbClr val="0F172A"/>
                </a:solidFill>
                <a:latin typeface="Calibri" pitchFamily="34" charset="0"/>
                <a:ea typeface="Calibri" pitchFamily="34" charset="-122"/>
                <a:cs typeface="Calibri" pitchFamily="34" charset="-120"/>
              </a:rPr>
              <a:t>Page title and description review</a:t>
            </a:r>
            <a:endParaRPr lang="en-US" sz="1250" dirty="0"/>
          </a:p>
          <a:p>
            <a:pPr marL="342900" indent="-342900">
              <a:spcAft>
                <a:spcPts val="300"/>
              </a:spcAft>
              <a:buSzPct val="100000"/>
              <a:buChar char="•"/>
            </a:pPr>
            <a:r>
              <a:rPr lang="en-US" sz="1250" dirty="0">
                <a:solidFill>
                  <a:srgbClr val="0F172A"/>
                </a:solidFill>
                <a:latin typeface="Calibri" pitchFamily="34" charset="0"/>
                <a:ea typeface="Calibri" pitchFamily="34" charset="-122"/>
                <a:cs typeface="Calibri" pitchFamily="34" charset="-120"/>
              </a:rPr>
              <a:t>Structured data check</a:t>
            </a:r>
            <a:endParaRPr lang="en-US" sz="1250" dirty="0"/>
          </a:p>
          <a:p>
            <a:pPr marL="342900" indent="-342900">
              <a:spcAft>
                <a:spcPts val="300"/>
              </a:spcAft>
              <a:buSzPct val="100000"/>
              <a:buChar char="•"/>
            </a:pPr>
            <a:r>
              <a:rPr lang="en-US" sz="1250" dirty="0">
                <a:solidFill>
                  <a:srgbClr val="0F172A"/>
                </a:solidFill>
                <a:latin typeface="Calibri" pitchFamily="34" charset="0"/>
                <a:ea typeface="Calibri" pitchFamily="34" charset="-122"/>
                <a:cs typeface="Calibri" pitchFamily="34" charset="-120"/>
              </a:rPr>
              <a:t>Page speed observations</a:t>
            </a:r>
            <a:endParaRPr lang="en-US" sz="1250" dirty="0"/>
          </a:p>
        </p:txBody>
      </p:sp>
      <p:sp>
        <p:nvSpPr>
          <p:cNvPr id="27" name="Shape 20"/>
          <p:cNvSpPr/>
          <p:nvPr/>
        </p:nvSpPr>
        <p:spPr>
          <a:xfrm>
            <a:off x="4297680" y="3931920"/>
            <a:ext cx="3520440" cy="2194560"/>
          </a:xfrm>
          <a:prstGeom prst="roundRect">
            <a:avLst>
              <a:gd name="adj" fmla="val 5000"/>
            </a:avLst>
          </a:prstGeom>
          <a:solidFill>
            <a:srgbClr val="F1F5F9"/>
          </a:solidFill>
          <a:ln w="12700">
            <a:solidFill>
              <a:srgbClr val="F1F5F9"/>
            </a:solidFill>
            <a:prstDash val="solid"/>
          </a:ln>
        </p:spPr>
      </p:sp>
      <p:sp>
        <p:nvSpPr>
          <p:cNvPr id="28" name="Shape 21"/>
          <p:cNvSpPr/>
          <p:nvPr/>
        </p:nvSpPr>
        <p:spPr>
          <a:xfrm>
            <a:off x="4480560" y="4114800"/>
            <a:ext cx="502920" cy="502920"/>
          </a:xfrm>
          <a:prstGeom prst="ellipse">
            <a:avLst/>
          </a:prstGeom>
          <a:solidFill>
            <a:srgbClr val="0B1929"/>
          </a:solidFill>
          <a:ln w="12700">
            <a:solidFill>
              <a:srgbClr val="0B1929"/>
            </a:solidFill>
            <a:prstDash val="solid"/>
          </a:ln>
        </p:spPr>
      </p:sp>
      <p:pic>
        <p:nvPicPr>
          <p:cNvPr id="29" name="Image 5" descr="preencoded.png"/>
          <p:cNvPicPr>
            <a:picLocks noChangeAspect="1"/>
          </p:cNvPicPr>
          <p:nvPr/>
        </p:nvPicPr>
        <p:blipFill>
          <a:blip r:embed="rId8"/>
          <a:stretch>
            <a:fillRect/>
          </a:stretch>
        </p:blipFill>
        <p:spPr>
          <a:xfrm>
            <a:off x="4606290" y="4240530"/>
            <a:ext cx="251460" cy="251460"/>
          </a:xfrm>
          <a:prstGeom prst="rect">
            <a:avLst/>
          </a:prstGeom>
        </p:spPr>
      </p:pic>
      <p:sp>
        <p:nvSpPr>
          <p:cNvPr id="30" name="Text 22"/>
          <p:cNvSpPr txBox="1"/>
          <p:nvPr/>
        </p:nvSpPr>
        <p:spPr>
          <a:xfrm>
            <a:off x="5120640" y="4187952"/>
            <a:ext cx="2560320" cy="365760"/>
          </a:xfrm>
          <a:prstGeom prst="rect">
            <a:avLst/>
          </a:prstGeom>
          <a:noFill/>
          <a:ln/>
        </p:spPr>
        <p:txBody>
          <a:bodyPr wrap="square" lIns="0" tIns="0" rIns="0" bIns="0" rtlCol="0" anchor="ctr"/>
          <a:lstStyle/>
          <a:p>
            <a:pPr marL="0" indent="0">
              <a:buNone/>
            </a:pPr>
            <a:r>
              <a:rPr lang="en-US" sz="1700" b="1" dirty="0">
                <a:solidFill>
                  <a:srgbClr val="0B1929"/>
                </a:solidFill>
                <a:latin typeface="Calibri" pitchFamily="34" charset="0"/>
                <a:ea typeface="Calibri" pitchFamily="34" charset="-122"/>
                <a:cs typeface="Calibri" pitchFamily="34" charset="-120"/>
              </a:rPr>
              <a:t>Preventive</a:t>
            </a:r>
            <a:endParaRPr lang="en-US" sz="1700" dirty="0"/>
          </a:p>
        </p:txBody>
      </p:sp>
      <p:sp>
        <p:nvSpPr>
          <p:cNvPr id="31" name="Text 23"/>
          <p:cNvSpPr txBox="1"/>
          <p:nvPr/>
        </p:nvSpPr>
        <p:spPr>
          <a:xfrm>
            <a:off x="4572000" y="4800600"/>
            <a:ext cx="3108960" cy="1280160"/>
          </a:xfrm>
          <a:prstGeom prst="rect">
            <a:avLst/>
          </a:prstGeom>
          <a:noFill/>
          <a:ln/>
        </p:spPr>
        <p:txBody>
          <a:bodyPr wrap="square" lIns="0" tIns="0" rIns="0" bIns="0" rtlCol="0" anchor="t"/>
          <a:lstStyle/>
          <a:p>
            <a:pPr marL="342900" indent="-342900">
              <a:spcAft>
                <a:spcPts val="300"/>
              </a:spcAft>
              <a:buSzPct val="100000"/>
              <a:buChar char="•"/>
            </a:pPr>
            <a:r>
              <a:rPr lang="en-US" sz="1250" dirty="0">
                <a:solidFill>
                  <a:srgbClr val="0F172A"/>
                </a:solidFill>
                <a:latin typeface="Calibri" pitchFamily="34" charset="0"/>
                <a:ea typeface="Calibri" pitchFamily="34" charset="-122"/>
                <a:cs typeface="Calibri" pitchFamily="34" charset="-120"/>
              </a:rPr>
              <a:t>Baseline established for future comparison</a:t>
            </a:r>
            <a:endParaRPr lang="en-US" sz="1250" dirty="0"/>
          </a:p>
          <a:p>
            <a:pPr marL="342900" indent="-342900">
              <a:spcAft>
                <a:spcPts val="300"/>
              </a:spcAft>
              <a:buSzPct val="100000"/>
              <a:buChar char="•"/>
            </a:pPr>
            <a:r>
              <a:rPr lang="en-US" sz="1250" dirty="0">
                <a:solidFill>
                  <a:srgbClr val="0F172A"/>
                </a:solidFill>
                <a:latin typeface="Calibri" pitchFamily="34" charset="0"/>
                <a:ea typeface="Calibri" pitchFamily="34" charset="-122"/>
                <a:cs typeface="Calibri" pitchFamily="34" charset="-120"/>
              </a:rPr>
              <a:t>Safe security observations</a:t>
            </a:r>
            <a:endParaRPr lang="en-US" sz="1250" dirty="0"/>
          </a:p>
          <a:p>
            <a:pPr marL="342900" indent="-342900">
              <a:spcAft>
                <a:spcPts val="300"/>
              </a:spcAft>
              <a:buSzPct val="100000"/>
              <a:buChar char="•"/>
            </a:pPr>
            <a:r>
              <a:rPr lang="en-US" sz="1250" dirty="0">
                <a:solidFill>
                  <a:srgbClr val="0F172A"/>
                </a:solidFill>
                <a:latin typeface="Calibri" pitchFamily="34" charset="0"/>
                <a:ea typeface="Calibri" pitchFamily="34" charset="-122"/>
                <a:cs typeface="Calibri" pitchFamily="34" charset="-120"/>
              </a:rPr>
              <a:t>Test data cleaned up after review</a:t>
            </a:r>
            <a:endParaRPr lang="en-US" sz="1250" dirty="0"/>
          </a:p>
          <a:p>
            <a:pPr marL="342900" indent="-342900">
              <a:spcAft>
                <a:spcPts val="300"/>
              </a:spcAft>
              <a:buSzPct val="100000"/>
              <a:buChar char="•"/>
            </a:pPr>
            <a:r>
              <a:rPr lang="en-US" sz="1250" dirty="0">
                <a:solidFill>
                  <a:srgbClr val="0F172A"/>
                </a:solidFill>
                <a:latin typeface="Calibri" pitchFamily="34" charset="0"/>
                <a:ea typeface="Calibri" pitchFamily="34" charset="-122"/>
                <a:cs typeface="Calibri" pitchFamily="34" charset="-120"/>
              </a:rPr>
              <a:t>Follow-up list prepared</a:t>
            </a:r>
            <a:endParaRPr lang="en-US" sz="1250" dirty="0"/>
          </a:p>
        </p:txBody>
      </p:sp>
      <p:sp>
        <p:nvSpPr>
          <p:cNvPr id="32" name="Shape 24"/>
          <p:cNvSpPr/>
          <p:nvPr/>
        </p:nvSpPr>
        <p:spPr>
          <a:xfrm>
            <a:off x="8046720" y="3931920"/>
            <a:ext cx="3566160" cy="2194560"/>
          </a:xfrm>
          <a:prstGeom prst="roundRect">
            <a:avLst>
              <a:gd name="adj" fmla="val 5000"/>
            </a:avLst>
          </a:prstGeom>
          <a:solidFill>
            <a:srgbClr val="0B1929"/>
          </a:solidFill>
          <a:ln w="12700">
            <a:solidFill>
              <a:srgbClr val="0B1929"/>
            </a:solidFill>
            <a:prstDash val="solid"/>
          </a:ln>
        </p:spPr>
      </p:sp>
      <p:sp>
        <p:nvSpPr>
          <p:cNvPr id="33" name="Text 25"/>
          <p:cNvSpPr txBox="1"/>
          <p:nvPr/>
        </p:nvSpPr>
        <p:spPr>
          <a:xfrm>
            <a:off x="8275320" y="4069080"/>
            <a:ext cx="3200400" cy="365760"/>
          </a:xfrm>
          <a:prstGeom prst="rect">
            <a:avLst/>
          </a:prstGeom>
          <a:noFill/>
          <a:ln/>
        </p:spPr>
        <p:txBody>
          <a:bodyPr wrap="square" lIns="0" tIns="0" rIns="0" bIns="0" rtlCol="0" anchor="ctr"/>
          <a:lstStyle/>
          <a:p>
            <a:pPr marL="0" indent="0">
              <a:buNone/>
            </a:pPr>
            <a:r>
              <a:rPr lang="en-US" sz="1500" b="1" dirty="0">
                <a:solidFill>
                  <a:srgbClr val="7CC4EC"/>
                </a:solidFill>
                <a:latin typeface="Calibri" pitchFamily="34" charset="0"/>
                <a:ea typeface="Calibri" pitchFamily="34" charset="-122"/>
                <a:cs typeface="Calibri" pitchFamily="34" charset="-120"/>
              </a:rPr>
              <a:t>Not part of this review</a:t>
            </a:r>
            <a:endParaRPr lang="en-US" sz="1500" dirty="0"/>
          </a:p>
        </p:txBody>
      </p:sp>
      <p:sp>
        <p:nvSpPr>
          <p:cNvPr id="34" name="Text 26"/>
          <p:cNvSpPr txBox="1"/>
          <p:nvPr/>
        </p:nvSpPr>
        <p:spPr>
          <a:xfrm>
            <a:off x="8275320" y="4526280"/>
            <a:ext cx="3154680" cy="1463040"/>
          </a:xfrm>
          <a:prstGeom prst="rect">
            <a:avLst/>
          </a:prstGeom>
          <a:noFill/>
          <a:ln/>
        </p:spPr>
        <p:txBody>
          <a:bodyPr wrap="square" lIns="0" tIns="0" rIns="0" bIns="0" rtlCol="0" anchor="t"/>
          <a:lstStyle/>
          <a:p>
            <a:pPr marL="0" indent="0">
              <a:buNone/>
            </a:pPr>
            <a:r>
              <a:rPr lang="en-US" sz="1300" dirty="0">
                <a:solidFill>
                  <a:srgbClr val="FFFFFF"/>
                </a:solidFill>
                <a:latin typeface="Calibri" pitchFamily="34" charset="0"/>
                <a:ea typeface="Calibri" pitchFamily="34" charset="-122"/>
                <a:cs typeface="Calibri" pitchFamily="34" charset="-120"/>
              </a:rPr>
              <a:t>Live payments, backups, updates and form submissions were outside this month's scope.</a:t>
            </a:r>
            <a:endParaRPr lang="en-US" sz="13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365760"/>
            <a:ext cx="8229600" cy="274320"/>
          </a:xfrm>
          <a:prstGeom prst="rect">
            <a:avLst/>
          </a:prstGeom>
          <a:noFill/>
          <a:ln/>
        </p:spPr>
        <p:txBody>
          <a:bodyPr wrap="square" lIns="0" tIns="0" rIns="0" bIns="0" rtlCol="0" anchor="ctr"/>
          <a:lstStyle/>
          <a:p>
            <a:pPr marL="0" indent="0">
              <a:buNone/>
            </a:pPr>
            <a:r>
              <a:rPr lang="en-US" sz="1200" b="1" kern="0" spc="300" dirty="0">
                <a:solidFill>
                  <a:srgbClr val="0086C7"/>
                </a:solidFill>
                <a:latin typeface="Calibri" pitchFamily="34" charset="0"/>
                <a:ea typeface="Calibri" pitchFamily="34" charset="-122"/>
                <a:cs typeface="Calibri" pitchFamily="34" charset="-120"/>
              </a:rPr>
              <a:t>FINDINGS AND NEXT STEPS</a:t>
            </a:r>
            <a:endParaRPr lang="en-US" sz="1200" dirty="0"/>
          </a:p>
        </p:txBody>
      </p:sp>
      <p:pic>
        <p:nvPicPr>
          <p:cNvPr id="3" name="Image 0" descr="C:/Projects/OGH/build/brand/logo_color_big.png"/>
          <p:cNvPicPr>
            <a:picLocks noChangeAspect="1"/>
          </p:cNvPicPr>
          <p:nvPr/>
        </p:nvPicPr>
        <p:blipFill>
          <a:blip r:embed="rId3"/>
          <a:stretch>
            <a:fillRect/>
          </a:stretch>
        </p:blipFill>
        <p:spPr>
          <a:xfrm>
            <a:off x="10058400" y="347472"/>
            <a:ext cx="1554480" cy="347472"/>
          </a:xfrm>
          <a:prstGeom prst="rect">
            <a:avLst/>
          </a:prstGeom>
        </p:spPr>
      </p:pic>
      <p:sp>
        <p:nvSpPr>
          <p:cNvPr id="4" name="Text 1"/>
          <p:cNvSpPr txBox="1"/>
          <p:nvPr/>
        </p:nvSpPr>
        <p:spPr>
          <a:xfrm>
            <a:off x="548640" y="658368"/>
            <a:ext cx="9326880" cy="731520"/>
          </a:xfrm>
          <a:prstGeom prst="rect">
            <a:avLst/>
          </a:prstGeom>
          <a:noFill/>
          <a:ln/>
        </p:spPr>
        <p:txBody>
          <a:bodyPr wrap="square" lIns="0" tIns="0" rIns="0" bIns="0" rtlCol="0" anchor="t"/>
          <a:lstStyle/>
          <a:p>
            <a:pPr marL="0" indent="0">
              <a:buNone/>
            </a:pPr>
            <a:r>
              <a:rPr lang="en-US" sz="3200" b="1" dirty="0">
                <a:solidFill>
                  <a:srgbClr val="0B1929"/>
                </a:solidFill>
                <a:latin typeface="Calibri" pitchFamily="34" charset="0"/>
                <a:ea typeface="Calibri" pitchFamily="34" charset="-122"/>
                <a:cs typeface="Calibri" pitchFamily="34" charset="-120"/>
              </a:rPr>
              <a:t>Issues &amp; improvements</a:t>
            </a:r>
            <a:endParaRPr lang="en-US" sz="3200" dirty="0"/>
          </a:p>
        </p:txBody>
      </p:sp>
      <p:sp>
        <p:nvSpPr>
          <p:cNvPr id="5" name="Text 2"/>
          <p:cNvSpPr txBox="1"/>
          <p:nvPr/>
        </p:nvSpPr>
        <p:spPr>
          <a:xfrm>
            <a:off x="548640" y="6446520"/>
            <a:ext cx="7315200" cy="228600"/>
          </a:xfrm>
          <a:prstGeom prst="rect">
            <a:avLst/>
          </a:prstGeom>
          <a:noFill/>
          <a:ln/>
        </p:spPr>
        <p:txBody>
          <a:bodyPr wrap="square" lIns="0" tIns="0" rIns="0" bIns="0" rtlCol="0" anchor="ctr"/>
          <a:lstStyle/>
          <a:p>
            <a:pPr marL="0" indent="0">
              <a:buNone/>
            </a:pPr>
            <a:r>
              <a:rPr lang="en-US" sz="1000" dirty="0">
                <a:solidFill>
                  <a:srgbClr val="475569"/>
                </a:solidFill>
                <a:latin typeface="Calibri" pitchFamily="34" charset="0"/>
                <a:ea typeface="Calibri" pitchFamily="34" charset="-122"/>
                <a:cs typeface="Calibri" pitchFamily="34" charset="-120"/>
              </a:rPr>
              <a:t>Prepared by WebDesk Solution  |  Our Green House  |  October 2026</a:t>
            </a:r>
            <a:endParaRPr lang="en-US" sz="1000" dirty="0"/>
          </a:p>
        </p:txBody>
      </p:sp>
      <p:sp>
        <p:nvSpPr>
          <p:cNvPr id="6" name="Text 3"/>
          <p:cNvSpPr txBox="1"/>
          <p:nvPr/>
        </p:nvSpPr>
        <p:spPr>
          <a:xfrm>
            <a:off x="11064240" y="6446520"/>
            <a:ext cx="548640" cy="228600"/>
          </a:xfrm>
          <a:prstGeom prst="rect">
            <a:avLst/>
          </a:prstGeom>
          <a:noFill/>
          <a:ln/>
        </p:spPr>
        <p:txBody>
          <a:bodyPr wrap="square" lIns="0" tIns="0" rIns="0" bIns="0" rtlCol="0" anchor="ctr"/>
          <a:lstStyle/>
          <a:p>
            <a:pPr marL="0" indent="0" algn="r">
              <a:buNone/>
            </a:pPr>
            <a:r>
              <a:rPr lang="en-US" sz="1000" dirty="0">
                <a:solidFill>
                  <a:srgbClr val="475569"/>
                </a:solidFill>
                <a:latin typeface="Calibri" pitchFamily="34" charset="0"/>
                <a:ea typeface="Calibri" pitchFamily="34" charset="-122"/>
                <a:cs typeface="Calibri" pitchFamily="34" charset="-120"/>
              </a:rPr>
              <a:t>10</a:t>
            </a:r>
            <a:endParaRPr lang="en-US" sz="1000" dirty="0"/>
          </a:p>
        </p:txBody>
      </p:sp>
      <p:graphicFrame>
        <p:nvGraphicFramePr>
          <p:cNvPr id="7" name="Chart 0"/>
          <p:cNvGraphicFramePr/>
          <p:nvPr/>
        </p:nvGraphicFramePr>
        <p:xfrm>
          <a:off x="457200" y="1554480"/>
          <a:ext cx="3108960" cy="2743200"/>
        </p:xfrm>
        <a:graphic>
          <a:graphicData uri="http://schemas.openxmlformats.org/drawingml/2006/chart">
            <c:chart xmlns:c="http://schemas.openxmlformats.org/drawingml/2006/chart" xmlns:r="http://schemas.openxmlformats.org/officeDocument/2006/relationships" r:id="rId4"/>
          </a:graphicData>
        </a:graphic>
      </p:graphicFrame>
      <p:sp>
        <p:nvSpPr>
          <p:cNvPr id="8" name="Text 4"/>
          <p:cNvSpPr txBox="1"/>
          <p:nvPr/>
        </p:nvSpPr>
        <p:spPr>
          <a:xfrm>
            <a:off x="548640" y="4434840"/>
            <a:ext cx="3017520" cy="365760"/>
          </a:xfrm>
          <a:prstGeom prst="rect">
            <a:avLst/>
          </a:prstGeom>
          <a:noFill/>
          <a:ln/>
        </p:spPr>
        <p:txBody>
          <a:bodyPr wrap="square" lIns="0" tIns="0" rIns="0" bIns="0" rtlCol="0" anchor="ctr"/>
          <a:lstStyle/>
          <a:p>
            <a:pPr marL="0" indent="0" algn="ctr">
              <a:buNone/>
            </a:pPr>
            <a:r>
              <a:rPr lang="en-US" sz="1800" b="1" dirty="0">
                <a:solidFill>
                  <a:srgbClr val="0B1929"/>
                </a:solidFill>
                <a:latin typeface="Calibri" pitchFamily="34" charset="0"/>
                <a:ea typeface="Calibri" pitchFamily="34" charset="-122"/>
                <a:cs typeface="Calibri" pitchFamily="34" charset="-120"/>
              </a:rPr>
              <a:t>23 observations</a:t>
            </a:r>
            <a:endParaRPr lang="en-US" sz="1800" dirty="0"/>
          </a:p>
        </p:txBody>
      </p:sp>
      <p:sp>
        <p:nvSpPr>
          <p:cNvPr id="9" name="Text 5"/>
          <p:cNvSpPr txBox="1"/>
          <p:nvPr/>
        </p:nvSpPr>
        <p:spPr>
          <a:xfrm>
            <a:off x="548640" y="4846320"/>
            <a:ext cx="3017520" cy="1371600"/>
          </a:xfrm>
          <a:prstGeom prst="rect">
            <a:avLst/>
          </a:prstGeom>
          <a:noFill/>
          <a:ln/>
        </p:spPr>
        <p:txBody>
          <a:bodyPr wrap="square" lIns="0" tIns="0" rIns="0" bIns="0" rtlCol="0" anchor="t"/>
          <a:lstStyle/>
          <a:p>
            <a:pPr marL="0" indent="0" algn="ctr">
              <a:buNone/>
            </a:pPr>
            <a:r>
              <a:rPr lang="en-US" sz="1200" dirty="0">
                <a:solidFill>
                  <a:srgbClr val="475569"/>
                </a:solidFill>
                <a:latin typeface="Calibri" pitchFamily="34" charset="0"/>
                <a:ea typeface="Calibri" pitchFamily="34" charset="-122"/>
                <a:cs typeface="Calibri" pitchFamily="34" charset="-120"/>
              </a:rPr>
              <a:t>4 high-priority items are included in the table below. No changes were applied to the live site during this review, so items below are open and documented for follow-up.</a:t>
            </a:r>
            <a:endParaRPr lang="en-US" sz="1200" dirty="0"/>
          </a:p>
        </p:txBody>
      </p:sp>
      <p:sp>
        <p:nvSpPr>
          <p:cNvPr id="10" name="Text 6"/>
          <p:cNvSpPr txBox="1"/>
          <p:nvPr/>
        </p:nvSpPr>
        <p:spPr>
          <a:xfrm>
            <a:off x="3977640" y="1554480"/>
            <a:ext cx="1645920" cy="274320"/>
          </a:xfrm>
          <a:prstGeom prst="rect">
            <a:avLst/>
          </a:prstGeom>
          <a:noFill/>
          <a:ln/>
        </p:spPr>
        <p:txBody>
          <a:bodyPr wrap="square" lIns="0" tIns="0" rIns="0" bIns="0" rtlCol="0" anchor="ctr"/>
          <a:lstStyle/>
          <a:p>
            <a:pPr marL="0" indent="0">
              <a:buNone/>
            </a:pPr>
            <a:r>
              <a:rPr lang="en-US" sz="1200" b="1" dirty="0">
                <a:solidFill>
                  <a:srgbClr val="0086C7"/>
                </a:solidFill>
                <a:latin typeface="Calibri" pitchFamily="34" charset="0"/>
                <a:ea typeface="Calibri" pitchFamily="34" charset="-122"/>
                <a:cs typeface="Calibri" pitchFamily="34" charset="-120"/>
              </a:rPr>
              <a:t>Area</a:t>
            </a:r>
            <a:endParaRPr lang="en-US" sz="1200" dirty="0"/>
          </a:p>
        </p:txBody>
      </p:sp>
      <p:sp>
        <p:nvSpPr>
          <p:cNvPr id="11" name="Text 7"/>
          <p:cNvSpPr txBox="1"/>
          <p:nvPr/>
        </p:nvSpPr>
        <p:spPr>
          <a:xfrm>
            <a:off x="5669280" y="1554480"/>
            <a:ext cx="2377440" cy="274320"/>
          </a:xfrm>
          <a:prstGeom prst="rect">
            <a:avLst/>
          </a:prstGeom>
          <a:noFill/>
          <a:ln/>
        </p:spPr>
        <p:txBody>
          <a:bodyPr wrap="square" lIns="0" tIns="0" rIns="0" bIns="0" rtlCol="0" anchor="ctr"/>
          <a:lstStyle/>
          <a:p>
            <a:pPr marL="0" indent="0">
              <a:buNone/>
            </a:pPr>
            <a:r>
              <a:rPr lang="en-US" sz="1200" b="1" dirty="0">
                <a:solidFill>
                  <a:srgbClr val="0086C7"/>
                </a:solidFill>
                <a:latin typeface="Calibri" pitchFamily="34" charset="0"/>
                <a:ea typeface="Calibri" pitchFamily="34" charset="-122"/>
                <a:cs typeface="Calibri" pitchFamily="34" charset="-120"/>
              </a:rPr>
              <a:t>Finding</a:t>
            </a:r>
            <a:endParaRPr lang="en-US" sz="1200" dirty="0"/>
          </a:p>
        </p:txBody>
      </p:sp>
      <p:sp>
        <p:nvSpPr>
          <p:cNvPr id="12" name="Text 8"/>
          <p:cNvSpPr txBox="1"/>
          <p:nvPr/>
        </p:nvSpPr>
        <p:spPr>
          <a:xfrm>
            <a:off x="8183880" y="1554480"/>
            <a:ext cx="1371600" cy="274320"/>
          </a:xfrm>
          <a:prstGeom prst="rect">
            <a:avLst/>
          </a:prstGeom>
          <a:noFill/>
          <a:ln/>
        </p:spPr>
        <p:txBody>
          <a:bodyPr wrap="square" lIns="0" tIns="0" rIns="0" bIns="0" rtlCol="0" anchor="ctr"/>
          <a:lstStyle/>
          <a:p>
            <a:pPr marL="0" indent="0">
              <a:buNone/>
            </a:pPr>
            <a:r>
              <a:rPr lang="en-US" sz="1200" b="1" dirty="0">
                <a:solidFill>
                  <a:srgbClr val="0086C7"/>
                </a:solidFill>
                <a:latin typeface="Calibri" pitchFamily="34" charset="0"/>
                <a:ea typeface="Calibri" pitchFamily="34" charset="-122"/>
                <a:cs typeface="Calibri" pitchFamily="34" charset="-120"/>
              </a:rPr>
              <a:t>Status</a:t>
            </a:r>
            <a:endParaRPr lang="en-US" sz="1200" dirty="0"/>
          </a:p>
        </p:txBody>
      </p:sp>
      <p:sp>
        <p:nvSpPr>
          <p:cNvPr id="13" name="Text 9"/>
          <p:cNvSpPr txBox="1"/>
          <p:nvPr/>
        </p:nvSpPr>
        <p:spPr>
          <a:xfrm>
            <a:off x="9646920" y="1554480"/>
            <a:ext cx="1874520" cy="274320"/>
          </a:xfrm>
          <a:prstGeom prst="rect">
            <a:avLst/>
          </a:prstGeom>
          <a:noFill/>
          <a:ln/>
        </p:spPr>
        <p:txBody>
          <a:bodyPr wrap="square" lIns="0" tIns="0" rIns="0" bIns="0" rtlCol="0" anchor="ctr"/>
          <a:lstStyle/>
          <a:p>
            <a:pPr marL="0" indent="0">
              <a:buNone/>
            </a:pPr>
            <a:r>
              <a:rPr lang="en-US" sz="1200" b="1" dirty="0">
                <a:solidFill>
                  <a:srgbClr val="0086C7"/>
                </a:solidFill>
                <a:latin typeface="Calibri" pitchFamily="34" charset="0"/>
                <a:ea typeface="Calibri" pitchFamily="34" charset="-122"/>
                <a:cs typeface="Calibri" pitchFamily="34" charset="-120"/>
              </a:rPr>
              <a:t>Client value</a:t>
            </a:r>
            <a:endParaRPr lang="en-US" sz="1200" dirty="0"/>
          </a:p>
        </p:txBody>
      </p:sp>
      <p:sp>
        <p:nvSpPr>
          <p:cNvPr id="14" name="Shape 10"/>
          <p:cNvSpPr/>
          <p:nvPr/>
        </p:nvSpPr>
        <p:spPr>
          <a:xfrm>
            <a:off x="3840480" y="1874520"/>
            <a:ext cx="7772400" cy="768096"/>
          </a:xfrm>
          <a:prstGeom prst="roundRect">
            <a:avLst>
              <a:gd name="adj" fmla="val 14286"/>
            </a:avLst>
          </a:prstGeom>
          <a:solidFill>
            <a:srgbClr val="F1F5F9"/>
          </a:solidFill>
          <a:ln w="12700">
            <a:solidFill>
              <a:srgbClr val="F1F5F9"/>
            </a:solidFill>
            <a:prstDash val="solid"/>
          </a:ln>
        </p:spPr>
      </p:sp>
      <p:sp>
        <p:nvSpPr>
          <p:cNvPr id="15" name="Text 11"/>
          <p:cNvSpPr txBox="1"/>
          <p:nvPr/>
        </p:nvSpPr>
        <p:spPr>
          <a:xfrm>
            <a:off x="3977640" y="1920240"/>
            <a:ext cx="1645920" cy="676656"/>
          </a:xfrm>
          <a:prstGeom prst="rect">
            <a:avLst/>
          </a:prstGeom>
          <a:noFill/>
          <a:ln/>
        </p:spPr>
        <p:txBody>
          <a:bodyPr wrap="square" lIns="0" tIns="0" rIns="0" bIns="0" rtlCol="0" anchor="ctr"/>
          <a:lstStyle/>
          <a:p>
            <a:pPr marL="0" indent="0">
              <a:buNone/>
            </a:pPr>
            <a:r>
              <a:rPr lang="en-US" sz="1300" b="1" dirty="0">
                <a:solidFill>
                  <a:srgbClr val="0B1929"/>
                </a:solidFill>
                <a:latin typeface="Calibri" pitchFamily="34" charset="0"/>
                <a:ea typeface="Calibri" pitchFamily="34" charset="-122"/>
                <a:cs typeface="Calibri" pitchFamily="34" charset="-120"/>
              </a:rPr>
              <a:t>Security settings</a:t>
            </a:r>
            <a:endParaRPr lang="en-US" sz="1300" dirty="0"/>
          </a:p>
        </p:txBody>
      </p:sp>
      <p:sp>
        <p:nvSpPr>
          <p:cNvPr id="16" name="Text 12"/>
          <p:cNvSpPr txBox="1"/>
          <p:nvPr/>
        </p:nvSpPr>
        <p:spPr>
          <a:xfrm>
            <a:off x="5669280" y="1920240"/>
            <a:ext cx="2377440" cy="676656"/>
          </a:xfrm>
          <a:prstGeom prst="rect">
            <a:avLst/>
          </a:prstGeom>
          <a:noFill/>
          <a:ln/>
        </p:spPr>
        <p:txBody>
          <a:bodyPr wrap="square" lIns="0" tIns="0" rIns="0" bIns="0" rtlCol="0" anchor="ctr"/>
          <a:lstStyle/>
          <a:p>
            <a:pPr marL="0" indent="0">
              <a:buNone/>
            </a:pPr>
            <a:r>
              <a:rPr lang="en-US" sz="1150" dirty="0">
                <a:solidFill>
                  <a:srgbClr val="0F172A"/>
                </a:solidFill>
                <a:latin typeface="Calibri" pitchFamily="34" charset="0"/>
                <a:ea typeface="Calibri" pitchFamily="34" charset="-122"/>
                <a:cs typeface="Calibri" pitchFamily="34" charset="-120"/>
              </a:rPr>
              <a:t>Some browser protection settings and older scripts need attention</a:t>
            </a:r>
            <a:endParaRPr lang="en-US" sz="1150" dirty="0"/>
          </a:p>
        </p:txBody>
      </p:sp>
      <p:sp>
        <p:nvSpPr>
          <p:cNvPr id="17" name="Text 13"/>
          <p:cNvSpPr txBox="1"/>
          <p:nvPr/>
        </p:nvSpPr>
        <p:spPr>
          <a:xfrm>
            <a:off x="8183880" y="1920240"/>
            <a:ext cx="1371600" cy="676656"/>
          </a:xfrm>
          <a:prstGeom prst="rect">
            <a:avLst/>
          </a:prstGeom>
          <a:noFill/>
          <a:ln/>
        </p:spPr>
        <p:txBody>
          <a:bodyPr wrap="square" lIns="0" tIns="0" rIns="0" bIns="0" rtlCol="0" anchor="ctr"/>
          <a:lstStyle/>
          <a:p>
            <a:pPr marL="0" indent="0">
              <a:buNone/>
            </a:pPr>
            <a:r>
              <a:rPr lang="en-US" sz="1150" dirty="0">
                <a:solidFill>
                  <a:srgbClr val="0F172A"/>
                </a:solidFill>
                <a:latin typeface="Calibri" pitchFamily="34" charset="0"/>
                <a:ea typeface="Calibri" pitchFamily="34" charset="-122"/>
                <a:cs typeface="Calibri" pitchFamily="34" charset="-120"/>
              </a:rPr>
              <a:t>Recommended</a:t>
            </a:r>
            <a:endParaRPr lang="en-US" sz="1150" dirty="0"/>
          </a:p>
        </p:txBody>
      </p:sp>
      <p:sp>
        <p:nvSpPr>
          <p:cNvPr id="18" name="Text 14"/>
          <p:cNvSpPr txBox="1"/>
          <p:nvPr/>
        </p:nvSpPr>
        <p:spPr>
          <a:xfrm>
            <a:off x="9646920" y="1920240"/>
            <a:ext cx="1874520" cy="676656"/>
          </a:xfrm>
          <a:prstGeom prst="rect">
            <a:avLst/>
          </a:prstGeom>
          <a:noFill/>
          <a:ln/>
        </p:spPr>
        <p:txBody>
          <a:bodyPr wrap="square" lIns="0" tIns="0" rIns="0" bIns="0" rtlCol="0" anchor="ctr"/>
          <a:lstStyle/>
          <a:p>
            <a:pPr marL="0" indent="0">
              <a:buNone/>
            </a:pPr>
            <a:r>
              <a:rPr lang="en-US" sz="1150" dirty="0">
                <a:solidFill>
                  <a:srgbClr val="0F172A"/>
                </a:solidFill>
                <a:latin typeface="Calibri" pitchFamily="34" charset="0"/>
                <a:ea typeface="Calibri" pitchFamily="34" charset="-122"/>
                <a:cs typeface="Calibri" pitchFamily="34" charset="-120"/>
              </a:rPr>
              <a:t>Stronger protection for visitors</a:t>
            </a:r>
            <a:endParaRPr lang="en-US" sz="1150" dirty="0"/>
          </a:p>
        </p:txBody>
      </p:sp>
      <p:sp>
        <p:nvSpPr>
          <p:cNvPr id="19" name="Shape 15"/>
          <p:cNvSpPr/>
          <p:nvPr/>
        </p:nvSpPr>
        <p:spPr>
          <a:xfrm>
            <a:off x="3840480" y="2715768"/>
            <a:ext cx="7772400" cy="768096"/>
          </a:xfrm>
          <a:prstGeom prst="roundRect">
            <a:avLst>
              <a:gd name="adj" fmla="val 14286"/>
            </a:avLst>
          </a:prstGeom>
          <a:solidFill>
            <a:srgbClr val="FFFFFF"/>
          </a:solidFill>
          <a:ln w="12700">
            <a:solidFill>
              <a:srgbClr val="FFFFFF"/>
            </a:solidFill>
            <a:prstDash val="solid"/>
          </a:ln>
        </p:spPr>
      </p:sp>
      <p:sp>
        <p:nvSpPr>
          <p:cNvPr id="24" name="Shape 20"/>
          <p:cNvSpPr/>
          <p:nvPr/>
        </p:nvSpPr>
        <p:spPr>
          <a:xfrm>
            <a:off x="3840480" y="3557016"/>
            <a:ext cx="7772400" cy="768096"/>
          </a:xfrm>
          <a:prstGeom prst="roundRect">
            <a:avLst>
              <a:gd name="adj" fmla="val 14286"/>
            </a:avLst>
          </a:prstGeom>
          <a:solidFill>
            <a:srgbClr val="F1F5F9"/>
          </a:solidFill>
          <a:ln w="12700">
            <a:solidFill>
              <a:srgbClr val="F1F5F9"/>
            </a:solidFill>
            <a:prstDash val="solid"/>
          </a:ln>
        </p:spPr>
      </p:sp>
      <p:sp>
        <p:nvSpPr>
          <p:cNvPr id="25" name="Text 21"/>
          <p:cNvSpPr txBox="1"/>
          <p:nvPr/>
        </p:nvSpPr>
        <p:spPr>
          <a:xfrm>
            <a:off x="3977640" y="3602736"/>
            <a:ext cx="1645920" cy="676656"/>
          </a:xfrm>
          <a:prstGeom prst="rect">
            <a:avLst/>
          </a:prstGeom>
          <a:noFill/>
          <a:ln/>
        </p:spPr>
        <p:txBody>
          <a:bodyPr wrap="square" lIns="0" tIns="0" rIns="0" bIns="0" rtlCol="0" anchor="ctr"/>
          <a:lstStyle/>
          <a:p>
            <a:pPr marL="0" indent="0">
              <a:buNone/>
            </a:pPr>
            <a:r>
              <a:rPr lang="en-US" sz="1300" b="1" dirty="0">
                <a:solidFill>
                  <a:srgbClr val="0B1929"/>
                </a:solidFill>
                <a:latin typeface="Calibri" pitchFamily="34" charset="0"/>
                <a:ea typeface="Calibri" pitchFamily="34" charset="-122"/>
                <a:cs typeface="Calibri" pitchFamily="34" charset="-120"/>
              </a:rPr>
              <a:t>Email settings</a:t>
            </a:r>
            <a:endParaRPr lang="en-US" sz="1300" dirty="0"/>
          </a:p>
        </p:txBody>
      </p:sp>
      <p:sp>
        <p:nvSpPr>
          <p:cNvPr id="26" name="Text 22"/>
          <p:cNvSpPr txBox="1"/>
          <p:nvPr/>
        </p:nvSpPr>
        <p:spPr>
          <a:xfrm>
            <a:off x="5669280" y="3602736"/>
            <a:ext cx="2377440" cy="676656"/>
          </a:xfrm>
          <a:prstGeom prst="rect">
            <a:avLst/>
          </a:prstGeom>
          <a:noFill/>
          <a:ln/>
        </p:spPr>
        <p:txBody>
          <a:bodyPr wrap="square" lIns="0" tIns="0" rIns="0" bIns="0" rtlCol="0" anchor="ctr"/>
          <a:lstStyle/>
          <a:p>
            <a:pPr marL="0" indent="0">
              <a:buNone/>
            </a:pPr>
            <a:r>
              <a:rPr lang="en-US" sz="1150" dirty="0">
                <a:solidFill>
                  <a:srgbClr val="0F172A"/>
                </a:solidFill>
                <a:latin typeface="Calibri" pitchFamily="34" charset="0"/>
                <a:ea typeface="Calibri" pitchFamily="34" charset="-122"/>
                <a:cs typeface="Calibri" pitchFamily="34" charset="-120"/>
              </a:rPr>
              <a:t>Email sender protection records are missing</a:t>
            </a:r>
            <a:endParaRPr lang="en-US" sz="1150" dirty="0"/>
          </a:p>
        </p:txBody>
      </p:sp>
      <p:sp>
        <p:nvSpPr>
          <p:cNvPr id="27" name="Text 23"/>
          <p:cNvSpPr txBox="1"/>
          <p:nvPr/>
        </p:nvSpPr>
        <p:spPr>
          <a:xfrm>
            <a:off x="8183880" y="3602736"/>
            <a:ext cx="1371600" cy="676656"/>
          </a:xfrm>
          <a:prstGeom prst="rect">
            <a:avLst/>
          </a:prstGeom>
          <a:noFill/>
          <a:ln/>
        </p:spPr>
        <p:txBody>
          <a:bodyPr wrap="square" lIns="0" tIns="0" rIns="0" bIns="0" rtlCol="0" anchor="ctr"/>
          <a:lstStyle/>
          <a:p>
            <a:pPr marL="0" indent="0">
              <a:buNone/>
            </a:pPr>
            <a:r>
              <a:rPr lang="en-US" sz="1150" dirty="0">
                <a:solidFill>
                  <a:srgbClr val="0F172A"/>
                </a:solidFill>
                <a:latin typeface="Calibri" pitchFamily="34" charset="0"/>
                <a:ea typeface="Calibri" pitchFamily="34" charset="-122"/>
                <a:cs typeface="Calibri" pitchFamily="34" charset="-120"/>
              </a:rPr>
              <a:t>Recommended</a:t>
            </a:r>
            <a:endParaRPr lang="en-US" sz="1150" dirty="0"/>
          </a:p>
        </p:txBody>
      </p:sp>
      <p:sp>
        <p:nvSpPr>
          <p:cNvPr id="28" name="Text 24"/>
          <p:cNvSpPr txBox="1"/>
          <p:nvPr/>
        </p:nvSpPr>
        <p:spPr>
          <a:xfrm>
            <a:off x="9646920" y="3602736"/>
            <a:ext cx="1874520" cy="676656"/>
          </a:xfrm>
          <a:prstGeom prst="rect">
            <a:avLst/>
          </a:prstGeom>
          <a:noFill/>
          <a:ln/>
        </p:spPr>
        <p:txBody>
          <a:bodyPr wrap="square" lIns="0" tIns="0" rIns="0" bIns="0" rtlCol="0" anchor="ctr"/>
          <a:lstStyle/>
          <a:p>
            <a:pPr marL="0" indent="0">
              <a:buNone/>
            </a:pPr>
            <a:r>
              <a:rPr lang="en-US" sz="1150" dirty="0">
                <a:solidFill>
                  <a:srgbClr val="0F172A"/>
                </a:solidFill>
                <a:latin typeface="Calibri" pitchFamily="34" charset="0"/>
                <a:ea typeface="Calibri" pitchFamily="34" charset="-122"/>
                <a:cs typeface="Calibri" pitchFamily="34" charset="-120"/>
              </a:rPr>
              <a:t>Shop emails are more likely to reach the inbox</a:t>
            </a:r>
            <a:endParaRPr lang="en-US" sz="1150" dirty="0"/>
          </a:p>
        </p:txBody>
      </p:sp>
      <p:sp>
        <p:nvSpPr>
          <p:cNvPr id="29" name="Shape 25"/>
          <p:cNvSpPr/>
          <p:nvPr/>
        </p:nvSpPr>
        <p:spPr>
          <a:xfrm>
            <a:off x="3840480" y="4398264"/>
            <a:ext cx="7772400" cy="768096"/>
          </a:xfrm>
          <a:prstGeom prst="roundRect">
            <a:avLst>
              <a:gd name="adj" fmla="val 14286"/>
            </a:avLst>
          </a:prstGeom>
          <a:solidFill>
            <a:srgbClr val="FFFFFF"/>
          </a:solidFill>
          <a:ln w="12700">
            <a:solidFill>
              <a:srgbClr val="FFFFFF"/>
            </a:solidFill>
            <a:prstDash val="solid"/>
          </a:ln>
        </p:spPr>
      </p:sp>
      <p:sp>
        <p:nvSpPr>
          <p:cNvPr id="30" name="Text 26"/>
          <p:cNvSpPr txBox="1"/>
          <p:nvPr/>
        </p:nvSpPr>
        <p:spPr>
          <a:xfrm>
            <a:off x="3977640" y="4443984"/>
            <a:ext cx="1645920" cy="676656"/>
          </a:xfrm>
          <a:prstGeom prst="rect">
            <a:avLst/>
          </a:prstGeom>
          <a:noFill/>
          <a:ln/>
        </p:spPr>
        <p:txBody>
          <a:bodyPr wrap="square" lIns="0" tIns="0" rIns="0" bIns="0" rtlCol="0" anchor="ctr"/>
          <a:lstStyle/>
          <a:p>
            <a:pPr marL="0" indent="0">
              <a:buNone/>
            </a:pPr>
            <a:r>
              <a:rPr lang="en-US" sz="1300" b="1" dirty="0">
                <a:solidFill>
                  <a:srgbClr val="0B1929"/>
                </a:solidFill>
                <a:latin typeface="Calibri" pitchFamily="34" charset="0"/>
                <a:ea typeface="Calibri" pitchFamily="34" charset="-122"/>
                <a:cs typeface="Calibri" pitchFamily="34" charset="-120"/>
              </a:rPr>
              <a:t>Accessibility</a:t>
            </a:r>
            <a:endParaRPr lang="en-US" sz="1300" dirty="0"/>
          </a:p>
        </p:txBody>
      </p:sp>
      <p:sp>
        <p:nvSpPr>
          <p:cNvPr id="31" name="Text 27"/>
          <p:cNvSpPr txBox="1"/>
          <p:nvPr/>
        </p:nvSpPr>
        <p:spPr>
          <a:xfrm>
            <a:off x="5669280" y="4443984"/>
            <a:ext cx="2377440" cy="676656"/>
          </a:xfrm>
          <a:prstGeom prst="rect">
            <a:avLst/>
          </a:prstGeom>
          <a:noFill/>
          <a:ln/>
        </p:spPr>
        <p:txBody>
          <a:bodyPr wrap="square" lIns="0" tIns="0" rIns="0" bIns="0" rtlCol="0" anchor="ctr"/>
          <a:lstStyle/>
          <a:p>
            <a:pPr marL="0" indent="0">
              <a:buNone/>
            </a:pPr>
            <a:r>
              <a:rPr lang="en-US" sz="1150" dirty="0">
                <a:solidFill>
                  <a:srgbClr val="0F172A"/>
                </a:solidFill>
                <a:latin typeface="Calibri" pitchFamily="34" charset="0"/>
                <a:ea typeface="Calibri" pitchFamily="34" charset="-122"/>
                <a:cs typeface="Calibri" pitchFamily="34" charset="-120"/>
              </a:rPr>
              <a:t>Some labels, link text and colour contrast need attention</a:t>
            </a:r>
            <a:endParaRPr lang="en-US" sz="1150" dirty="0"/>
          </a:p>
        </p:txBody>
      </p:sp>
      <p:sp>
        <p:nvSpPr>
          <p:cNvPr id="32" name="Text 28"/>
          <p:cNvSpPr txBox="1"/>
          <p:nvPr/>
        </p:nvSpPr>
        <p:spPr>
          <a:xfrm>
            <a:off x="8183880" y="4443984"/>
            <a:ext cx="1371600" cy="676656"/>
          </a:xfrm>
          <a:prstGeom prst="rect">
            <a:avLst/>
          </a:prstGeom>
          <a:noFill/>
          <a:ln/>
        </p:spPr>
        <p:txBody>
          <a:bodyPr wrap="square" lIns="0" tIns="0" rIns="0" bIns="0" rtlCol="0" anchor="ctr"/>
          <a:lstStyle/>
          <a:p>
            <a:pPr marL="0" indent="0">
              <a:buNone/>
            </a:pPr>
            <a:r>
              <a:rPr lang="en-US" sz="1150" dirty="0">
                <a:solidFill>
                  <a:srgbClr val="0F172A"/>
                </a:solidFill>
                <a:latin typeface="Calibri" pitchFamily="34" charset="0"/>
                <a:ea typeface="Calibri" pitchFamily="34" charset="-122"/>
                <a:cs typeface="Calibri" pitchFamily="34" charset="-120"/>
              </a:rPr>
              <a:t>Recommended</a:t>
            </a:r>
            <a:endParaRPr lang="en-US" sz="1150" dirty="0"/>
          </a:p>
        </p:txBody>
      </p:sp>
      <p:sp>
        <p:nvSpPr>
          <p:cNvPr id="33" name="Text 29"/>
          <p:cNvSpPr txBox="1"/>
          <p:nvPr/>
        </p:nvSpPr>
        <p:spPr>
          <a:xfrm>
            <a:off x="9646920" y="4443984"/>
            <a:ext cx="1874520" cy="676656"/>
          </a:xfrm>
          <a:prstGeom prst="rect">
            <a:avLst/>
          </a:prstGeom>
          <a:noFill/>
          <a:ln/>
        </p:spPr>
        <p:txBody>
          <a:bodyPr wrap="square" lIns="0" tIns="0" rIns="0" bIns="0" rtlCol="0" anchor="ctr"/>
          <a:lstStyle/>
          <a:p>
            <a:pPr marL="0" indent="0">
              <a:buNone/>
            </a:pPr>
            <a:r>
              <a:rPr lang="en-US" sz="1150" dirty="0">
                <a:solidFill>
                  <a:srgbClr val="0F172A"/>
                </a:solidFill>
                <a:latin typeface="Calibri" pitchFamily="34" charset="0"/>
                <a:ea typeface="Calibri" pitchFamily="34" charset="-122"/>
                <a:cs typeface="Calibri" pitchFamily="34" charset="-120"/>
              </a:rPr>
              <a:t>Easier for all visitors to use</a:t>
            </a:r>
            <a:endParaRPr lang="en-US" sz="1150" dirty="0"/>
          </a:p>
        </p:txBody>
      </p:sp>
      <p:sp>
        <p:nvSpPr>
          <p:cNvPr id="39" name="Text 35"/>
          <p:cNvSpPr txBox="1"/>
          <p:nvPr/>
        </p:nvSpPr>
        <p:spPr>
          <a:xfrm>
            <a:off x="3931920" y="6126480"/>
            <a:ext cx="7680960" cy="274320"/>
          </a:xfrm>
          <a:prstGeom prst="rect">
            <a:avLst/>
          </a:prstGeom>
          <a:noFill/>
          <a:ln/>
        </p:spPr>
        <p:txBody>
          <a:bodyPr wrap="square" lIns="0" tIns="0" rIns="0" bIns="0" rtlCol="0" anchor="ctr"/>
          <a:lstStyle/>
          <a:p>
            <a:pPr marL="0" indent="0">
              <a:buNone/>
            </a:pPr>
            <a:r>
              <a:rPr lang="en-US" sz="1100" i="1" dirty="0">
                <a:solidFill>
                  <a:srgbClr val="475569"/>
                </a:solidFill>
                <a:latin typeface="Calibri" pitchFamily="34" charset="0"/>
                <a:ea typeface="Calibri" pitchFamily="34" charset="-122"/>
                <a:cs typeface="Calibri" pitchFamily="34" charset="-120"/>
              </a:rPr>
              <a:t>Addressed this month: none applied (review only). Full details are in the internal audit.</a:t>
            </a:r>
            <a:endParaRPr lang="en-US" sz="1100" dirty="0"/>
          </a:p>
        </p:txBody>
      </p:sp>
      <p:sp>
        <p:nvSpPr>
          <p:cNvPr id="46" name="Text 31">
            <a:extLst>
              <a:ext uri="{FF2B5EF4-FFF2-40B4-BE49-F238E27FC236}">
                <a16:creationId xmlns:a16="http://schemas.microsoft.com/office/drawing/2014/main" id="{8446EB05-4F78-DDC8-7660-89C5C3D58CFF}"/>
              </a:ext>
            </a:extLst>
          </p:cNvPr>
          <p:cNvSpPr txBox="1"/>
          <p:nvPr/>
        </p:nvSpPr>
        <p:spPr>
          <a:xfrm>
            <a:off x="3977640" y="2753498"/>
            <a:ext cx="1645920" cy="676656"/>
          </a:xfrm>
          <a:prstGeom prst="rect">
            <a:avLst/>
          </a:prstGeom>
          <a:noFill/>
          <a:ln/>
        </p:spPr>
        <p:txBody>
          <a:bodyPr wrap="square" lIns="0" tIns="0" rIns="0" bIns="0" rtlCol="0" anchor="ctr"/>
          <a:lstStyle/>
          <a:p>
            <a:pPr marL="0" indent="0">
              <a:buNone/>
            </a:pPr>
            <a:r>
              <a:rPr lang="en-US" sz="1300" b="1" dirty="0">
                <a:solidFill>
                  <a:srgbClr val="0B1929"/>
                </a:solidFill>
                <a:latin typeface="Calibri" pitchFamily="34" charset="0"/>
                <a:ea typeface="Calibri" pitchFamily="34" charset="-122"/>
                <a:cs typeface="Calibri" pitchFamily="34" charset="-120"/>
              </a:rPr>
              <a:t>Search metadata</a:t>
            </a:r>
            <a:endParaRPr lang="en-US" sz="1300" dirty="0"/>
          </a:p>
        </p:txBody>
      </p:sp>
      <p:sp>
        <p:nvSpPr>
          <p:cNvPr id="47" name="Text 32">
            <a:extLst>
              <a:ext uri="{FF2B5EF4-FFF2-40B4-BE49-F238E27FC236}">
                <a16:creationId xmlns:a16="http://schemas.microsoft.com/office/drawing/2014/main" id="{76AB62B5-9AE1-8910-4B71-51DDBA933CAD}"/>
              </a:ext>
            </a:extLst>
          </p:cNvPr>
          <p:cNvSpPr txBox="1"/>
          <p:nvPr/>
        </p:nvSpPr>
        <p:spPr>
          <a:xfrm>
            <a:off x="5669280" y="2753498"/>
            <a:ext cx="2377440" cy="676656"/>
          </a:xfrm>
          <a:prstGeom prst="rect">
            <a:avLst/>
          </a:prstGeom>
          <a:noFill/>
          <a:ln/>
        </p:spPr>
        <p:txBody>
          <a:bodyPr wrap="square" lIns="0" tIns="0" rIns="0" bIns="0" rtlCol="0" anchor="ctr"/>
          <a:lstStyle/>
          <a:p>
            <a:pPr marL="0" indent="0">
              <a:buNone/>
            </a:pPr>
            <a:r>
              <a:rPr lang="en-US" sz="1150" dirty="0">
                <a:solidFill>
                  <a:srgbClr val="0F172A"/>
                </a:solidFill>
                <a:latin typeface="Calibri" pitchFamily="34" charset="0"/>
                <a:ea typeface="Calibri" pitchFamily="34" charset="-122"/>
                <a:cs typeface="Calibri" pitchFamily="34" charset="-120"/>
              </a:rPr>
              <a:t>Some pages lack descriptions or clear headings</a:t>
            </a:r>
            <a:endParaRPr lang="en-US" sz="1150" dirty="0"/>
          </a:p>
        </p:txBody>
      </p:sp>
      <p:sp>
        <p:nvSpPr>
          <p:cNvPr id="48" name="Text 33">
            <a:extLst>
              <a:ext uri="{FF2B5EF4-FFF2-40B4-BE49-F238E27FC236}">
                <a16:creationId xmlns:a16="http://schemas.microsoft.com/office/drawing/2014/main" id="{7FE7A4F8-01C8-501C-53BB-3093F821C15E}"/>
              </a:ext>
            </a:extLst>
          </p:cNvPr>
          <p:cNvSpPr txBox="1"/>
          <p:nvPr/>
        </p:nvSpPr>
        <p:spPr>
          <a:xfrm>
            <a:off x="8183880" y="2753498"/>
            <a:ext cx="1371600" cy="676656"/>
          </a:xfrm>
          <a:prstGeom prst="rect">
            <a:avLst/>
          </a:prstGeom>
          <a:noFill/>
          <a:ln/>
        </p:spPr>
        <p:txBody>
          <a:bodyPr wrap="square" lIns="0" tIns="0" rIns="0" bIns="0" rtlCol="0" anchor="ctr"/>
          <a:lstStyle/>
          <a:p>
            <a:pPr marL="0" indent="0">
              <a:buNone/>
            </a:pPr>
            <a:r>
              <a:rPr lang="en-US" sz="1150" dirty="0">
                <a:solidFill>
                  <a:srgbClr val="0F172A"/>
                </a:solidFill>
                <a:latin typeface="Calibri" pitchFamily="34" charset="0"/>
                <a:ea typeface="Calibri" pitchFamily="34" charset="-122"/>
                <a:cs typeface="Calibri" pitchFamily="34" charset="-120"/>
              </a:rPr>
              <a:t>Recommended</a:t>
            </a:r>
            <a:endParaRPr lang="en-US" sz="1150" dirty="0"/>
          </a:p>
        </p:txBody>
      </p:sp>
      <p:sp>
        <p:nvSpPr>
          <p:cNvPr id="49" name="Text 34">
            <a:extLst>
              <a:ext uri="{FF2B5EF4-FFF2-40B4-BE49-F238E27FC236}">
                <a16:creationId xmlns:a16="http://schemas.microsoft.com/office/drawing/2014/main" id="{33B4967C-B163-ED0A-897A-DA8E7E08BB12}"/>
              </a:ext>
            </a:extLst>
          </p:cNvPr>
          <p:cNvSpPr txBox="1"/>
          <p:nvPr/>
        </p:nvSpPr>
        <p:spPr>
          <a:xfrm>
            <a:off x="9646920" y="2753498"/>
            <a:ext cx="1874520" cy="676656"/>
          </a:xfrm>
          <a:prstGeom prst="rect">
            <a:avLst/>
          </a:prstGeom>
          <a:noFill/>
          <a:ln/>
        </p:spPr>
        <p:txBody>
          <a:bodyPr wrap="square" lIns="0" tIns="0" rIns="0" bIns="0" rtlCol="0" anchor="ctr"/>
          <a:lstStyle/>
          <a:p>
            <a:pPr marL="0" indent="0">
              <a:buNone/>
            </a:pPr>
            <a:r>
              <a:rPr lang="en-US" sz="1150" dirty="0">
                <a:solidFill>
                  <a:srgbClr val="0F172A"/>
                </a:solidFill>
                <a:latin typeface="Calibri" pitchFamily="34" charset="0"/>
                <a:ea typeface="Calibri" pitchFamily="34" charset="-122"/>
                <a:cs typeface="Calibri" pitchFamily="34" charset="-120"/>
              </a:rPr>
              <a:t>Clearer listings in search results</a:t>
            </a:r>
            <a:endParaRPr lang="en-US" sz="11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365760"/>
            <a:ext cx="8229600" cy="274320"/>
          </a:xfrm>
          <a:prstGeom prst="rect">
            <a:avLst/>
          </a:prstGeom>
          <a:noFill/>
          <a:ln/>
        </p:spPr>
        <p:txBody>
          <a:bodyPr wrap="square" lIns="0" tIns="0" rIns="0" bIns="0" rtlCol="0" anchor="ctr"/>
          <a:lstStyle/>
          <a:p>
            <a:pPr marL="0" indent="0">
              <a:buNone/>
            </a:pPr>
            <a:r>
              <a:rPr lang="en-US" sz="1200" b="1" kern="0" spc="300" dirty="0">
                <a:solidFill>
                  <a:srgbClr val="0086C7"/>
                </a:solidFill>
                <a:latin typeface="Calibri" pitchFamily="34" charset="0"/>
                <a:ea typeface="Calibri" pitchFamily="34" charset="-122"/>
                <a:cs typeface="Calibri" pitchFamily="34" charset="-120"/>
              </a:rPr>
              <a:t>HEALTH SUMMARY</a:t>
            </a:r>
            <a:endParaRPr lang="en-US" sz="1200" dirty="0"/>
          </a:p>
        </p:txBody>
      </p:sp>
      <p:pic>
        <p:nvPicPr>
          <p:cNvPr id="3" name="Image 0" descr="C:/Projects/OGH/build/brand/logo_color_big.png"/>
          <p:cNvPicPr>
            <a:picLocks noChangeAspect="1"/>
          </p:cNvPicPr>
          <p:nvPr/>
        </p:nvPicPr>
        <p:blipFill>
          <a:blip r:embed="rId3"/>
          <a:stretch>
            <a:fillRect/>
          </a:stretch>
        </p:blipFill>
        <p:spPr>
          <a:xfrm>
            <a:off x="10058400" y="347472"/>
            <a:ext cx="1554480" cy="347472"/>
          </a:xfrm>
          <a:prstGeom prst="rect">
            <a:avLst/>
          </a:prstGeom>
        </p:spPr>
      </p:pic>
      <p:sp>
        <p:nvSpPr>
          <p:cNvPr id="4" name="Text 1"/>
          <p:cNvSpPr txBox="1"/>
          <p:nvPr/>
        </p:nvSpPr>
        <p:spPr>
          <a:xfrm>
            <a:off x="548640" y="658368"/>
            <a:ext cx="9326880" cy="731520"/>
          </a:xfrm>
          <a:prstGeom prst="rect">
            <a:avLst/>
          </a:prstGeom>
          <a:noFill/>
          <a:ln/>
        </p:spPr>
        <p:txBody>
          <a:bodyPr wrap="square" lIns="0" tIns="0" rIns="0" bIns="0" rtlCol="0" anchor="t"/>
          <a:lstStyle/>
          <a:p>
            <a:pPr marL="0" indent="0">
              <a:buNone/>
            </a:pPr>
            <a:r>
              <a:rPr lang="en-US" sz="3200" b="1" dirty="0">
                <a:solidFill>
                  <a:srgbClr val="0B1929"/>
                </a:solidFill>
                <a:latin typeface="Calibri" pitchFamily="34" charset="0"/>
                <a:ea typeface="Calibri" pitchFamily="34" charset="-122"/>
                <a:cs typeface="Calibri" pitchFamily="34" charset="-120"/>
              </a:rPr>
              <a:t>Monthly health summary</a:t>
            </a:r>
            <a:endParaRPr lang="en-US" sz="3200" dirty="0"/>
          </a:p>
        </p:txBody>
      </p:sp>
      <p:sp>
        <p:nvSpPr>
          <p:cNvPr id="5" name="Text 2"/>
          <p:cNvSpPr txBox="1"/>
          <p:nvPr/>
        </p:nvSpPr>
        <p:spPr>
          <a:xfrm>
            <a:off x="548640" y="6446520"/>
            <a:ext cx="7315200" cy="228600"/>
          </a:xfrm>
          <a:prstGeom prst="rect">
            <a:avLst/>
          </a:prstGeom>
          <a:noFill/>
          <a:ln/>
        </p:spPr>
        <p:txBody>
          <a:bodyPr wrap="square" lIns="0" tIns="0" rIns="0" bIns="0" rtlCol="0" anchor="ctr"/>
          <a:lstStyle/>
          <a:p>
            <a:pPr marL="0" indent="0">
              <a:buNone/>
            </a:pPr>
            <a:r>
              <a:rPr lang="en-US" sz="1000" dirty="0">
                <a:solidFill>
                  <a:srgbClr val="475569"/>
                </a:solidFill>
                <a:latin typeface="Calibri" pitchFamily="34" charset="0"/>
                <a:ea typeface="Calibri" pitchFamily="34" charset="-122"/>
                <a:cs typeface="Calibri" pitchFamily="34" charset="-120"/>
              </a:rPr>
              <a:t>Prepared by WebDesk Solution  |  Our Green House  |  October 2026</a:t>
            </a:r>
            <a:endParaRPr lang="en-US" sz="1000" dirty="0"/>
          </a:p>
        </p:txBody>
      </p:sp>
      <p:sp>
        <p:nvSpPr>
          <p:cNvPr id="6" name="Text 3"/>
          <p:cNvSpPr txBox="1"/>
          <p:nvPr/>
        </p:nvSpPr>
        <p:spPr>
          <a:xfrm>
            <a:off x="11064240" y="6446520"/>
            <a:ext cx="548640" cy="228600"/>
          </a:xfrm>
          <a:prstGeom prst="rect">
            <a:avLst/>
          </a:prstGeom>
          <a:noFill/>
          <a:ln/>
        </p:spPr>
        <p:txBody>
          <a:bodyPr wrap="square" lIns="0" tIns="0" rIns="0" bIns="0" rtlCol="0" anchor="ctr"/>
          <a:lstStyle/>
          <a:p>
            <a:pPr marL="0" indent="0" algn="r">
              <a:buNone/>
            </a:pPr>
            <a:r>
              <a:rPr lang="en-US" sz="1000" dirty="0">
                <a:solidFill>
                  <a:srgbClr val="475569"/>
                </a:solidFill>
                <a:latin typeface="Calibri" pitchFamily="34" charset="0"/>
                <a:ea typeface="Calibri" pitchFamily="34" charset="-122"/>
                <a:cs typeface="Calibri" pitchFamily="34" charset="-120"/>
              </a:rPr>
              <a:t>11</a:t>
            </a:r>
            <a:endParaRPr lang="en-US" sz="1000" dirty="0"/>
          </a:p>
        </p:txBody>
      </p:sp>
      <p:sp>
        <p:nvSpPr>
          <p:cNvPr id="7" name="Shape 4"/>
          <p:cNvSpPr/>
          <p:nvPr/>
        </p:nvSpPr>
        <p:spPr>
          <a:xfrm>
            <a:off x="548640" y="1554480"/>
            <a:ext cx="3520440" cy="1371600"/>
          </a:xfrm>
          <a:prstGeom prst="roundRect">
            <a:avLst>
              <a:gd name="adj" fmla="val 8000"/>
            </a:avLst>
          </a:prstGeom>
          <a:solidFill>
            <a:srgbClr val="F1F5F9"/>
          </a:solidFill>
          <a:ln w="12700">
            <a:solidFill>
              <a:srgbClr val="F1F5F9"/>
            </a:solidFill>
            <a:prstDash val="solid"/>
          </a:ln>
        </p:spPr>
      </p:sp>
      <p:sp>
        <p:nvSpPr>
          <p:cNvPr id="8" name="Text 5"/>
          <p:cNvSpPr txBox="1"/>
          <p:nvPr/>
        </p:nvSpPr>
        <p:spPr>
          <a:xfrm>
            <a:off x="777240" y="1691640"/>
            <a:ext cx="3108960" cy="365760"/>
          </a:xfrm>
          <a:prstGeom prst="rect">
            <a:avLst/>
          </a:prstGeom>
          <a:noFill/>
          <a:ln/>
        </p:spPr>
        <p:txBody>
          <a:bodyPr wrap="square" lIns="0" tIns="0" rIns="0" bIns="0" rtlCol="0" anchor="ctr"/>
          <a:lstStyle/>
          <a:p>
            <a:pPr marL="0" indent="0">
              <a:buNone/>
            </a:pPr>
            <a:r>
              <a:rPr lang="en-US" sz="1600" b="1" dirty="0">
                <a:solidFill>
                  <a:srgbClr val="0B1929"/>
                </a:solidFill>
                <a:latin typeface="Calibri" pitchFamily="34" charset="0"/>
                <a:ea typeface="Calibri" pitchFamily="34" charset="-122"/>
                <a:cs typeface="Calibri" pitchFamily="34" charset="-120"/>
              </a:rPr>
              <a:t>Website availability</a:t>
            </a:r>
            <a:endParaRPr lang="en-US" sz="1600" dirty="0"/>
          </a:p>
        </p:txBody>
      </p:sp>
      <p:sp>
        <p:nvSpPr>
          <p:cNvPr id="9" name="Shape 6"/>
          <p:cNvSpPr/>
          <p:nvPr/>
        </p:nvSpPr>
        <p:spPr>
          <a:xfrm>
            <a:off x="777240" y="2121408"/>
            <a:ext cx="1554480" cy="292608"/>
          </a:xfrm>
          <a:prstGeom prst="roundRect">
            <a:avLst>
              <a:gd name="adj" fmla="val 50000"/>
            </a:avLst>
          </a:prstGeom>
          <a:solidFill>
            <a:srgbClr val="16A34A"/>
          </a:solidFill>
          <a:ln w="12700">
            <a:solidFill>
              <a:srgbClr val="16A34A"/>
            </a:solidFill>
            <a:prstDash val="solid"/>
          </a:ln>
        </p:spPr>
      </p:sp>
      <p:sp>
        <p:nvSpPr>
          <p:cNvPr id="10" name="Text 7"/>
          <p:cNvSpPr txBox="1"/>
          <p:nvPr/>
        </p:nvSpPr>
        <p:spPr>
          <a:xfrm>
            <a:off x="777240" y="2121408"/>
            <a:ext cx="1554480" cy="292608"/>
          </a:xfrm>
          <a:prstGeom prst="rect">
            <a:avLst/>
          </a:prstGeom>
          <a:noFill/>
          <a:ln/>
        </p:spPr>
        <p:txBody>
          <a:bodyPr wrap="square" lIns="0" tIns="0" rIns="0" bIns="0"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Healthy</a:t>
            </a:r>
            <a:endParaRPr lang="en-US" sz="1100" dirty="0"/>
          </a:p>
        </p:txBody>
      </p:sp>
      <p:sp>
        <p:nvSpPr>
          <p:cNvPr id="11" name="Text 8"/>
          <p:cNvSpPr txBox="1"/>
          <p:nvPr/>
        </p:nvSpPr>
        <p:spPr>
          <a:xfrm>
            <a:off x="777240" y="2468880"/>
            <a:ext cx="3108960" cy="365760"/>
          </a:xfrm>
          <a:prstGeom prst="rect">
            <a:avLst/>
          </a:prstGeom>
          <a:noFill/>
          <a:ln/>
        </p:spPr>
        <p:txBody>
          <a:bodyPr wrap="square" lIns="0" tIns="0" rIns="0" bIns="0" rtlCol="0" anchor="t"/>
          <a:lstStyle/>
          <a:p>
            <a:pPr marL="0" indent="0">
              <a:buNone/>
            </a:pPr>
            <a:r>
              <a:rPr lang="en-US" sz="1200" dirty="0">
                <a:solidFill>
                  <a:srgbClr val="475569"/>
                </a:solidFill>
                <a:latin typeface="Calibri" pitchFamily="34" charset="0"/>
                <a:ea typeface="Calibri" pitchFamily="34" charset="-122"/>
                <a:cs typeface="Calibri" pitchFamily="34" charset="-120"/>
              </a:rPr>
              <a:t>All 378 checked pages loaded</a:t>
            </a:r>
            <a:endParaRPr lang="en-US" sz="1200" dirty="0"/>
          </a:p>
        </p:txBody>
      </p:sp>
      <p:sp>
        <p:nvSpPr>
          <p:cNvPr id="12" name="Shape 9"/>
          <p:cNvSpPr/>
          <p:nvPr/>
        </p:nvSpPr>
        <p:spPr>
          <a:xfrm>
            <a:off x="4297680" y="1554480"/>
            <a:ext cx="3520440" cy="1371600"/>
          </a:xfrm>
          <a:prstGeom prst="roundRect">
            <a:avLst>
              <a:gd name="adj" fmla="val 8000"/>
            </a:avLst>
          </a:prstGeom>
          <a:solidFill>
            <a:srgbClr val="F1F5F9"/>
          </a:solidFill>
          <a:ln w="12700">
            <a:solidFill>
              <a:srgbClr val="F1F5F9"/>
            </a:solidFill>
            <a:prstDash val="solid"/>
          </a:ln>
        </p:spPr>
      </p:sp>
      <p:sp>
        <p:nvSpPr>
          <p:cNvPr id="13" name="Text 10"/>
          <p:cNvSpPr txBox="1"/>
          <p:nvPr/>
        </p:nvSpPr>
        <p:spPr>
          <a:xfrm>
            <a:off x="4526280" y="1691640"/>
            <a:ext cx="3108960" cy="365760"/>
          </a:xfrm>
          <a:prstGeom prst="rect">
            <a:avLst/>
          </a:prstGeom>
          <a:noFill/>
          <a:ln/>
        </p:spPr>
        <p:txBody>
          <a:bodyPr wrap="square" lIns="0" tIns="0" rIns="0" bIns="0" rtlCol="0" anchor="ctr"/>
          <a:lstStyle/>
          <a:p>
            <a:pPr marL="0" indent="0">
              <a:buNone/>
            </a:pPr>
            <a:r>
              <a:rPr lang="en-US" sz="1600" b="1" dirty="0">
                <a:solidFill>
                  <a:srgbClr val="0B1929"/>
                </a:solidFill>
                <a:latin typeface="Calibri" pitchFamily="34" charset="0"/>
                <a:ea typeface="Calibri" pitchFamily="34" charset="-122"/>
                <a:cs typeface="Calibri" pitchFamily="34" charset="-120"/>
              </a:rPr>
              <a:t>Functionality</a:t>
            </a:r>
            <a:endParaRPr lang="en-US" sz="1600" dirty="0"/>
          </a:p>
        </p:txBody>
      </p:sp>
      <p:sp>
        <p:nvSpPr>
          <p:cNvPr id="14" name="Shape 11"/>
          <p:cNvSpPr/>
          <p:nvPr/>
        </p:nvSpPr>
        <p:spPr>
          <a:xfrm>
            <a:off x="4526280" y="2121408"/>
            <a:ext cx="1554480" cy="292608"/>
          </a:xfrm>
          <a:prstGeom prst="roundRect">
            <a:avLst>
              <a:gd name="adj" fmla="val 50000"/>
            </a:avLst>
          </a:prstGeom>
          <a:solidFill>
            <a:srgbClr val="16A34A"/>
          </a:solidFill>
          <a:ln w="12700">
            <a:solidFill>
              <a:srgbClr val="16A34A"/>
            </a:solidFill>
            <a:prstDash val="solid"/>
          </a:ln>
        </p:spPr>
      </p:sp>
      <p:sp>
        <p:nvSpPr>
          <p:cNvPr id="15" name="Text 12"/>
          <p:cNvSpPr txBox="1"/>
          <p:nvPr/>
        </p:nvSpPr>
        <p:spPr>
          <a:xfrm>
            <a:off x="4526280" y="2121408"/>
            <a:ext cx="1554480" cy="292608"/>
          </a:xfrm>
          <a:prstGeom prst="rect">
            <a:avLst/>
          </a:prstGeom>
          <a:noFill/>
          <a:ln/>
        </p:spPr>
        <p:txBody>
          <a:bodyPr wrap="square" lIns="0" tIns="0" rIns="0" bIns="0"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Healthy</a:t>
            </a:r>
            <a:endParaRPr lang="en-US" sz="1100" dirty="0"/>
          </a:p>
        </p:txBody>
      </p:sp>
      <p:sp>
        <p:nvSpPr>
          <p:cNvPr id="16" name="Text 13"/>
          <p:cNvSpPr txBox="1"/>
          <p:nvPr/>
        </p:nvSpPr>
        <p:spPr>
          <a:xfrm>
            <a:off x="4526280" y="2468880"/>
            <a:ext cx="3108960" cy="365760"/>
          </a:xfrm>
          <a:prstGeom prst="rect">
            <a:avLst/>
          </a:prstGeom>
          <a:noFill/>
          <a:ln/>
        </p:spPr>
        <p:txBody>
          <a:bodyPr wrap="square" lIns="0" tIns="0" rIns="0" bIns="0" rtlCol="0" anchor="t"/>
          <a:lstStyle/>
          <a:p>
            <a:pPr marL="0" indent="0">
              <a:buNone/>
            </a:pPr>
            <a:r>
              <a:rPr lang="en-US" sz="1200" dirty="0">
                <a:solidFill>
                  <a:srgbClr val="475569"/>
                </a:solidFill>
                <a:latin typeface="Calibri" pitchFamily="34" charset="0"/>
                <a:ea typeface="Calibri" pitchFamily="34" charset="-122"/>
                <a:cs typeface="Calibri" pitchFamily="34" charset="-120"/>
              </a:rPr>
              <a:t>Core journeys work; builder has minor script errors</a:t>
            </a:r>
            <a:endParaRPr lang="en-US" sz="1200" dirty="0"/>
          </a:p>
        </p:txBody>
      </p:sp>
      <p:sp>
        <p:nvSpPr>
          <p:cNvPr id="17" name="Shape 14"/>
          <p:cNvSpPr/>
          <p:nvPr/>
        </p:nvSpPr>
        <p:spPr>
          <a:xfrm>
            <a:off x="8046720" y="1554480"/>
            <a:ext cx="3520440" cy="1371600"/>
          </a:xfrm>
          <a:prstGeom prst="roundRect">
            <a:avLst>
              <a:gd name="adj" fmla="val 8000"/>
            </a:avLst>
          </a:prstGeom>
          <a:solidFill>
            <a:srgbClr val="F1F5F9"/>
          </a:solidFill>
          <a:ln w="12700">
            <a:solidFill>
              <a:srgbClr val="F1F5F9"/>
            </a:solidFill>
            <a:prstDash val="solid"/>
          </a:ln>
        </p:spPr>
      </p:sp>
      <p:sp>
        <p:nvSpPr>
          <p:cNvPr id="18" name="Text 15"/>
          <p:cNvSpPr txBox="1"/>
          <p:nvPr/>
        </p:nvSpPr>
        <p:spPr>
          <a:xfrm>
            <a:off x="8275320" y="1691640"/>
            <a:ext cx="3108960" cy="365760"/>
          </a:xfrm>
          <a:prstGeom prst="rect">
            <a:avLst/>
          </a:prstGeom>
          <a:noFill/>
          <a:ln/>
        </p:spPr>
        <p:txBody>
          <a:bodyPr wrap="square" lIns="0" tIns="0" rIns="0" bIns="0" rtlCol="0" anchor="ctr"/>
          <a:lstStyle/>
          <a:p>
            <a:pPr marL="0" indent="0">
              <a:buNone/>
            </a:pPr>
            <a:r>
              <a:rPr lang="en-US" sz="1600" b="1" dirty="0">
                <a:solidFill>
                  <a:srgbClr val="0B1929"/>
                </a:solidFill>
                <a:latin typeface="Calibri" pitchFamily="34" charset="0"/>
                <a:ea typeface="Calibri" pitchFamily="34" charset="-122"/>
                <a:cs typeface="Calibri" pitchFamily="34" charset="-120"/>
              </a:rPr>
              <a:t>UI / UX</a:t>
            </a:r>
            <a:endParaRPr lang="en-US" sz="1600" dirty="0"/>
          </a:p>
        </p:txBody>
      </p:sp>
      <p:sp>
        <p:nvSpPr>
          <p:cNvPr id="19" name="Shape 16"/>
          <p:cNvSpPr/>
          <p:nvPr/>
        </p:nvSpPr>
        <p:spPr>
          <a:xfrm>
            <a:off x="8275320" y="2121408"/>
            <a:ext cx="1554480" cy="292608"/>
          </a:xfrm>
          <a:prstGeom prst="roundRect">
            <a:avLst>
              <a:gd name="adj" fmla="val 50000"/>
            </a:avLst>
          </a:prstGeom>
          <a:solidFill>
            <a:srgbClr val="16A34A"/>
          </a:solidFill>
          <a:ln w="12700">
            <a:solidFill>
              <a:srgbClr val="16A34A"/>
            </a:solidFill>
            <a:prstDash val="solid"/>
          </a:ln>
        </p:spPr>
      </p:sp>
      <p:sp>
        <p:nvSpPr>
          <p:cNvPr id="20" name="Text 17"/>
          <p:cNvSpPr txBox="1"/>
          <p:nvPr/>
        </p:nvSpPr>
        <p:spPr>
          <a:xfrm>
            <a:off x="8275320" y="2121408"/>
            <a:ext cx="1554480" cy="292608"/>
          </a:xfrm>
          <a:prstGeom prst="rect">
            <a:avLst/>
          </a:prstGeom>
          <a:noFill/>
          <a:ln/>
        </p:spPr>
        <p:txBody>
          <a:bodyPr wrap="square" lIns="0" tIns="0" rIns="0" bIns="0"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Healthy</a:t>
            </a:r>
            <a:endParaRPr lang="en-US" sz="1100" dirty="0"/>
          </a:p>
        </p:txBody>
      </p:sp>
      <p:sp>
        <p:nvSpPr>
          <p:cNvPr id="21" name="Text 18"/>
          <p:cNvSpPr txBox="1"/>
          <p:nvPr/>
        </p:nvSpPr>
        <p:spPr>
          <a:xfrm>
            <a:off x="8275320" y="2468880"/>
            <a:ext cx="3108960" cy="365760"/>
          </a:xfrm>
          <a:prstGeom prst="rect">
            <a:avLst/>
          </a:prstGeom>
          <a:noFill/>
          <a:ln/>
        </p:spPr>
        <p:txBody>
          <a:bodyPr wrap="square" lIns="0" tIns="0" rIns="0" bIns="0" rtlCol="0" anchor="t"/>
          <a:lstStyle/>
          <a:p>
            <a:pPr marL="0" indent="0">
              <a:buNone/>
            </a:pPr>
            <a:r>
              <a:rPr lang="en-US" sz="1200" dirty="0">
                <a:solidFill>
                  <a:srgbClr val="475569"/>
                </a:solidFill>
                <a:latin typeface="Calibri" pitchFamily="34" charset="0"/>
                <a:ea typeface="Calibri" pitchFamily="34" charset="-122"/>
                <a:cs typeface="Calibri" pitchFamily="34" charset="-120"/>
              </a:rPr>
              <a:t>Consistent; small accessibility points noted</a:t>
            </a:r>
            <a:endParaRPr lang="en-US" sz="1200" dirty="0"/>
          </a:p>
        </p:txBody>
      </p:sp>
      <p:sp>
        <p:nvSpPr>
          <p:cNvPr id="22" name="Shape 19"/>
          <p:cNvSpPr/>
          <p:nvPr/>
        </p:nvSpPr>
        <p:spPr>
          <a:xfrm>
            <a:off x="548640" y="3108960"/>
            <a:ext cx="3520440" cy="1371600"/>
          </a:xfrm>
          <a:prstGeom prst="roundRect">
            <a:avLst>
              <a:gd name="adj" fmla="val 8000"/>
            </a:avLst>
          </a:prstGeom>
          <a:solidFill>
            <a:srgbClr val="F1F5F9"/>
          </a:solidFill>
          <a:ln w="12700">
            <a:solidFill>
              <a:srgbClr val="F1F5F9"/>
            </a:solidFill>
            <a:prstDash val="solid"/>
          </a:ln>
        </p:spPr>
      </p:sp>
      <p:sp>
        <p:nvSpPr>
          <p:cNvPr id="23" name="Text 20"/>
          <p:cNvSpPr txBox="1"/>
          <p:nvPr/>
        </p:nvSpPr>
        <p:spPr>
          <a:xfrm>
            <a:off x="777240" y="3246120"/>
            <a:ext cx="3108960" cy="365760"/>
          </a:xfrm>
          <a:prstGeom prst="rect">
            <a:avLst/>
          </a:prstGeom>
          <a:noFill/>
          <a:ln/>
        </p:spPr>
        <p:txBody>
          <a:bodyPr wrap="square" lIns="0" tIns="0" rIns="0" bIns="0" rtlCol="0" anchor="ctr"/>
          <a:lstStyle/>
          <a:p>
            <a:pPr marL="0" indent="0">
              <a:buNone/>
            </a:pPr>
            <a:r>
              <a:rPr lang="en-US" sz="1600" b="1" dirty="0">
                <a:solidFill>
                  <a:srgbClr val="0B1929"/>
                </a:solidFill>
                <a:latin typeface="Calibri" pitchFamily="34" charset="0"/>
                <a:ea typeface="Calibri" pitchFamily="34" charset="-122"/>
                <a:cs typeface="Calibri" pitchFamily="34" charset="-120"/>
              </a:rPr>
              <a:t>Responsive experience</a:t>
            </a:r>
            <a:endParaRPr lang="en-US" sz="1600" dirty="0"/>
          </a:p>
        </p:txBody>
      </p:sp>
      <p:sp>
        <p:nvSpPr>
          <p:cNvPr id="24" name="Shape 21"/>
          <p:cNvSpPr/>
          <p:nvPr/>
        </p:nvSpPr>
        <p:spPr>
          <a:xfrm>
            <a:off x="777240" y="3675888"/>
            <a:ext cx="1554480" cy="292608"/>
          </a:xfrm>
          <a:prstGeom prst="roundRect">
            <a:avLst>
              <a:gd name="adj" fmla="val 50000"/>
            </a:avLst>
          </a:prstGeom>
          <a:solidFill>
            <a:srgbClr val="16A34A"/>
          </a:solidFill>
          <a:ln w="12700">
            <a:solidFill>
              <a:srgbClr val="16A34A"/>
            </a:solidFill>
            <a:prstDash val="solid"/>
          </a:ln>
        </p:spPr>
      </p:sp>
      <p:sp>
        <p:nvSpPr>
          <p:cNvPr id="25" name="Text 22"/>
          <p:cNvSpPr txBox="1"/>
          <p:nvPr/>
        </p:nvSpPr>
        <p:spPr>
          <a:xfrm>
            <a:off x="777240" y="3675888"/>
            <a:ext cx="1554480" cy="292608"/>
          </a:xfrm>
          <a:prstGeom prst="rect">
            <a:avLst/>
          </a:prstGeom>
          <a:noFill/>
          <a:ln/>
        </p:spPr>
        <p:txBody>
          <a:bodyPr wrap="square" lIns="0" tIns="0" rIns="0" bIns="0"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Healthy</a:t>
            </a:r>
            <a:endParaRPr lang="en-US" sz="1100" dirty="0"/>
          </a:p>
        </p:txBody>
      </p:sp>
      <p:sp>
        <p:nvSpPr>
          <p:cNvPr id="26" name="Text 23"/>
          <p:cNvSpPr txBox="1"/>
          <p:nvPr/>
        </p:nvSpPr>
        <p:spPr>
          <a:xfrm>
            <a:off x="777240" y="4023360"/>
            <a:ext cx="3108960" cy="365760"/>
          </a:xfrm>
          <a:prstGeom prst="rect">
            <a:avLst/>
          </a:prstGeom>
          <a:noFill/>
          <a:ln/>
        </p:spPr>
        <p:txBody>
          <a:bodyPr wrap="square" lIns="0" tIns="0" rIns="0" bIns="0" rtlCol="0" anchor="t"/>
          <a:lstStyle/>
          <a:p>
            <a:pPr marL="0" indent="0">
              <a:buNone/>
            </a:pPr>
            <a:r>
              <a:rPr lang="en-US" sz="1200" dirty="0">
                <a:solidFill>
                  <a:srgbClr val="475569"/>
                </a:solidFill>
                <a:latin typeface="Calibri" pitchFamily="34" charset="0"/>
                <a:ea typeface="Calibri" pitchFamily="34" charset="-122"/>
                <a:cs typeface="Calibri" pitchFamily="34" charset="-120"/>
              </a:rPr>
              <a:t>Desktop, tablet and mobile reviewed</a:t>
            </a:r>
            <a:endParaRPr lang="en-US" sz="1200" dirty="0"/>
          </a:p>
        </p:txBody>
      </p:sp>
      <p:sp>
        <p:nvSpPr>
          <p:cNvPr id="27" name="Shape 24"/>
          <p:cNvSpPr/>
          <p:nvPr/>
        </p:nvSpPr>
        <p:spPr>
          <a:xfrm>
            <a:off x="4297680" y="3108960"/>
            <a:ext cx="3520440" cy="1371600"/>
          </a:xfrm>
          <a:prstGeom prst="roundRect">
            <a:avLst>
              <a:gd name="adj" fmla="val 8000"/>
            </a:avLst>
          </a:prstGeom>
          <a:solidFill>
            <a:srgbClr val="F1F5F9"/>
          </a:solidFill>
          <a:ln w="12700">
            <a:solidFill>
              <a:srgbClr val="F1F5F9"/>
            </a:solidFill>
            <a:prstDash val="solid"/>
          </a:ln>
        </p:spPr>
      </p:sp>
      <p:sp>
        <p:nvSpPr>
          <p:cNvPr id="28" name="Text 25"/>
          <p:cNvSpPr txBox="1"/>
          <p:nvPr/>
        </p:nvSpPr>
        <p:spPr>
          <a:xfrm>
            <a:off x="4526280" y="3246120"/>
            <a:ext cx="3108960" cy="365760"/>
          </a:xfrm>
          <a:prstGeom prst="rect">
            <a:avLst/>
          </a:prstGeom>
          <a:noFill/>
          <a:ln/>
        </p:spPr>
        <p:txBody>
          <a:bodyPr wrap="square" lIns="0" tIns="0" rIns="0" bIns="0" rtlCol="0" anchor="ctr"/>
          <a:lstStyle/>
          <a:p>
            <a:pPr marL="0" indent="0">
              <a:buNone/>
            </a:pPr>
            <a:r>
              <a:rPr lang="en-US" sz="1600" b="1" dirty="0">
                <a:solidFill>
                  <a:srgbClr val="0B1929"/>
                </a:solidFill>
                <a:latin typeface="Calibri" pitchFamily="34" charset="0"/>
                <a:ea typeface="Calibri" pitchFamily="34" charset="-122"/>
                <a:cs typeface="Calibri" pitchFamily="34" charset="-120"/>
              </a:rPr>
              <a:t>Technical health</a:t>
            </a:r>
            <a:endParaRPr lang="en-US" sz="1600" dirty="0"/>
          </a:p>
        </p:txBody>
      </p:sp>
      <p:sp>
        <p:nvSpPr>
          <p:cNvPr id="29" name="Shape 26"/>
          <p:cNvSpPr/>
          <p:nvPr/>
        </p:nvSpPr>
        <p:spPr>
          <a:xfrm>
            <a:off x="4526280" y="3675888"/>
            <a:ext cx="1554480" cy="292608"/>
          </a:xfrm>
          <a:prstGeom prst="roundRect">
            <a:avLst>
              <a:gd name="adj" fmla="val 50000"/>
            </a:avLst>
          </a:prstGeom>
          <a:solidFill>
            <a:srgbClr val="D9962B"/>
          </a:solidFill>
          <a:ln w="12700">
            <a:solidFill>
              <a:srgbClr val="D9962B"/>
            </a:solidFill>
            <a:prstDash val="solid"/>
          </a:ln>
        </p:spPr>
      </p:sp>
      <p:sp>
        <p:nvSpPr>
          <p:cNvPr id="30" name="Text 27"/>
          <p:cNvSpPr txBox="1"/>
          <p:nvPr/>
        </p:nvSpPr>
        <p:spPr>
          <a:xfrm>
            <a:off x="4526280" y="3675888"/>
            <a:ext cx="1554480" cy="292608"/>
          </a:xfrm>
          <a:prstGeom prst="rect">
            <a:avLst/>
          </a:prstGeom>
          <a:noFill/>
          <a:ln/>
        </p:spPr>
        <p:txBody>
          <a:bodyPr wrap="square" lIns="0" tIns="0" rIns="0" bIns="0"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Needs attention</a:t>
            </a:r>
            <a:endParaRPr lang="en-US" sz="1100" dirty="0"/>
          </a:p>
        </p:txBody>
      </p:sp>
      <p:sp>
        <p:nvSpPr>
          <p:cNvPr id="31" name="Text 28"/>
          <p:cNvSpPr txBox="1"/>
          <p:nvPr/>
        </p:nvSpPr>
        <p:spPr>
          <a:xfrm>
            <a:off x="4526280" y="4023360"/>
            <a:ext cx="3108960" cy="365760"/>
          </a:xfrm>
          <a:prstGeom prst="rect">
            <a:avLst/>
          </a:prstGeom>
          <a:noFill/>
          <a:ln/>
        </p:spPr>
        <p:txBody>
          <a:bodyPr wrap="square" lIns="0" tIns="0" rIns="0" bIns="0" rtlCol="0" anchor="t"/>
          <a:lstStyle/>
          <a:p>
            <a:pPr marL="0" indent="0">
              <a:buNone/>
            </a:pPr>
            <a:r>
              <a:rPr lang="en-US" sz="1200" dirty="0">
                <a:solidFill>
                  <a:srgbClr val="475569"/>
                </a:solidFill>
                <a:latin typeface="Calibri" pitchFamily="34" charset="0"/>
                <a:ea typeface="Calibri" pitchFamily="34" charset="-122"/>
                <a:cs typeface="Calibri" pitchFamily="34" charset="-120"/>
              </a:rPr>
              <a:t>Some configuration items to tidy</a:t>
            </a:r>
            <a:endParaRPr lang="en-US" sz="1200" dirty="0"/>
          </a:p>
        </p:txBody>
      </p:sp>
      <p:sp>
        <p:nvSpPr>
          <p:cNvPr id="32" name="Shape 29"/>
          <p:cNvSpPr/>
          <p:nvPr/>
        </p:nvSpPr>
        <p:spPr>
          <a:xfrm>
            <a:off x="8046720" y="3108960"/>
            <a:ext cx="3520440" cy="1371600"/>
          </a:xfrm>
          <a:prstGeom prst="roundRect">
            <a:avLst>
              <a:gd name="adj" fmla="val 8000"/>
            </a:avLst>
          </a:prstGeom>
          <a:solidFill>
            <a:srgbClr val="F1F5F9"/>
          </a:solidFill>
          <a:ln w="12700">
            <a:solidFill>
              <a:srgbClr val="F1F5F9"/>
            </a:solidFill>
            <a:prstDash val="solid"/>
          </a:ln>
        </p:spPr>
      </p:sp>
      <p:sp>
        <p:nvSpPr>
          <p:cNvPr id="33" name="Text 30"/>
          <p:cNvSpPr txBox="1"/>
          <p:nvPr/>
        </p:nvSpPr>
        <p:spPr>
          <a:xfrm>
            <a:off x="8275320" y="3246120"/>
            <a:ext cx="3108960" cy="365760"/>
          </a:xfrm>
          <a:prstGeom prst="rect">
            <a:avLst/>
          </a:prstGeom>
          <a:noFill/>
          <a:ln/>
        </p:spPr>
        <p:txBody>
          <a:bodyPr wrap="square" lIns="0" tIns="0" rIns="0" bIns="0" rtlCol="0" anchor="ctr"/>
          <a:lstStyle/>
          <a:p>
            <a:pPr marL="0" indent="0">
              <a:buNone/>
            </a:pPr>
            <a:r>
              <a:rPr lang="en-US" sz="1600" b="1" dirty="0">
                <a:solidFill>
                  <a:srgbClr val="0B1929"/>
                </a:solidFill>
                <a:latin typeface="Calibri" pitchFamily="34" charset="0"/>
                <a:ea typeface="Calibri" pitchFamily="34" charset="-122"/>
                <a:cs typeface="Calibri" pitchFamily="34" charset="-120"/>
              </a:rPr>
              <a:t>Performance</a:t>
            </a:r>
            <a:endParaRPr lang="en-US" sz="1600" dirty="0"/>
          </a:p>
        </p:txBody>
      </p:sp>
      <p:sp>
        <p:nvSpPr>
          <p:cNvPr id="34" name="Shape 31"/>
          <p:cNvSpPr/>
          <p:nvPr/>
        </p:nvSpPr>
        <p:spPr>
          <a:xfrm>
            <a:off x="8275320" y="3675888"/>
            <a:ext cx="1554480" cy="292608"/>
          </a:xfrm>
          <a:prstGeom prst="roundRect">
            <a:avLst>
              <a:gd name="adj" fmla="val 50000"/>
            </a:avLst>
          </a:prstGeom>
          <a:solidFill>
            <a:srgbClr val="16A34A"/>
          </a:solidFill>
          <a:ln w="12700">
            <a:solidFill>
              <a:srgbClr val="16A34A"/>
            </a:solidFill>
            <a:prstDash val="solid"/>
          </a:ln>
        </p:spPr>
      </p:sp>
      <p:sp>
        <p:nvSpPr>
          <p:cNvPr id="35" name="Text 32"/>
          <p:cNvSpPr txBox="1"/>
          <p:nvPr/>
        </p:nvSpPr>
        <p:spPr>
          <a:xfrm>
            <a:off x="8275320" y="3675888"/>
            <a:ext cx="1554480" cy="292608"/>
          </a:xfrm>
          <a:prstGeom prst="rect">
            <a:avLst/>
          </a:prstGeom>
          <a:noFill/>
          <a:ln/>
        </p:spPr>
        <p:txBody>
          <a:bodyPr wrap="square" lIns="0" tIns="0" rIns="0" bIns="0"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Healthy</a:t>
            </a:r>
            <a:endParaRPr lang="en-US" sz="1100" dirty="0"/>
          </a:p>
        </p:txBody>
      </p:sp>
      <p:sp>
        <p:nvSpPr>
          <p:cNvPr id="36" name="Text 33"/>
          <p:cNvSpPr txBox="1"/>
          <p:nvPr/>
        </p:nvSpPr>
        <p:spPr>
          <a:xfrm>
            <a:off x="8275320" y="4023360"/>
            <a:ext cx="3108960" cy="365760"/>
          </a:xfrm>
          <a:prstGeom prst="rect">
            <a:avLst/>
          </a:prstGeom>
          <a:noFill/>
          <a:ln/>
        </p:spPr>
        <p:txBody>
          <a:bodyPr wrap="square" lIns="0" tIns="0" rIns="0" bIns="0" rtlCol="0" anchor="t"/>
          <a:lstStyle/>
          <a:p>
            <a:pPr marL="0" indent="0">
              <a:buNone/>
            </a:pPr>
            <a:r>
              <a:rPr lang="en-US" sz="1200" dirty="0">
                <a:solidFill>
                  <a:srgbClr val="475569"/>
                </a:solidFill>
                <a:latin typeface="Calibri" pitchFamily="34" charset="0"/>
                <a:ea typeface="Calibri" pitchFamily="34" charset="-122"/>
                <a:cs typeface="Calibri" pitchFamily="34" charset="-120"/>
              </a:rPr>
              <a:t>Pages respond quickly</a:t>
            </a:r>
            <a:endParaRPr lang="en-US" sz="1200" dirty="0"/>
          </a:p>
        </p:txBody>
      </p:sp>
      <p:sp>
        <p:nvSpPr>
          <p:cNvPr id="37" name="Shape 34"/>
          <p:cNvSpPr/>
          <p:nvPr/>
        </p:nvSpPr>
        <p:spPr>
          <a:xfrm>
            <a:off x="548640" y="4663440"/>
            <a:ext cx="3520440" cy="1371600"/>
          </a:xfrm>
          <a:prstGeom prst="roundRect">
            <a:avLst>
              <a:gd name="adj" fmla="val 8000"/>
            </a:avLst>
          </a:prstGeom>
          <a:solidFill>
            <a:srgbClr val="F1F5F9"/>
          </a:solidFill>
          <a:ln w="12700">
            <a:solidFill>
              <a:srgbClr val="F1F5F9"/>
            </a:solidFill>
            <a:prstDash val="solid"/>
          </a:ln>
        </p:spPr>
      </p:sp>
      <p:sp>
        <p:nvSpPr>
          <p:cNvPr id="38" name="Text 35"/>
          <p:cNvSpPr txBox="1"/>
          <p:nvPr/>
        </p:nvSpPr>
        <p:spPr>
          <a:xfrm>
            <a:off x="777240" y="4800600"/>
            <a:ext cx="3108960" cy="365760"/>
          </a:xfrm>
          <a:prstGeom prst="rect">
            <a:avLst/>
          </a:prstGeom>
          <a:noFill/>
          <a:ln/>
        </p:spPr>
        <p:txBody>
          <a:bodyPr wrap="square" lIns="0" tIns="0" rIns="0" bIns="0" rtlCol="0" anchor="ctr"/>
          <a:lstStyle/>
          <a:p>
            <a:pPr marL="0" indent="0">
              <a:buNone/>
            </a:pPr>
            <a:r>
              <a:rPr lang="en-US" sz="1600" b="1" dirty="0">
                <a:solidFill>
                  <a:srgbClr val="0B1929"/>
                </a:solidFill>
                <a:latin typeface="Calibri" pitchFamily="34" charset="0"/>
                <a:ea typeface="Calibri" pitchFamily="34" charset="-122"/>
                <a:cs typeface="Calibri" pitchFamily="34" charset="-120"/>
              </a:rPr>
              <a:t>SEO</a:t>
            </a:r>
            <a:endParaRPr lang="en-US" sz="1600" dirty="0"/>
          </a:p>
        </p:txBody>
      </p:sp>
      <p:sp>
        <p:nvSpPr>
          <p:cNvPr id="39" name="Shape 36"/>
          <p:cNvSpPr/>
          <p:nvPr/>
        </p:nvSpPr>
        <p:spPr>
          <a:xfrm>
            <a:off x="777240" y="5230368"/>
            <a:ext cx="1554480" cy="292608"/>
          </a:xfrm>
          <a:prstGeom prst="roundRect">
            <a:avLst>
              <a:gd name="adj" fmla="val 50000"/>
            </a:avLst>
          </a:prstGeom>
          <a:solidFill>
            <a:srgbClr val="D9962B"/>
          </a:solidFill>
          <a:ln w="12700">
            <a:solidFill>
              <a:srgbClr val="D9962B"/>
            </a:solidFill>
            <a:prstDash val="solid"/>
          </a:ln>
        </p:spPr>
      </p:sp>
      <p:sp>
        <p:nvSpPr>
          <p:cNvPr id="40" name="Text 37"/>
          <p:cNvSpPr txBox="1"/>
          <p:nvPr/>
        </p:nvSpPr>
        <p:spPr>
          <a:xfrm>
            <a:off x="777240" y="5230368"/>
            <a:ext cx="1554480" cy="292608"/>
          </a:xfrm>
          <a:prstGeom prst="rect">
            <a:avLst/>
          </a:prstGeom>
          <a:noFill/>
          <a:ln/>
        </p:spPr>
        <p:txBody>
          <a:bodyPr wrap="square" lIns="0" tIns="0" rIns="0" bIns="0"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Needs attention</a:t>
            </a:r>
            <a:endParaRPr lang="en-US" sz="1100" dirty="0"/>
          </a:p>
        </p:txBody>
      </p:sp>
      <p:sp>
        <p:nvSpPr>
          <p:cNvPr id="41" name="Text 38"/>
          <p:cNvSpPr txBox="1"/>
          <p:nvPr/>
        </p:nvSpPr>
        <p:spPr>
          <a:xfrm>
            <a:off x="777240" y="5577840"/>
            <a:ext cx="3108960" cy="365760"/>
          </a:xfrm>
          <a:prstGeom prst="rect">
            <a:avLst/>
          </a:prstGeom>
          <a:noFill/>
          <a:ln/>
        </p:spPr>
        <p:txBody>
          <a:bodyPr wrap="square" lIns="0" tIns="0" rIns="0" bIns="0" rtlCol="0" anchor="t"/>
          <a:lstStyle/>
          <a:p>
            <a:pPr marL="0" indent="0">
              <a:buNone/>
            </a:pPr>
            <a:r>
              <a:rPr lang="en-US" sz="1200" dirty="0">
                <a:solidFill>
                  <a:srgbClr val="475569"/>
                </a:solidFill>
                <a:latin typeface="Calibri" pitchFamily="34" charset="0"/>
                <a:ea typeface="Calibri" pitchFamily="34" charset="-122"/>
                <a:cs typeface="Calibri" pitchFamily="34" charset="-120"/>
              </a:rPr>
              <a:t>Metadata gaps on some pages</a:t>
            </a:r>
            <a:endParaRPr lang="en-US" sz="1200" dirty="0"/>
          </a:p>
        </p:txBody>
      </p:sp>
      <p:sp>
        <p:nvSpPr>
          <p:cNvPr id="42" name="Shape 39"/>
          <p:cNvSpPr/>
          <p:nvPr/>
        </p:nvSpPr>
        <p:spPr>
          <a:xfrm>
            <a:off x="4297680" y="4663440"/>
            <a:ext cx="3520440" cy="1371600"/>
          </a:xfrm>
          <a:prstGeom prst="roundRect">
            <a:avLst>
              <a:gd name="adj" fmla="val 8000"/>
            </a:avLst>
          </a:prstGeom>
          <a:solidFill>
            <a:srgbClr val="F1F5F9"/>
          </a:solidFill>
          <a:ln w="12700">
            <a:solidFill>
              <a:srgbClr val="F1F5F9"/>
            </a:solidFill>
            <a:prstDash val="solid"/>
          </a:ln>
        </p:spPr>
      </p:sp>
      <p:sp>
        <p:nvSpPr>
          <p:cNvPr id="43" name="Text 40"/>
          <p:cNvSpPr txBox="1"/>
          <p:nvPr/>
        </p:nvSpPr>
        <p:spPr>
          <a:xfrm>
            <a:off x="4526280" y="4800600"/>
            <a:ext cx="3108960" cy="365760"/>
          </a:xfrm>
          <a:prstGeom prst="rect">
            <a:avLst/>
          </a:prstGeom>
          <a:noFill/>
          <a:ln/>
        </p:spPr>
        <p:txBody>
          <a:bodyPr wrap="square" lIns="0" tIns="0" rIns="0" bIns="0" rtlCol="0" anchor="ctr"/>
          <a:lstStyle/>
          <a:p>
            <a:pPr marL="0" indent="0">
              <a:buNone/>
            </a:pPr>
            <a:r>
              <a:rPr lang="en-US" sz="1600" b="1" dirty="0">
                <a:solidFill>
                  <a:srgbClr val="0B1929"/>
                </a:solidFill>
                <a:latin typeface="Calibri" pitchFamily="34" charset="0"/>
                <a:ea typeface="Calibri" pitchFamily="34" charset="-122"/>
                <a:cs typeface="Calibri" pitchFamily="34" charset="-120"/>
              </a:rPr>
              <a:t>Integrations</a:t>
            </a:r>
            <a:endParaRPr lang="en-US" sz="1600" dirty="0"/>
          </a:p>
        </p:txBody>
      </p:sp>
      <p:sp>
        <p:nvSpPr>
          <p:cNvPr id="44" name="Shape 41"/>
          <p:cNvSpPr/>
          <p:nvPr/>
        </p:nvSpPr>
        <p:spPr>
          <a:xfrm>
            <a:off x="4526280" y="5230368"/>
            <a:ext cx="1554480" cy="292608"/>
          </a:xfrm>
          <a:prstGeom prst="roundRect">
            <a:avLst>
              <a:gd name="adj" fmla="val 50000"/>
            </a:avLst>
          </a:prstGeom>
          <a:solidFill>
            <a:srgbClr val="16A34A"/>
          </a:solidFill>
          <a:ln w="12700">
            <a:solidFill>
              <a:srgbClr val="16A34A"/>
            </a:solidFill>
            <a:prstDash val="solid"/>
          </a:ln>
        </p:spPr>
      </p:sp>
      <p:sp>
        <p:nvSpPr>
          <p:cNvPr id="45" name="Text 42"/>
          <p:cNvSpPr txBox="1"/>
          <p:nvPr/>
        </p:nvSpPr>
        <p:spPr>
          <a:xfrm>
            <a:off x="4526280" y="5230368"/>
            <a:ext cx="1554480" cy="292608"/>
          </a:xfrm>
          <a:prstGeom prst="rect">
            <a:avLst/>
          </a:prstGeom>
          <a:noFill/>
          <a:ln/>
        </p:spPr>
        <p:txBody>
          <a:bodyPr wrap="square" lIns="0" tIns="0" rIns="0" bIns="0"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Healthy</a:t>
            </a:r>
            <a:endParaRPr lang="en-US" sz="1100" dirty="0"/>
          </a:p>
        </p:txBody>
      </p:sp>
      <p:sp>
        <p:nvSpPr>
          <p:cNvPr id="46" name="Text 43"/>
          <p:cNvSpPr txBox="1"/>
          <p:nvPr/>
        </p:nvSpPr>
        <p:spPr>
          <a:xfrm>
            <a:off x="4526280" y="5577840"/>
            <a:ext cx="3108960" cy="365760"/>
          </a:xfrm>
          <a:prstGeom prst="rect">
            <a:avLst/>
          </a:prstGeom>
          <a:noFill/>
          <a:ln/>
        </p:spPr>
        <p:txBody>
          <a:bodyPr wrap="square" lIns="0" tIns="0" rIns="0" bIns="0" rtlCol="0" anchor="t"/>
          <a:lstStyle/>
          <a:p>
            <a:pPr marL="0" indent="0">
              <a:buNone/>
            </a:pPr>
            <a:r>
              <a:rPr lang="en-US" sz="1200" dirty="0">
                <a:solidFill>
                  <a:srgbClr val="475569"/>
                </a:solidFill>
                <a:latin typeface="Calibri" pitchFamily="34" charset="0"/>
                <a:ea typeface="Calibri" pitchFamily="34" charset="-122"/>
                <a:cs typeface="Calibri" pitchFamily="34" charset="-120"/>
              </a:rPr>
              <a:t>Third-party tools loading as expected</a:t>
            </a:r>
            <a:endParaRPr lang="en-US" sz="1200" dirty="0"/>
          </a:p>
        </p:txBody>
      </p:sp>
      <p:sp>
        <p:nvSpPr>
          <p:cNvPr id="47" name="Shape 44"/>
          <p:cNvSpPr/>
          <p:nvPr/>
        </p:nvSpPr>
        <p:spPr>
          <a:xfrm>
            <a:off x="8046720" y="4663440"/>
            <a:ext cx="3520440" cy="1371600"/>
          </a:xfrm>
          <a:prstGeom prst="roundRect">
            <a:avLst>
              <a:gd name="adj" fmla="val 8000"/>
            </a:avLst>
          </a:prstGeom>
          <a:solidFill>
            <a:srgbClr val="F1F5F9"/>
          </a:solidFill>
          <a:ln w="12700">
            <a:solidFill>
              <a:srgbClr val="F1F5F9"/>
            </a:solidFill>
            <a:prstDash val="solid"/>
          </a:ln>
        </p:spPr>
      </p:sp>
      <p:sp>
        <p:nvSpPr>
          <p:cNvPr id="48" name="Text 45"/>
          <p:cNvSpPr txBox="1"/>
          <p:nvPr/>
        </p:nvSpPr>
        <p:spPr>
          <a:xfrm>
            <a:off x="8275320" y="4800600"/>
            <a:ext cx="3108960" cy="365760"/>
          </a:xfrm>
          <a:prstGeom prst="rect">
            <a:avLst/>
          </a:prstGeom>
          <a:noFill/>
          <a:ln/>
        </p:spPr>
        <p:txBody>
          <a:bodyPr wrap="square" lIns="0" tIns="0" rIns="0" bIns="0" rtlCol="0" anchor="ctr"/>
          <a:lstStyle/>
          <a:p>
            <a:pPr marL="0" indent="0">
              <a:buNone/>
            </a:pPr>
            <a:r>
              <a:rPr lang="en-US" sz="1600" b="1" dirty="0">
                <a:solidFill>
                  <a:srgbClr val="0B1929"/>
                </a:solidFill>
                <a:latin typeface="Calibri" pitchFamily="34" charset="0"/>
                <a:ea typeface="Calibri" pitchFamily="34" charset="-122"/>
                <a:cs typeface="Calibri" pitchFamily="34" charset="-120"/>
              </a:rPr>
              <a:t>Security checks</a:t>
            </a:r>
            <a:endParaRPr lang="en-US" sz="1600" dirty="0"/>
          </a:p>
        </p:txBody>
      </p:sp>
      <p:sp>
        <p:nvSpPr>
          <p:cNvPr id="49" name="Shape 46"/>
          <p:cNvSpPr/>
          <p:nvPr/>
        </p:nvSpPr>
        <p:spPr>
          <a:xfrm>
            <a:off x="8275320" y="5230368"/>
            <a:ext cx="1554480" cy="292608"/>
          </a:xfrm>
          <a:prstGeom prst="roundRect">
            <a:avLst>
              <a:gd name="adj" fmla="val 50000"/>
            </a:avLst>
          </a:prstGeom>
          <a:solidFill>
            <a:srgbClr val="D9962B"/>
          </a:solidFill>
          <a:ln w="12700">
            <a:solidFill>
              <a:srgbClr val="D9962B"/>
            </a:solidFill>
            <a:prstDash val="solid"/>
          </a:ln>
        </p:spPr>
      </p:sp>
      <p:sp>
        <p:nvSpPr>
          <p:cNvPr id="50" name="Text 47"/>
          <p:cNvSpPr txBox="1"/>
          <p:nvPr/>
        </p:nvSpPr>
        <p:spPr>
          <a:xfrm>
            <a:off x="8275320" y="5230368"/>
            <a:ext cx="1554480" cy="292608"/>
          </a:xfrm>
          <a:prstGeom prst="rect">
            <a:avLst/>
          </a:prstGeom>
          <a:noFill/>
          <a:ln/>
        </p:spPr>
        <p:txBody>
          <a:bodyPr wrap="square" lIns="0" tIns="0" rIns="0" bIns="0"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Needs attention</a:t>
            </a:r>
            <a:endParaRPr lang="en-US" sz="1100" dirty="0"/>
          </a:p>
        </p:txBody>
      </p:sp>
      <p:sp>
        <p:nvSpPr>
          <p:cNvPr id="51" name="Text 48"/>
          <p:cNvSpPr txBox="1"/>
          <p:nvPr/>
        </p:nvSpPr>
        <p:spPr>
          <a:xfrm>
            <a:off x="8275320" y="5577840"/>
            <a:ext cx="3108960" cy="365760"/>
          </a:xfrm>
          <a:prstGeom prst="rect">
            <a:avLst/>
          </a:prstGeom>
          <a:noFill/>
          <a:ln/>
        </p:spPr>
        <p:txBody>
          <a:bodyPr wrap="square" lIns="0" tIns="0" rIns="0" bIns="0" rtlCol="0" anchor="t"/>
          <a:lstStyle/>
          <a:p>
            <a:pPr marL="0" indent="0">
              <a:buNone/>
            </a:pPr>
            <a:r>
              <a:rPr lang="en-US" sz="1200" dirty="0">
                <a:solidFill>
                  <a:srgbClr val="475569"/>
                </a:solidFill>
                <a:latin typeface="Calibri" pitchFamily="34" charset="0"/>
                <a:ea typeface="Calibri" pitchFamily="34" charset="-122"/>
                <a:cs typeface="Calibri" pitchFamily="34" charset="-120"/>
              </a:rPr>
              <a:t>Hardening recommended</a:t>
            </a:r>
            <a:endParaRPr lang="en-US" sz="1200" dirty="0"/>
          </a:p>
        </p:txBody>
      </p:sp>
      <p:sp>
        <p:nvSpPr>
          <p:cNvPr id="52" name="Text 49"/>
          <p:cNvSpPr txBox="1"/>
          <p:nvPr/>
        </p:nvSpPr>
        <p:spPr>
          <a:xfrm>
            <a:off x="548640" y="6172200"/>
            <a:ext cx="10972800" cy="228600"/>
          </a:xfrm>
          <a:prstGeom prst="rect">
            <a:avLst/>
          </a:prstGeom>
          <a:noFill/>
          <a:ln/>
        </p:spPr>
        <p:txBody>
          <a:bodyPr wrap="square" lIns="0" tIns="0" rIns="0" bIns="0" rtlCol="0" anchor="ctr"/>
          <a:lstStyle/>
          <a:p>
            <a:pPr marL="0" indent="0">
              <a:buNone/>
            </a:pPr>
            <a:r>
              <a:rPr lang="en-US" sz="1100" i="1" dirty="0">
                <a:solidFill>
                  <a:srgbClr val="475569"/>
                </a:solidFill>
                <a:latin typeface="Calibri" pitchFamily="34" charset="0"/>
                <a:ea typeface="Calibri" pitchFamily="34" charset="-122"/>
                <a:cs typeface="Calibri" pitchFamily="34" charset="-120"/>
              </a:rPr>
              <a:t>Statuses reflect this month's review only. Forms and payments were not tested.</a:t>
            </a:r>
            <a:endParaRPr lang="en-US" sz="11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0B1929"/>
        </a:solidFill>
        <a:effectLst/>
      </p:bgPr>
    </p:bg>
    <p:spTree>
      <p:nvGrpSpPr>
        <p:cNvPr id="1" name=""/>
        <p:cNvGrpSpPr/>
        <p:nvPr/>
      </p:nvGrpSpPr>
      <p:grpSpPr>
        <a:xfrm>
          <a:off x="0" y="0"/>
          <a:ext cx="0" cy="0"/>
          <a:chOff x="0" y="0"/>
          <a:chExt cx="0" cy="0"/>
        </a:xfrm>
      </p:grpSpPr>
      <p:pic>
        <p:nvPicPr>
          <p:cNvPr id="2" name="Image 0" descr="C:/Projects/OGH/build/brand/logo_white.png"/>
          <p:cNvPicPr>
            <a:picLocks noChangeAspect="1"/>
          </p:cNvPicPr>
          <p:nvPr/>
        </p:nvPicPr>
        <p:blipFill>
          <a:blip r:embed="rId3"/>
          <a:stretch>
            <a:fillRect/>
          </a:stretch>
        </p:blipFill>
        <p:spPr>
          <a:xfrm>
            <a:off x="9966960" y="411480"/>
            <a:ext cx="1645920" cy="365760"/>
          </a:xfrm>
          <a:prstGeom prst="rect">
            <a:avLst/>
          </a:prstGeom>
        </p:spPr>
      </p:pic>
      <p:sp>
        <p:nvSpPr>
          <p:cNvPr id="3" name="Text 0"/>
          <p:cNvSpPr txBox="1"/>
          <p:nvPr/>
        </p:nvSpPr>
        <p:spPr>
          <a:xfrm>
            <a:off x="731520" y="640080"/>
            <a:ext cx="8961120" cy="822960"/>
          </a:xfrm>
          <a:prstGeom prst="rect">
            <a:avLst/>
          </a:prstGeom>
          <a:noFill/>
          <a:ln/>
        </p:spPr>
        <p:txBody>
          <a:bodyPr wrap="square" lIns="0" tIns="0" rIns="0" bIns="0" rtlCol="0" anchor="ctr"/>
          <a:lstStyle/>
          <a:p>
            <a:pPr marL="0" indent="0">
              <a:buNone/>
            </a:pPr>
            <a:r>
              <a:rPr lang="en-US" sz="3800" b="1" dirty="0">
                <a:solidFill>
                  <a:srgbClr val="FFFFFF"/>
                </a:solidFill>
                <a:latin typeface="Calibri" pitchFamily="34" charset="0"/>
                <a:ea typeface="Calibri" pitchFamily="34" charset="-122"/>
                <a:cs typeface="Calibri" pitchFamily="34" charset="-120"/>
              </a:rPr>
              <a:t>Next month: continuous care</a:t>
            </a:r>
            <a:endParaRPr lang="en-US" sz="3800" dirty="0"/>
          </a:p>
        </p:txBody>
      </p:sp>
      <p:sp>
        <p:nvSpPr>
          <p:cNvPr id="4" name="Text 1"/>
          <p:cNvSpPr txBox="1"/>
          <p:nvPr/>
        </p:nvSpPr>
        <p:spPr>
          <a:xfrm>
            <a:off x="731520" y="1508760"/>
            <a:ext cx="10332720" cy="822960"/>
          </a:xfrm>
          <a:prstGeom prst="rect">
            <a:avLst/>
          </a:prstGeom>
          <a:noFill/>
          <a:ln/>
        </p:spPr>
        <p:txBody>
          <a:bodyPr wrap="square" lIns="0" tIns="0" rIns="0" bIns="0" rtlCol="0" anchor="t"/>
          <a:lstStyle/>
          <a:p>
            <a:pPr marL="0" indent="0">
              <a:buNone/>
            </a:pPr>
            <a:r>
              <a:rPr lang="en-US" sz="1700" dirty="0">
                <a:solidFill>
                  <a:srgbClr val="CBD5E1"/>
                </a:solidFill>
                <a:latin typeface="Calibri" pitchFamily="34" charset="0"/>
                <a:ea typeface="Calibri" pitchFamily="34" charset="-122"/>
                <a:cs typeface="Calibri" pitchFamily="34" charset="-120"/>
              </a:rPr>
              <a:t>Continuous monitoring helps identify functional, technical, performance and user-experience issues early, supporting a stable and reliable website.</a:t>
            </a:r>
            <a:endParaRPr lang="en-US" sz="1700" dirty="0"/>
          </a:p>
        </p:txBody>
      </p:sp>
      <p:sp>
        <p:nvSpPr>
          <p:cNvPr id="5" name="Shape 2"/>
          <p:cNvSpPr/>
          <p:nvPr/>
        </p:nvSpPr>
        <p:spPr>
          <a:xfrm>
            <a:off x="731520" y="2743200"/>
            <a:ext cx="2606040" cy="1280160"/>
          </a:xfrm>
          <a:prstGeom prst="roundRect">
            <a:avLst>
              <a:gd name="adj" fmla="val 8571"/>
            </a:avLst>
          </a:prstGeom>
          <a:solidFill>
            <a:srgbClr val="0086C7">
              <a:alpha val="60000"/>
            </a:srgbClr>
          </a:solidFill>
          <a:ln w="12700">
            <a:solidFill>
              <a:srgbClr val="0086C7">
                <a:alpha val="60000"/>
              </a:srgbClr>
            </a:solidFill>
            <a:prstDash val="solid"/>
          </a:ln>
        </p:spPr>
      </p:sp>
      <p:sp>
        <p:nvSpPr>
          <p:cNvPr id="6" name="Shape 3"/>
          <p:cNvSpPr/>
          <p:nvPr/>
        </p:nvSpPr>
        <p:spPr>
          <a:xfrm>
            <a:off x="914400" y="2926080"/>
            <a:ext cx="548640" cy="548640"/>
          </a:xfrm>
          <a:prstGeom prst="ellipse">
            <a:avLst/>
          </a:prstGeom>
          <a:solidFill>
            <a:srgbClr val="F1F5F9"/>
          </a:solidFill>
          <a:ln w="12700">
            <a:solidFill>
              <a:srgbClr val="F1F5F9"/>
            </a:solidFill>
            <a:prstDash val="solid"/>
          </a:ln>
        </p:spPr>
      </p:sp>
      <p:pic>
        <p:nvPicPr>
          <p:cNvPr id="7" name="Image 1" descr="preencoded.png"/>
          <p:cNvPicPr>
            <a:picLocks noChangeAspect="1"/>
          </p:cNvPicPr>
          <p:nvPr/>
        </p:nvPicPr>
        <p:blipFill>
          <a:blip r:embed="rId4"/>
          <a:stretch>
            <a:fillRect/>
          </a:stretch>
        </p:blipFill>
        <p:spPr>
          <a:xfrm>
            <a:off x="1051560" y="3063240"/>
            <a:ext cx="274320" cy="274320"/>
          </a:xfrm>
          <a:prstGeom prst="rect">
            <a:avLst/>
          </a:prstGeom>
        </p:spPr>
      </p:pic>
      <p:sp>
        <p:nvSpPr>
          <p:cNvPr id="8" name="Text 4"/>
          <p:cNvSpPr txBox="1"/>
          <p:nvPr/>
        </p:nvSpPr>
        <p:spPr>
          <a:xfrm>
            <a:off x="914400" y="3520440"/>
            <a:ext cx="2286000" cy="457200"/>
          </a:xfrm>
          <a:prstGeom prst="rect">
            <a:avLst/>
          </a:prstGeom>
          <a:noFill/>
          <a:ln/>
        </p:spPr>
        <p:txBody>
          <a:bodyPr wrap="square" lIns="0" tIns="0" rIns="0" bIns="0" rtlCol="0" anchor="t"/>
          <a:lstStyle/>
          <a:p>
            <a:pPr marL="0" indent="0">
              <a:buNone/>
            </a:pPr>
            <a:r>
              <a:rPr lang="en-US" sz="1400" b="1" dirty="0">
                <a:solidFill>
                  <a:srgbClr val="FFFFFF"/>
                </a:solidFill>
                <a:latin typeface="Calibri" pitchFamily="34" charset="0"/>
                <a:ea typeface="Calibri" pitchFamily="34" charset="-122"/>
                <a:cs typeface="Calibri" pitchFamily="34" charset="-120"/>
              </a:rPr>
              <a:t>Business-critical journeys</a:t>
            </a:r>
            <a:endParaRPr lang="en-US" sz="1400" dirty="0"/>
          </a:p>
        </p:txBody>
      </p:sp>
      <p:sp>
        <p:nvSpPr>
          <p:cNvPr id="9" name="Shape 5"/>
          <p:cNvSpPr/>
          <p:nvPr/>
        </p:nvSpPr>
        <p:spPr>
          <a:xfrm>
            <a:off x="3520440" y="2743200"/>
            <a:ext cx="2606040" cy="1280160"/>
          </a:xfrm>
          <a:prstGeom prst="roundRect">
            <a:avLst>
              <a:gd name="adj" fmla="val 8571"/>
            </a:avLst>
          </a:prstGeom>
          <a:solidFill>
            <a:srgbClr val="0086C7">
              <a:alpha val="60000"/>
            </a:srgbClr>
          </a:solidFill>
          <a:ln w="12700">
            <a:solidFill>
              <a:srgbClr val="0086C7">
                <a:alpha val="60000"/>
              </a:srgbClr>
            </a:solidFill>
            <a:prstDash val="solid"/>
          </a:ln>
        </p:spPr>
      </p:sp>
      <p:sp>
        <p:nvSpPr>
          <p:cNvPr id="10" name="Shape 6"/>
          <p:cNvSpPr/>
          <p:nvPr/>
        </p:nvSpPr>
        <p:spPr>
          <a:xfrm>
            <a:off x="3703320" y="2926080"/>
            <a:ext cx="548640" cy="548640"/>
          </a:xfrm>
          <a:prstGeom prst="ellipse">
            <a:avLst/>
          </a:prstGeom>
          <a:solidFill>
            <a:srgbClr val="F1F5F9"/>
          </a:solidFill>
          <a:ln w="12700">
            <a:solidFill>
              <a:srgbClr val="F1F5F9"/>
            </a:solidFill>
            <a:prstDash val="solid"/>
          </a:ln>
        </p:spPr>
      </p:sp>
      <p:pic>
        <p:nvPicPr>
          <p:cNvPr id="11" name="Image 2" descr="preencoded.png"/>
          <p:cNvPicPr>
            <a:picLocks noChangeAspect="1"/>
          </p:cNvPicPr>
          <p:nvPr/>
        </p:nvPicPr>
        <p:blipFill>
          <a:blip r:embed="rId5"/>
          <a:stretch>
            <a:fillRect/>
          </a:stretch>
        </p:blipFill>
        <p:spPr>
          <a:xfrm>
            <a:off x="3840480" y="3063240"/>
            <a:ext cx="274320" cy="274320"/>
          </a:xfrm>
          <a:prstGeom prst="rect">
            <a:avLst/>
          </a:prstGeom>
        </p:spPr>
      </p:pic>
      <p:sp>
        <p:nvSpPr>
          <p:cNvPr id="12" name="Text 7"/>
          <p:cNvSpPr txBox="1"/>
          <p:nvPr/>
        </p:nvSpPr>
        <p:spPr>
          <a:xfrm>
            <a:off x="3703320" y="3520440"/>
            <a:ext cx="2286000" cy="457200"/>
          </a:xfrm>
          <a:prstGeom prst="rect">
            <a:avLst/>
          </a:prstGeom>
          <a:noFill/>
          <a:ln/>
        </p:spPr>
        <p:txBody>
          <a:bodyPr wrap="square" lIns="0" tIns="0" rIns="0" bIns="0" rtlCol="0" anchor="t"/>
          <a:lstStyle/>
          <a:p>
            <a:pPr marL="0" indent="0">
              <a:buNone/>
            </a:pPr>
            <a:r>
              <a:rPr lang="en-US" sz="1400" b="1" dirty="0">
                <a:solidFill>
                  <a:srgbClr val="FFFFFF"/>
                </a:solidFill>
                <a:latin typeface="Calibri" pitchFamily="34" charset="0"/>
                <a:ea typeface="Calibri" pitchFamily="34" charset="-122"/>
                <a:cs typeface="Calibri" pitchFamily="34" charset="-120"/>
              </a:rPr>
              <a:t>Responsive experience</a:t>
            </a:r>
            <a:endParaRPr lang="en-US" sz="1400" dirty="0"/>
          </a:p>
        </p:txBody>
      </p:sp>
      <p:sp>
        <p:nvSpPr>
          <p:cNvPr id="13" name="Shape 8"/>
          <p:cNvSpPr/>
          <p:nvPr/>
        </p:nvSpPr>
        <p:spPr>
          <a:xfrm>
            <a:off x="6309360" y="2743200"/>
            <a:ext cx="2606040" cy="1280160"/>
          </a:xfrm>
          <a:prstGeom prst="roundRect">
            <a:avLst>
              <a:gd name="adj" fmla="val 8571"/>
            </a:avLst>
          </a:prstGeom>
          <a:solidFill>
            <a:srgbClr val="0086C7">
              <a:alpha val="60000"/>
            </a:srgbClr>
          </a:solidFill>
          <a:ln w="12700">
            <a:solidFill>
              <a:srgbClr val="0086C7">
                <a:alpha val="60000"/>
              </a:srgbClr>
            </a:solidFill>
            <a:prstDash val="solid"/>
          </a:ln>
        </p:spPr>
      </p:sp>
      <p:sp>
        <p:nvSpPr>
          <p:cNvPr id="14" name="Shape 9"/>
          <p:cNvSpPr/>
          <p:nvPr/>
        </p:nvSpPr>
        <p:spPr>
          <a:xfrm>
            <a:off x="6492240" y="2926080"/>
            <a:ext cx="548640" cy="548640"/>
          </a:xfrm>
          <a:prstGeom prst="ellipse">
            <a:avLst/>
          </a:prstGeom>
          <a:solidFill>
            <a:srgbClr val="F1F5F9"/>
          </a:solidFill>
          <a:ln w="12700">
            <a:solidFill>
              <a:srgbClr val="F1F5F9"/>
            </a:solidFill>
            <a:prstDash val="solid"/>
          </a:ln>
        </p:spPr>
      </p:sp>
      <p:pic>
        <p:nvPicPr>
          <p:cNvPr id="15" name="Image 3" descr="preencoded.png"/>
          <p:cNvPicPr>
            <a:picLocks noChangeAspect="1"/>
          </p:cNvPicPr>
          <p:nvPr/>
        </p:nvPicPr>
        <p:blipFill>
          <a:blip r:embed="rId6"/>
          <a:stretch>
            <a:fillRect/>
          </a:stretch>
        </p:blipFill>
        <p:spPr>
          <a:xfrm>
            <a:off x="6629400" y="3063240"/>
            <a:ext cx="274320" cy="274320"/>
          </a:xfrm>
          <a:prstGeom prst="rect">
            <a:avLst/>
          </a:prstGeom>
        </p:spPr>
      </p:pic>
      <p:sp>
        <p:nvSpPr>
          <p:cNvPr id="16" name="Text 10"/>
          <p:cNvSpPr txBox="1"/>
          <p:nvPr/>
        </p:nvSpPr>
        <p:spPr>
          <a:xfrm>
            <a:off x="6492240" y="3520440"/>
            <a:ext cx="2286000" cy="457200"/>
          </a:xfrm>
          <a:prstGeom prst="rect">
            <a:avLst/>
          </a:prstGeom>
          <a:noFill/>
          <a:ln/>
        </p:spPr>
        <p:txBody>
          <a:bodyPr wrap="square" lIns="0" tIns="0" rIns="0" bIns="0" rtlCol="0" anchor="t"/>
          <a:lstStyle/>
          <a:p>
            <a:pPr marL="0" indent="0">
              <a:buNone/>
            </a:pPr>
            <a:r>
              <a:rPr lang="en-US" sz="1400" b="1" dirty="0">
                <a:solidFill>
                  <a:srgbClr val="FFFFFF"/>
                </a:solidFill>
                <a:latin typeface="Calibri" pitchFamily="34" charset="0"/>
                <a:ea typeface="Calibri" pitchFamily="34" charset="-122"/>
                <a:cs typeface="Calibri" pitchFamily="34" charset="-120"/>
              </a:rPr>
              <a:t>Performance</a:t>
            </a:r>
            <a:endParaRPr lang="en-US" sz="1400" dirty="0"/>
          </a:p>
        </p:txBody>
      </p:sp>
      <p:sp>
        <p:nvSpPr>
          <p:cNvPr id="17" name="Shape 11"/>
          <p:cNvSpPr/>
          <p:nvPr/>
        </p:nvSpPr>
        <p:spPr>
          <a:xfrm>
            <a:off x="9098280" y="2743200"/>
            <a:ext cx="2606040" cy="1280160"/>
          </a:xfrm>
          <a:prstGeom prst="roundRect">
            <a:avLst>
              <a:gd name="adj" fmla="val 8571"/>
            </a:avLst>
          </a:prstGeom>
          <a:solidFill>
            <a:srgbClr val="0086C7">
              <a:alpha val="60000"/>
            </a:srgbClr>
          </a:solidFill>
          <a:ln w="12700">
            <a:solidFill>
              <a:srgbClr val="0086C7">
                <a:alpha val="60000"/>
              </a:srgbClr>
            </a:solidFill>
            <a:prstDash val="solid"/>
          </a:ln>
        </p:spPr>
      </p:sp>
      <p:sp>
        <p:nvSpPr>
          <p:cNvPr id="18" name="Shape 12"/>
          <p:cNvSpPr/>
          <p:nvPr/>
        </p:nvSpPr>
        <p:spPr>
          <a:xfrm>
            <a:off x="9281160" y="2926080"/>
            <a:ext cx="548640" cy="548640"/>
          </a:xfrm>
          <a:prstGeom prst="ellipse">
            <a:avLst/>
          </a:prstGeom>
          <a:solidFill>
            <a:srgbClr val="F1F5F9"/>
          </a:solidFill>
          <a:ln w="12700">
            <a:solidFill>
              <a:srgbClr val="F1F5F9"/>
            </a:solidFill>
            <a:prstDash val="solid"/>
          </a:ln>
        </p:spPr>
      </p:sp>
      <p:pic>
        <p:nvPicPr>
          <p:cNvPr id="19" name="Image 4" descr="preencoded.png"/>
          <p:cNvPicPr>
            <a:picLocks noChangeAspect="1"/>
          </p:cNvPicPr>
          <p:nvPr/>
        </p:nvPicPr>
        <p:blipFill>
          <a:blip r:embed="rId7"/>
          <a:stretch>
            <a:fillRect/>
          </a:stretch>
        </p:blipFill>
        <p:spPr>
          <a:xfrm>
            <a:off x="9418320" y="3063240"/>
            <a:ext cx="274320" cy="274320"/>
          </a:xfrm>
          <a:prstGeom prst="rect">
            <a:avLst/>
          </a:prstGeom>
        </p:spPr>
      </p:pic>
      <p:sp>
        <p:nvSpPr>
          <p:cNvPr id="20" name="Text 13"/>
          <p:cNvSpPr txBox="1"/>
          <p:nvPr/>
        </p:nvSpPr>
        <p:spPr>
          <a:xfrm>
            <a:off x="9281160" y="3520440"/>
            <a:ext cx="2286000" cy="457200"/>
          </a:xfrm>
          <a:prstGeom prst="rect">
            <a:avLst/>
          </a:prstGeom>
          <a:noFill/>
          <a:ln/>
        </p:spPr>
        <p:txBody>
          <a:bodyPr wrap="square" lIns="0" tIns="0" rIns="0" bIns="0" rtlCol="0" anchor="t"/>
          <a:lstStyle/>
          <a:p>
            <a:pPr marL="0" indent="0">
              <a:buNone/>
            </a:pPr>
            <a:r>
              <a:rPr lang="en-US" sz="1400" b="1" dirty="0">
                <a:solidFill>
                  <a:srgbClr val="FFFFFF"/>
                </a:solidFill>
                <a:latin typeface="Calibri" pitchFamily="34" charset="0"/>
                <a:ea typeface="Calibri" pitchFamily="34" charset="-122"/>
                <a:cs typeface="Calibri" pitchFamily="34" charset="-120"/>
              </a:rPr>
              <a:t>SEO health and AEO/GEO Tests</a:t>
            </a:r>
            <a:endParaRPr lang="en-US" sz="1400" dirty="0"/>
          </a:p>
        </p:txBody>
      </p:sp>
      <p:sp>
        <p:nvSpPr>
          <p:cNvPr id="21" name="Shape 14"/>
          <p:cNvSpPr/>
          <p:nvPr/>
        </p:nvSpPr>
        <p:spPr>
          <a:xfrm>
            <a:off x="731520" y="4206240"/>
            <a:ext cx="2606040" cy="1280160"/>
          </a:xfrm>
          <a:prstGeom prst="roundRect">
            <a:avLst>
              <a:gd name="adj" fmla="val 8571"/>
            </a:avLst>
          </a:prstGeom>
          <a:solidFill>
            <a:srgbClr val="0086C7">
              <a:alpha val="60000"/>
            </a:srgbClr>
          </a:solidFill>
          <a:ln w="12700">
            <a:solidFill>
              <a:srgbClr val="0086C7">
                <a:alpha val="60000"/>
              </a:srgbClr>
            </a:solidFill>
            <a:prstDash val="solid"/>
          </a:ln>
        </p:spPr>
      </p:sp>
      <p:sp>
        <p:nvSpPr>
          <p:cNvPr id="22" name="Shape 15"/>
          <p:cNvSpPr/>
          <p:nvPr/>
        </p:nvSpPr>
        <p:spPr>
          <a:xfrm>
            <a:off x="914400" y="4389120"/>
            <a:ext cx="548640" cy="548640"/>
          </a:xfrm>
          <a:prstGeom prst="ellipse">
            <a:avLst/>
          </a:prstGeom>
          <a:solidFill>
            <a:srgbClr val="F1F5F9"/>
          </a:solidFill>
          <a:ln w="12700">
            <a:solidFill>
              <a:srgbClr val="F1F5F9"/>
            </a:solidFill>
            <a:prstDash val="solid"/>
          </a:ln>
        </p:spPr>
      </p:sp>
      <p:pic>
        <p:nvPicPr>
          <p:cNvPr id="23" name="Image 5" descr="preencoded.png"/>
          <p:cNvPicPr>
            <a:picLocks noChangeAspect="1"/>
          </p:cNvPicPr>
          <p:nvPr/>
        </p:nvPicPr>
        <p:blipFill>
          <a:blip r:embed="rId8"/>
          <a:stretch>
            <a:fillRect/>
          </a:stretch>
        </p:blipFill>
        <p:spPr>
          <a:xfrm>
            <a:off x="1051560" y="4526280"/>
            <a:ext cx="274320" cy="274320"/>
          </a:xfrm>
          <a:prstGeom prst="rect">
            <a:avLst/>
          </a:prstGeom>
        </p:spPr>
      </p:pic>
      <p:sp>
        <p:nvSpPr>
          <p:cNvPr id="24" name="Text 16"/>
          <p:cNvSpPr txBox="1"/>
          <p:nvPr/>
        </p:nvSpPr>
        <p:spPr>
          <a:xfrm>
            <a:off x="914400" y="4983480"/>
            <a:ext cx="2286000" cy="457200"/>
          </a:xfrm>
          <a:prstGeom prst="rect">
            <a:avLst/>
          </a:prstGeom>
          <a:noFill/>
          <a:ln/>
        </p:spPr>
        <p:txBody>
          <a:bodyPr wrap="square" lIns="0" tIns="0" rIns="0" bIns="0" rtlCol="0" anchor="t"/>
          <a:lstStyle/>
          <a:p>
            <a:pPr marL="0" indent="0">
              <a:buNone/>
            </a:pPr>
            <a:r>
              <a:rPr lang="en-US" sz="1400" b="1" dirty="0">
                <a:solidFill>
                  <a:srgbClr val="FFFFFF"/>
                </a:solidFill>
                <a:latin typeface="Calibri" pitchFamily="34" charset="0"/>
                <a:ea typeface="Calibri" pitchFamily="34" charset="-122"/>
                <a:cs typeface="Calibri" pitchFamily="34" charset="-120"/>
              </a:rPr>
              <a:t>Integrations</a:t>
            </a:r>
            <a:endParaRPr lang="en-US" sz="1400" dirty="0"/>
          </a:p>
        </p:txBody>
      </p:sp>
      <p:sp>
        <p:nvSpPr>
          <p:cNvPr id="25" name="Shape 17"/>
          <p:cNvSpPr/>
          <p:nvPr/>
        </p:nvSpPr>
        <p:spPr>
          <a:xfrm>
            <a:off x="3520440" y="4206240"/>
            <a:ext cx="2606040" cy="1280160"/>
          </a:xfrm>
          <a:prstGeom prst="roundRect">
            <a:avLst>
              <a:gd name="adj" fmla="val 8571"/>
            </a:avLst>
          </a:prstGeom>
          <a:solidFill>
            <a:srgbClr val="0086C7">
              <a:alpha val="60000"/>
            </a:srgbClr>
          </a:solidFill>
          <a:ln w="12700">
            <a:solidFill>
              <a:srgbClr val="0086C7">
                <a:alpha val="60000"/>
              </a:srgbClr>
            </a:solidFill>
            <a:prstDash val="solid"/>
          </a:ln>
        </p:spPr>
      </p:sp>
      <p:sp>
        <p:nvSpPr>
          <p:cNvPr id="26" name="Shape 18"/>
          <p:cNvSpPr/>
          <p:nvPr/>
        </p:nvSpPr>
        <p:spPr>
          <a:xfrm>
            <a:off x="3703320" y="4389120"/>
            <a:ext cx="548640" cy="548640"/>
          </a:xfrm>
          <a:prstGeom prst="ellipse">
            <a:avLst/>
          </a:prstGeom>
          <a:solidFill>
            <a:srgbClr val="F1F5F9"/>
          </a:solidFill>
          <a:ln w="12700">
            <a:solidFill>
              <a:srgbClr val="F1F5F9"/>
            </a:solidFill>
            <a:prstDash val="solid"/>
          </a:ln>
        </p:spPr>
      </p:sp>
      <p:pic>
        <p:nvPicPr>
          <p:cNvPr id="27" name="Image 6" descr="preencoded.png"/>
          <p:cNvPicPr>
            <a:picLocks noChangeAspect="1"/>
          </p:cNvPicPr>
          <p:nvPr/>
        </p:nvPicPr>
        <p:blipFill>
          <a:blip r:embed="rId9"/>
          <a:stretch>
            <a:fillRect/>
          </a:stretch>
        </p:blipFill>
        <p:spPr>
          <a:xfrm>
            <a:off x="3840480" y="4526280"/>
            <a:ext cx="274320" cy="274320"/>
          </a:xfrm>
          <a:prstGeom prst="rect">
            <a:avLst/>
          </a:prstGeom>
        </p:spPr>
      </p:pic>
      <p:sp>
        <p:nvSpPr>
          <p:cNvPr id="28" name="Text 19"/>
          <p:cNvSpPr txBox="1"/>
          <p:nvPr/>
        </p:nvSpPr>
        <p:spPr>
          <a:xfrm>
            <a:off x="3703320" y="4983480"/>
            <a:ext cx="2286000" cy="457200"/>
          </a:xfrm>
          <a:prstGeom prst="rect">
            <a:avLst/>
          </a:prstGeom>
          <a:noFill/>
          <a:ln/>
        </p:spPr>
        <p:txBody>
          <a:bodyPr wrap="square" lIns="0" tIns="0" rIns="0" bIns="0" rtlCol="0" anchor="t"/>
          <a:lstStyle/>
          <a:p>
            <a:pPr marL="0" indent="0">
              <a:buNone/>
            </a:pPr>
            <a:r>
              <a:rPr lang="en-US" sz="1400" b="1" dirty="0">
                <a:solidFill>
                  <a:srgbClr val="FFFFFF"/>
                </a:solidFill>
                <a:latin typeface="Calibri" pitchFamily="34" charset="0"/>
                <a:ea typeface="Calibri" pitchFamily="34" charset="-122"/>
                <a:cs typeface="Calibri" pitchFamily="34" charset="-120"/>
              </a:rPr>
              <a:t>Security observations</a:t>
            </a:r>
            <a:endParaRPr lang="en-US" sz="1400" dirty="0"/>
          </a:p>
        </p:txBody>
      </p:sp>
      <p:sp>
        <p:nvSpPr>
          <p:cNvPr id="29" name="Shape 20"/>
          <p:cNvSpPr/>
          <p:nvPr/>
        </p:nvSpPr>
        <p:spPr>
          <a:xfrm>
            <a:off x="6309360" y="4206240"/>
            <a:ext cx="2606040" cy="1280160"/>
          </a:xfrm>
          <a:prstGeom prst="roundRect">
            <a:avLst>
              <a:gd name="adj" fmla="val 8571"/>
            </a:avLst>
          </a:prstGeom>
          <a:solidFill>
            <a:srgbClr val="0086C7">
              <a:alpha val="60000"/>
            </a:srgbClr>
          </a:solidFill>
          <a:ln w="12700">
            <a:solidFill>
              <a:srgbClr val="0086C7">
                <a:alpha val="60000"/>
              </a:srgbClr>
            </a:solidFill>
            <a:prstDash val="solid"/>
          </a:ln>
        </p:spPr>
      </p:sp>
      <p:sp>
        <p:nvSpPr>
          <p:cNvPr id="30" name="Shape 21"/>
          <p:cNvSpPr/>
          <p:nvPr/>
        </p:nvSpPr>
        <p:spPr>
          <a:xfrm>
            <a:off x="6492240" y="4389120"/>
            <a:ext cx="548640" cy="548640"/>
          </a:xfrm>
          <a:prstGeom prst="ellipse">
            <a:avLst/>
          </a:prstGeom>
          <a:solidFill>
            <a:srgbClr val="F1F5F9"/>
          </a:solidFill>
          <a:ln w="12700">
            <a:solidFill>
              <a:srgbClr val="F1F5F9"/>
            </a:solidFill>
            <a:prstDash val="solid"/>
          </a:ln>
        </p:spPr>
      </p:sp>
      <p:pic>
        <p:nvPicPr>
          <p:cNvPr id="31" name="Image 7" descr="preencoded.png"/>
          <p:cNvPicPr>
            <a:picLocks noChangeAspect="1"/>
          </p:cNvPicPr>
          <p:nvPr/>
        </p:nvPicPr>
        <p:blipFill>
          <a:blip r:embed="rId10"/>
          <a:stretch>
            <a:fillRect/>
          </a:stretch>
        </p:blipFill>
        <p:spPr>
          <a:xfrm>
            <a:off x="6629400" y="4526280"/>
            <a:ext cx="274320" cy="274320"/>
          </a:xfrm>
          <a:prstGeom prst="rect">
            <a:avLst/>
          </a:prstGeom>
        </p:spPr>
      </p:pic>
      <p:sp>
        <p:nvSpPr>
          <p:cNvPr id="32" name="Text 22"/>
          <p:cNvSpPr txBox="1"/>
          <p:nvPr/>
        </p:nvSpPr>
        <p:spPr>
          <a:xfrm>
            <a:off x="6492240" y="4983480"/>
            <a:ext cx="2286000" cy="457200"/>
          </a:xfrm>
          <a:prstGeom prst="rect">
            <a:avLst/>
          </a:prstGeom>
          <a:noFill/>
          <a:ln/>
        </p:spPr>
        <p:txBody>
          <a:bodyPr wrap="square" lIns="0" tIns="0" rIns="0" bIns="0" rtlCol="0" anchor="t"/>
          <a:lstStyle/>
          <a:p>
            <a:pPr marL="0" indent="0">
              <a:buNone/>
            </a:pPr>
            <a:r>
              <a:rPr lang="en-US" sz="1400" b="1" dirty="0">
                <a:solidFill>
                  <a:srgbClr val="FFFFFF"/>
                </a:solidFill>
                <a:latin typeface="Calibri" pitchFamily="34" charset="0"/>
                <a:ea typeface="Calibri" pitchFamily="34" charset="-122"/>
                <a:cs typeface="Calibri" pitchFamily="34" charset="-120"/>
              </a:rPr>
              <a:t>Follow-up on this month's findings</a:t>
            </a:r>
            <a:endParaRPr lang="en-US" sz="1400" dirty="0"/>
          </a:p>
        </p:txBody>
      </p:sp>
      <p:sp>
        <p:nvSpPr>
          <p:cNvPr id="33" name="Shape 23"/>
          <p:cNvSpPr/>
          <p:nvPr/>
        </p:nvSpPr>
        <p:spPr>
          <a:xfrm>
            <a:off x="9098280" y="4206240"/>
            <a:ext cx="2606040" cy="1280160"/>
          </a:xfrm>
          <a:prstGeom prst="roundRect">
            <a:avLst>
              <a:gd name="adj" fmla="val 8571"/>
            </a:avLst>
          </a:prstGeom>
          <a:solidFill>
            <a:srgbClr val="0086C7">
              <a:alpha val="60000"/>
            </a:srgbClr>
          </a:solidFill>
          <a:ln w="12700">
            <a:solidFill>
              <a:srgbClr val="0086C7">
                <a:alpha val="60000"/>
              </a:srgbClr>
            </a:solidFill>
            <a:prstDash val="solid"/>
          </a:ln>
        </p:spPr>
      </p:sp>
      <p:sp>
        <p:nvSpPr>
          <p:cNvPr id="34" name="Shape 24"/>
          <p:cNvSpPr/>
          <p:nvPr/>
        </p:nvSpPr>
        <p:spPr>
          <a:xfrm>
            <a:off x="9281160" y="4389120"/>
            <a:ext cx="548640" cy="548640"/>
          </a:xfrm>
          <a:prstGeom prst="ellipse">
            <a:avLst/>
          </a:prstGeom>
          <a:solidFill>
            <a:srgbClr val="F1F5F9"/>
          </a:solidFill>
          <a:ln w="12700">
            <a:solidFill>
              <a:srgbClr val="F1F5F9"/>
            </a:solidFill>
            <a:prstDash val="solid"/>
          </a:ln>
        </p:spPr>
      </p:sp>
      <p:pic>
        <p:nvPicPr>
          <p:cNvPr id="35" name="Image 8" descr="preencoded.png"/>
          <p:cNvPicPr>
            <a:picLocks noChangeAspect="1"/>
          </p:cNvPicPr>
          <p:nvPr/>
        </p:nvPicPr>
        <p:blipFill>
          <a:blip r:embed="rId11"/>
          <a:stretch>
            <a:fillRect/>
          </a:stretch>
        </p:blipFill>
        <p:spPr>
          <a:xfrm>
            <a:off x="9418320" y="4526280"/>
            <a:ext cx="274320" cy="274320"/>
          </a:xfrm>
          <a:prstGeom prst="rect">
            <a:avLst/>
          </a:prstGeom>
        </p:spPr>
      </p:pic>
      <p:sp>
        <p:nvSpPr>
          <p:cNvPr id="36" name="Text 25"/>
          <p:cNvSpPr txBox="1"/>
          <p:nvPr/>
        </p:nvSpPr>
        <p:spPr>
          <a:xfrm>
            <a:off x="9281160" y="4983480"/>
            <a:ext cx="2286000" cy="457200"/>
          </a:xfrm>
          <a:prstGeom prst="rect">
            <a:avLst/>
          </a:prstGeom>
          <a:noFill/>
          <a:ln/>
        </p:spPr>
        <p:txBody>
          <a:bodyPr wrap="square" lIns="0" tIns="0" rIns="0" bIns="0" rtlCol="0" anchor="t"/>
          <a:lstStyle/>
          <a:p>
            <a:pPr marL="0" indent="0">
              <a:buNone/>
            </a:pPr>
            <a:r>
              <a:rPr lang="en-US" sz="1400" b="1" dirty="0">
                <a:solidFill>
                  <a:srgbClr val="FFFFFF"/>
                </a:solidFill>
                <a:latin typeface="Calibri" pitchFamily="34" charset="0"/>
                <a:ea typeface="Calibri" pitchFamily="34" charset="-122"/>
                <a:cs typeface="Calibri" pitchFamily="34" charset="-120"/>
              </a:rPr>
              <a:t>New website changes</a:t>
            </a:r>
            <a:endParaRPr lang="en-US" sz="14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0B1929"/>
        </a:solidFill>
        <a:effectLst/>
      </p:bgPr>
    </p:bg>
    <p:spTree>
      <p:nvGrpSpPr>
        <p:cNvPr id="1" name=""/>
        <p:cNvGrpSpPr/>
        <p:nvPr/>
      </p:nvGrpSpPr>
      <p:grpSpPr>
        <a:xfrm>
          <a:off x="0" y="0"/>
          <a:ext cx="0" cy="0"/>
          <a:chOff x="0" y="0"/>
          <a:chExt cx="0" cy="0"/>
        </a:xfrm>
      </p:grpSpPr>
      <p:sp>
        <p:nvSpPr>
          <p:cNvPr id="2" name="Shape 0"/>
          <p:cNvSpPr/>
          <p:nvPr/>
        </p:nvSpPr>
        <p:spPr>
          <a:xfrm>
            <a:off x="-1828800" y="5989320"/>
            <a:ext cx="4206240" cy="4206240"/>
          </a:xfrm>
          <a:prstGeom prst="ellipse">
            <a:avLst/>
          </a:prstGeom>
          <a:solidFill>
            <a:srgbClr val="0086C7">
              <a:alpha val="35000"/>
            </a:srgbClr>
          </a:solidFill>
          <a:ln w="12700">
            <a:solidFill>
              <a:srgbClr val="0086C7">
                <a:alpha val="35000"/>
              </a:srgbClr>
            </a:solidFill>
            <a:prstDash val="solid"/>
          </a:ln>
        </p:spPr>
      </p:sp>
      <p:pic>
        <p:nvPicPr>
          <p:cNvPr id="3" name="Image 0" descr="C:/Projects/OGH/build/brand/logo_white.png"/>
          <p:cNvPicPr>
            <a:picLocks noChangeAspect="1"/>
          </p:cNvPicPr>
          <p:nvPr/>
        </p:nvPicPr>
        <p:blipFill>
          <a:blip r:embed="rId3"/>
          <a:stretch>
            <a:fillRect/>
          </a:stretch>
        </p:blipFill>
        <p:spPr>
          <a:xfrm>
            <a:off x="731520" y="548640"/>
            <a:ext cx="2560320" cy="576072"/>
          </a:xfrm>
          <a:prstGeom prst="rect">
            <a:avLst/>
          </a:prstGeom>
        </p:spPr>
      </p:pic>
      <p:sp>
        <p:nvSpPr>
          <p:cNvPr id="4" name="Text 1"/>
          <p:cNvSpPr txBox="1"/>
          <p:nvPr/>
        </p:nvSpPr>
        <p:spPr>
          <a:xfrm>
            <a:off x="731520" y="1737360"/>
            <a:ext cx="5120640" cy="1737360"/>
          </a:xfrm>
          <a:prstGeom prst="rect">
            <a:avLst/>
          </a:prstGeom>
          <a:noFill/>
          <a:ln/>
        </p:spPr>
        <p:txBody>
          <a:bodyPr wrap="square" lIns="0" tIns="0" rIns="0" bIns="0" rtlCol="0" anchor="t"/>
          <a:lstStyle/>
          <a:p>
            <a:pPr marL="0" indent="0">
              <a:buNone/>
            </a:pPr>
            <a:r>
              <a:rPr lang="en-US" sz="3800" b="1" dirty="0">
                <a:solidFill>
                  <a:srgbClr val="FFFFFF"/>
                </a:solidFill>
                <a:latin typeface="Calibri" pitchFamily="34" charset="0"/>
                <a:ea typeface="Calibri" pitchFamily="34" charset="-122"/>
                <a:cs typeface="Calibri" pitchFamily="34" charset="-120"/>
              </a:rPr>
              <a:t>Let's keep your website healthy</a:t>
            </a:r>
            <a:endParaRPr lang="en-US" sz="3800" dirty="0"/>
          </a:p>
        </p:txBody>
      </p:sp>
      <p:sp>
        <p:nvSpPr>
          <p:cNvPr id="5" name="Text 2"/>
          <p:cNvSpPr txBox="1"/>
          <p:nvPr/>
        </p:nvSpPr>
        <p:spPr>
          <a:xfrm>
            <a:off x="731520" y="3566160"/>
            <a:ext cx="4937760" cy="1371600"/>
          </a:xfrm>
          <a:prstGeom prst="rect">
            <a:avLst/>
          </a:prstGeom>
          <a:noFill/>
          <a:ln/>
        </p:spPr>
        <p:txBody>
          <a:bodyPr wrap="square" lIns="0" tIns="0" rIns="0" bIns="0" rtlCol="0" anchor="t"/>
          <a:lstStyle/>
          <a:p>
            <a:pPr marL="0" indent="0">
              <a:buNone/>
            </a:pPr>
            <a:r>
              <a:rPr lang="en-US" sz="1600" dirty="0">
                <a:solidFill>
                  <a:srgbClr val="CBD5E1"/>
                </a:solidFill>
                <a:latin typeface="Calibri" pitchFamily="34" charset="0"/>
                <a:ea typeface="Calibri" pitchFamily="34" charset="-122"/>
                <a:cs typeface="Calibri" pitchFamily="34" charset="-120"/>
              </a:rPr>
              <a:t>Questions about this report, or ready to act on the recommendations? Our team is happy to walk you through the findings and next steps.</a:t>
            </a:r>
            <a:endParaRPr lang="en-US" sz="1600" dirty="0"/>
          </a:p>
        </p:txBody>
      </p:sp>
      <p:sp>
        <p:nvSpPr>
          <p:cNvPr id="6" name="Text 3"/>
          <p:cNvSpPr txBox="1"/>
          <p:nvPr/>
        </p:nvSpPr>
        <p:spPr>
          <a:xfrm>
            <a:off x="731520" y="4983480"/>
            <a:ext cx="4937760" cy="731520"/>
          </a:xfrm>
          <a:prstGeom prst="rect">
            <a:avLst/>
          </a:prstGeom>
          <a:noFill/>
          <a:ln/>
        </p:spPr>
        <p:txBody>
          <a:bodyPr wrap="square" lIns="0" tIns="0" rIns="0" bIns="0" rtlCol="0" anchor="t"/>
          <a:lstStyle/>
          <a:p>
            <a:pPr marL="0" indent="0">
              <a:buNone/>
            </a:pPr>
            <a:r>
              <a:rPr lang="en-US" sz="1300" i="1" dirty="0">
                <a:solidFill>
                  <a:srgbClr val="7CC4EC"/>
                </a:solidFill>
                <a:latin typeface="Calibri" pitchFamily="34" charset="0"/>
                <a:ea typeface="Calibri" pitchFamily="34" charset="-122"/>
                <a:cs typeface="Calibri" pitchFamily="34" charset="-120"/>
              </a:rPr>
              <a:t>AI-first digital growth agency for eCommerce brands and home services. New York + Toronto.</a:t>
            </a:r>
            <a:endParaRPr lang="en-US" sz="1300" dirty="0"/>
          </a:p>
        </p:txBody>
      </p:sp>
      <p:sp>
        <p:nvSpPr>
          <p:cNvPr id="7" name="Shape 4"/>
          <p:cNvSpPr/>
          <p:nvPr/>
        </p:nvSpPr>
        <p:spPr>
          <a:xfrm>
            <a:off x="6400800" y="914400"/>
            <a:ext cx="5074920" cy="4937760"/>
          </a:xfrm>
          <a:prstGeom prst="roundRect">
            <a:avLst>
              <a:gd name="adj" fmla="val 2778"/>
            </a:avLst>
          </a:prstGeom>
          <a:solidFill>
            <a:srgbClr val="FFFFFF"/>
          </a:solidFill>
          <a:ln w="12700">
            <a:solidFill>
              <a:srgbClr val="FFFFFF"/>
            </a:solidFill>
            <a:prstDash val="solid"/>
          </a:ln>
        </p:spPr>
      </p:sp>
      <p:sp>
        <p:nvSpPr>
          <p:cNvPr id="8" name="Text 5"/>
          <p:cNvSpPr txBox="1"/>
          <p:nvPr/>
        </p:nvSpPr>
        <p:spPr>
          <a:xfrm>
            <a:off x="6766560" y="1188720"/>
            <a:ext cx="4389120" cy="457200"/>
          </a:xfrm>
          <a:prstGeom prst="rect">
            <a:avLst/>
          </a:prstGeom>
          <a:noFill/>
          <a:ln/>
        </p:spPr>
        <p:txBody>
          <a:bodyPr wrap="square" lIns="0" tIns="0" rIns="0" bIns="0" rtlCol="0" anchor="ctr"/>
          <a:lstStyle/>
          <a:p>
            <a:pPr marL="0" indent="0">
              <a:buNone/>
            </a:pPr>
            <a:r>
              <a:rPr lang="en-US" sz="2200" b="1" dirty="0">
                <a:solidFill>
                  <a:srgbClr val="0B1929"/>
                </a:solidFill>
                <a:latin typeface="Calibri" pitchFamily="34" charset="0"/>
                <a:ea typeface="Calibri" pitchFamily="34" charset="-122"/>
                <a:cs typeface="Calibri" pitchFamily="34" charset="-120"/>
              </a:rPr>
              <a:t>Contact WebDesk Solution</a:t>
            </a:r>
            <a:endParaRPr lang="en-US" sz="2200" dirty="0"/>
          </a:p>
        </p:txBody>
      </p:sp>
      <p:sp>
        <p:nvSpPr>
          <p:cNvPr id="9" name="Shape 6"/>
          <p:cNvSpPr/>
          <p:nvPr/>
        </p:nvSpPr>
        <p:spPr>
          <a:xfrm>
            <a:off x="6766560" y="1874520"/>
            <a:ext cx="548640" cy="548640"/>
          </a:xfrm>
          <a:prstGeom prst="ellipse">
            <a:avLst/>
          </a:prstGeom>
          <a:solidFill>
            <a:srgbClr val="0086C7"/>
          </a:solidFill>
          <a:ln w="12700">
            <a:solidFill>
              <a:srgbClr val="0086C7"/>
            </a:solidFill>
            <a:prstDash val="solid"/>
          </a:ln>
        </p:spPr>
      </p:sp>
      <p:pic>
        <p:nvPicPr>
          <p:cNvPr id="10" name="Image 1" descr="preencoded.png"/>
          <p:cNvPicPr>
            <a:picLocks noChangeAspect="1"/>
          </p:cNvPicPr>
          <p:nvPr/>
        </p:nvPicPr>
        <p:blipFill>
          <a:blip r:embed="rId4"/>
          <a:stretch>
            <a:fillRect/>
          </a:stretch>
        </p:blipFill>
        <p:spPr>
          <a:xfrm>
            <a:off x="6903720" y="2011680"/>
            <a:ext cx="274320" cy="274320"/>
          </a:xfrm>
          <a:prstGeom prst="rect">
            <a:avLst/>
          </a:prstGeom>
        </p:spPr>
      </p:pic>
      <p:sp>
        <p:nvSpPr>
          <p:cNvPr id="11" name="Text 7"/>
          <p:cNvSpPr txBox="1"/>
          <p:nvPr/>
        </p:nvSpPr>
        <p:spPr>
          <a:xfrm>
            <a:off x="7498080" y="1856232"/>
            <a:ext cx="3749040" cy="256032"/>
          </a:xfrm>
          <a:prstGeom prst="rect">
            <a:avLst/>
          </a:prstGeom>
          <a:noFill/>
          <a:ln/>
        </p:spPr>
        <p:txBody>
          <a:bodyPr wrap="square" lIns="0" tIns="0" rIns="0" bIns="0" rtlCol="0" anchor="ctr"/>
          <a:lstStyle/>
          <a:p>
            <a:pPr marL="0" indent="0">
              <a:buNone/>
            </a:pPr>
            <a:r>
              <a:rPr lang="en-US" sz="1100" dirty="0">
                <a:solidFill>
                  <a:srgbClr val="475569"/>
                </a:solidFill>
                <a:latin typeface="Calibri" pitchFamily="34" charset="0"/>
                <a:ea typeface="Calibri" pitchFamily="34" charset="-122"/>
                <a:cs typeface="Calibri" pitchFamily="34" charset="-120"/>
              </a:rPr>
              <a:t>Email</a:t>
            </a:r>
            <a:endParaRPr lang="en-US" sz="1100" dirty="0"/>
          </a:p>
        </p:txBody>
      </p:sp>
      <p:sp>
        <p:nvSpPr>
          <p:cNvPr id="12" name="Text 8"/>
          <p:cNvSpPr txBox="1"/>
          <p:nvPr/>
        </p:nvSpPr>
        <p:spPr>
          <a:xfrm>
            <a:off x="7498080" y="2093976"/>
            <a:ext cx="3749040" cy="365760"/>
          </a:xfrm>
          <a:prstGeom prst="rect">
            <a:avLst/>
          </a:prstGeom>
          <a:noFill/>
          <a:ln/>
        </p:spPr>
        <p:txBody>
          <a:bodyPr wrap="square" lIns="0" tIns="0" rIns="0" bIns="0" rtlCol="0" anchor="ctr"/>
          <a:lstStyle/>
          <a:p>
            <a:pPr marL="0" indent="0">
              <a:buNone/>
            </a:pPr>
            <a:r>
              <a:rPr lang="en-US" sz="1700" b="1" dirty="0">
                <a:solidFill>
                  <a:srgbClr val="0B1929"/>
                </a:solidFill>
                <a:latin typeface="Calibri" pitchFamily="34" charset="0"/>
                <a:ea typeface="Calibri" pitchFamily="34" charset="-122"/>
                <a:cs typeface="Calibri" pitchFamily="34" charset="-120"/>
              </a:rPr>
              <a:t>sales@webdesksolution.com</a:t>
            </a:r>
            <a:endParaRPr lang="en-US" sz="1700" dirty="0"/>
          </a:p>
        </p:txBody>
      </p:sp>
      <p:sp>
        <p:nvSpPr>
          <p:cNvPr id="13" name="Shape 9"/>
          <p:cNvSpPr/>
          <p:nvPr/>
        </p:nvSpPr>
        <p:spPr>
          <a:xfrm>
            <a:off x="6766560" y="2651760"/>
            <a:ext cx="548640" cy="548640"/>
          </a:xfrm>
          <a:prstGeom prst="ellipse">
            <a:avLst/>
          </a:prstGeom>
          <a:solidFill>
            <a:srgbClr val="0086C7"/>
          </a:solidFill>
          <a:ln w="12700">
            <a:solidFill>
              <a:srgbClr val="0086C7"/>
            </a:solidFill>
            <a:prstDash val="solid"/>
          </a:ln>
        </p:spPr>
      </p:sp>
      <p:pic>
        <p:nvPicPr>
          <p:cNvPr id="14" name="Image 2" descr="preencoded.png"/>
          <p:cNvPicPr>
            <a:picLocks noChangeAspect="1"/>
          </p:cNvPicPr>
          <p:nvPr/>
        </p:nvPicPr>
        <p:blipFill>
          <a:blip r:embed="rId5"/>
          <a:stretch>
            <a:fillRect/>
          </a:stretch>
        </p:blipFill>
        <p:spPr>
          <a:xfrm>
            <a:off x="6903720" y="2788920"/>
            <a:ext cx="274320" cy="274320"/>
          </a:xfrm>
          <a:prstGeom prst="rect">
            <a:avLst/>
          </a:prstGeom>
        </p:spPr>
      </p:pic>
      <p:sp>
        <p:nvSpPr>
          <p:cNvPr id="15" name="Text 10"/>
          <p:cNvSpPr txBox="1"/>
          <p:nvPr/>
        </p:nvSpPr>
        <p:spPr>
          <a:xfrm>
            <a:off x="7498080" y="2633472"/>
            <a:ext cx="3749040" cy="256032"/>
          </a:xfrm>
          <a:prstGeom prst="rect">
            <a:avLst/>
          </a:prstGeom>
          <a:noFill/>
          <a:ln/>
        </p:spPr>
        <p:txBody>
          <a:bodyPr wrap="square" lIns="0" tIns="0" rIns="0" bIns="0" rtlCol="0" anchor="ctr"/>
          <a:lstStyle/>
          <a:p>
            <a:pPr marL="0" indent="0">
              <a:buNone/>
            </a:pPr>
            <a:r>
              <a:rPr lang="en-US" sz="1100" dirty="0">
                <a:solidFill>
                  <a:srgbClr val="475569"/>
                </a:solidFill>
                <a:latin typeface="Calibri" pitchFamily="34" charset="0"/>
                <a:ea typeface="Calibri" pitchFamily="34" charset="-122"/>
                <a:cs typeface="Calibri" pitchFamily="34" charset="-120"/>
              </a:rPr>
              <a:t>Phone (Toronto)</a:t>
            </a:r>
            <a:endParaRPr lang="en-US" sz="1100" dirty="0"/>
          </a:p>
        </p:txBody>
      </p:sp>
      <p:sp>
        <p:nvSpPr>
          <p:cNvPr id="16" name="Text 11"/>
          <p:cNvSpPr txBox="1"/>
          <p:nvPr/>
        </p:nvSpPr>
        <p:spPr>
          <a:xfrm>
            <a:off x="7498080" y="2871216"/>
            <a:ext cx="3749040" cy="365760"/>
          </a:xfrm>
          <a:prstGeom prst="rect">
            <a:avLst/>
          </a:prstGeom>
          <a:noFill/>
          <a:ln/>
        </p:spPr>
        <p:txBody>
          <a:bodyPr wrap="square" lIns="0" tIns="0" rIns="0" bIns="0" rtlCol="0" anchor="ctr"/>
          <a:lstStyle/>
          <a:p>
            <a:pPr marL="0" indent="0">
              <a:buNone/>
            </a:pPr>
            <a:r>
              <a:rPr lang="en-US" sz="1700" b="1" dirty="0">
                <a:solidFill>
                  <a:srgbClr val="0B1929"/>
                </a:solidFill>
                <a:latin typeface="Calibri" pitchFamily="34" charset="0"/>
                <a:ea typeface="Calibri" pitchFamily="34" charset="-122"/>
                <a:cs typeface="Calibri" pitchFamily="34" charset="-120"/>
              </a:rPr>
              <a:t>647-547-2249</a:t>
            </a:r>
            <a:endParaRPr lang="en-US" sz="1700" dirty="0"/>
          </a:p>
        </p:txBody>
      </p:sp>
      <p:sp>
        <p:nvSpPr>
          <p:cNvPr id="17" name="Shape 12"/>
          <p:cNvSpPr/>
          <p:nvPr/>
        </p:nvSpPr>
        <p:spPr>
          <a:xfrm>
            <a:off x="6766560" y="3429000"/>
            <a:ext cx="548640" cy="548640"/>
          </a:xfrm>
          <a:prstGeom prst="ellipse">
            <a:avLst/>
          </a:prstGeom>
          <a:solidFill>
            <a:srgbClr val="0086C7"/>
          </a:solidFill>
          <a:ln w="12700">
            <a:solidFill>
              <a:srgbClr val="0086C7"/>
            </a:solidFill>
            <a:prstDash val="solid"/>
          </a:ln>
        </p:spPr>
      </p:sp>
      <p:pic>
        <p:nvPicPr>
          <p:cNvPr id="18" name="Image 3" descr="preencoded.png"/>
          <p:cNvPicPr>
            <a:picLocks noChangeAspect="1"/>
          </p:cNvPicPr>
          <p:nvPr/>
        </p:nvPicPr>
        <p:blipFill>
          <a:blip r:embed="rId5"/>
          <a:stretch>
            <a:fillRect/>
          </a:stretch>
        </p:blipFill>
        <p:spPr>
          <a:xfrm>
            <a:off x="6903720" y="3566160"/>
            <a:ext cx="274320" cy="274320"/>
          </a:xfrm>
          <a:prstGeom prst="rect">
            <a:avLst/>
          </a:prstGeom>
        </p:spPr>
      </p:pic>
      <p:sp>
        <p:nvSpPr>
          <p:cNvPr id="19" name="Text 13"/>
          <p:cNvSpPr txBox="1"/>
          <p:nvPr/>
        </p:nvSpPr>
        <p:spPr>
          <a:xfrm>
            <a:off x="7498080" y="3410712"/>
            <a:ext cx="3749040" cy="256032"/>
          </a:xfrm>
          <a:prstGeom prst="rect">
            <a:avLst/>
          </a:prstGeom>
          <a:noFill/>
          <a:ln/>
        </p:spPr>
        <p:txBody>
          <a:bodyPr wrap="square" lIns="0" tIns="0" rIns="0" bIns="0" rtlCol="0" anchor="ctr"/>
          <a:lstStyle/>
          <a:p>
            <a:pPr marL="0" indent="0">
              <a:buNone/>
            </a:pPr>
            <a:r>
              <a:rPr lang="en-US" sz="1100" dirty="0">
                <a:solidFill>
                  <a:srgbClr val="475569"/>
                </a:solidFill>
                <a:latin typeface="Calibri" pitchFamily="34" charset="0"/>
                <a:ea typeface="Calibri" pitchFamily="34" charset="-122"/>
                <a:cs typeface="Calibri" pitchFamily="34" charset="-120"/>
              </a:rPr>
              <a:t>Toll-free</a:t>
            </a:r>
            <a:endParaRPr lang="en-US" sz="1100" dirty="0"/>
          </a:p>
        </p:txBody>
      </p:sp>
      <p:sp>
        <p:nvSpPr>
          <p:cNvPr id="20" name="Text 14"/>
          <p:cNvSpPr txBox="1"/>
          <p:nvPr/>
        </p:nvSpPr>
        <p:spPr>
          <a:xfrm>
            <a:off x="7498080" y="3648456"/>
            <a:ext cx="3749040" cy="365760"/>
          </a:xfrm>
          <a:prstGeom prst="rect">
            <a:avLst/>
          </a:prstGeom>
          <a:noFill/>
          <a:ln/>
        </p:spPr>
        <p:txBody>
          <a:bodyPr wrap="square" lIns="0" tIns="0" rIns="0" bIns="0" rtlCol="0" anchor="ctr"/>
          <a:lstStyle/>
          <a:p>
            <a:pPr marL="0" indent="0">
              <a:buNone/>
            </a:pPr>
            <a:r>
              <a:rPr lang="en-US" sz="1700" b="1" dirty="0">
                <a:solidFill>
                  <a:srgbClr val="0B1929"/>
                </a:solidFill>
                <a:latin typeface="Calibri" pitchFamily="34" charset="0"/>
                <a:ea typeface="Calibri" pitchFamily="34" charset="-122"/>
                <a:cs typeface="Calibri" pitchFamily="34" charset="-120"/>
              </a:rPr>
              <a:t>877-536-3789</a:t>
            </a:r>
            <a:endParaRPr lang="en-US" sz="1700" dirty="0"/>
          </a:p>
        </p:txBody>
      </p:sp>
      <p:sp>
        <p:nvSpPr>
          <p:cNvPr id="21" name="Shape 15"/>
          <p:cNvSpPr/>
          <p:nvPr/>
        </p:nvSpPr>
        <p:spPr>
          <a:xfrm>
            <a:off x="6766560" y="4206240"/>
            <a:ext cx="548640" cy="548640"/>
          </a:xfrm>
          <a:prstGeom prst="ellipse">
            <a:avLst/>
          </a:prstGeom>
          <a:solidFill>
            <a:srgbClr val="0086C7"/>
          </a:solidFill>
          <a:ln w="12700">
            <a:solidFill>
              <a:srgbClr val="0086C7"/>
            </a:solidFill>
            <a:prstDash val="solid"/>
          </a:ln>
        </p:spPr>
      </p:sp>
      <p:pic>
        <p:nvPicPr>
          <p:cNvPr id="22" name="Image 4" descr="preencoded.png"/>
          <p:cNvPicPr>
            <a:picLocks noChangeAspect="1"/>
          </p:cNvPicPr>
          <p:nvPr/>
        </p:nvPicPr>
        <p:blipFill>
          <a:blip r:embed="rId6"/>
          <a:stretch>
            <a:fillRect/>
          </a:stretch>
        </p:blipFill>
        <p:spPr>
          <a:xfrm>
            <a:off x="6903720" y="4343400"/>
            <a:ext cx="274320" cy="274320"/>
          </a:xfrm>
          <a:prstGeom prst="rect">
            <a:avLst/>
          </a:prstGeom>
        </p:spPr>
      </p:pic>
      <p:sp>
        <p:nvSpPr>
          <p:cNvPr id="23" name="Text 16"/>
          <p:cNvSpPr txBox="1"/>
          <p:nvPr/>
        </p:nvSpPr>
        <p:spPr>
          <a:xfrm>
            <a:off x="7498080" y="4187952"/>
            <a:ext cx="3749040" cy="256032"/>
          </a:xfrm>
          <a:prstGeom prst="rect">
            <a:avLst/>
          </a:prstGeom>
          <a:noFill/>
          <a:ln/>
        </p:spPr>
        <p:txBody>
          <a:bodyPr wrap="square" lIns="0" tIns="0" rIns="0" bIns="0" rtlCol="0" anchor="ctr"/>
          <a:lstStyle/>
          <a:p>
            <a:pPr marL="0" indent="0">
              <a:buNone/>
            </a:pPr>
            <a:r>
              <a:rPr lang="en-US" sz="1100" dirty="0">
                <a:solidFill>
                  <a:srgbClr val="475569"/>
                </a:solidFill>
                <a:latin typeface="Calibri" pitchFamily="34" charset="0"/>
                <a:ea typeface="Calibri" pitchFamily="34" charset="-122"/>
                <a:cs typeface="Calibri" pitchFamily="34" charset="-120"/>
              </a:rPr>
              <a:t>Website</a:t>
            </a:r>
            <a:endParaRPr lang="en-US" sz="1100" dirty="0"/>
          </a:p>
        </p:txBody>
      </p:sp>
      <p:sp>
        <p:nvSpPr>
          <p:cNvPr id="24" name="Text 17"/>
          <p:cNvSpPr txBox="1"/>
          <p:nvPr/>
        </p:nvSpPr>
        <p:spPr>
          <a:xfrm>
            <a:off x="7498080" y="4425696"/>
            <a:ext cx="3749040" cy="365760"/>
          </a:xfrm>
          <a:prstGeom prst="rect">
            <a:avLst/>
          </a:prstGeom>
          <a:noFill/>
          <a:ln/>
        </p:spPr>
        <p:txBody>
          <a:bodyPr wrap="square" lIns="0" tIns="0" rIns="0" bIns="0" rtlCol="0" anchor="ctr"/>
          <a:lstStyle/>
          <a:p>
            <a:pPr marL="0" indent="0">
              <a:buNone/>
            </a:pPr>
            <a:r>
              <a:rPr lang="en-US" sz="1700" b="1" dirty="0">
                <a:solidFill>
                  <a:srgbClr val="0B1929"/>
                </a:solidFill>
                <a:latin typeface="Calibri" pitchFamily="34" charset="0"/>
                <a:ea typeface="Calibri" pitchFamily="34" charset="-122"/>
                <a:cs typeface="Calibri" pitchFamily="34" charset="-120"/>
              </a:rPr>
              <a:t>webdesksolution.com</a:t>
            </a:r>
            <a:endParaRPr lang="en-US" sz="1700" dirty="0"/>
          </a:p>
        </p:txBody>
      </p:sp>
      <p:sp>
        <p:nvSpPr>
          <p:cNvPr id="25" name="Shape 18"/>
          <p:cNvSpPr/>
          <p:nvPr/>
        </p:nvSpPr>
        <p:spPr>
          <a:xfrm>
            <a:off x="6766560" y="4983480"/>
            <a:ext cx="548640" cy="548640"/>
          </a:xfrm>
          <a:prstGeom prst="ellipse">
            <a:avLst/>
          </a:prstGeom>
          <a:solidFill>
            <a:srgbClr val="0086C7"/>
          </a:solidFill>
          <a:ln w="12700">
            <a:solidFill>
              <a:srgbClr val="0086C7"/>
            </a:solidFill>
            <a:prstDash val="solid"/>
          </a:ln>
        </p:spPr>
      </p:sp>
      <p:pic>
        <p:nvPicPr>
          <p:cNvPr id="26" name="Image 5" descr="preencoded.png"/>
          <p:cNvPicPr>
            <a:picLocks noChangeAspect="1"/>
          </p:cNvPicPr>
          <p:nvPr/>
        </p:nvPicPr>
        <p:blipFill>
          <a:blip r:embed="rId7"/>
          <a:stretch>
            <a:fillRect/>
          </a:stretch>
        </p:blipFill>
        <p:spPr>
          <a:xfrm>
            <a:off x="6903720" y="5120640"/>
            <a:ext cx="274320" cy="274320"/>
          </a:xfrm>
          <a:prstGeom prst="rect">
            <a:avLst/>
          </a:prstGeom>
        </p:spPr>
      </p:pic>
      <p:sp>
        <p:nvSpPr>
          <p:cNvPr id="27" name="Text 19"/>
          <p:cNvSpPr txBox="1"/>
          <p:nvPr/>
        </p:nvSpPr>
        <p:spPr>
          <a:xfrm>
            <a:off x="7498080" y="4965192"/>
            <a:ext cx="3749040" cy="256032"/>
          </a:xfrm>
          <a:prstGeom prst="rect">
            <a:avLst/>
          </a:prstGeom>
          <a:noFill/>
          <a:ln/>
        </p:spPr>
        <p:txBody>
          <a:bodyPr wrap="square" lIns="0" tIns="0" rIns="0" bIns="0" rtlCol="0" anchor="ctr"/>
          <a:lstStyle/>
          <a:p>
            <a:pPr marL="0" indent="0">
              <a:buNone/>
            </a:pPr>
            <a:r>
              <a:rPr lang="en-US" sz="1100" dirty="0">
                <a:solidFill>
                  <a:srgbClr val="475569"/>
                </a:solidFill>
                <a:latin typeface="Calibri" pitchFamily="34" charset="0"/>
                <a:ea typeface="Calibri" pitchFamily="34" charset="-122"/>
                <a:cs typeface="Calibri" pitchFamily="34" charset="-120"/>
              </a:rPr>
              <a:t>Offices</a:t>
            </a:r>
            <a:endParaRPr lang="en-US" sz="1100" dirty="0"/>
          </a:p>
        </p:txBody>
      </p:sp>
      <p:sp>
        <p:nvSpPr>
          <p:cNvPr id="28" name="Text 20"/>
          <p:cNvSpPr txBox="1"/>
          <p:nvPr/>
        </p:nvSpPr>
        <p:spPr>
          <a:xfrm>
            <a:off x="7498080" y="5202936"/>
            <a:ext cx="3749040" cy="365760"/>
          </a:xfrm>
          <a:prstGeom prst="rect">
            <a:avLst/>
          </a:prstGeom>
          <a:noFill/>
          <a:ln/>
        </p:spPr>
        <p:txBody>
          <a:bodyPr wrap="square" lIns="0" tIns="0" rIns="0" bIns="0" rtlCol="0" anchor="ctr"/>
          <a:lstStyle/>
          <a:p>
            <a:pPr marL="0" indent="0">
              <a:buNone/>
            </a:pPr>
            <a:r>
              <a:rPr lang="en-US" sz="1700" b="1" dirty="0">
                <a:solidFill>
                  <a:srgbClr val="0B1929"/>
                </a:solidFill>
                <a:latin typeface="Calibri" pitchFamily="34" charset="0"/>
                <a:ea typeface="Calibri" pitchFamily="34" charset="-122"/>
                <a:cs typeface="Calibri" pitchFamily="34" charset="-120"/>
              </a:rPr>
              <a:t>New York  |  Toronto</a:t>
            </a:r>
            <a:endParaRPr lang="en-US" sz="17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17</TotalTime>
  <Words>1313</Words>
  <Application>Microsoft Office PowerPoint</Application>
  <PresentationFormat>Widescreen</PresentationFormat>
  <Paragraphs>245</Paragraphs>
  <Slides>13</Slides>
  <Notes>13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13</vt:i4>
      </vt:variant>
    </vt:vector>
  </HeadingPairs>
  <TitlesOfParts>
    <vt:vector size="16" baseType="lpstr">
      <vt:lpstr>Arial</vt:lpstr>
      <vt:lpstr>Calibri</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Website Health &amp; Monthly Maintenance Report - Our Green House - September 2026</dc:title>
  <dc:subject>PptxGenJS Presentation</dc:subject>
  <dc:creator>WebDesk Solution</dc:creator>
  <cp:lastModifiedBy>Jash Mewada</cp:lastModifiedBy>
  <cp:revision>2</cp:revision>
  <dcterms:created xsi:type="dcterms:W3CDTF">2026-09-30T09:54:25Z</dcterms:created>
  <dcterms:modified xsi:type="dcterms:W3CDTF">2026-10-27T11:35:02Z</dcterms:modified>
</cp:coreProperties>
</file>