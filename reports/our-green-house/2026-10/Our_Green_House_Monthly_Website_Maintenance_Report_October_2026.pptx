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75569"/>
                </a:solidFill>
                <a:latin typeface="Arial"/>
              </a:defRPr>
            </a:pPr>
            <a:r>
              <a:rPr sz="1200" b="0" i="0" u="none" strike="noStrike">
                <a:solidFill>
                  <a:srgbClr val="475569"/>
                </a:solidFill>
                <a:latin typeface="Arial"/>
              </a:rPr>
              <a:t>Page response time (378 pages)</a:t>
            </a:r>
          </a:p>
        </c:rich>
      </c:tx>
      <c:layout/>
      <c:overlay val="0"/>
    </c:title>
    <c:autoTitleDeleted val="0"/>
    <c:plotArea>
      <c:layout/>
      <c:barChart>
        <c:barDir val="bar"/>
        <c:grouping val="clustered"/>
        <c:varyColors val="0"/>
        <c:ser>
          <c:idx val="0"/>
          <c:order val="0"/>
          <c:tx>
            <c:strRef>
              <c:f>Sheet1!$B$1</c:f>
              <c:strCache>
                <c:ptCount val="1"/>
                <c:pt idx="0">
                  <c:v>Pages</c:v>
                </c:pt>
              </c:strCache>
            </c:strRef>
          </c:tx>
          <c:spPr>
            <a:solidFill>
              <a:srgbClr val="0086C7"/>
            </a:solidFill>
            <a:effectLst/>
          </c:spPr>
          <c:invertIfNegative val="0"/>
          <c:dLbls>
            <c:numFmt formatCode="#,##0"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cat>
            <c:multiLvlStrRef>
              <c:f>Sheet1!$A$2:$A$4</c:f>
              <c:multiLvlStrCache>
                <c:ptCount val="3"/>
                <c:lvl>
                  <c:pt idx="0">
                    <c:v>Under 1 second</c:v>
                  </c:pt>
                  <c:pt idx="1">
                    <c:v>1 to 2 seconds</c:v>
                  </c:pt>
                  <c:pt idx="2">
                    <c:v>Over 2 seconds</c:v>
                  </c:pt>
                </c:lvl>
              </c:multiLvlStrCache>
            </c:multiLvlStrRef>
          </c:cat>
          <c:val>
            <c:numRef>
              <c:f>Sheet1!$B$2:$B$4</c:f>
              <c:numCache>
                <c:formatCode>General</c:formatCode>
                <c:ptCount val="3"/>
                <c:pt idx="0">
                  <c:v>154</c:v>
                </c:pt>
                <c:pt idx="1">
                  <c:v>220</c:v>
                </c:pt>
                <c:pt idx="2">
                  <c:v>4</c:v>
                </c:pt>
              </c:numCache>
            </c:numRef>
          </c:val>
        </c:ser>
        <c:dLbls>
          <c:numFmt formatCode="#,##0" sourceLinked="0"/>
          <c:txPr>
            <a:bodyPr/>
            <a:lstStyle/>
            <a:p>
              <a:pPr>
                <a:defRPr b="0" i="0" strike="noStrike" sz="11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DC2626"/>
              </a:solidFill>
              <a:ln w="19050">
                <a:solidFill>
                  <a:srgbClr val="FFFFFF"/>
                </a:solidFill>
              </a:ln>
            </c:spPr>
          </c:dPt>
          <c:dPt>
            <c:idx val="1"/>
            <c:bubble3D val="0"/>
            <c:spPr>
              <a:solidFill>
                <a:srgbClr val="D9962B"/>
              </a:solidFill>
              <a:ln w="19050">
                <a:solidFill>
                  <a:srgbClr val="FFFFFF"/>
                </a:solidFill>
              </a:ln>
            </c:spPr>
          </c:dPt>
          <c:dPt>
            <c:idx val="2"/>
            <c:bubble3D val="0"/>
            <c:spPr>
              <a:solidFill>
                <a:srgbClr val="3A9AD8"/>
              </a:solidFill>
              <a:ln w="19050">
                <a:solidFill>
                  <a:srgbClr val="FFFFFF"/>
                </a:solidFill>
              </a:ln>
            </c:spPr>
          </c:dPt>
          <c:dLbls>
            <c:dLbl>
              <c:idx val="0"/>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v>
                </c:pt>
                <c:pt idx="1">
                  <c:v>Medium</c:v>
                </c:pt>
                <c:pt idx="2">
                  <c:v>Low</c:v>
                </c:pt>
              </c:strCache>
            </c:strRef>
          </c:cat>
          <c:val>
            <c:numRef>
              <c:f>Sheet1!$B$2:$B$4</c:f>
              <c:numCache>
                <c:formatCode>General</c:formatCode>
                <c:ptCount val="3"/>
                <c:pt idx="0">
                  <c:v>4</c:v>
                </c:pt>
                <c:pt idx="1">
                  <c:v>11</c:v>
                </c:pt>
                <c:pt idx="2">
                  <c:v>8</c:v>
                </c:pt>
              </c:numCache>
            </c:numRef>
          </c:val>
        </c:ser>
        <c:firstSliceAng val="0"/>
        <c:holeSize val="60"/>
      </c:doughnutChart>
      <c:spPr>
        <a:noFill/>
        <a:ln>
          <a:noFill/>
        </a:ln>
        <a:effectLst/>
      </c:spPr>
    </c:plotArea>
    <c:legend>
      <c:legendPos val="b"/>
      <c:overlay val="0"/>
      <c:txPr>
        <a:bodyPr/>
        <a:lstStyle/>
        <a:p>
          <a:pPr>
            <a:defRPr sz="1100">
              <a:solidFill>
                <a:srgbClr val="0F172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jpg"/><Relationship Id="rId7" Type="http://schemas.openxmlformats.org/officeDocument/2006/relationships/image" Target="../media/image-5-7.jpg"/><Relationship Id="rId8" Type="http://schemas.openxmlformats.org/officeDocument/2006/relationships/image" Target="../media/image-5-8.jp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8503920" y="-1280160"/>
            <a:ext cx="5943600" cy="5943600"/>
          </a:xfrm>
          <a:prstGeom prst="ellipse">
            <a:avLst/>
          </a:prstGeom>
          <a:solidFill>
            <a:srgbClr val="0086C7">
              <a:alpha val="45000"/>
            </a:srgbClr>
          </a:solidFill>
          <a:ln w="12700">
            <a:solidFill>
              <a:srgbClr val="0086C7">
                <a:alpha val="45000"/>
              </a:srgbClr>
            </a:solidFill>
            <a:prstDash val="solid"/>
          </a:ln>
        </p:spPr>
      </p:sp>
      <p:sp>
        <p:nvSpPr>
          <p:cNvPr id="3" name="Shape 1"/>
          <p:cNvSpPr/>
          <p:nvPr/>
        </p:nvSpPr>
        <p:spPr>
          <a:xfrm>
            <a:off x="9692640" y="3566160"/>
            <a:ext cx="3840480" cy="3840480"/>
          </a:xfrm>
          <a:prstGeom prst="ellipse">
            <a:avLst/>
          </a:prstGeom>
          <a:solidFill>
            <a:srgbClr val="0086C7">
              <a:alpha val="40000"/>
            </a:srgbClr>
          </a:solidFill>
          <a:ln w="12700">
            <a:solidFill>
              <a:srgbClr val="0086C7">
                <a:alpha val="40000"/>
              </a:srgbClr>
            </a:solidFill>
            <a:prstDash val="solid"/>
          </a:ln>
        </p:spPr>
      </p:sp>
      <p:pic>
        <p:nvPicPr>
          <p:cNvPr id="4" name="Image 0" descr="C:/Projects/OGH/build/brand/logo_white.png">    </p:cNvPr>
          <p:cNvPicPr>
            <a:picLocks noChangeAspect="1"/>
          </p:cNvPicPr>
          <p:nvPr/>
        </p:nvPicPr>
        <p:blipFill>
          <a:blip r:embed="rId1"/>
          <a:stretch>
            <a:fillRect/>
          </a:stretch>
        </p:blipFill>
        <p:spPr>
          <a:xfrm>
            <a:off x="731520" y="548640"/>
            <a:ext cx="2560320" cy="576072"/>
          </a:xfrm>
          <a:prstGeom prst="rect">
            <a:avLst/>
          </a:prstGeom>
        </p:spPr>
      </p:pic>
      <p:sp>
        <p:nvSpPr>
          <p:cNvPr id="5" name="Text 2"/>
          <p:cNvSpPr txBox="1"/>
          <p:nvPr/>
        </p:nvSpPr>
        <p:spPr>
          <a:xfrm>
            <a:off x="731520" y="1554480"/>
            <a:ext cx="8229600" cy="365760"/>
          </a:xfrm>
          <a:prstGeom prst="rect">
            <a:avLst/>
          </a:prstGeom>
          <a:noFill/>
          <a:ln/>
        </p:spPr>
        <p:txBody>
          <a:bodyPr wrap="square" lIns="0" tIns="0" rIns="0" bIns="0" rtlCol="0" anchor="ctr"/>
          <a:lstStyle/>
          <a:p>
            <a:pPr indent="0" marL="0">
              <a:buNone/>
            </a:pPr>
            <a:r>
              <a:rPr lang="en-US" sz="1400" b="1" spc="400" kern="0" dirty="0">
                <a:solidFill>
                  <a:srgbClr val="7CC4EC"/>
                </a:solidFill>
                <a:latin typeface="Calibri" pitchFamily="34" charset="0"/>
                <a:ea typeface="Calibri" pitchFamily="34" charset="-122"/>
                <a:cs typeface="Calibri" pitchFamily="34" charset="-120"/>
              </a:rPr>
              <a:t>MONTHLY WEBSITE HEALTH &amp; MAINTENANCE</a:t>
            </a:r>
            <a:endParaRPr lang="en-US" sz="1400" dirty="0"/>
          </a:p>
        </p:txBody>
      </p:sp>
      <p:sp>
        <p:nvSpPr>
          <p:cNvPr id="6" name="Text 3"/>
          <p:cNvSpPr txBox="1"/>
          <p:nvPr/>
        </p:nvSpPr>
        <p:spPr>
          <a:xfrm>
            <a:off x="731520" y="2011680"/>
            <a:ext cx="8412480" cy="1737360"/>
          </a:xfrm>
          <a:prstGeom prst="rect">
            <a:avLst/>
          </a:prstGeom>
          <a:noFill/>
          <a:ln/>
        </p:spPr>
        <p:txBody>
          <a:bodyPr wrap="square" lIns="0" tIns="0" rIns="0" bIns="0" rtlCol="0" anchor="t"/>
          <a:lstStyle/>
          <a:p>
            <a:pPr indent="0" marL="0">
              <a:buNone/>
            </a:pPr>
            <a:r>
              <a:rPr lang="en-US" sz="4600" b="1" dirty="0">
                <a:solidFill>
                  <a:srgbClr val="FFFFFF"/>
                </a:solidFill>
                <a:latin typeface="Calibri" pitchFamily="34" charset="0"/>
                <a:ea typeface="Calibri" pitchFamily="34" charset="-122"/>
                <a:cs typeface="Calibri" pitchFamily="34" charset="-120"/>
              </a:rPr>
              <a:t>Website Health &amp; Monthly Maintenance Report</a:t>
            </a:r>
            <a:endParaRPr lang="en-US" sz="4600" dirty="0"/>
          </a:p>
        </p:txBody>
      </p:sp>
      <p:sp>
        <p:nvSpPr>
          <p:cNvPr id="7" name="Text 4"/>
          <p:cNvSpPr txBox="1"/>
          <p:nvPr/>
        </p:nvSpPr>
        <p:spPr>
          <a:xfrm>
            <a:off x="731520" y="4023360"/>
            <a:ext cx="8229600" cy="4114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Our Green House  |  www.ourgreenhouse.com</a:t>
            </a:r>
            <a:endParaRPr lang="en-US" sz="2000" dirty="0"/>
          </a:p>
        </p:txBody>
      </p:sp>
      <p:sp>
        <p:nvSpPr>
          <p:cNvPr id="8" name="Text 5"/>
          <p:cNvSpPr txBox="1"/>
          <p:nvPr/>
        </p:nvSpPr>
        <p:spPr>
          <a:xfrm>
            <a:off x="731520" y="4480560"/>
            <a:ext cx="8229600" cy="365760"/>
          </a:xfrm>
          <a:prstGeom prst="rect">
            <a:avLst/>
          </a:prstGeom>
          <a:noFill/>
          <a:ln/>
        </p:spPr>
        <p:txBody>
          <a:bodyPr wrap="square" lIns="0" tIns="0" rIns="0" bIns="0" rtlCol="0" anchor="ctr"/>
          <a:lstStyle/>
          <a:p>
            <a:pPr indent="0" marL="0">
              <a:buNone/>
            </a:pPr>
            <a:r>
              <a:rPr lang="en-US" sz="1600" dirty="0">
                <a:solidFill>
                  <a:srgbClr val="CBD5E1"/>
                </a:solidFill>
                <a:latin typeface="Calibri" pitchFamily="34" charset="0"/>
                <a:ea typeface="Calibri" pitchFamily="34" charset="-122"/>
                <a:cs typeface="Calibri" pitchFamily="34" charset="-120"/>
              </a:rPr>
              <a:t>Reporting month: October 2026</a:t>
            </a:r>
            <a:endParaRPr lang="en-US" sz="1600" dirty="0"/>
          </a:p>
        </p:txBody>
      </p:sp>
      <p:sp>
        <p:nvSpPr>
          <p:cNvPr id="9" name="Text 6"/>
          <p:cNvSpPr txBox="1"/>
          <p:nvPr/>
        </p:nvSpPr>
        <p:spPr>
          <a:xfrm>
            <a:off x="731520" y="5760720"/>
            <a:ext cx="8229600" cy="365760"/>
          </a:xfrm>
          <a:prstGeom prst="rect">
            <a:avLst/>
          </a:prstGeom>
          <a:noFill/>
          <a:ln/>
        </p:spPr>
        <p:txBody>
          <a:bodyPr wrap="square" lIns="0" tIns="0" rIns="0" bIns="0" rtlCol="0" anchor="ctr"/>
          <a:lstStyle/>
          <a:p>
            <a:pPr indent="0" marL="0">
              <a:buNone/>
            </a:pPr>
            <a:r>
              <a:rPr lang="en-US" sz="1400" dirty="0">
                <a:solidFill>
                  <a:srgbClr val="CBD5E1"/>
                </a:solidFill>
                <a:latin typeface="Calibri" pitchFamily="34" charset="0"/>
                <a:ea typeface="Calibri" pitchFamily="34" charset="-122"/>
                <a:cs typeface="Calibri" pitchFamily="34" charset="-120"/>
              </a:rPr>
              <a:t>Prepared by WebDesk Solution  |  webdesksolution.com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MONTHLY OVERVIEW</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This month at a glance</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00200"/>
            <a:ext cx="3520440" cy="1645920"/>
          </a:xfrm>
          <a:prstGeom prst="roundRect">
            <a:avLst>
              <a:gd name="adj" fmla="val 6667"/>
            </a:avLst>
          </a:prstGeom>
          <a:solidFill>
            <a:srgbClr val="F1F5F9"/>
          </a:solidFill>
          <a:ln w="12700">
            <a:solidFill>
              <a:srgbClr val="F1F5F9"/>
            </a:solidFill>
            <a:prstDash val="solid"/>
          </a:ln>
        </p:spPr>
      </p:sp>
      <p:sp>
        <p:nvSpPr>
          <p:cNvPr id="8" name="Text 5"/>
          <p:cNvSpPr txBox="1"/>
          <p:nvPr/>
        </p:nvSpPr>
        <p:spPr>
          <a:xfrm>
            <a:off x="822960" y="17830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378</a:t>
            </a:r>
            <a:endParaRPr lang="en-US" sz="4800" dirty="0"/>
          </a:p>
        </p:txBody>
      </p:sp>
      <p:sp>
        <p:nvSpPr>
          <p:cNvPr id="9" name="Text 6"/>
          <p:cNvSpPr txBox="1"/>
          <p:nvPr/>
        </p:nvSpPr>
        <p:spPr>
          <a:xfrm>
            <a:off x="822960" y="26060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Navigation pages checked for availability</a:t>
            </a:r>
            <a:endParaRPr lang="en-US" sz="1400" dirty="0"/>
          </a:p>
        </p:txBody>
      </p:sp>
      <p:sp>
        <p:nvSpPr>
          <p:cNvPr id="10" name="Shape 7"/>
          <p:cNvSpPr/>
          <p:nvPr/>
        </p:nvSpPr>
        <p:spPr>
          <a:xfrm>
            <a:off x="4297680" y="1600200"/>
            <a:ext cx="3520440" cy="1645920"/>
          </a:xfrm>
          <a:prstGeom prst="roundRect">
            <a:avLst>
              <a:gd name="adj" fmla="val 6667"/>
            </a:avLst>
          </a:prstGeom>
          <a:solidFill>
            <a:srgbClr val="F1F5F9"/>
          </a:solidFill>
          <a:ln w="12700">
            <a:solidFill>
              <a:srgbClr val="F1F5F9"/>
            </a:solidFill>
            <a:prstDash val="solid"/>
          </a:ln>
        </p:spPr>
      </p:sp>
      <p:sp>
        <p:nvSpPr>
          <p:cNvPr id="11" name="Text 8"/>
          <p:cNvSpPr txBox="1"/>
          <p:nvPr/>
        </p:nvSpPr>
        <p:spPr>
          <a:xfrm>
            <a:off x="4572000" y="17830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8</a:t>
            </a:r>
            <a:endParaRPr lang="en-US" sz="4800" dirty="0"/>
          </a:p>
        </p:txBody>
      </p:sp>
      <p:sp>
        <p:nvSpPr>
          <p:cNvPr id="12" name="Text 9"/>
          <p:cNvSpPr txBox="1"/>
          <p:nvPr/>
        </p:nvSpPr>
        <p:spPr>
          <a:xfrm>
            <a:off x="4572000" y="26060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Customer journeys reviewed</a:t>
            </a:r>
            <a:endParaRPr lang="en-US" sz="1400" dirty="0"/>
          </a:p>
        </p:txBody>
      </p:sp>
      <p:sp>
        <p:nvSpPr>
          <p:cNvPr id="13" name="Shape 10"/>
          <p:cNvSpPr/>
          <p:nvPr/>
        </p:nvSpPr>
        <p:spPr>
          <a:xfrm>
            <a:off x="8046720" y="1600200"/>
            <a:ext cx="3520440" cy="1645920"/>
          </a:xfrm>
          <a:prstGeom prst="roundRect">
            <a:avLst>
              <a:gd name="adj" fmla="val 6667"/>
            </a:avLst>
          </a:prstGeom>
          <a:solidFill>
            <a:srgbClr val="F1F5F9"/>
          </a:solidFill>
          <a:ln w="12700">
            <a:solidFill>
              <a:srgbClr val="F1F5F9"/>
            </a:solidFill>
            <a:prstDash val="solid"/>
          </a:ln>
        </p:spPr>
      </p:sp>
      <p:sp>
        <p:nvSpPr>
          <p:cNvPr id="14" name="Text 11"/>
          <p:cNvSpPr txBox="1"/>
          <p:nvPr/>
        </p:nvSpPr>
        <p:spPr>
          <a:xfrm>
            <a:off x="8321040" y="17830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3</a:t>
            </a:r>
            <a:endParaRPr lang="en-US" sz="4800" dirty="0"/>
          </a:p>
        </p:txBody>
      </p:sp>
      <p:sp>
        <p:nvSpPr>
          <p:cNvPr id="15" name="Text 12"/>
          <p:cNvSpPr txBox="1"/>
          <p:nvPr/>
        </p:nvSpPr>
        <p:spPr>
          <a:xfrm>
            <a:off x="8321040" y="26060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Screen sizes reviewed (desktop, tablet, mobile)</a:t>
            </a:r>
            <a:endParaRPr lang="en-US" sz="1400" dirty="0"/>
          </a:p>
        </p:txBody>
      </p:sp>
      <p:sp>
        <p:nvSpPr>
          <p:cNvPr id="16" name="Shape 13"/>
          <p:cNvSpPr/>
          <p:nvPr/>
        </p:nvSpPr>
        <p:spPr>
          <a:xfrm>
            <a:off x="548640" y="3429000"/>
            <a:ext cx="3520440" cy="1645920"/>
          </a:xfrm>
          <a:prstGeom prst="roundRect">
            <a:avLst>
              <a:gd name="adj" fmla="val 6667"/>
            </a:avLst>
          </a:prstGeom>
          <a:solidFill>
            <a:srgbClr val="F1F5F9"/>
          </a:solidFill>
          <a:ln w="12700">
            <a:solidFill>
              <a:srgbClr val="F1F5F9"/>
            </a:solidFill>
            <a:prstDash val="solid"/>
          </a:ln>
        </p:spPr>
      </p:sp>
      <p:sp>
        <p:nvSpPr>
          <p:cNvPr id="17" name="Text 14"/>
          <p:cNvSpPr txBox="1"/>
          <p:nvPr/>
        </p:nvSpPr>
        <p:spPr>
          <a:xfrm>
            <a:off x="822960" y="36118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19</a:t>
            </a:r>
            <a:endParaRPr lang="en-US" sz="4800" dirty="0"/>
          </a:p>
        </p:txBody>
      </p:sp>
      <p:sp>
        <p:nvSpPr>
          <p:cNvPr id="18" name="Text 15"/>
          <p:cNvSpPr txBox="1"/>
          <p:nvPr/>
        </p:nvSpPr>
        <p:spPr>
          <a:xfrm>
            <a:off x="822960" y="44348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Pages sampled for SEO and content structure</a:t>
            </a:r>
            <a:endParaRPr lang="en-US" sz="1400" dirty="0"/>
          </a:p>
        </p:txBody>
      </p:sp>
      <p:sp>
        <p:nvSpPr>
          <p:cNvPr id="19" name="Shape 16"/>
          <p:cNvSpPr/>
          <p:nvPr/>
        </p:nvSpPr>
        <p:spPr>
          <a:xfrm>
            <a:off x="4297680" y="3429000"/>
            <a:ext cx="3520440" cy="1645920"/>
          </a:xfrm>
          <a:prstGeom prst="roundRect">
            <a:avLst>
              <a:gd name="adj" fmla="val 6667"/>
            </a:avLst>
          </a:prstGeom>
          <a:solidFill>
            <a:srgbClr val="F1F5F9"/>
          </a:solidFill>
          <a:ln w="12700">
            <a:solidFill>
              <a:srgbClr val="F1F5F9"/>
            </a:solidFill>
            <a:prstDash val="solid"/>
          </a:ln>
        </p:spPr>
      </p:sp>
      <p:sp>
        <p:nvSpPr>
          <p:cNvPr id="20" name="Text 17"/>
          <p:cNvSpPr txBox="1"/>
          <p:nvPr/>
        </p:nvSpPr>
        <p:spPr>
          <a:xfrm>
            <a:off x="4572000" y="3611880"/>
            <a:ext cx="3017520" cy="822960"/>
          </a:xfrm>
          <a:prstGeom prst="rect">
            <a:avLst/>
          </a:prstGeom>
          <a:noFill/>
          <a:ln/>
        </p:spPr>
        <p:txBody>
          <a:bodyPr wrap="square" lIns="0" tIns="0" rIns="0" bIns="0" rtlCol="0" anchor="ctr"/>
          <a:lstStyle/>
          <a:p>
            <a:pPr indent="0" marL="0">
              <a:buNone/>
            </a:pPr>
            <a:r>
              <a:rPr lang="en-US" sz="4800" b="1" dirty="0">
                <a:solidFill>
                  <a:srgbClr val="0B1929"/>
                </a:solidFill>
                <a:latin typeface="Calibri" pitchFamily="34" charset="0"/>
                <a:ea typeface="Calibri" pitchFamily="34" charset="-122"/>
                <a:cs typeface="Calibri" pitchFamily="34" charset="-120"/>
              </a:rPr>
              <a:t>23</a:t>
            </a:r>
            <a:endParaRPr lang="en-US" sz="4800" dirty="0"/>
          </a:p>
        </p:txBody>
      </p:sp>
      <p:sp>
        <p:nvSpPr>
          <p:cNvPr id="21" name="Text 18"/>
          <p:cNvSpPr txBox="1"/>
          <p:nvPr/>
        </p:nvSpPr>
        <p:spPr>
          <a:xfrm>
            <a:off x="4572000" y="44348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Observations documented for follow-up</a:t>
            </a:r>
            <a:endParaRPr lang="en-US" sz="1400" dirty="0"/>
          </a:p>
        </p:txBody>
      </p:sp>
      <p:sp>
        <p:nvSpPr>
          <p:cNvPr id="22" name="Shape 19"/>
          <p:cNvSpPr/>
          <p:nvPr/>
        </p:nvSpPr>
        <p:spPr>
          <a:xfrm>
            <a:off x="8046720" y="3429000"/>
            <a:ext cx="3520440" cy="1645920"/>
          </a:xfrm>
          <a:prstGeom prst="roundRect">
            <a:avLst>
              <a:gd name="adj" fmla="val 6667"/>
            </a:avLst>
          </a:prstGeom>
          <a:solidFill>
            <a:srgbClr val="F1F5F9"/>
          </a:solidFill>
          <a:ln w="12700">
            <a:solidFill>
              <a:srgbClr val="F1F5F9"/>
            </a:solidFill>
            <a:prstDash val="solid"/>
          </a:ln>
        </p:spPr>
      </p:sp>
      <p:sp>
        <p:nvSpPr>
          <p:cNvPr id="23" name="Text 20"/>
          <p:cNvSpPr txBox="1"/>
          <p:nvPr/>
        </p:nvSpPr>
        <p:spPr>
          <a:xfrm>
            <a:off x="8321040" y="3611880"/>
            <a:ext cx="3017520" cy="822960"/>
          </a:xfrm>
          <a:prstGeom prst="rect">
            <a:avLst/>
          </a:prstGeom>
          <a:noFill/>
          <a:ln/>
        </p:spPr>
        <p:txBody>
          <a:bodyPr wrap="square" lIns="0" tIns="0" rIns="0" bIns="0" rtlCol="0" anchor="ctr"/>
          <a:lstStyle/>
          <a:p>
            <a:pPr indent="0" marL="0">
              <a:buNone/>
            </a:pPr>
            <a:r>
              <a:rPr lang="en-US" sz="4800" b="1" dirty="0">
                <a:solidFill>
                  <a:srgbClr val="DC2626"/>
                </a:solidFill>
                <a:latin typeface="Calibri" pitchFamily="34" charset="0"/>
                <a:ea typeface="Calibri" pitchFamily="34" charset="-122"/>
                <a:cs typeface="Calibri" pitchFamily="34" charset="-120"/>
              </a:rPr>
              <a:t>4</a:t>
            </a:r>
            <a:endParaRPr lang="en-US" sz="4800" dirty="0"/>
          </a:p>
        </p:txBody>
      </p:sp>
      <p:sp>
        <p:nvSpPr>
          <p:cNvPr id="24" name="Text 21"/>
          <p:cNvSpPr txBox="1"/>
          <p:nvPr/>
        </p:nvSpPr>
        <p:spPr>
          <a:xfrm>
            <a:off x="8321040" y="4434840"/>
            <a:ext cx="3017520" cy="54864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Critical or high-priority issues found</a:t>
            </a:r>
            <a:endParaRPr lang="en-US" sz="1400" dirty="0"/>
          </a:p>
        </p:txBody>
      </p:sp>
      <p:sp>
        <p:nvSpPr>
          <p:cNvPr id="25" name="Text 22"/>
          <p:cNvSpPr txBox="1"/>
          <p:nvPr/>
        </p:nvSpPr>
        <p:spPr>
          <a:xfrm>
            <a:off x="548640" y="5349240"/>
            <a:ext cx="11064240" cy="822960"/>
          </a:xfrm>
          <a:prstGeom prst="rect">
            <a:avLst/>
          </a:prstGeom>
          <a:noFill/>
          <a:ln/>
        </p:spPr>
        <p:txBody>
          <a:bodyPr wrap="square" lIns="0" tIns="0" rIns="0" bIns="0" rtlCol="0" anchor="t"/>
          <a:lstStyle/>
          <a:p>
            <a:pPr indent="0" marL="0">
              <a:buNone/>
            </a:pPr>
            <a:r>
              <a:rPr lang="en-US" sz="1500" dirty="0">
                <a:solidFill>
                  <a:srgbClr val="0F172A"/>
                </a:solidFill>
                <a:latin typeface="Calibri" pitchFamily="34" charset="0"/>
                <a:ea typeface="Calibri" pitchFamily="34" charset="-122"/>
                <a:cs typeface="Calibri" pitchFamily="34" charset="-120"/>
              </a:rPr>
              <a:t>Reviewed this month: functionality, user experience, responsive layout, technical health, SEO, performance, integrations and safe security checks. The same areas were reviewed in September, when 32 observations were documented.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WEBSITE HEALTH</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Website health &amp; stability</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00200"/>
            <a:ext cx="5440680" cy="1371600"/>
          </a:xfrm>
          <a:prstGeom prst="roundRect">
            <a:avLst>
              <a:gd name="adj" fmla="val 8000"/>
            </a:avLst>
          </a:prstGeom>
          <a:solidFill>
            <a:srgbClr val="F1F5F9"/>
          </a:solidFill>
          <a:ln w="12700">
            <a:solidFill>
              <a:srgbClr val="F1F5F9"/>
            </a:solidFill>
            <a:prstDash val="solid"/>
          </a:ln>
        </p:spPr>
      </p:sp>
      <p:sp>
        <p:nvSpPr>
          <p:cNvPr id="8" name="Shape 5"/>
          <p:cNvSpPr/>
          <p:nvPr/>
        </p:nvSpPr>
        <p:spPr>
          <a:xfrm>
            <a:off x="777240" y="1920240"/>
            <a:ext cx="731520" cy="731520"/>
          </a:xfrm>
          <a:prstGeom prst="ellipse">
            <a:avLst/>
          </a:prstGeom>
          <a:solidFill>
            <a:srgbClr val="0B1929"/>
          </a:solidFill>
          <a:ln w="12700">
            <a:solidFill>
              <a:srgbClr val="0B1929"/>
            </a:solidFill>
            <a:prstDash val="solid"/>
          </a:ln>
        </p:spPr>
      </p:sp>
      <p:pic>
        <p:nvPicPr>
          <p:cNvPr id="9" name="Image 1" descr="preencoded.png">    </p:cNvPr>
          <p:cNvPicPr>
            <a:picLocks noChangeAspect="1"/>
          </p:cNvPicPr>
          <p:nvPr/>
        </p:nvPicPr>
        <p:blipFill>
          <a:blip r:embed="rId2"/>
          <a:stretch>
            <a:fillRect/>
          </a:stretch>
        </p:blipFill>
        <p:spPr>
          <a:xfrm>
            <a:off x="960120" y="2103120"/>
            <a:ext cx="365760" cy="365760"/>
          </a:xfrm>
          <a:prstGeom prst="rect">
            <a:avLst/>
          </a:prstGeom>
        </p:spPr>
      </p:pic>
      <p:sp>
        <p:nvSpPr>
          <p:cNvPr id="10" name="Text 6"/>
          <p:cNvSpPr txBox="1"/>
          <p:nvPr/>
        </p:nvSpPr>
        <p:spPr>
          <a:xfrm>
            <a:off x="1737360" y="178308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Availability</a:t>
            </a:r>
            <a:endParaRPr lang="en-US" sz="1800" dirty="0"/>
          </a:p>
        </p:txBody>
      </p:sp>
      <p:sp>
        <p:nvSpPr>
          <p:cNvPr id="11" name="Text 7"/>
          <p:cNvSpPr txBox="1"/>
          <p:nvPr/>
        </p:nvSpPr>
        <p:spPr>
          <a:xfrm>
            <a:off x="1737360" y="216712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All 378 pages linked from the main navigation loaded successfully, with no server errors observed.</a:t>
            </a:r>
            <a:endParaRPr lang="en-US" sz="1300" dirty="0"/>
          </a:p>
        </p:txBody>
      </p:sp>
      <p:sp>
        <p:nvSpPr>
          <p:cNvPr id="12" name="Shape 8"/>
          <p:cNvSpPr/>
          <p:nvPr/>
        </p:nvSpPr>
        <p:spPr>
          <a:xfrm>
            <a:off x="6172200" y="1600200"/>
            <a:ext cx="5440680" cy="1371600"/>
          </a:xfrm>
          <a:prstGeom prst="roundRect">
            <a:avLst>
              <a:gd name="adj" fmla="val 8000"/>
            </a:avLst>
          </a:prstGeom>
          <a:solidFill>
            <a:srgbClr val="F1F5F9"/>
          </a:solidFill>
          <a:ln w="12700">
            <a:solidFill>
              <a:srgbClr val="F1F5F9"/>
            </a:solidFill>
            <a:prstDash val="solid"/>
          </a:ln>
        </p:spPr>
      </p:sp>
      <p:sp>
        <p:nvSpPr>
          <p:cNvPr id="13" name="Shape 9"/>
          <p:cNvSpPr/>
          <p:nvPr/>
        </p:nvSpPr>
        <p:spPr>
          <a:xfrm>
            <a:off x="6400800" y="1920240"/>
            <a:ext cx="731520" cy="731520"/>
          </a:xfrm>
          <a:prstGeom prst="ellipse">
            <a:avLst/>
          </a:prstGeom>
          <a:solidFill>
            <a:srgbClr val="0B1929"/>
          </a:solidFill>
          <a:ln w="12700">
            <a:solidFill>
              <a:srgbClr val="0B1929"/>
            </a:solidFill>
            <a:prstDash val="solid"/>
          </a:ln>
        </p:spPr>
      </p:sp>
      <p:pic>
        <p:nvPicPr>
          <p:cNvPr id="14" name="Image 2" descr="preencoded.png">    </p:cNvPr>
          <p:cNvPicPr>
            <a:picLocks noChangeAspect="1"/>
          </p:cNvPicPr>
          <p:nvPr/>
        </p:nvPicPr>
        <p:blipFill>
          <a:blip r:embed="rId3"/>
          <a:stretch>
            <a:fillRect/>
          </a:stretch>
        </p:blipFill>
        <p:spPr>
          <a:xfrm>
            <a:off x="6583680" y="2103120"/>
            <a:ext cx="365760" cy="365760"/>
          </a:xfrm>
          <a:prstGeom prst="rect">
            <a:avLst/>
          </a:prstGeom>
        </p:spPr>
      </p:pic>
      <p:sp>
        <p:nvSpPr>
          <p:cNvPr id="15" name="Text 10"/>
          <p:cNvSpPr txBox="1"/>
          <p:nvPr/>
        </p:nvSpPr>
        <p:spPr>
          <a:xfrm>
            <a:off x="7360920" y="178308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Navigation</a:t>
            </a:r>
            <a:endParaRPr lang="en-US" sz="1800" dirty="0"/>
          </a:p>
        </p:txBody>
      </p:sp>
      <p:sp>
        <p:nvSpPr>
          <p:cNvPr id="16" name="Text 11"/>
          <p:cNvSpPr txBox="1"/>
          <p:nvPr/>
        </p:nvSpPr>
        <p:spPr>
          <a:xfrm>
            <a:off x="7360920" y="216712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Header, menus and footer links were reviewed, including 3 pages that redirect to their current versions.</a:t>
            </a:r>
            <a:endParaRPr lang="en-US" sz="1300" dirty="0"/>
          </a:p>
        </p:txBody>
      </p:sp>
      <p:sp>
        <p:nvSpPr>
          <p:cNvPr id="17" name="Shape 12"/>
          <p:cNvSpPr/>
          <p:nvPr/>
        </p:nvSpPr>
        <p:spPr>
          <a:xfrm>
            <a:off x="548640" y="3154680"/>
            <a:ext cx="5440680" cy="1371600"/>
          </a:xfrm>
          <a:prstGeom prst="roundRect">
            <a:avLst>
              <a:gd name="adj" fmla="val 8000"/>
            </a:avLst>
          </a:prstGeom>
          <a:solidFill>
            <a:srgbClr val="F1F5F9"/>
          </a:solidFill>
          <a:ln w="12700">
            <a:solidFill>
              <a:srgbClr val="F1F5F9"/>
            </a:solidFill>
            <a:prstDash val="solid"/>
          </a:ln>
        </p:spPr>
      </p:sp>
      <p:sp>
        <p:nvSpPr>
          <p:cNvPr id="18" name="Shape 13"/>
          <p:cNvSpPr/>
          <p:nvPr/>
        </p:nvSpPr>
        <p:spPr>
          <a:xfrm>
            <a:off x="777240" y="3474720"/>
            <a:ext cx="731520" cy="731520"/>
          </a:xfrm>
          <a:prstGeom prst="ellipse">
            <a:avLst/>
          </a:prstGeom>
          <a:solidFill>
            <a:srgbClr val="0B1929"/>
          </a:solidFill>
          <a:ln w="12700">
            <a:solidFill>
              <a:srgbClr val="0B1929"/>
            </a:solidFill>
            <a:prstDash val="solid"/>
          </a:ln>
        </p:spPr>
      </p:sp>
      <p:pic>
        <p:nvPicPr>
          <p:cNvPr id="19" name="Image 3" descr="preencoded.png">    </p:cNvPr>
          <p:cNvPicPr>
            <a:picLocks noChangeAspect="1"/>
          </p:cNvPicPr>
          <p:nvPr/>
        </p:nvPicPr>
        <p:blipFill>
          <a:blip r:embed="rId4"/>
          <a:stretch>
            <a:fillRect/>
          </a:stretch>
        </p:blipFill>
        <p:spPr>
          <a:xfrm>
            <a:off x="960120" y="3657600"/>
            <a:ext cx="365760" cy="365760"/>
          </a:xfrm>
          <a:prstGeom prst="rect">
            <a:avLst/>
          </a:prstGeom>
        </p:spPr>
      </p:pic>
      <p:sp>
        <p:nvSpPr>
          <p:cNvPr id="20" name="Text 14"/>
          <p:cNvSpPr txBox="1"/>
          <p:nvPr/>
        </p:nvSpPr>
        <p:spPr>
          <a:xfrm>
            <a:off x="1737360" y="333756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Search</a:t>
            </a:r>
            <a:endParaRPr lang="en-US" sz="1800" dirty="0"/>
          </a:p>
        </p:txBody>
      </p:sp>
      <p:sp>
        <p:nvSpPr>
          <p:cNvPr id="21" name="Text 15"/>
          <p:cNvSpPr txBox="1"/>
          <p:nvPr/>
        </p:nvSpPr>
        <p:spPr>
          <a:xfrm>
            <a:off x="1737360" y="372160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Valid, partial, no-result and unusual searches were all handled gracefully.</a:t>
            </a:r>
            <a:endParaRPr lang="en-US" sz="1300" dirty="0"/>
          </a:p>
        </p:txBody>
      </p:sp>
      <p:sp>
        <p:nvSpPr>
          <p:cNvPr id="22" name="Shape 16"/>
          <p:cNvSpPr/>
          <p:nvPr/>
        </p:nvSpPr>
        <p:spPr>
          <a:xfrm>
            <a:off x="6172200" y="3154680"/>
            <a:ext cx="5440680" cy="1371600"/>
          </a:xfrm>
          <a:prstGeom prst="roundRect">
            <a:avLst>
              <a:gd name="adj" fmla="val 8000"/>
            </a:avLst>
          </a:prstGeom>
          <a:solidFill>
            <a:srgbClr val="F1F5F9"/>
          </a:solidFill>
          <a:ln w="12700">
            <a:solidFill>
              <a:srgbClr val="F1F5F9"/>
            </a:solidFill>
            <a:prstDash val="solid"/>
          </a:ln>
        </p:spPr>
      </p:sp>
      <p:sp>
        <p:nvSpPr>
          <p:cNvPr id="23" name="Shape 17"/>
          <p:cNvSpPr/>
          <p:nvPr/>
        </p:nvSpPr>
        <p:spPr>
          <a:xfrm>
            <a:off x="6400800" y="3474720"/>
            <a:ext cx="731520" cy="731520"/>
          </a:xfrm>
          <a:prstGeom prst="ellipse">
            <a:avLst/>
          </a:prstGeom>
          <a:solidFill>
            <a:srgbClr val="0B1929"/>
          </a:solidFill>
          <a:ln w="12700">
            <a:solidFill>
              <a:srgbClr val="0B1929"/>
            </a:solidFill>
            <a:prstDash val="solid"/>
          </a:ln>
        </p:spPr>
      </p:sp>
      <p:pic>
        <p:nvPicPr>
          <p:cNvPr id="24" name="Image 4" descr="preencoded.png">    </p:cNvPr>
          <p:cNvPicPr>
            <a:picLocks noChangeAspect="1"/>
          </p:cNvPicPr>
          <p:nvPr/>
        </p:nvPicPr>
        <p:blipFill>
          <a:blip r:embed="rId5"/>
          <a:stretch>
            <a:fillRect/>
          </a:stretch>
        </p:blipFill>
        <p:spPr>
          <a:xfrm>
            <a:off x="6583680" y="3657600"/>
            <a:ext cx="365760" cy="365760"/>
          </a:xfrm>
          <a:prstGeom prst="rect">
            <a:avLst/>
          </a:prstGeom>
        </p:spPr>
      </p:pic>
      <p:sp>
        <p:nvSpPr>
          <p:cNvPr id="25" name="Text 18"/>
          <p:cNvSpPr txBox="1"/>
          <p:nvPr/>
        </p:nvSpPr>
        <p:spPr>
          <a:xfrm>
            <a:off x="7360920" y="333756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Error handling</a:t>
            </a:r>
            <a:endParaRPr lang="en-US" sz="1800" dirty="0"/>
          </a:p>
        </p:txBody>
      </p:sp>
      <p:sp>
        <p:nvSpPr>
          <p:cNvPr id="26" name="Text 19"/>
          <p:cNvSpPr txBox="1"/>
          <p:nvPr/>
        </p:nvSpPr>
        <p:spPr>
          <a:xfrm>
            <a:off x="7360920" y="372160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missing page correctly shows a friendly "not found" page.</a:t>
            </a:r>
            <a:endParaRPr lang="en-US" sz="1300" dirty="0"/>
          </a:p>
        </p:txBody>
      </p:sp>
      <p:sp>
        <p:nvSpPr>
          <p:cNvPr id="27" name="Shape 20"/>
          <p:cNvSpPr/>
          <p:nvPr/>
        </p:nvSpPr>
        <p:spPr>
          <a:xfrm>
            <a:off x="548640" y="4709160"/>
            <a:ext cx="5440680" cy="1371600"/>
          </a:xfrm>
          <a:prstGeom prst="roundRect">
            <a:avLst>
              <a:gd name="adj" fmla="val 8000"/>
            </a:avLst>
          </a:prstGeom>
          <a:solidFill>
            <a:srgbClr val="F1F5F9"/>
          </a:solidFill>
          <a:ln w="12700">
            <a:solidFill>
              <a:srgbClr val="F1F5F9"/>
            </a:solidFill>
            <a:prstDash val="solid"/>
          </a:ln>
        </p:spPr>
      </p:sp>
      <p:sp>
        <p:nvSpPr>
          <p:cNvPr id="28" name="Shape 21"/>
          <p:cNvSpPr/>
          <p:nvPr/>
        </p:nvSpPr>
        <p:spPr>
          <a:xfrm>
            <a:off x="777240" y="5029200"/>
            <a:ext cx="731520" cy="731520"/>
          </a:xfrm>
          <a:prstGeom prst="ellipse">
            <a:avLst/>
          </a:prstGeom>
          <a:solidFill>
            <a:srgbClr val="0B1929"/>
          </a:solidFill>
          <a:ln w="12700">
            <a:solidFill>
              <a:srgbClr val="0B1929"/>
            </a:solidFill>
            <a:prstDash val="solid"/>
          </a:ln>
        </p:spPr>
      </p:sp>
      <p:pic>
        <p:nvPicPr>
          <p:cNvPr id="29" name="Image 5" descr="preencoded.png">    </p:cNvPr>
          <p:cNvPicPr>
            <a:picLocks noChangeAspect="1"/>
          </p:cNvPicPr>
          <p:nvPr/>
        </p:nvPicPr>
        <p:blipFill>
          <a:blip r:embed="rId6"/>
          <a:stretch>
            <a:fillRect/>
          </a:stretch>
        </p:blipFill>
        <p:spPr>
          <a:xfrm>
            <a:off x="960120" y="5212080"/>
            <a:ext cx="365760" cy="365760"/>
          </a:xfrm>
          <a:prstGeom prst="rect">
            <a:avLst/>
          </a:prstGeom>
        </p:spPr>
      </p:pic>
      <p:sp>
        <p:nvSpPr>
          <p:cNvPr id="30" name="Text 22"/>
          <p:cNvSpPr txBox="1"/>
          <p:nvPr/>
        </p:nvSpPr>
        <p:spPr>
          <a:xfrm>
            <a:off x="1737360" y="489204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Cart &amp; checkout</a:t>
            </a:r>
            <a:endParaRPr lang="en-US" sz="1800" dirty="0"/>
          </a:p>
        </p:txBody>
      </p:sp>
      <p:sp>
        <p:nvSpPr>
          <p:cNvPr id="31" name="Text 23"/>
          <p:cNvSpPr txBox="1"/>
          <p:nvPr/>
        </p:nvSpPr>
        <p:spPr>
          <a:xfrm>
            <a:off x="1737360" y="527608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Adding, changing and removing items worked, with correct totals.</a:t>
            </a:r>
            <a:endParaRPr lang="en-US" sz="1300" dirty="0"/>
          </a:p>
        </p:txBody>
      </p:sp>
      <p:sp>
        <p:nvSpPr>
          <p:cNvPr id="32" name="Shape 24"/>
          <p:cNvSpPr/>
          <p:nvPr/>
        </p:nvSpPr>
        <p:spPr>
          <a:xfrm>
            <a:off x="6172200" y="4709160"/>
            <a:ext cx="5440680" cy="1371600"/>
          </a:xfrm>
          <a:prstGeom prst="roundRect">
            <a:avLst>
              <a:gd name="adj" fmla="val 8000"/>
            </a:avLst>
          </a:prstGeom>
          <a:solidFill>
            <a:srgbClr val="F1F5F9"/>
          </a:solidFill>
          <a:ln w="12700">
            <a:solidFill>
              <a:srgbClr val="F1F5F9"/>
            </a:solidFill>
            <a:prstDash val="solid"/>
          </a:ln>
        </p:spPr>
      </p:sp>
      <p:sp>
        <p:nvSpPr>
          <p:cNvPr id="33" name="Shape 25"/>
          <p:cNvSpPr/>
          <p:nvPr/>
        </p:nvSpPr>
        <p:spPr>
          <a:xfrm>
            <a:off x="6400800" y="5029200"/>
            <a:ext cx="731520" cy="731520"/>
          </a:xfrm>
          <a:prstGeom prst="ellipse">
            <a:avLst/>
          </a:prstGeom>
          <a:solidFill>
            <a:srgbClr val="0B1929"/>
          </a:solidFill>
          <a:ln w="12700">
            <a:solidFill>
              <a:srgbClr val="0B1929"/>
            </a:solidFill>
            <a:prstDash val="solid"/>
          </a:ln>
        </p:spPr>
      </p:sp>
      <p:pic>
        <p:nvPicPr>
          <p:cNvPr id="34" name="Image 6" descr="preencoded.png">    </p:cNvPr>
          <p:cNvPicPr>
            <a:picLocks noChangeAspect="1"/>
          </p:cNvPicPr>
          <p:nvPr/>
        </p:nvPicPr>
        <p:blipFill>
          <a:blip r:embed="rId7"/>
          <a:stretch>
            <a:fillRect/>
          </a:stretch>
        </p:blipFill>
        <p:spPr>
          <a:xfrm>
            <a:off x="6583680" y="5212080"/>
            <a:ext cx="365760" cy="365760"/>
          </a:xfrm>
          <a:prstGeom prst="rect">
            <a:avLst/>
          </a:prstGeom>
        </p:spPr>
      </p:pic>
      <p:sp>
        <p:nvSpPr>
          <p:cNvPr id="35" name="Text 26"/>
          <p:cNvSpPr txBox="1"/>
          <p:nvPr/>
        </p:nvSpPr>
        <p:spPr>
          <a:xfrm>
            <a:off x="7360920" y="4892040"/>
            <a:ext cx="4023360" cy="36576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Sign-in</a:t>
            </a:r>
            <a:endParaRPr lang="en-US" sz="1800" dirty="0"/>
          </a:p>
        </p:txBody>
      </p:sp>
      <p:sp>
        <p:nvSpPr>
          <p:cNvPr id="36" name="Text 27"/>
          <p:cNvSpPr txBox="1"/>
          <p:nvPr/>
        </p:nvSpPr>
        <p:spPr>
          <a:xfrm>
            <a:off x="7360920" y="5276088"/>
            <a:ext cx="4069080" cy="7315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Empty and invalid sign-in details produce clear, helpful messages.</a:t>
            </a:r>
            <a:endParaRPr lang="en-US" sz="1300" dirty="0"/>
          </a:p>
        </p:txBody>
      </p:sp>
      <p:sp>
        <p:nvSpPr>
          <p:cNvPr id="37" name="Text 28"/>
          <p:cNvSpPr txBox="1"/>
          <p:nvPr/>
        </p:nvSpPr>
        <p:spPr>
          <a:xfrm>
            <a:off x="548640" y="6199632"/>
            <a:ext cx="10972800" cy="27432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Key journeys were reviewed to help maintain reliable day-to-day operation.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USER EXPERIENCE &amp; RESPONSIVE QUALITY</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Experience across devices</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27739" y="1609344"/>
            <a:ext cx="4248041" cy="2450592"/>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8" name="Image 1" descr="C:/Projects/OGH/evidence/screenshots/03_desktop_product_page_sheep_blanket.jpg">    </p:cNvPr>
          <p:cNvPicPr>
            <a:picLocks noChangeAspect="1"/>
          </p:cNvPicPr>
          <p:nvPr/>
        </p:nvPicPr>
        <p:blipFill>
          <a:blip r:embed="rId2"/>
          <a:stretch>
            <a:fillRect/>
          </a:stretch>
        </p:blipFill>
        <p:spPr>
          <a:xfrm>
            <a:off x="564315" y="1645920"/>
            <a:ext cx="4174889" cy="2377440"/>
          </a:xfrm>
          <a:prstGeom prst="rect">
            <a:avLst/>
          </a:prstGeom>
        </p:spPr>
      </p:pic>
      <p:sp>
        <p:nvSpPr>
          <p:cNvPr id="9" name="Text 5"/>
          <p:cNvSpPr txBox="1"/>
          <p:nvPr/>
        </p:nvSpPr>
        <p:spPr>
          <a:xfrm>
            <a:off x="548640" y="4114800"/>
            <a:ext cx="4206240" cy="274320"/>
          </a:xfrm>
          <a:prstGeom prst="rect">
            <a:avLst/>
          </a:prstGeom>
          <a:noFill/>
          <a:ln/>
        </p:spPr>
        <p:txBody>
          <a:bodyPr wrap="square" lIns="0" tIns="0" rIns="0" bIns="0" rtlCol="0" anchor="ctr"/>
          <a:lstStyle/>
          <a:p>
            <a:pPr algn="ctr" indent="0" marL="0">
              <a:buNone/>
            </a:pPr>
            <a:r>
              <a:rPr lang="en-US" sz="1400" b="1" dirty="0">
                <a:solidFill>
                  <a:srgbClr val="0B1929"/>
                </a:solidFill>
                <a:latin typeface="Calibri" pitchFamily="34" charset="0"/>
                <a:ea typeface="Calibri" pitchFamily="34" charset="-122"/>
                <a:cs typeface="Calibri" pitchFamily="34" charset="-120"/>
              </a:rPr>
              <a:t>Desktop</a:t>
            </a:r>
            <a:endParaRPr lang="en-US" sz="1400" dirty="0"/>
          </a:p>
        </p:txBody>
      </p:sp>
      <p:sp>
        <p:nvSpPr>
          <p:cNvPr id="10" name="Shape 6"/>
          <p:cNvSpPr/>
          <p:nvPr/>
        </p:nvSpPr>
        <p:spPr>
          <a:xfrm>
            <a:off x="5129784" y="1617692"/>
            <a:ext cx="1810512" cy="2433896"/>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11" name="Image 2" descr="C:/Projects/OGH/evidence/screenshots/19_tablet_768_about_us.jpg">    </p:cNvPr>
          <p:cNvPicPr>
            <a:picLocks noChangeAspect="1"/>
          </p:cNvPicPr>
          <p:nvPr/>
        </p:nvPicPr>
        <p:blipFill>
          <a:blip r:embed="rId3"/>
          <a:stretch>
            <a:fillRect/>
          </a:stretch>
        </p:blipFill>
        <p:spPr>
          <a:xfrm>
            <a:off x="5166360" y="1654268"/>
            <a:ext cx="1737360" cy="2360744"/>
          </a:xfrm>
          <a:prstGeom prst="rect">
            <a:avLst/>
          </a:prstGeom>
        </p:spPr>
      </p:pic>
      <p:sp>
        <p:nvSpPr>
          <p:cNvPr id="12" name="Text 7"/>
          <p:cNvSpPr txBox="1"/>
          <p:nvPr/>
        </p:nvSpPr>
        <p:spPr>
          <a:xfrm>
            <a:off x="4937760" y="4114800"/>
            <a:ext cx="2194560" cy="274320"/>
          </a:xfrm>
          <a:prstGeom prst="rect">
            <a:avLst/>
          </a:prstGeom>
          <a:noFill/>
          <a:ln/>
        </p:spPr>
        <p:txBody>
          <a:bodyPr wrap="square" lIns="0" tIns="0" rIns="0" bIns="0" rtlCol="0" anchor="ctr"/>
          <a:lstStyle/>
          <a:p>
            <a:pPr algn="ctr" indent="0" marL="0">
              <a:buNone/>
            </a:pPr>
            <a:r>
              <a:rPr lang="en-US" sz="1400" b="1" dirty="0">
                <a:solidFill>
                  <a:srgbClr val="0B1929"/>
                </a:solidFill>
                <a:latin typeface="Calibri" pitchFamily="34" charset="0"/>
                <a:ea typeface="Calibri" pitchFamily="34" charset="-122"/>
                <a:cs typeface="Calibri" pitchFamily="34" charset="-120"/>
              </a:rPr>
              <a:t>Tablet</a:t>
            </a:r>
            <a:endParaRPr lang="en-US" sz="1400" dirty="0"/>
          </a:p>
        </p:txBody>
      </p:sp>
      <p:sp>
        <p:nvSpPr>
          <p:cNvPr id="13" name="Shape 8"/>
          <p:cNvSpPr/>
          <p:nvPr/>
        </p:nvSpPr>
        <p:spPr>
          <a:xfrm>
            <a:off x="7370064" y="1610563"/>
            <a:ext cx="1170432" cy="2448154"/>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14" name="Image 3" descr="C:/Projects/OGH/evidence/screenshots/11_mobile_homepage_375.jpg">    </p:cNvPr>
          <p:cNvPicPr>
            <a:picLocks noChangeAspect="1"/>
          </p:cNvPicPr>
          <p:nvPr/>
        </p:nvPicPr>
        <p:blipFill>
          <a:blip r:embed="rId4"/>
          <a:stretch>
            <a:fillRect/>
          </a:stretch>
        </p:blipFill>
        <p:spPr>
          <a:xfrm>
            <a:off x="7406640" y="1647139"/>
            <a:ext cx="1097280" cy="2375002"/>
          </a:xfrm>
          <a:prstGeom prst="rect">
            <a:avLst/>
          </a:prstGeom>
        </p:spPr>
      </p:pic>
      <p:sp>
        <p:nvSpPr>
          <p:cNvPr id="15" name="Shape 9"/>
          <p:cNvSpPr/>
          <p:nvPr/>
        </p:nvSpPr>
        <p:spPr>
          <a:xfrm>
            <a:off x="8741664" y="1610076"/>
            <a:ext cx="1170432" cy="2449129"/>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16" name="Image 4" descr="C:/Projects/OGH/evidence/screenshots/12_mobile_menu_open.jpg">    </p:cNvPr>
          <p:cNvPicPr>
            <a:picLocks noChangeAspect="1"/>
          </p:cNvPicPr>
          <p:nvPr/>
        </p:nvPicPr>
        <p:blipFill>
          <a:blip r:embed="rId5"/>
          <a:stretch>
            <a:fillRect/>
          </a:stretch>
        </p:blipFill>
        <p:spPr>
          <a:xfrm>
            <a:off x="8778240" y="1646652"/>
            <a:ext cx="1097280" cy="2375977"/>
          </a:xfrm>
          <a:prstGeom prst="rect">
            <a:avLst/>
          </a:prstGeom>
        </p:spPr>
      </p:pic>
      <p:sp>
        <p:nvSpPr>
          <p:cNvPr id="17" name="Text 10"/>
          <p:cNvSpPr txBox="1"/>
          <p:nvPr/>
        </p:nvSpPr>
        <p:spPr>
          <a:xfrm>
            <a:off x="7406640" y="4114800"/>
            <a:ext cx="2468880" cy="274320"/>
          </a:xfrm>
          <a:prstGeom prst="rect">
            <a:avLst/>
          </a:prstGeom>
          <a:noFill/>
          <a:ln/>
        </p:spPr>
        <p:txBody>
          <a:bodyPr wrap="square" lIns="0" tIns="0" rIns="0" bIns="0" rtlCol="0" anchor="ctr"/>
          <a:lstStyle/>
          <a:p>
            <a:pPr algn="ctr" indent="0" marL="0">
              <a:buNone/>
            </a:pPr>
            <a:r>
              <a:rPr lang="en-US" sz="1400" b="1" dirty="0">
                <a:solidFill>
                  <a:srgbClr val="0B1929"/>
                </a:solidFill>
                <a:latin typeface="Calibri" pitchFamily="34" charset="0"/>
                <a:ea typeface="Calibri" pitchFamily="34" charset="-122"/>
                <a:cs typeface="Calibri" pitchFamily="34" charset="-120"/>
              </a:rPr>
              <a:t>Mobile</a:t>
            </a:r>
            <a:endParaRPr lang="en-US" sz="1400" dirty="0"/>
          </a:p>
        </p:txBody>
      </p:sp>
      <p:sp>
        <p:nvSpPr>
          <p:cNvPr id="18" name="Shape 11"/>
          <p:cNvSpPr/>
          <p:nvPr/>
        </p:nvSpPr>
        <p:spPr>
          <a:xfrm>
            <a:off x="10058400" y="1645920"/>
            <a:ext cx="1554480" cy="2377440"/>
          </a:xfrm>
          <a:prstGeom prst="roundRect">
            <a:avLst>
              <a:gd name="adj" fmla="val 7059"/>
            </a:avLst>
          </a:prstGeom>
          <a:solidFill>
            <a:srgbClr val="E3F1FA"/>
          </a:solidFill>
          <a:ln w="12700">
            <a:solidFill>
              <a:srgbClr val="E3F1FA"/>
            </a:solidFill>
            <a:prstDash val="solid"/>
          </a:ln>
        </p:spPr>
      </p:sp>
      <p:sp>
        <p:nvSpPr>
          <p:cNvPr id="19" name="Text 12"/>
          <p:cNvSpPr txBox="1"/>
          <p:nvPr/>
        </p:nvSpPr>
        <p:spPr>
          <a:xfrm>
            <a:off x="10168128" y="1783080"/>
            <a:ext cx="1335024" cy="2103120"/>
          </a:xfrm>
          <a:prstGeom prst="rect">
            <a:avLst/>
          </a:prstGeom>
          <a:noFill/>
          <a:ln/>
        </p:spPr>
        <p:txBody>
          <a:bodyPr wrap="square" lIns="0" tIns="0" rIns="0" bIns="0" rtlCol="0" anchor="t"/>
          <a:lstStyle/>
          <a:p>
            <a:pPr indent="0" marL="0">
              <a:buNone/>
            </a:pPr>
            <a:r>
              <a:rPr lang="en-US" sz="1100" dirty="0">
                <a:solidFill>
                  <a:srgbClr val="0B1929"/>
                </a:solidFill>
                <a:latin typeface="Calibri" pitchFamily="34" charset="0"/>
                <a:ea typeface="Calibri" pitchFamily="34" charset="-122"/>
                <a:cs typeface="Calibri" pitchFamily="34" charset="-120"/>
              </a:rPr>
              <a:t>Tested in a Chrome-based browser. Other browsers are recommended for next month.</a:t>
            </a:r>
            <a:endParaRPr lang="en-US" sz="1100" dirty="0"/>
          </a:p>
        </p:txBody>
      </p:sp>
      <p:sp>
        <p:nvSpPr>
          <p:cNvPr id="20" name="Text 13"/>
          <p:cNvSpPr txBox="1"/>
          <p:nvPr/>
        </p:nvSpPr>
        <p:spPr>
          <a:xfrm>
            <a:off x="548640" y="4846320"/>
            <a:ext cx="11064240" cy="1371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Layouts adapt cleanly at desktop, tablet and mobile sizes, with no sideways scrolling.</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Mobile menu, cart and product pages remain easy to use.</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Buttons, forms and calls to action were reviewed for consistent behaviour.</a:t>
            </a:r>
            <a:endParaRPr lang="en-US" sz="1500" dirty="0"/>
          </a:p>
          <a:p>
            <a:pPr marL="342900" indent="-342900">
              <a:spcAft>
                <a:spcPts val="800"/>
              </a:spcAft>
              <a:buSzPct val="100000"/>
              <a:buChar char="•"/>
            </a:pPr>
            <a:r>
              <a:rPr lang="en-US" sz="1500" dirty="0">
                <a:solidFill>
                  <a:srgbClr val="0F172A"/>
                </a:solidFill>
                <a:latin typeface="Calibri" pitchFamily="34" charset="0"/>
                <a:ea typeface="Calibri" pitchFamily="34" charset="-122"/>
                <a:cs typeface="Calibri" pitchFamily="34" charset="-120"/>
              </a:rPr>
              <a:t>The gift-basket builder works on mobile.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FUNCTIONAL &amp; BUSINESS FLOW VALIDATION</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Business-critical journeys reviewed</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00200"/>
            <a:ext cx="2606040" cy="1554480"/>
          </a:xfrm>
          <a:prstGeom prst="roundRect">
            <a:avLst>
              <a:gd name="adj" fmla="val 7059"/>
            </a:avLst>
          </a:prstGeom>
          <a:solidFill>
            <a:srgbClr val="F1F5F9"/>
          </a:solidFill>
          <a:ln w="12700">
            <a:solidFill>
              <a:srgbClr val="F1F5F9"/>
            </a:solidFill>
            <a:prstDash val="solid"/>
          </a:ln>
        </p:spPr>
      </p:sp>
      <p:sp>
        <p:nvSpPr>
          <p:cNvPr id="8" name="Shape 5"/>
          <p:cNvSpPr/>
          <p:nvPr/>
        </p:nvSpPr>
        <p:spPr>
          <a:xfrm>
            <a:off x="777240" y="1783080"/>
            <a:ext cx="594360" cy="594360"/>
          </a:xfrm>
          <a:prstGeom prst="ellipse">
            <a:avLst/>
          </a:prstGeom>
          <a:solidFill>
            <a:srgbClr val="0B1929"/>
          </a:solidFill>
          <a:ln w="12700">
            <a:solidFill>
              <a:srgbClr val="0B1929"/>
            </a:solidFill>
            <a:prstDash val="solid"/>
          </a:ln>
        </p:spPr>
      </p:sp>
      <p:pic>
        <p:nvPicPr>
          <p:cNvPr id="9" name="Image 1" descr="preencoded.png">    </p:cNvPr>
          <p:cNvPicPr>
            <a:picLocks noChangeAspect="1"/>
          </p:cNvPicPr>
          <p:nvPr/>
        </p:nvPicPr>
        <p:blipFill>
          <a:blip r:embed="rId2"/>
          <a:stretch>
            <a:fillRect/>
          </a:stretch>
        </p:blipFill>
        <p:spPr>
          <a:xfrm>
            <a:off x="925830" y="1931670"/>
            <a:ext cx="297180" cy="297180"/>
          </a:xfrm>
          <a:prstGeom prst="rect">
            <a:avLst/>
          </a:prstGeom>
        </p:spPr>
      </p:pic>
      <p:sp>
        <p:nvSpPr>
          <p:cNvPr id="10" name="Text 6"/>
          <p:cNvSpPr txBox="1"/>
          <p:nvPr/>
        </p:nvSpPr>
        <p:spPr>
          <a:xfrm>
            <a:off x="1508760" y="1874520"/>
            <a:ext cx="1554480" cy="41148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Discover</a:t>
            </a:r>
            <a:endParaRPr lang="en-US" sz="1800" dirty="0"/>
          </a:p>
        </p:txBody>
      </p:sp>
      <p:sp>
        <p:nvSpPr>
          <p:cNvPr id="11" name="Text 7"/>
          <p:cNvSpPr txBox="1"/>
          <p:nvPr/>
        </p:nvSpPr>
        <p:spPr>
          <a:xfrm>
            <a:off x="777240" y="2514600"/>
            <a:ext cx="2194560" cy="5943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Search and category browsing</a:t>
            </a:r>
            <a:endParaRPr lang="en-US" sz="1200" dirty="0"/>
          </a:p>
        </p:txBody>
      </p:sp>
      <p:sp>
        <p:nvSpPr>
          <p:cNvPr id="12" name="Shape 8"/>
          <p:cNvSpPr/>
          <p:nvPr/>
        </p:nvSpPr>
        <p:spPr>
          <a:xfrm>
            <a:off x="3383280" y="1600200"/>
            <a:ext cx="2606040" cy="1554480"/>
          </a:xfrm>
          <a:prstGeom prst="roundRect">
            <a:avLst>
              <a:gd name="adj" fmla="val 7059"/>
            </a:avLst>
          </a:prstGeom>
          <a:solidFill>
            <a:srgbClr val="F1F5F9"/>
          </a:solidFill>
          <a:ln w="12700">
            <a:solidFill>
              <a:srgbClr val="F1F5F9"/>
            </a:solidFill>
            <a:prstDash val="solid"/>
          </a:ln>
        </p:spPr>
      </p:sp>
      <p:sp>
        <p:nvSpPr>
          <p:cNvPr id="13" name="Shape 9"/>
          <p:cNvSpPr/>
          <p:nvPr/>
        </p:nvSpPr>
        <p:spPr>
          <a:xfrm>
            <a:off x="3611880" y="1783080"/>
            <a:ext cx="594360" cy="594360"/>
          </a:xfrm>
          <a:prstGeom prst="ellipse">
            <a:avLst/>
          </a:prstGeom>
          <a:solidFill>
            <a:srgbClr val="0B1929"/>
          </a:solidFill>
          <a:ln w="12700">
            <a:solidFill>
              <a:srgbClr val="0B1929"/>
            </a:solidFill>
            <a:prstDash val="solid"/>
          </a:ln>
        </p:spPr>
      </p:sp>
      <p:pic>
        <p:nvPicPr>
          <p:cNvPr id="14" name="Image 2" descr="preencoded.png">    </p:cNvPr>
          <p:cNvPicPr>
            <a:picLocks noChangeAspect="1"/>
          </p:cNvPicPr>
          <p:nvPr/>
        </p:nvPicPr>
        <p:blipFill>
          <a:blip r:embed="rId3"/>
          <a:stretch>
            <a:fillRect/>
          </a:stretch>
        </p:blipFill>
        <p:spPr>
          <a:xfrm>
            <a:off x="3760470" y="1931670"/>
            <a:ext cx="297180" cy="297180"/>
          </a:xfrm>
          <a:prstGeom prst="rect">
            <a:avLst/>
          </a:prstGeom>
        </p:spPr>
      </p:pic>
      <p:sp>
        <p:nvSpPr>
          <p:cNvPr id="15" name="Text 10"/>
          <p:cNvSpPr txBox="1"/>
          <p:nvPr/>
        </p:nvSpPr>
        <p:spPr>
          <a:xfrm>
            <a:off x="4343400" y="1874520"/>
            <a:ext cx="1554480" cy="41148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Choose</a:t>
            </a:r>
            <a:endParaRPr lang="en-US" sz="1800" dirty="0"/>
          </a:p>
        </p:txBody>
      </p:sp>
      <p:sp>
        <p:nvSpPr>
          <p:cNvPr id="16" name="Text 11"/>
          <p:cNvSpPr txBox="1"/>
          <p:nvPr/>
        </p:nvSpPr>
        <p:spPr>
          <a:xfrm>
            <a:off x="3611880" y="2514600"/>
            <a:ext cx="2194560" cy="5943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Product pages and the Make Your Own Gift Basket builder</a:t>
            </a:r>
            <a:endParaRPr lang="en-US" sz="1200" dirty="0"/>
          </a:p>
        </p:txBody>
      </p:sp>
      <p:sp>
        <p:nvSpPr>
          <p:cNvPr id="17" name="Shape 12"/>
          <p:cNvSpPr/>
          <p:nvPr/>
        </p:nvSpPr>
        <p:spPr>
          <a:xfrm>
            <a:off x="6217920" y="1600200"/>
            <a:ext cx="2606040" cy="1554480"/>
          </a:xfrm>
          <a:prstGeom prst="roundRect">
            <a:avLst>
              <a:gd name="adj" fmla="val 7059"/>
            </a:avLst>
          </a:prstGeom>
          <a:solidFill>
            <a:srgbClr val="F1F5F9"/>
          </a:solidFill>
          <a:ln w="12700">
            <a:solidFill>
              <a:srgbClr val="F1F5F9"/>
            </a:solidFill>
            <a:prstDash val="solid"/>
          </a:ln>
        </p:spPr>
      </p:sp>
      <p:sp>
        <p:nvSpPr>
          <p:cNvPr id="18" name="Shape 13"/>
          <p:cNvSpPr/>
          <p:nvPr/>
        </p:nvSpPr>
        <p:spPr>
          <a:xfrm>
            <a:off x="6446520" y="1783080"/>
            <a:ext cx="594360" cy="594360"/>
          </a:xfrm>
          <a:prstGeom prst="ellipse">
            <a:avLst/>
          </a:prstGeom>
          <a:solidFill>
            <a:srgbClr val="0B1929"/>
          </a:solidFill>
          <a:ln w="12700">
            <a:solidFill>
              <a:srgbClr val="0B1929"/>
            </a:solidFill>
            <a:prstDash val="solid"/>
          </a:ln>
        </p:spPr>
      </p:sp>
      <p:pic>
        <p:nvPicPr>
          <p:cNvPr id="19" name="Image 3" descr="preencoded.png">    </p:cNvPr>
          <p:cNvPicPr>
            <a:picLocks noChangeAspect="1"/>
          </p:cNvPicPr>
          <p:nvPr/>
        </p:nvPicPr>
        <p:blipFill>
          <a:blip r:embed="rId4"/>
          <a:stretch>
            <a:fillRect/>
          </a:stretch>
        </p:blipFill>
        <p:spPr>
          <a:xfrm>
            <a:off x="6595110" y="1931670"/>
            <a:ext cx="297180" cy="297180"/>
          </a:xfrm>
          <a:prstGeom prst="rect">
            <a:avLst/>
          </a:prstGeom>
        </p:spPr>
      </p:pic>
      <p:sp>
        <p:nvSpPr>
          <p:cNvPr id="20" name="Text 14"/>
          <p:cNvSpPr txBox="1"/>
          <p:nvPr/>
        </p:nvSpPr>
        <p:spPr>
          <a:xfrm>
            <a:off x="7178040" y="1874520"/>
            <a:ext cx="1554480" cy="41148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Cart</a:t>
            </a:r>
            <a:endParaRPr lang="en-US" sz="1800" dirty="0"/>
          </a:p>
        </p:txBody>
      </p:sp>
      <p:sp>
        <p:nvSpPr>
          <p:cNvPr id="21" name="Text 15"/>
          <p:cNvSpPr txBox="1"/>
          <p:nvPr/>
        </p:nvSpPr>
        <p:spPr>
          <a:xfrm>
            <a:off x="6446520" y="2514600"/>
            <a:ext cx="2194560" cy="5943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Add, update quantity, remove, coupon check</a:t>
            </a:r>
            <a:endParaRPr lang="en-US" sz="1200" dirty="0"/>
          </a:p>
        </p:txBody>
      </p:sp>
      <p:sp>
        <p:nvSpPr>
          <p:cNvPr id="22" name="Shape 16"/>
          <p:cNvSpPr/>
          <p:nvPr/>
        </p:nvSpPr>
        <p:spPr>
          <a:xfrm>
            <a:off x="9052560" y="1600200"/>
            <a:ext cx="2606040" cy="1554480"/>
          </a:xfrm>
          <a:prstGeom prst="roundRect">
            <a:avLst>
              <a:gd name="adj" fmla="val 7059"/>
            </a:avLst>
          </a:prstGeom>
          <a:solidFill>
            <a:srgbClr val="F1F5F9"/>
          </a:solidFill>
          <a:ln w="12700">
            <a:solidFill>
              <a:srgbClr val="F1F5F9"/>
            </a:solidFill>
            <a:prstDash val="solid"/>
          </a:ln>
        </p:spPr>
      </p:sp>
      <p:sp>
        <p:nvSpPr>
          <p:cNvPr id="23" name="Shape 17"/>
          <p:cNvSpPr/>
          <p:nvPr/>
        </p:nvSpPr>
        <p:spPr>
          <a:xfrm>
            <a:off x="9281160" y="1783080"/>
            <a:ext cx="594360" cy="594360"/>
          </a:xfrm>
          <a:prstGeom prst="ellipse">
            <a:avLst/>
          </a:prstGeom>
          <a:solidFill>
            <a:srgbClr val="0B1929"/>
          </a:solidFill>
          <a:ln w="12700">
            <a:solidFill>
              <a:srgbClr val="0B1929"/>
            </a:solidFill>
            <a:prstDash val="solid"/>
          </a:ln>
        </p:spPr>
      </p:sp>
      <p:pic>
        <p:nvPicPr>
          <p:cNvPr id="24" name="Image 4" descr="preencoded.png">    </p:cNvPr>
          <p:cNvPicPr>
            <a:picLocks noChangeAspect="1"/>
          </p:cNvPicPr>
          <p:nvPr/>
        </p:nvPicPr>
        <p:blipFill>
          <a:blip r:embed="rId5"/>
          <a:stretch>
            <a:fillRect/>
          </a:stretch>
        </p:blipFill>
        <p:spPr>
          <a:xfrm>
            <a:off x="9429750" y="1931670"/>
            <a:ext cx="297180" cy="297180"/>
          </a:xfrm>
          <a:prstGeom prst="rect">
            <a:avLst/>
          </a:prstGeom>
        </p:spPr>
      </p:pic>
      <p:sp>
        <p:nvSpPr>
          <p:cNvPr id="25" name="Text 18"/>
          <p:cNvSpPr txBox="1"/>
          <p:nvPr/>
        </p:nvSpPr>
        <p:spPr>
          <a:xfrm>
            <a:off x="10012680" y="1874520"/>
            <a:ext cx="1554480" cy="41148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Checkout</a:t>
            </a:r>
            <a:endParaRPr lang="en-US" sz="1800" dirty="0"/>
          </a:p>
        </p:txBody>
      </p:sp>
      <p:sp>
        <p:nvSpPr>
          <p:cNvPr id="26" name="Text 19"/>
          <p:cNvSpPr txBox="1"/>
          <p:nvPr/>
        </p:nvSpPr>
        <p:spPr>
          <a:xfrm>
            <a:off x="9281160" y="2514600"/>
            <a:ext cx="2194560" cy="59436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Reviewed up to the payment boundary</a:t>
            </a:r>
            <a:endParaRPr lang="en-US" sz="1200" dirty="0"/>
          </a:p>
        </p:txBody>
      </p:sp>
      <p:sp>
        <p:nvSpPr>
          <p:cNvPr id="27" name="Shape 20"/>
          <p:cNvSpPr/>
          <p:nvPr/>
        </p:nvSpPr>
        <p:spPr>
          <a:xfrm>
            <a:off x="512064" y="3400997"/>
            <a:ext cx="3456432" cy="1976247"/>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28" name="Image 5" descr="C:/Projects/OGH/evidence/screenshots/04_desktop_add_to_cart_modal.jpg">    </p:cNvPr>
          <p:cNvPicPr>
            <a:picLocks noChangeAspect="1"/>
          </p:cNvPicPr>
          <p:nvPr/>
        </p:nvPicPr>
        <p:blipFill>
          <a:blip r:embed="rId6"/>
          <a:stretch>
            <a:fillRect/>
          </a:stretch>
        </p:blipFill>
        <p:spPr>
          <a:xfrm>
            <a:off x="548640" y="3437573"/>
            <a:ext cx="3383280" cy="1903095"/>
          </a:xfrm>
          <a:prstGeom prst="rect">
            <a:avLst/>
          </a:prstGeom>
        </p:spPr>
      </p:pic>
      <p:sp>
        <p:nvSpPr>
          <p:cNvPr id="29" name="Shape 21"/>
          <p:cNvSpPr/>
          <p:nvPr/>
        </p:nvSpPr>
        <p:spPr>
          <a:xfrm>
            <a:off x="4078224" y="3400997"/>
            <a:ext cx="3456432" cy="1976247"/>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30" name="Image 6" descr="C:/Projects/OGH/build/brand/coupon_clean.jpg">    </p:cNvPr>
          <p:cNvPicPr>
            <a:picLocks noChangeAspect="1"/>
          </p:cNvPicPr>
          <p:nvPr/>
        </p:nvPicPr>
        <p:blipFill>
          <a:blip r:embed="rId7"/>
          <a:stretch>
            <a:fillRect/>
          </a:stretch>
        </p:blipFill>
        <p:spPr>
          <a:xfrm>
            <a:off x="4114800" y="3437573"/>
            <a:ext cx="3383280" cy="1903095"/>
          </a:xfrm>
          <a:prstGeom prst="rect">
            <a:avLst/>
          </a:prstGeom>
        </p:spPr>
      </p:pic>
      <p:sp>
        <p:nvSpPr>
          <p:cNvPr id="31" name="Shape 22"/>
          <p:cNvSpPr/>
          <p:nvPr/>
        </p:nvSpPr>
        <p:spPr>
          <a:xfrm>
            <a:off x="7647901" y="3392424"/>
            <a:ext cx="3449398" cy="1993392"/>
          </a:xfrm>
          <a:prstGeom prst="rect">
            <a:avLst/>
          </a:prstGeom>
          <a:solidFill>
            <a:srgbClr val="FFFFFF"/>
          </a:solidFill>
          <a:ln w="12700">
            <a:solidFill>
              <a:srgbClr val="D5DDE6"/>
            </a:solidFill>
            <a:prstDash val="solid"/>
          </a:ln>
          <a:effectLst>
            <a:outerShdw sx="100000" sy="100000" kx="0" ky="0" algn="bl" rotWithShape="0" blurRad="76200" dist="25400" dir="5400000">
              <a:srgbClr val="000000">
                <a:alpha val="15000"/>
              </a:srgbClr>
            </a:outerShdw>
          </a:effectLst>
        </p:spPr>
      </p:sp>
      <p:pic>
        <p:nvPicPr>
          <p:cNvPr id="32" name="Image 7" descr="C:/Projects/OGH/evidence/screenshots/08_desktop_checkout_guest_email_step.jpg">    </p:cNvPr>
          <p:cNvPicPr>
            <a:picLocks noChangeAspect="1"/>
          </p:cNvPicPr>
          <p:nvPr/>
        </p:nvPicPr>
        <p:blipFill>
          <a:blip r:embed="rId8"/>
          <a:stretch>
            <a:fillRect/>
          </a:stretch>
        </p:blipFill>
        <p:spPr>
          <a:xfrm>
            <a:off x="7684477" y="3429000"/>
            <a:ext cx="3376246" cy="1920240"/>
          </a:xfrm>
          <a:prstGeom prst="rect">
            <a:avLst/>
          </a:prstGeom>
        </p:spPr>
      </p:pic>
      <p:sp>
        <p:nvSpPr>
          <p:cNvPr id="33" name="Text 23"/>
          <p:cNvSpPr txBox="1"/>
          <p:nvPr/>
        </p:nvSpPr>
        <p:spPr>
          <a:xfrm>
            <a:off x="548640" y="5440680"/>
            <a:ext cx="3383280" cy="27432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Add to cart</a:t>
            </a:r>
            <a:endParaRPr lang="en-US" sz="1200" dirty="0"/>
          </a:p>
        </p:txBody>
      </p:sp>
      <p:sp>
        <p:nvSpPr>
          <p:cNvPr id="34" name="Text 24"/>
          <p:cNvSpPr txBox="1"/>
          <p:nvPr/>
        </p:nvSpPr>
        <p:spPr>
          <a:xfrm>
            <a:off x="4114800" y="5440680"/>
            <a:ext cx="3383280" cy="27432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Invalid coupon message</a:t>
            </a:r>
            <a:endParaRPr lang="en-US" sz="1200" dirty="0"/>
          </a:p>
        </p:txBody>
      </p:sp>
      <p:sp>
        <p:nvSpPr>
          <p:cNvPr id="35" name="Text 25"/>
          <p:cNvSpPr txBox="1"/>
          <p:nvPr/>
        </p:nvSpPr>
        <p:spPr>
          <a:xfrm>
            <a:off x="7680960" y="5440680"/>
            <a:ext cx="3383280" cy="274320"/>
          </a:xfrm>
          <a:prstGeom prst="rect">
            <a:avLst/>
          </a:prstGeom>
          <a:noFill/>
          <a:ln/>
        </p:spPr>
        <p:txBody>
          <a:bodyPr wrap="square" lIns="0" tIns="0" rIns="0" bIns="0"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Guest checkout</a:t>
            </a:r>
            <a:endParaRPr lang="en-US" sz="1200" dirty="0"/>
          </a:p>
        </p:txBody>
      </p:sp>
      <p:sp>
        <p:nvSpPr>
          <p:cNvPr id="36" name="Text 26"/>
          <p:cNvSpPr txBox="1"/>
          <p:nvPr/>
        </p:nvSpPr>
        <p:spPr>
          <a:xfrm>
            <a:off x="548640" y="5852160"/>
            <a:ext cx="11064240" cy="548640"/>
          </a:xfrm>
          <a:prstGeom prst="rect">
            <a:avLst/>
          </a:prstGeom>
          <a:noFill/>
          <a:ln/>
        </p:spPr>
        <p:txBody>
          <a:bodyPr wrap="square" lIns="0" tIns="0" rIns="0" bIns="0" rtlCol="0" anchor="t"/>
          <a:lstStyle/>
          <a:p>
            <a:pPr indent="0" marL="0">
              <a:buNone/>
            </a:pPr>
            <a:r>
              <a:rPr lang="en-US" sz="1200" i="1" dirty="0">
                <a:solidFill>
                  <a:srgbClr val="475569"/>
                </a:solidFill>
                <a:latin typeface="Calibri" pitchFamily="34" charset="0"/>
                <a:ea typeface="Calibri" pitchFamily="34" charset="-122"/>
                <a:cs typeface="Calibri" pitchFamily="34" charset="-120"/>
              </a:rPr>
              <a:t>The customer journey from product discovery through checkout was reviewed, with payment submission excluded from the live store. Contact and newsletter form submissions were also excluded to avoid sending real communications.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TECHNICAL HEALTH</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Technical health monitoring</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548640" y="1554480"/>
            <a:ext cx="5303520" cy="320040"/>
          </a:xfrm>
          <a:prstGeom prst="rect">
            <a:avLst/>
          </a:prstGeom>
          <a:noFill/>
          <a:ln/>
        </p:spPr>
        <p:txBody>
          <a:bodyPr wrap="square" lIns="0" tIns="0" rIns="0" bIns="0" rtlCol="0" anchor="ctr"/>
          <a:lstStyle/>
          <a:p>
            <a:pPr indent="0" marL="0">
              <a:buNone/>
            </a:pPr>
            <a:r>
              <a:rPr lang="en-US" sz="1300" b="1" dirty="0">
                <a:solidFill>
                  <a:srgbClr val="0086C7"/>
                </a:solidFill>
                <a:latin typeface="Calibri" pitchFamily="34" charset="0"/>
                <a:ea typeface="Calibri" pitchFamily="34" charset="-122"/>
                <a:cs typeface="Calibri" pitchFamily="34" charset="-120"/>
              </a:rPr>
              <a:t>Technical check</a:t>
            </a:r>
            <a:endParaRPr lang="en-US" sz="1300" dirty="0"/>
          </a:p>
        </p:txBody>
      </p:sp>
      <p:sp>
        <p:nvSpPr>
          <p:cNvPr id="8" name="Text 5"/>
          <p:cNvSpPr txBox="1"/>
          <p:nvPr/>
        </p:nvSpPr>
        <p:spPr>
          <a:xfrm>
            <a:off x="6217920" y="1554480"/>
            <a:ext cx="5394960" cy="320040"/>
          </a:xfrm>
          <a:prstGeom prst="rect">
            <a:avLst/>
          </a:prstGeom>
          <a:noFill/>
          <a:ln/>
        </p:spPr>
        <p:txBody>
          <a:bodyPr wrap="square" lIns="0" tIns="0" rIns="0" bIns="0" rtlCol="0" anchor="ctr"/>
          <a:lstStyle/>
          <a:p>
            <a:pPr indent="0" marL="0">
              <a:buNone/>
            </a:pPr>
            <a:r>
              <a:rPr lang="en-US" sz="1300" b="1" dirty="0">
                <a:solidFill>
                  <a:srgbClr val="0086C7"/>
                </a:solidFill>
                <a:latin typeface="Calibri" pitchFamily="34" charset="0"/>
                <a:ea typeface="Calibri" pitchFamily="34" charset="-122"/>
                <a:cs typeface="Calibri" pitchFamily="34" charset="-120"/>
              </a:rPr>
              <a:t>What it means for you</a:t>
            </a:r>
            <a:endParaRPr lang="en-US" sz="1300" dirty="0"/>
          </a:p>
        </p:txBody>
      </p:sp>
      <p:sp>
        <p:nvSpPr>
          <p:cNvPr id="9" name="Shape 6"/>
          <p:cNvSpPr/>
          <p:nvPr/>
        </p:nvSpPr>
        <p:spPr>
          <a:xfrm>
            <a:off x="548640" y="1920240"/>
            <a:ext cx="11064240" cy="603504"/>
          </a:xfrm>
          <a:prstGeom prst="roundRect">
            <a:avLst>
              <a:gd name="adj" fmla="val 18182"/>
            </a:avLst>
          </a:prstGeom>
          <a:solidFill>
            <a:srgbClr val="F1F5F9"/>
          </a:solidFill>
          <a:ln w="12700">
            <a:solidFill>
              <a:srgbClr val="F1F5F9"/>
            </a:solidFill>
            <a:prstDash val="solid"/>
          </a:ln>
        </p:spPr>
      </p:sp>
      <p:sp>
        <p:nvSpPr>
          <p:cNvPr id="10" name="Text 7"/>
          <p:cNvSpPr txBox="1"/>
          <p:nvPr/>
        </p:nvSpPr>
        <p:spPr>
          <a:xfrm>
            <a:off x="777240" y="1965960"/>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Website pages and redirects</a:t>
            </a:r>
            <a:endParaRPr lang="en-US" sz="1500" dirty="0"/>
          </a:p>
        </p:txBody>
      </p:sp>
      <p:sp>
        <p:nvSpPr>
          <p:cNvPr id="11" name="Text 8"/>
          <p:cNvSpPr txBox="1"/>
          <p:nvPr/>
        </p:nvSpPr>
        <p:spPr>
          <a:xfrm>
            <a:off x="6217920" y="1965960"/>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Helps confirm visitors reach the right page without errors</a:t>
            </a:r>
            <a:endParaRPr lang="en-US" sz="1400" dirty="0"/>
          </a:p>
        </p:txBody>
      </p:sp>
      <p:sp>
        <p:nvSpPr>
          <p:cNvPr id="12" name="Shape 9"/>
          <p:cNvSpPr/>
          <p:nvPr/>
        </p:nvSpPr>
        <p:spPr>
          <a:xfrm>
            <a:off x="548640" y="2624328"/>
            <a:ext cx="11064240" cy="603504"/>
          </a:xfrm>
          <a:prstGeom prst="roundRect">
            <a:avLst>
              <a:gd name="adj" fmla="val 18182"/>
            </a:avLst>
          </a:prstGeom>
          <a:solidFill>
            <a:srgbClr val="FFFFFF"/>
          </a:solidFill>
          <a:ln w="12700">
            <a:solidFill>
              <a:srgbClr val="FFFFFF"/>
            </a:solidFill>
            <a:prstDash val="solid"/>
          </a:ln>
        </p:spPr>
      </p:sp>
      <p:sp>
        <p:nvSpPr>
          <p:cNvPr id="13" name="Text 10"/>
          <p:cNvSpPr txBox="1"/>
          <p:nvPr/>
        </p:nvSpPr>
        <p:spPr>
          <a:xfrm>
            <a:off x="777240" y="2670048"/>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Browser activity and script behaviour</a:t>
            </a:r>
            <a:endParaRPr lang="en-US" sz="1500" dirty="0"/>
          </a:p>
        </p:txBody>
      </p:sp>
      <p:sp>
        <p:nvSpPr>
          <p:cNvPr id="14" name="Text 11"/>
          <p:cNvSpPr txBox="1"/>
          <p:nvPr/>
        </p:nvSpPr>
        <p:spPr>
          <a:xfrm>
            <a:off x="6217920" y="2670048"/>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Helps spot issues that can quietly affect page features</a:t>
            </a:r>
            <a:endParaRPr lang="en-US" sz="1400" dirty="0"/>
          </a:p>
        </p:txBody>
      </p:sp>
      <p:sp>
        <p:nvSpPr>
          <p:cNvPr id="15" name="Shape 12"/>
          <p:cNvSpPr/>
          <p:nvPr/>
        </p:nvSpPr>
        <p:spPr>
          <a:xfrm>
            <a:off x="548640" y="3328416"/>
            <a:ext cx="11064240" cy="603504"/>
          </a:xfrm>
          <a:prstGeom prst="roundRect">
            <a:avLst>
              <a:gd name="adj" fmla="val 18182"/>
            </a:avLst>
          </a:prstGeom>
          <a:solidFill>
            <a:srgbClr val="F1F5F9"/>
          </a:solidFill>
          <a:ln w="12700">
            <a:solidFill>
              <a:srgbClr val="F1F5F9"/>
            </a:solidFill>
            <a:prstDash val="solid"/>
          </a:ln>
        </p:spPr>
      </p:sp>
      <p:sp>
        <p:nvSpPr>
          <p:cNvPr id="16" name="Text 13"/>
          <p:cNvSpPr txBox="1"/>
          <p:nvPr/>
        </p:nvSpPr>
        <p:spPr>
          <a:xfrm>
            <a:off x="777240" y="3374136"/>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Network and service responses</a:t>
            </a:r>
            <a:endParaRPr lang="en-US" sz="1500" dirty="0"/>
          </a:p>
        </p:txBody>
      </p:sp>
      <p:sp>
        <p:nvSpPr>
          <p:cNvPr id="17" name="Text 14"/>
          <p:cNvSpPr txBox="1"/>
          <p:nvPr/>
        </p:nvSpPr>
        <p:spPr>
          <a:xfrm>
            <a:off x="6217920" y="3374136"/>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Helps identify potential integration interruptions early</a:t>
            </a:r>
            <a:endParaRPr lang="en-US" sz="1400" dirty="0"/>
          </a:p>
        </p:txBody>
      </p:sp>
      <p:sp>
        <p:nvSpPr>
          <p:cNvPr id="18" name="Shape 15"/>
          <p:cNvSpPr/>
          <p:nvPr/>
        </p:nvSpPr>
        <p:spPr>
          <a:xfrm>
            <a:off x="548640" y="4032504"/>
            <a:ext cx="11064240" cy="603504"/>
          </a:xfrm>
          <a:prstGeom prst="roundRect">
            <a:avLst>
              <a:gd name="adj" fmla="val 18182"/>
            </a:avLst>
          </a:prstGeom>
          <a:solidFill>
            <a:srgbClr val="FFFFFF"/>
          </a:solidFill>
          <a:ln w="12700">
            <a:solidFill>
              <a:srgbClr val="FFFFFF"/>
            </a:solidFill>
            <a:prstDash val="solid"/>
          </a:ln>
        </p:spPr>
      </p:sp>
      <p:sp>
        <p:nvSpPr>
          <p:cNvPr id="19" name="Text 16"/>
          <p:cNvSpPr txBox="1"/>
          <p:nvPr/>
        </p:nvSpPr>
        <p:spPr>
          <a:xfrm>
            <a:off x="777240" y="4078224"/>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Third-party tools (analytics, ads, chat, video)</a:t>
            </a:r>
            <a:endParaRPr lang="en-US" sz="1500" dirty="0"/>
          </a:p>
        </p:txBody>
      </p:sp>
      <p:sp>
        <p:nvSpPr>
          <p:cNvPr id="20" name="Text 17"/>
          <p:cNvSpPr txBox="1"/>
          <p:nvPr/>
        </p:nvSpPr>
        <p:spPr>
          <a:xfrm>
            <a:off x="6217920" y="4078224"/>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Confirms marketing and support tools are loading as expected</a:t>
            </a:r>
            <a:endParaRPr lang="en-US" sz="1400" dirty="0"/>
          </a:p>
        </p:txBody>
      </p:sp>
      <p:sp>
        <p:nvSpPr>
          <p:cNvPr id="21" name="Shape 18"/>
          <p:cNvSpPr/>
          <p:nvPr/>
        </p:nvSpPr>
        <p:spPr>
          <a:xfrm>
            <a:off x="548640" y="4736592"/>
            <a:ext cx="11064240" cy="603504"/>
          </a:xfrm>
          <a:prstGeom prst="roundRect">
            <a:avLst>
              <a:gd name="adj" fmla="val 18182"/>
            </a:avLst>
          </a:prstGeom>
          <a:solidFill>
            <a:srgbClr val="F1F5F9"/>
          </a:solidFill>
          <a:ln w="12700">
            <a:solidFill>
              <a:srgbClr val="F1F5F9"/>
            </a:solidFill>
            <a:prstDash val="solid"/>
          </a:ln>
        </p:spPr>
      </p:sp>
      <p:sp>
        <p:nvSpPr>
          <p:cNvPr id="22" name="Text 19"/>
          <p:cNvSpPr txBox="1"/>
          <p:nvPr/>
        </p:nvSpPr>
        <p:spPr>
          <a:xfrm>
            <a:off x="777240" y="4782312"/>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Error pages and invalid addresses</a:t>
            </a:r>
            <a:endParaRPr lang="en-US" sz="1500" dirty="0"/>
          </a:p>
        </p:txBody>
      </p:sp>
      <p:sp>
        <p:nvSpPr>
          <p:cNvPr id="23" name="Text 20"/>
          <p:cNvSpPr txBox="1"/>
          <p:nvPr/>
        </p:nvSpPr>
        <p:spPr>
          <a:xfrm>
            <a:off x="6217920" y="4782312"/>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Supports a smooth experience when a link is mistyped</a:t>
            </a:r>
            <a:endParaRPr lang="en-US" sz="1400" dirty="0"/>
          </a:p>
        </p:txBody>
      </p:sp>
      <p:sp>
        <p:nvSpPr>
          <p:cNvPr id="24" name="Shape 21"/>
          <p:cNvSpPr/>
          <p:nvPr/>
        </p:nvSpPr>
        <p:spPr>
          <a:xfrm>
            <a:off x="548640" y="5440680"/>
            <a:ext cx="11064240" cy="603504"/>
          </a:xfrm>
          <a:prstGeom prst="roundRect">
            <a:avLst>
              <a:gd name="adj" fmla="val 18182"/>
            </a:avLst>
          </a:prstGeom>
          <a:solidFill>
            <a:srgbClr val="FFFFFF"/>
          </a:solidFill>
          <a:ln w="12700">
            <a:solidFill>
              <a:srgbClr val="FFFFFF"/>
            </a:solidFill>
            <a:prstDash val="solid"/>
          </a:ln>
        </p:spPr>
      </p:sp>
      <p:sp>
        <p:nvSpPr>
          <p:cNvPr id="25" name="Text 22"/>
          <p:cNvSpPr txBox="1"/>
          <p:nvPr/>
        </p:nvSpPr>
        <p:spPr>
          <a:xfrm>
            <a:off x="777240" y="5486400"/>
            <a:ext cx="5120640" cy="530352"/>
          </a:xfrm>
          <a:prstGeom prst="rect">
            <a:avLst/>
          </a:prstGeom>
          <a:noFill/>
          <a:ln/>
        </p:spPr>
        <p:txBody>
          <a:bodyPr wrap="square" lIns="0" tIns="0" rIns="0" bIns="0" rtlCol="0" anchor="ctr"/>
          <a:lstStyle/>
          <a:p>
            <a:pPr indent="0" marL="0">
              <a:buNone/>
            </a:pPr>
            <a:r>
              <a:rPr lang="en-US" sz="1500" b="1" dirty="0">
                <a:solidFill>
                  <a:srgbClr val="0B1929"/>
                </a:solidFill>
                <a:latin typeface="Calibri" pitchFamily="34" charset="0"/>
                <a:ea typeface="Calibri" pitchFamily="34" charset="-122"/>
                <a:cs typeface="Calibri" pitchFamily="34" charset="-120"/>
              </a:rPr>
              <a:t>Secure connection (HTTPS)</a:t>
            </a:r>
            <a:endParaRPr lang="en-US" sz="1500" dirty="0"/>
          </a:p>
        </p:txBody>
      </p:sp>
      <p:sp>
        <p:nvSpPr>
          <p:cNvPr id="26" name="Text 23"/>
          <p:cNvSpPr txBox="1"/>
          <p:nvPr/>
        </p:nvSpPr>
        <p:spPr>
          <a:xfrm>
            <a:off x="6217920" y="5486400"/>
            <a:ext cx="5212080" cy="530352"/>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Helps protect visitors and their data in transit</a:t>
            </a:r>
            <a:endParaRPr lang="en-US" sz="1400" dirty="0"/>
          </a:p>
        </p:txBody>
      </p:sp>
      <p:sp>
        <p:nvSpPr>
          <p:cNvPr id="27" name="Text 24"/>
          <p:cNvSpPr txBox="1"/>
          <p:nvPr/>
        </p:nvSpPr>
        <p:spPr>
          <a:xfrm>
            <a:off x="548640" y="6199632"/>
            <a:ext cx="10972800" cy="22860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Some technical items were noted for follow-up and are listed on the Issues &amp; Improvements slide.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PERFORMANCE AND SEO</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Performance &amp; SEO health</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554480"/>
            <a:ext cx="5486400" cy="4663440"/>
          </a:xfrm>
          <a:prstGeom prst="roundRect">
            <a:avLst>
              <a:gd name="adj" fmla="val 2353"/>
            </a:avLst>
          </a:prstGeom>
          <a:solidFill>
            <a:srgbClr val="F1F5F9"/>
          </a:solidFill>
          <a:ln w="12700">
            <a:solidFill>
              <a:srgbClr val="F1F5F9"/>
            </a:solidFill>
            <a:prstDash val="solid"/>
          </a:ln>
        </p:spPr>
      </p:sp>
      <p:sp>
        <p:nvSpPr>
          <p:cNvPr id="8" name="Shape 5"/>
          <p:cNvSpPr/>
          <p:nvPr/>
        </p:nvSpPr>
        <p:spPr>
          <a:xfrm>
            <a:off x="6309360" y="1554480"/>
            <a:ext cx="5303520" cy="4663440"/>
          </a:xfrm>
          <a:prstGeom prst="roundRect">
            <a:avLst>
              <a:gd name="adj" fmla="val 2353"/>
            </a:avLst>
          </a:prstGeom>
          <a:solidFill>
            <a:srgbClr val="F1F5F9"/>
          </a:solidFill>
          <a:ln w="12700">
            <a:solidFill>
              <a:srgbClr val="F1F5F9"/>
            </a:solidFill>
            <a:prstDash val="solid"/>
          </a:ln>
        </p:spPr>
      </p:sp>
      <p:sp>
        <p:nvSpPr>
          <p:cNvPr id="9" name="Text 6"/>
          <p:cNvSpPr txBox="1"/>
          <p:nvPr/>
        </p:nvSpPr>
        <p:spPr>
          <a:xfrm>
            <a:off x="777240" y="1691640"/>
            <a:ext cx="5029200" cy="365760"/>
          </a:xfrm>
          <a:prstGeom prst="rect">
            <a:avLst/>
          </a:prstGeom>
          <a:noFill/>
          <a:ln/>
        </p:spPr>
        <p:txBody>
          <a:bodyPr wrap="square" lIns="0" tIns="0" rIns="0" bIns="0" rtlCol="0" anchor="ctr"/>
          <a:lstStyle/>
          <a:p>
            <a:pPr indent="0" marL="0">
              <a:buNone/>
            </a:pPr>
            <a:r>
              <a:rPr lang="en-US" sz="1900" b="1" dirty="0">
                <a:solidFill>
                  <a:srgbClr val="0B1929"/>
                </a:solidFill>
                <a:latin typeface="Calibri" pitchFamily="34" charset="0"/>
                <a:ea typeface="Calibri" pitchFamily="34" charset="-122"/>
                <a:cs typeface="Calibri" pitchFamily="34" charset="-120"/>
              </a:rPr>
              <a:t>Performance health reviewed</a:t>
            </a:r>
            <a:endParaRPr lang="en-US" sz="1900" dirty="0"/>
          </a:p>
        </p:txBody>
      </p:sp>
      <p:graphicFrame>
        <p:nvGraphicFramePr>
          <p:cNvPr id="10" name="Chart 0" descr=""/>
          <p:cNvGraphicFramePr/>
          <p:nvPr/>
        </p:nvGraphicFramePr>
        <p:xfrm>
          <a:off x="685800" y="2103120"/>
          <a:ext cx="5212080" cy="22860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777240" y="4526280"/>
            <a:ext cx="502920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Layout stability on the homepage measured at 0.020 (no unexpected shifting).</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Homepage full load took about 5 seconds in a single test run, which is acceptable; the main content appears sooner.</a:t>
            </a:r>
            <a:endParaRPr lang="en-US" sz="1300" dirty="0"/>
          </a:p>
          <a:p>
            <a:pPr marL="342900" indent="-3429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The main content of the homepage appeared in about 1.4 s on desktop.</a:t>
            </a:r>
            <a:endParaRPr lang="en-US" sz="1300" dirty="0"/>
          </a:p>
        </p:txBody>
      </p:sp>
      <p:sp>
        <p:nvSpPr>
          <p:cNvPr id="12" name="Text 8"/>
          <p:cNvSpPr txBox="1"/>
          <p:nvPr/>
        </p:nvSpPr>
        <p:spPr>
          <a:xfrm>
            <a:off x="6537960" y="1691640"/>
            <a:ext cx="4846320" cy="365760"/>
          </a:xfrm>
          <a:prstGeom prst="rect">
            <a:avLst/>
          </a:prstGeom>
          <a:noFill/>
          <a:ln/>
        </p:spPr>
        <p:txBody>
          <a:bodyPr wrap="square" lIns="0" tIns="0" rIns="0" bIns="0" rtlCol="0" anchor="ctr"/>
          <a:lstStyle/>
          <a:p>
            <a:pPr indent="0" marL="0">
              <a:buNone/>
            </a:pPr>
            <a:r>
              <a:rPr lang="en-US" sz="1900" b="1" dirty="0">
                <a:solidFill>
                  <a:srgbClr val="0B1929"/>
                </a:solidFill>
                <a:latin typeface="Calibri" pitchFamily="34" charset="0"/>
                <a:ea typeface="Calibri" pitchFamily="34" charset="-122"/>
                <a:cs typeface="Calibri" pitchFamily="34" charset="-120"/>
              </a:rPr>
              <a:t>SEO health reviewed</a:t>
            </a:r>
            <a:endParaRPr lang="en-US" sz="1900" dirty="0"/>
          </a:p>
        </p:txBody>
      </p:sp>
      <p:sp>
        <p:nvSpPr>
          <p:cNvPr id="13" name="Shape 9"/>
          <p:cNvSpPr/>
          <p:nvPr/>
        </p:nvSpPr>
        <p:spPr>
          <a:xfrm>
            <a:off x="6537960" y="2221992"/>
            <a:ext cx="274320" cy="274320"/>
          </a:xfrm>
          <a:prstGeom prst="ellipse">
            <a:avLst/>
          </a:prstGeom>
          <a:solidFill>
            <a:srgbClr val="16A34A"/>
          </a:solidFill>
          <a:ln w="12700">
            <a:solidFill>
              <a:srgbClr val="16A34A"/>
            </a:solidFill>
            <a:prstDash val="solid"/>
          </a:ln>
        </p:spPr>
      </p:sp>
      <p:sp>
        <p:nvSpPr>
          <p:cNvPr id="14" name="Text 10"/>
          <p:cNvSpPr txBox="1"/>
          <p:nvPr/>
        </p:nvSpPr>
        <p:spPr>
          <a:xfrm>
            <a:off x="6995160" y="2148840"/>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Search-engine files (robots.txt and sitemap) are in place and valid</a:t>
            </a:r>
            <a:endParaRPr lang="en-US" sz="1300" dirty="0"/>
          </a:p>
        </p:txBody>
      </p:sp>
      <p:sp>
        <p:nvSpPr>
          <p:cNvPr id="15" name="Shape 11"/>
          <p:cNvSpPr/>
          <p:nvPr/>
        </p:nvSpPr>
        <p:spPr>
          <a:xfrm>
            <a:off x="6537960" y="2843784"/>
            <a:ext cx="274320" cy="274320"/>
          </a:xfrm>
          <a:prstGeom prst="ellipse">
            <a:avLst/>
          </a:prstGeom>
          <a:solidFill>
            <a:srgbClr val="D9962B"/>
          </a:solidFill>
          <a:ln w="12700">
            <a:solidFill>
              <a:srgbClr val="D9962B"/>
            </a:solidFill>
            <a:prstDash val="solid"/>
          </a:ln>
        </p:spPr>
      </p:sp>
      <p:sp>
        <p:nvSpPr>
          <p:cNvPr id="16" name="Text 12"/>
          <p:cNvSpPr txBox="1"/>
          <p:nvPr/>
        </p:nvSpPr>
        <p:spPr>
          <a:xfrm>
            <a:off x="6995160" y="2770632"/>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2 sampled pages missing canonical addresses or social sharing tags</a:t>
            </a:r>
            <a:endParaRPr lang="en-US" sz="1300" dirty="0"/>
          </a:p>
        </p:txBody>
      </p:sp>
      <p:sp>
        <p:nvSpPr>
          <p:cNvPr id="17" name="Shape 13"/>
          <p:cNvSpPr/>
          <p:nvPr/>
        </p:nvSpPr>
        <p:spPr>
          <a:xfrm>
            <a:off x="6537960" y="3465576"/>
            <a:ext cx="274320" cy="274320"/>
          </a:xfrm>
          <a:prstGeom prst="ellipse">
            <a:avLst/>
          </a:prstGeom>
          <a:solidFill>
            <a:srgbClr val="16A34A"/>
          </a:solidFill>
          <a:ln w="12700">
            <a:solidFill>
              <a:srgbClr val="16A34A"/>
            </a:solidFill>
            <a:prstDash val="solid"/>
          </a:ln>
        </p:spPr>
      </p:sp>
      <p:sp>
        <p:nvSpPr>
          <p:cNvPr id="18" name="Text 14"/>
          <p:cNvSpPr txBox="1"/>
          <p:nvPr/>
        </p:nvSpPr>
        <p:spPr>
          <a:xfrm>
            <a:off x="6995160" y="3392424"/>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Structured data present (organisation, product, breadcrumbs)</a:t>
            </a:r>
            <a:endParaRPr lang="en-US" sz="1300" dirty="0"/>
          </a:p>
        </p:txBody>
      </p:sp>
      <p:sp>
        <p:nvSpPr>
          <p:cNvPr id="19" name="Shape 15"/>
          <p:cNvSpPr/>
          <p:nvPr/>
        </p:nvSpPr>
        <p:spPr>
          <a:xfrm>
            <a:off x="6537960" y="4087368"/>
            <a:ext cx="274320" cy="274320"/>
          </a:xfrm>
          <a:prstGeom prst="ellipse">
            <a:avLst/>
          </a:prstGeom>
          <a:solidFill>
            <a:srgbClr val="16A34A"/>
          </a:solidFill>
          <a:ln w="12700">
            <a:solidFill>
              <a:srgbClr val="16A34A"/>
            </a:solidFill>
            <a:prstDash val="solid"/>
          </a:ln>
        </p:spPr>
      </p:sp>
      <p:sp>
        <p:nvSpPr>
          <p:cNvPr id="20" name="Text 16"/>
          <p:cNvSpPr txBox="1"/>
          <p:nvPr/>
        </p:nvSpPr>
        <p:spPr>
          <a:xfrm>
            <a:off x="6995160" y="4014216"/>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No pages blocked from search engines in the sample</a:t>
            </a:r>
            <a:endParaRPr lang="en-US" sz="1300" dirty="0"/>
          </a:p>
        </p:txBody>
      </p:sp>
      <p:sp>
        <p:nvSpPr>
          <p:cNvPr id="21" name="Shape 17"/>
          <p:cNvSpPr/>
          <p:nvPr/>
        </p:nvSpPr>
        <p:spPr>
          <a:xfrm>
            <a:off x="6537960" y="4709160"/>
            <a:ext cx="274320" cy="274320"/>
          </a:xfrm>
          <a:prstGeom prst="ellipse">
            <a:avLst/>
          </a:prstGeom>
          <a:solidFill>
            <a:srgbClr val="D9962B"/>
          </a:solidFill>
          <a:ln w="12700">
            <a:solidFill>
              <a:srgbClr val="D9962B"/>
            </a:solidFill>
            <a:prstDash val="solid"/>
          </a:ln>
        </p:spPr>
      </p:sp>
      <p:sp>
        <p:nvSpPr>
          <p:cNvPr id="22" name="Text 18"/>
          <p:cNvSpPr txBox="1"/>
          <p:nvPr/>
        </p:nvSpPr>
        <p:spPr>
          <a:xfrm>
            <a:off x="6995160" y="4636008"/>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3 of 19 sampled pages have no meta description</a:t>
            </a:r>
            <a:endParaRPr lang="en-US" sz="1300" dirty="0"/>
          </a:p>
        </p:txBody>
      </p:sp>
      <p:sp>
        <p:nvSpPr>
          <p:cNvPr id="23" name="Shape 19"/>
          <p:cNvSpPr/>
          <p:nvPr/>
        </p:nvSpPr>
        <p:spPr>
          <a:xfrm>
            <a:off x="6537960" y="5330952"/>
            <a:ext cx="274320" cy="274320"/>
          </a:xfrm>
          <a:prstGeom prst="ellipse">
            <a:avLst/>
          </a:prstGeom>
          <a:solidFill>
            <a:srgbClr val="D9962B"/>
          </a:solidFill>
          <a:ln w="12700">
            <a:solidFill>
              <a:srgbClr val="D9962B"/>
            </a:solidFill>
            <a:prstDash val="solid"/>
          </a:ln>
        </p:spPr>
      </p:sp>
      <p:sp>
        <p:nvSpPr>
          <p:cNvPr id="24" name="Text 20"/>
          <p:cNvSpPr txBox="1"/>
          <p:nvPr/>
        </p:nvSpPr>
        <p:spPr>
          <a:xfrm>
            <a:off x="6995160" y="5257800"/>
            <a:ext cx="4389120" cy="566928"/>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few pages have missing or repeated headings</a:t>
            </a:r>
            <a:endParaRPr lang="en-US" sz="1300" dirty="0"/>
          </a:p>
        </p:txBody>
      </p:sp>
      <p:sp>
        <p:nvSpPr>
          <p:cNvPr id="25" name="Text 21"/>
          <p:cNvSpPr txBox="1"/>
          <p:nvPr/>
        </p:nvSpPr>
        <p:spPr>
          <a:xfrm>
            <a:off x="6537960" y="5852160"/>
            <a:ext cx="4937760" cy="27432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Amber items are recommendations, not confirmed problems for visitors.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SECURITY CHECKS</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Security &amp; website protection</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548640" y="1508760"/>
            <a:ext cx="11064240" cy="457200"/>
          </a:xfrm>
          <a:prstGeom prst="rect">
            <a:avLst/>
          </a:prstGeom>
          <a:noFill/>
          <a:ln/>
        </p:spPr>
        <p:txBody>
          <a:bodyPr wrap="square" lIns="0" tIns="0" rIns="0" bIns="0" rtlCol="0" anchor="ctr"/>
          <a:lstStyle/>
          <a:p>
            <a:pPr indent="0" marL="0">
              <a:buNone/>
            </a:pPr>
            <a:r>
              <a:rPr lang="en-US" sz="1600" dirty="0">
                <a:solidFill>
                  <a:srgbClr val="0F172A"/>
                </a:solidFill>
                <a:latin typeface="Calibri" pitchFamily="34" charset="0"/>
                <a:ea typeface="Calibri" pitchFamily="34" charset="-122"/>
                <a:cs typeface="Calibri" pitchFamily="34" charset="-120"/>
              </a:rPr>
              <a:t>Routine, non-destructive security checks were performed across observable website behaviour.</a:t>
            </a:r>
            <a:endParaRPr lang="en-US" sz="1600" dirty="0"/>
          </a:p>
        </p:txBody>
      </p:sp>
      <p:sp>
        <p:nvSpPr>
          <p:cNvPr id="8" name="Shape 5"/>
          <p:cNvSpPr/>
          <p:nvPr/>
        </p:nvSpPr>
        <p:spPr>
          <a:xfrm>
            <a:off x="548640" y="2194560"/>
            <a:ext cx="5440680" cy="3291840"/>
          </a:xfrm>
          <a:prstGeom prst="roundRect">
            <a:avLst>
              <a:gd name="adj" fmla="val 3333"/>
            </a:avLst>
          </a:prstGeom>
          <a:solidFill>
            <a:srgbClr val="E3F1FA"/>
          </a:solidFill>
          <a:ln w="12700">
            <a:solidFill>
              <a:srgbClr val="E3F1FA"/>
            </a:solidFill>
            <a:prstDash val="solid"/>
          </a:ln>
        </p:spPr>
      </p:sp>
      <p:sp>
        <p:nvSpPr>
          <p:cNvPr id="9" name="Shape 6"/>
          <p:cNvSpPr/>
          <p:nvPr/>
        </p:nvSpPr>
        <p:spPr>
          <a:xfrm>
            <a:off x="6172200" y="2194560"/>
            <a:ext cx="5440680" cy="3291840"/>
          </a:xfrm>
          <a:prstGeom prst="roundRect">
            <a:avLst>
              <a:gd name="adj" fmla="val 3333"/>
            </a:avLst>
          </a:prstGeom>
          <a:solidFill>
            <a:srgbClr val="F1F5F9"/>
          </a:solidFill>
          <a:ln w="12700">
            <a:solidFill>
              <a:srgbClr val="F1F5F9"/>
            </a:solidFill>
            <a:prstDash val="solid"/>
          </a:ln>
        </p:spPr>
      </p:sp>
      <p:sp>
        <p:nvSpPr>
          <p:cNvPr id="10" name="Shape 7"/>
          <p:cNvSpPr/>
          <p:nvPr/>
        </p:nvSpPr>
        <p:spPr>
          <a:xfrm>
            <a:off x="777240" y="2377440"/>
            <a:ext cx="548640" cy="548640"/>
          </a:xfrm>
          <a:prstGeom prst="ellipse">
            <a:avLst/>
          </a:prstGeom>
          <a:solidFill>
            <a:srgbClr val="16A34A"/>
          </a:solidFill>
          <a:ln w="12700">
            <a:solidFill>
              <a:srgbClr val="16A34A"/>
            </a:solidFill>
            <a:prstDash val="solid"/>
          </a:ln>
        </p:spPr>
      </p:sp>
      <p:pic>
        <p:nvPicPr>
          <p:cNvPr id="11" name="Image 1" descr="preencoded.png">    </p:cNvPr>
          <p:cNvPicPr>
            <a:picLocks noChangeAspect="1"/>
          </p:cNvPicPr>
          <p:nvPr/>
        </p:nvPicPr>
        <p:blipFill>
          <a:blip r:embed="rId2"/>
          <a:stretch>
            <a:fillRect/>
          </a:stretch>
        </p:blipFill>
        <p:spPr>
          <a:xfrm>
            <a:off x="914400" y="2514600"/>
            <a:ext cx="274320" cy="274320"/>
          </a:xfrm>
          <a:prstGeom prst="rect">
            <a:avLst/>
          </a:prstGeom>
        </p:spPr>
      </p:pic>
      <p:sp>
        <p:nvSpPr>
          <p:cNvPr id="12" name="Text 8"/>
          <p:cNvSpPr txBox="1"/>
          <p:nvPr/>
        </p:nvSpPr>
        <p:spPr>
          <a:xfrm>
            <a:off x="1508760" y="2423160"/>
            <a:ext cx="4297680" cy="45720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Observed in good order</a:t>
            </a:r>
            <a:endParaRPr lang="en-US" sz="1800" dirty="0"/>
          </a:p>
        </p:txBody>
      </p:sp>
      <p:sp>
        <p:nvSpPr>
          <p:cNvPr id="13" name="Text 9"/>
          <p:cNvSpPr txBox="1"/>
          <p:nvPr/>
        </p:nvSpPr>
        <p:spPr>
          <a:xfrm>
            <a:off x="822960" y="3108960"/>
            <a:ext cx="49377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Secure connection (HTTPS) active; visitors on the plain-web address are redirected to it</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No insecure content found loading on the pages checked</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Unusual characters typed into search were not displayed back unsafely</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Sign-in and checkout forms validate input and show clear messages</a:t>
            </a:r>
            <a:endParaRPr lang="en-US" sz="1400" dirty="0"/>
          </a:p>
        </p:txBody>
      </p:sp>
      <p:sp>
        <p:nvSpPr>
          <p:cNvPr id="14" name="Shape 10"/>
          <p:cNvSpPr/>
          <p:nvPr/>
        </p:nvSpPr>
        <p:spPr>
          <a:xfrm>
            <a:off x="6400800" y="2377440"/>
            <a:ext cx="548640" cy="548640"/>
          </a:xfrm>
          <a:prstGeom prst="ellipse">
            <a:avLst/>
          </a:prstGeom>
          <a:solidFill>
            <a:srgbClr val="0086C7"/>
          </a:solidFill>
          <a:ln w="12700">
            <a:solidFill>
              <a:srgbClr val="0086C7"/>
            </a:solidFill>
            <a:prstDash val="solid"/>
          </a:ln>
        </p:spPr>
      </p:sp>
      <p:pic>
        <p:nvPicPr>
          <p:cNvPr id="15" name="Image 2" descr="preencoded.png">    </p:cNvPr>
          <p:cNvPicPr>
            <a:picLocks noChangeAspect="1"/>
          </p:cNvPicPr>
          <p:nvPr/>
        </p:nvPicPr>
        <p:blipFill>
          <a:blip r:embed="rId3"/>
          <a:stretch>
            <a:fillRect/>
          </a:stretch>
        </p:blipFill>
        <p:spPr>
          <a:xfrm>
            <a:off x="6537960" y="2514600"/>
            <a:ext cx="274320" cy="274320"/>
          </a:xfrm>
          <a:prstGeom prst="rect">
            <a:avLst/>
          </a:prstGeom>
        </p:spPr>
      </p:pic>
      <p:sp>
        <p:nvSpPr>
          <p:cNvPr id="16" name="Text 11"/>
          <p:cNvSpPr txBox="1"/>
          <p:nvPr/>
        </p:nvSpPr>
        <p:spPr>
          <a:xfrm>
            <a:off x="7132320" y="2423160"/>
            <a:ext cx="4297680" cy="457200"/>
          </a:xfrm>
          <a:prstGeom prst="rect">
            <a:avLst/>
          </a:prstGeom>
          <a:noFill/>
          <a:ln/>
        </p:spPr>
        <p:txBody>
          <a:bodyPr wrap="square" lIns="0" tIns="0" rIns="0" bIns="0" rtlCol="0" anchor="ctr"/>
          <a:lstStyle/>
          <a:p>
            <a:pPr indent="0" marL="0">
              <a:buNone/>
            </a:pPr>
            <a:r>
              <a:rPr lang="en-US" sz="1800" b="1" dirty="0">
                <a:solidFill>
                  <a:srgbClr val="0B1929"/>
                </a:solidFill>
                <a:latin typeface="Calibri" pitchFamily="34" charset="0"/>
                <a:ea typeface="Calibri" pitchFamily="34" charset="-122"/>
                <a:cs typeface="Calibri" pitchFamily="34" charset="-120"/>
              </a:rPr>
              <a:t>Recommended hardening</a:t>
            </a:r>
            <a:endParaRPr lang="en-US" sz="1800" dirty="0"/>
          </a:p>
        </p:txBody>
      </p:sp>
      <p:sp>
        <p:nvSpPr>
          <p:cNvPr id="17" name="Text 12"/>
          <p:cNvSpPr txBox="1"/>
          <p:nvPr/>
        </p:nvSpPr>
        <p:spPr>
          <a:xfrm>
            <a:off x="6446520" y="3108960"/>
            <a:ext cx="49377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Strengthen the browser security settings the site sends (for example, enforce secure connections for returning visitors)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Add optional extra privacy and protection headers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Update an older script library (jQuery) that has known security notices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Add email sender protection (DMARC and DKIM records) so the shop's emails are trusted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MAINTENANCE SUMMARY</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Maintenance activities completed</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554480"/>
            <a:ext cx="3520440" cy="2194560"/>
          </a:xfrm>
          <a:prstGeom prst="roundRect">
            <a:avLst>
              <a:gd name="adj" fmla="val 5000"/>
            </a:avLst>
          </a:prstGeom>
          <a:solidFill>
            <a:srgbClr val="F1F5F9"/>
          </a:solidFill>
          <a:ln w="12700">
            <a:solidFill>
              <a:srgbClr val="F1F5F9"/>
            </a:solidFill>
            <a:prstDash val="solid"/>
          </a:ln>
        </p:spPr>
      </p:sp>
      <p:sp>
        <p:nvSpPr>
          <p:cNvPr id="8" name="Shape 5"/>
          <p:cNvSpPr/>
          <p:nvPr/>
        </p:nvSpPr>
        <p:spPr>
          <a:xfrm>
            <a:off x="731520" y="1737360"/>
            <a:ext cx="502920" cy="502920"/>
          </a:xfrm>
          <a:prstGeom prst="ellipse">
            <a:avLst/>
          </a:prstGeom>
          <a:solidFill>
            <a:srgbClr val="0B1929"/>
          </a:solidFill>
          <a:ln w="12700">
            <a:solidFill>
              <a:srgbClr val="0B1929"/>
            </a:solidFill>
            <a:prstDash val="solid"/>
          </a:ln>
        </p:spPr>
      </p:sp>
      <p:pic>
        <p:nvPicPr>
          <p:cNvPr id="9" name="Image 1" descr="preencoded.png">    </p:cNvPr>
          <p:cNvPicPr>
            <a:picLocks noChangeAspect="1"/>
          </p:cNvPicPr>
          <p:nvPr/>
        </p:nvPicPr>
        <p:blipFill>
          <a:blip r:embed="rId2"/>
          <a:stretch>
            <a:fillRect/>
          </a:stretch>
        </p:blipFill>
        <p:spPr>
          <a:xfrm>
            <a:off x="857250" y="1863090"/>
            <a:ext cx="251460" cy="251460"/>
          </a:xfrm>
          <a:prstGeom prst="rect">
            <a:avLst/>
          </a:prstGeom>
        </p:spPr>
      </p:pic>
      <p:sp>
        <p:nvSpPr>
          <p:cNvPr id="10" name="Text 6"/>
          <p:cNvSpPr txBox="1"/>
          <p:nvPr/>
        </p:nvSpPr>
        <p:spPr>
          <a:xfrm>
            <a:off x="1371600" y="181051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Website</a:t>
            </a:r>
            <a:endParaRPr lang="en-US" sz="1700" dirty="0"/>
          </a:p>
        </p:txBody>
      </p:sp>
      <p:sp>
        <p:nvSpPr>
          <p:cNvPr id="11" name="Text 7"/>
          <p:cNvSpPr txBox="1"/>
          <p:nvPr/>
        </p:nvSpPr>
        <p:spPr>
          <a:xfrm>
            <a:off x="822960" y="242316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Functional health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Navigation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Sign-in and checkout validation checks</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Link availability checks (378 pages)</a:t>
            </a:r>
            <a:endParaRPr lang="en-US" sz="1250" dirty="0"/>
          </a:p>
        </p:txBody>
      </p:sp>
      <p:sp>
        <p:nvSpPr>
          <p:cNvPr id="12" name="Shape 8"/>
          <p:cNvSpPr/>
          <p:nvPr/>
        </p:nvSpPr>
        <p:spPr>
          <a:xfrm>
            <a:off x="4297680" y="1554480"/>
            <a:ext cx="3520440" cy="2194560"/>
          </a:xfrm>
          <a:prstGeom prst="roundRect">
            <a:avLst>
              <a:gd name="adj" fmla="val 5000"/>
            </a:avLst>
          </a:prstGeom>
          <a:solidFill>
            <a:srgbClr val="F1F5F9"/>
          </a:solidFill>
          <a:ln w="12700">
            <a:solidFill>
              <a:srgbClr val="F1F5F9"/>
            </a:solidFill>
            <a:prstDash val="solid"/>
          </a:ln>
        </p:spPr>
      </p:sp>
      <p:sp>
        <p:nvSpPr>
          <p:cNvPr id="13" name="Shape 9"/>
          <p:cNvSpPr/>
          <p:nvPr/>
        </p:nvSpPr>
        <p:spPr>
          <a:xfrm>
            <a:off x="4480560" y="1737360"/>
            <a:ext cx="502920" cy="502920"/>
          </a:xfrm>
          <a:prstGeom prst="ellipse">
            <a:avLst/>
          </a:prstGeom>
          <a:solidFill>
            <a:srgbClr val="0B1929"/>
          </a:solidFill>
          <a:ln w="12700">
            <a:solidFill>
              <a:srgbClr val="0B1929"/>
            </a:solidFill>
            <a:prstDash val="solid"/>
          </a:ln>
        </p:spPr>
      </p:sp>
      <p:pic>
        <p:nvPicPr>
          <p:cNvPr id="14" name="Image 2" descr="preencoded.png">    </p:cNvPr>
          <p:cNvPicPr>
            <a:picLocks noChangeAspect="1"/>
          </p:cNvPicPr>
          <p:nvPr/>
        </p:nvPicPr>
        <p:blipFill>
          <a:blip r:embed="rId3"/>
          <a:stretch>
            <a:fillRect/>
          </a:stretch>
        </p:blipFill>
        <p:spPr>
          <a:xfrm>
            <a:off x="4606290" y="1863090"/>
            <a:ext cx="251460" cy="251460"/>
          </a:xfrm>
          <a:prstGeom prst="rect">
            <a:avLst/>
          </a:prstGeom>
        </p:spPr>
      </p:pic>
      <p:sp>
        <p:nvSpPr>
          <p:cNvPr id="15" name="Text 10"/>
          <p:cNvSpPr txBox="1"/>
          <p:nvPr/>
        </p:nvSpPr>
        <p:spPr>
          <a:xfrm>
            <a:off x="5120640" y="181051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Technical</a:t>
            </a:r>
            <a:endParaRPr lang="en-US" sz="1700" dirty="0"/>
          </a:p>
        </p:txBody>
      </p:sp>
      <p:sp>
        <p:nvSpPr>
          <p:cNvPr id="16" name="Text 11"/>
          <p:cNvSpPr txBox="1"/>
          <p:nvPr/>
        </p:nvSpPr>
        <p:spPr>
          <a:xfrm>
            <a:off x="4572000" y="242316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Browser and script monitoring</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Network and service checks</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Third-party tool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Resource loading review</a:t>
            </a:r>
            <a:endParaRPr lang="en-US" sz="1250" dirty="0"/>
          </a:p>
        </p:txBody>
      </p:sp>
      <p:sp>
        <p:nvSpPr>
          <p:cNvPr id="17" name="Shape 12"/>
          <p:cNvSpPr/>
          <p:nvPr/>
        </p:nvSpPr>
        <p:spPr>
          <a:xfrm>
            <a:off x="8046720" y="1554480"/>
            <a:ext cx="3520440" cy="2194560"/>
          </a:xfrm>
          <a:prstGeom prst="roundRect">
            <a:avLst>
              <a:gd name="adj" fmla="val 5000"/>
            </a:avLst>
          </a:prstGeom>
          <a:solidFill>
            <a:srgbClr val="F1F5F9"/>
          </a:solidFill>
          <a:ln w="12700">
            <a:solidFill>
              <a:srgbClr val="F1F5F9"/>
            </a:solidFill>
            <a:prstDash val="solid"/>
          </a:ln>
        </p:spPr>
      </p:sp>
      <p:sp>
        <p:nvSpPr>
          <p:cNvPr id="18" name="Shape 13"/>
          <p:cNvSpPr/>
          <p:nvPr/>
        </p:nvSpPr>
        <p:spPr>
          <a:xfrm>
            <a:off x="8229600" y="1737360"/>
            <a:ext cx="502920" cy="502920"/>
          </a:xfrm>
          <a:prstGeom prst="ellipse">
            <a:avLst/>
          </a:prstGeom>
          <a:solidFill>
            <a:srgbClr val="0B1929"/>
          </a:solidFill>
          <a:ln w="12700">
            <a:solidFill>
              <a:srgbClr val="0B1929"/>
            </a:solidFill>
            <a:prstDash val="solid"/>
          </a:ln>
        </p:spPr>
      </p:sp>
      <p:pic>
        <p:nvPicPr>
          <p:cNvPr id="19" name="Image 3" descr="preencoded.png">    </p:cNvPr>
          <p:cNvPicPr>
            <a:picLocks noChangeAspect="1"/>
          </p:cNvPicPr>
          <p:nvPr/>
        </p:nvPicPr>
        <p:blipFill>
          <a:blip r:embed="rId4"/>
          <a:stretch>
            <a:fillRect/>
          </a:stretch>
        </p:blipFill>
        <p:spPr>
          <a:xfrm>
            <a:off x="8355330" y="1863090"/>
            <a:ext cx="251460" cy="251460"/>
          </a:xfrm>
          <a:prstGeom prst="rect">
            <a:avLst/>
          </a:prstGeom>
        </p:spPr>
      </p:pic>
      <p:sp>
        <p:nvSpPr>
          <p:cNvPr id="20" name="Text 14"/>
          <p:cNvSpPr txBox="1"/>
          <p:nvPr/>
        </p:nvSpPr>
        <p:spPr>
          <a:xfrm>
            <a:off x="8869680" y="181051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Experience</a:t>
            </a:r>
            <a:endParaRPr lang="en-US" sz="1700" dirty="0"/>
          </a:p>
        </p:txBody>
      </p:sp>
      <p:sp>
        <p:nvSpPr>
          <p:cNvPr id="21" name="Text 15"/>
          <p:cNvSpPr txBox="1"/>
          <p:nvPr/>
        </p:nvSpPr>
        <p:spPr>
          <a:xfrm>
            <a:off x="8321040" y="242316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Desktop, tablet and mobile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Layout consistency</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Mobile menu and cart usability</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Basic accessibility checks</a:t>
            </a:r>
            <a:endParaRPr lang="en-US" sz="1250" dirty="0"/>
          </a:p>
        </p:txBody>
      </p:sp>
      <p:sp>
        <p:nvSpPr>
          <p:cNvPr id="22" name="Shape 16"/>
          <p:cNvSpPr/>
          <p:nvPr/>
        </p:nvSpPr>
        <p:spPr>
          <a:xfrm>
            <a:off x="548640" y="3931920"/>
            <a:ext cx="3520440" cy="2194560"/>
          </a:xfrm>
          <a:prstGeom prst="roundRect">
            <a:avLst>
              <a:gd name="adj" fmla="val 5000"/>
            </a:avLst>
          </a:prstGeom>
          <a:solidFill>
            <a:srgbClr val="F1F5F9"/>
          </a:solidFill>
          <a:ln w="12700">
            <a:solidFill>
              <a:srgbClr val="F1F5F9"/>
            </a:solidFill>
            <a:prstDash val="solid"/>
          </a:ln>
        </p:spPr>
      </p:sp>
      <p:sp>
        <p:nvSpPr>
          <p:cNvPr id="23" name="Shape 17"/>
          <p:cNvSpPr/>
          <p:nvPr/>
        </p:nvSpPr>
        <p:spPr>
          <a:xfrm>
            <a:off x="731520" y="4114800"/>
            <a:ext cx="502920" cy="502920"/>
          </a:xfrm>
          <a:prstGeom prst="ellipse">
            <a:avLst/>
          </a:prstGeom>
          <a:solidFill>
            <a:srgbClr val="0B1929"/>
          </a:solidFill>
          <a:ln w="12700">
            <a:solidFill>
              <a:srgbClr val="0B1929"/>
            </a:solidFill>
            <a:prstDash val="solid"/>
          </a:ln>
        </p:spPr>
      </p:sp>
      <p:pic>
        <p:nvPicPr>
          <p:cNvPr id="24" name="Image 4" descr="preencoded.png">    </p:cNvPr>
          <p:cNvPicPr>
            <a:picLocks noChangeAspect="1"/>
          </p:cNvPicPr>
          <p:nvPr/>
        </p:nvPicPr>
        <p:blipFill>
          <a:blip r:embed="rId5"/>
          <a:stretch>
            <a:fillRect/>
          </a:stretch>
        </p:blipFill>
        <p:spPr>
          <a:xfrm>
            <a:off x="857250" y="4240530"/>
            <a:ext cx="251460" cy="251460"/>
          </a:xfrm>
          <a:prstGeom prst="rect">
            <a:avLst/>
          </a:prstGeom>
        </p:spPr>
      </p:pic>
      <p:sp>
        <p:nvSpPr>
          <p:cNvPr id="25" name="Text 18"/>
          <p:cNvSpPr txBox="1"/>
          <p:nvPr/>
        </p:nvSpPr>
        <p:spPr>
          <a:xfrm>
            <a:off x="1371600" y="418795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SEO &amp; performance</a:t>
            </a:r>
            <a:endParaRPr lang="en-US" sz="1700" dirty="0"/>
          </a:p>
        </p:txBody>
      </p:sp>
      <p:sp>
        <p:nvSpPr>
          <p:cNvPr id="26" name="Text 19"/>
          <p:cNvSpPr txBox="1"/>
          <p:nvPr/>
        </p:nvSpPr>
        <p:spPr>
          <a:xfrm>
            <a:off x="822960" y="480060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Search-engine file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Page title and description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Structured data check</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Page speed observations</a:t>
            </a:r>
            <a:endParaRPr lang="en-US" sz="1250" dirty="0"/>
          </a:p>
        </p:txBody>
      </p:sp>
      <p:sp>
        <p:nvSpPr>
          <p:cNvPr id="27" name="Shape 20"/>
          <p:cNvSpPr/>
          <p:nvPr/>
        </p:nvSpPr>
        <p:spPr>
          <a:xfrm>
            <a:off x="4297680" y="3931920"/>
            <a:ext cx="3520440" cy="2194560"/>
          </a:xfrm>
          <a:prstGeom prst="roundRect">
            <a:avLst>
              <a:gd name="adj" fmla="val 5000"/>
            </a:avLst>
          </a:prstGeom>
          <a:solidFill>
            <a:srgbClr val="F1F5F9"/>
          </a:solidFill>
          <a:ln w="12700">
            <a:solidFill>
              <a:srgbClr val="F1F5F9"/>
            </a:solidFill>
            <a:prstDash val="solid"/>
          </a:ln>
        </p:spPr>
      </p:sp>
      <p:sp>
        <p:nvSpPr>
          <p:cNvPr id="28" name="Shape 21"/>
          <p:cNvSpPr/>
          <p:nvPr/>
        </p:nvSpPr>
        <p:spPr>
          <a:xfrm>
            <a:off x="4480560" y="4114800"/>
            <a:ext cx="502920" cy="502920"/>
          </a:xfrm>
          <a:prstGeom prst="ellipse">
            <a:avLst/>
          </a:prstGeom>
          <a:solidFill>
            <a:srgbClr val="0B1929"/>
          </a:solidFill>
          <a:ln w="12700">
            <a:solidFill>
              <a:srgbClr val="0B1929"/>
            </a:solidFill>
            <a:prstDash val="solid"/>
          </a:ln>
        </p:spPr>
      </p:sp>
      <p:pic>
        <p:nvPicPr>
          <p:cNvPr id="29" name="Image 5" descr="preencoded.png">    </p:cNvPr>
          <p:cNvPicPr>
            <a:picLocks noChangeAspect="1"/>
          </p:cNvPicPr>
          <p:nvPr/>
        </p:nvPicPr>
        <p:blipFill>
          <a:blip r:embed="rId6"/>
          <a:stretch>
            <a:fillRect/>
          </a:stretch>
        </p:blipFill>
        <p:spPr>
          <a:xfrm>
            <a:off x="4606290" y="4240530"/>
            <a:ext cx="251460" cy="251460"/>
          </a:xfrm>
          <a:prstGeom prst="rect">
            <a:avLst/>
          </a:prstGeom>
        </p:spPr>
      </p:pic>
      <p:sp>
        <p:nvSpPr>
          <p:cNvPr id="30" name="Text 22"/>
          <p:cNvSpPr txBox="1"/>
          <p:nvPr/>
        </p:nvSpPr>
        <p:spPr>
          <a:xfrm>
            <a:off x="5120640" y="4187952"/>
            <a:ext cx="256032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Preventive</a:t>
            </a:r>
            <a:endParaRPr lang="en-US" sz="1700" dirty="0"/>
          </a:p>
        </p:txBody>
      </p:sp>
      <p:sp>
        <p:nvSpPr>
          <p:cNvPr id="31" name="Text 23"/>
          <p:cNvSpPr txBox="1"/>
          <p:nvPr/>
        </p:nvSpPr>
        <p:spPr>
          <a:xfrm>
            <a:off x="4572000" y="4800600"/>
            <a:ext cx="3108960" cy="128016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Baseline established for future comparison</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Safe security observations</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Test data cleaned up after review</a:t>
            </a:r>
            <a:endParaRPr lang="en-US" sz="1250" dirty="0"/>
          </a:p>
          <a:p>
            <a:pPr marL="342900" indent="-342900">
              <a:spcAft>
                <a:spcPts val="300"/>
              </a:spcAft>
              <a:buSzPct val="100000"/>
              <a:buChar char="•"/>
            </a:pPr>
            <a:r>
              <a:rPr lang="en-US" sz="1250" dirty="0">
                <a:solidFill>
                  <a:srgbClr val="0F172A"/>
                </a:solidFill>
                <a:latin typeface="Calibri" pitchFamily="34" charset="0"/>
                <a:ea typeface="Calibri" pitchFamily="34" charset="-122"/>
                <a:cs typeface="Calibri" pitchFamily="34" charset="-120"/>
              </a:rPr>
              <a:t>Follow-up list prepared</a:t>
            </a:r>
            <a:endParaRPr lang="en-US" sz="1250" dirty="0"/>
          </a:p>
        </p:txBody>
      </p:sp>
      <p:sp>
        <p:nvSpPr>
          <p:cNvPr id="32" name="Shape 24"/>
          <p:cNvSpPr/>
          <p:nvPr/>
        </p:nvSpPr>
        <p:spPr>
          <a:xfrm>
            <a:off x="8046720" y="3931920"/>
            <a:ext cx="3566160" cy="2194560"/>
          </a:xfrm>
          <a:prstGeom prst="roundRect">
            <a:avLst>
              <a:gd name="adj" fmla="val 5000"/>
            </a:avLst>
          </a:prstGeom>
          <a:solidFill>
            <a:srgbClr val="0B1929"/>
          </a:solidFill>
          <a:ln w="12700">
            <a:solidFill>
              <a:srgbClr val="0B1929"/>
            </a:solidFill>
            <a:prstDash val="solid"/>
          </a:ln>
        </p:spPr>
      </p:sp>
      <p:sp>
        <p:nvSpPr>
          <p:cNvPr id="33" name="Text 25"/>
          <p:cNvSpPr txBox="1"/>
          <p:nvPr/>
        </p:nvSpPr>
        <p:spPr>
          <a:xfrm>
            <a:off x="8275320" y="4069080"/>
            <a:ext cx="3200400" cy="365760"/>
          </a:xfrm>
          <a:prstGeom prst="rect">
            <a:avLst/>
          </a:prstGeom>
          <a:noFill/>
          <a:ln/>
        </p:spPr>
        <p:txBody>
          <a:bodyPr wrap="square" lIns="0" tIns="0" rIns="0" bIns="0" rtlCol="0" anchor="ctr"/>
          <a:lstStyle/>
          <a:p>
            <a:pPr indent="0" marL="0">
              <a:buNone/>
            </a:pPr>
            <a:r>
              <a:rPr lang="en-US" sz="1500" b="1" dirty="0">
                <a:solidFill>
                  <a:srgbClr val="7CC4EC"/>
                </a:solidFill>
                <a:latin typeface="Calibri" pitchFamily="34" charset="0"/>
                <a:ea typeface="Calibri" pitchFamily="34" charset="-122"/>
                <a:cs typeface="Calibri" pitchFamily="34" charset="-120"/>
              </a:rPr>
              <a:t>Not part of this review</a:t>
            </a:r>
            <a:endParaRPr lang="en-US" sz="1500" dirty="0"/>
          </a:p>
        </p:txBody>
      </p:sp>
      <p:sp>
        <p:nvSpPr>
          <p:cNvPr id="34" name="Text 26"/>
          <p:cNvSpPr txBox="1"/>
          <p:nvPr/>
        </p:nvSpPr>
        <p:spPr>
          <a:xfrm>
            <a:off x="8275320" y="4526280"/>
            <a:ext cx="3154680" cy="14630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Live payments, backups, updates and form submissions were outside this month's scope.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FINDINGS AND NEXT STEPS</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Issues &amp; improvements</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10</a:t>
            </a:r>
            <a:endParaRPr lang="en-US" sz="1000" dirty="0"/>
          </a:p>
        </p:txBody>
      </p:sp>
      <p:graphicFrame>
        <p:nvGraphicFramePr>
          <p:cNvPr id="7" name="Chart 0" descr=""/>
          <p:cNvGraphicFramePr/>
          <p:nvPr/>
        </p:nvGraphicFramePr>
        <p:xfrm>
          <a:off x="457200" y="1554480"/>
          <a:ext cx="3108960" cy="27432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548640" y="4434840"/>
            <a:ext cx="3017520" cy="365760"/>
          </a:xfrm>
          <a:prstGeom prst="rect">
            <a:avLst/>
          </a:prstGeom>
          <a:noFill/>
          <a:ln/>
        </p:spPr>
        <p:txBody>
          <a:bodyPr wrap="square" lIns="0" tIns="0" rIns="0" bIns="0" rtlCol="0" anchor="ctr"/>
          <a:lstStyle/>
          <a:p>
            <a:pPr algn="ctr" indent="0" marL="0">
              <a:buNone/>
            </a:pPr>
            <a:r>
              <a:rPr lang="en-US" sz="1800" b="1" dirty="0">
                <a:solidFill>
                  <a:srgbClr val="0B1929"/>
                </a:solidFill>
                <a:latin typeface="Calibri" pitchFamily="34" charset="0"/>
                <a:ea typeface="Calibri" pitchFamily="34" charset="-122"/>
                <a:cs typeface="Calibri" pitchFamily="34" charset="-120"/>
              </a:rPr>
              <a:t>23 observations</a:t>
            </a:r>
            <a:endParaRPr lang="en-US" sz="1800" dirty="0"/>
          </a:p>
        </p:txBody>
      </p:sp>
      <p:sp>
        <p:nvSpPr>
          <p:cNvPr id="9" name="Text 5"/>
          <p:cNvSpPr txBox="1"/>
          <p:nvPr/>
        </p:nvSpPr>
        <p:spPr>
          <a:xfrm>
            <a:off x="548640" y="4846320"/>
            <a:ext cx="3017520" cy="1371600"/>
          </a:xfrm>
          <a:prstGeom prst="rect">
            <a:avLst/>
          </a:prstGeom>
          <a:noFill/>
          <a:ln/>
        </p:spPr>
        <p:txBody>
          <a:bodyPr wrap="square" lIns="0" tIns="0" rIns="0" bIns="0" rtlCol="0" anchor="t"/>
          <a:lstStyle/>
          <a:p>
            <a:pPr algn="ctr" indent="0" marL="0">
              <a:buNone/>
            </a:pPr>
            <a:r>
              <a:rPr lang="en-US" sz="1200" dirty="0">
                <a:solidFill>
                  <a:srgbClr val="475569"/>
                </a:solidFill>
                <a:latin typeface="Calibri" pitchFamily="34" charset="0"/>
                <a:ea typeface="Calibri" pitchFamily="34" charset="-122"/>
                <a:cs typeface="Calibri" pitchFamily="34" charset="-120"/>
              </a:rPr>
              <a:t>4 high-priority items are included in the table below. No changes were applied to the live site during this review, so items below are open and documented for follow-up.</a:t>
            </a:r>
            <a:endParaRPr lang="en-US" sz="1200" dirty="0"/>
          </a:p>
        </p:txBody>
      </p:sp>
      <p:sp>
        <p:nvSpPr>
          <p:cNvPr id="10" name="Text 6"/>
          <p:cNvSpPr txBox="1"/>
          <p:nvPr/>
        </p:nvSpPr>
        <p:spPr>
          <a:xfrm>
            <a:off x="3977640" y="1554480"/>
            <a:ext cx="1645920" cy="274320"/>
          </a:xfrm>
          <a:prstGeom prst="rect">
            <a:avLst/>
          </a:prstGeom>
          <a:noFill/>
          <a:ln/>
        </p:spPr>
        <p:txBody>
          <a:bodyPr wrap="square" lIns="0" tIns="0" rIns="0" bIns="0" rtlCol="0" anchor="ctr"/>
          <a:lstStyle/>
          <a:p>
            <a:pPr indent="0" marL="0">
              <a:buNone/>
            </a:pPr>
            <a:r>
              <a:rPr lang="en-US" sz="1200" b="1" dirty="0">
                <a:solidFill>
                  <a:srgbClr val="0086C7"/>
                </a:solidFill>
                <a:latin typeface="Calibri" pitchFamily="34" charset="0"/>
                <a:ea typeface="Calibri" pitchFamily="34" charset="-122"/>
                <a:cs typeface="Calibri" pitchFamily="34" charset="-120"/>
              </a:rPr>
              <a:t>Area</a:t>
            </a:r>
            <a:endParaRPr lang="en-US" sz="1200" dirty="0"/>
          </a:p>
        </p:txBody>
      </p:sp>
      <p:sp>
        <p:nvSpPr>
          <p:cNvPr id="11" name="Text 7"/>
          <p:cNvSpPr txBox="1"/>
          <p:nvPr/>
        </p:nvSpPr>
        <p:spPr>
          <a:xfrm>
            <a:off x="5669280" y="1554480"/>
            <a:ext cx="2377440" cy="274320"/>
          </a:xfrm>
          <a:prstGeom prst="rect">
            <a:avLst/>
          </a:prstGeom>
          <a:noFill/>
          <a:ln/>
        </p:spPr>
        <p:txBody>
          <a:bodyPr wrap="square" lIns="0" tIns="0" rIns="0" bIns="0" rtlCol="0" anchor="ctr"/>
          <a:lstStyle/>
          <a:p>
            <a:pPr indent="0" marL="0">
              <a:buNone/>
            </a:pPr>
            <a:r>
              <a:rPr lang="en-US" sz="1200" b="1" dirty="0">
                <a:solidFill>
                  <a:srgbClr val="0086C7"/>
                </a:solidFill>
                <a:latin typeface="Calibri" pitchFamily="34" charset="0"/>
                <a:ea typeface="Calibri" pitchFamily="34" charset="-122"/>
                <a:cs typeface="Calibri" pitchFamily="34" charset="-120"/>
              </a:rPr>
              <a:t>Finding</a:t>
            </a:r>
            <a:endParaRPr lang="en-US" sz="1200" dirty="0"/>
          </a:p>
        </p:txBody>
      </p:sp>
      <p:sp>
        <p:nvSpPr>
          <p:cNvPr id="12" name="Text 8"/>
          <p:cNvSpPr txBox="1"/>
          <p:nvPr/>
        </p:nvSpPr>
        <p:spPr>
          <a:xfrm>
            <a:off x="8183880" y="1554480"/>
            <a:ext cx="1371600" cy="274320"/>
          </a:xfrm>
          <a:prstGeom prst="rect">
            <a:avLst/>
          </a:prstGeom>
          <a:noFill/>
          <a:ln/>
        </p:spPr>
        <p:txBody>
          <a:bodyPr wrap="square" lIns="0" tIns="0" rIns="0" bIns="0" rtlCol="0" anchor="ctr"/>
          <a:lstStyle/>
          <a:p>
            <a:pPr indent="0" marL="0">
              <a:buNone/>
            </a:pPr>
            <a:r>
              <a:rPr lang="en-US" sz="1200" b="1" dirty="0">
                <a:solidFill>
                  <a:srgbClr val="0086C7"/>
                </a:solidFill>
                <a:latin typeface="Calibri" pitchFamily="34" charset="0"/>
                <a:ea typeface="Calibri" pitchFamily="34" charset="-122"/>
                <a:cs typeface="Calibri" pitchFamily="34" charset="-120"/>
              </a:rPr>
              <a:t>Status</a:t>
            </a:r>
            <a:endParaRPr lang="en-US" sz="1200" dirty="0"/>
          </a:p>
        </p:txBody>
      </p:sp>
      <p:sp>
        <p:nvSpPr>
          <p:cNvPr id="13" name="Text 9"/>
          <p:cNvSpPr txBox="1"/>
          <p:nvPr/>
        </p:nvSpPr>
        <p:spPr>
          <a:xfrm>
            <a:off x="9646920" y="1554480"/>
            <a:ext cx="1874520" cy="274320"/>
          </a:xfrm>
          <a:prstGeom prst="rect">
            <a:avLst/>
          </a:prstGeom>
          <a:noFill/>
          <a:ln/>
        </p:spPr>
        <p:txBody>
          <a:bodyPr wrap="square" lIns="0" tIns="0" rIns="0" bIns="0" rtlCol="0" anchor="ctr"/>
          <a:lstStyle/>
          <a:p>
            <a:pPr indent="0" marL="0">
              <a:buNone/>
            </a:pPr>
            <a:r>
              <a:rPr lang="en-US" sz="1200" b="1" dirty="0">
                <a:solidFill>
                  <a:srgbClr val="0086C7"/>
                </a:solidFill>
                <a:latin typeface="Calibri" pitchFamily="34" charset="0"/>
                <a:ea typeface="Calibri" pitchFamily="34" charset="-122"/>
                <a:cs typeface="Calibri" pitchFamily="34" charset="-120"/>
              </a:rPr>
              <a:t>Client value</a:t>
            </a:r>
            <a:endParaRPr lang="en-US" sz="1200" dirty="0"/>
          </a:p>
        </p:txBody>
      </p:sp>
      <p:sp>
        <p:nvSpPr>
          <p:cNvPr id="14" name="Shape 10"/>
          <p:cNvSpPr/>
          <p:nvPr/>
        </p:nvSpPr>
        <p:spPr>
          <a:xfrm>
            <a:off x="3840480" y="1874520"/>
            <a:ext cx="7772400" cy="768096"/>
          </a:xfrm>
          <a:prstGeom prst="roundRect">
            <a:avLst>
              <a:gd name="adj" fmla="val 14286"/>
            </a:avLst>
          </a:prstGeom>
          <a:solidFill>
            <a:srgbClr val="F1F5F9"/>
          </a:solidFill>
          <a:ln w="12700">
            <a:solidFill>
              <a:srgbClr val="F1F5F9"/>
            </a:solidFill>
            <a:prstDash val="solid"/>
          </a:ln>
        </p:spPr>
      </p:sp>
      <p:sp>
        <p:nvSpPr>
          <p:cNvPr id="15" name="Text 11"/>
          <p:cNvSpPr txBox="1"/>
          <p:nvPr/>
        </p:nvSpPr>
        <p:spPr>
          <a:xfrm>
            <a:off x="3977640" y="1920240"/>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Security settings</a:t>
            </a:r>
            <a:endParaRPr lang="en-US" sz="1300" dirty="0"/>
          </a:p>
        </p:txBody>
      </p:sp>
      <p:sp>
        <p:nvSpPr>
          <p:cNvPr id="16" name="Text 12"/>
          <p:cNvSpPr txBox="1"/>
          <p:nvPr/>
        </p:nvSpPr>
        <p:spPr>
          <a:xfrm>
            <a:off x="5669280" y="1920240"/>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Some browser protection settings and older scripts need attention</a:t>
            </a:r>
            <a:endParaRPr lang="en-US" sz="1150" dirty="0"/>
          </a:p>
        </p:txBody>
      </p:sp>
      <p:sp>
        <p:nvSpPr>
          <p:cNvPr id="17" name="Text 13"/>
          <p:cNvSpPr txBox="1"/>
          <p:nvPr/>
        </p:nvSpPr>
        <p:spPr>
          <a:xfrm>
            <a:off x="8183880" y="1920240"/>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Recommended</a:t>
            </a:r>
            <a:endParaRPr lang="en-US" sz="1150" dirty="0"/>
          </a:p>
        </p:txBody>
      </p:sp>
      <p:sp>
        <p:nvSpPr>
          <p:cNvPr id="18" name="Text 14"/>
          <p:cNvSpPr txBox="1"/>
          <p:nvPr/>
        </p:nvSpPr>
        <p:spPr>
          <a:xfrm>
            <a:off x="9646920" y="1920240"/>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Stronger protection for visitors</a:t>
            </a:r>
            <a:endParaRPr lang="en-US" sz="1150" dirty="0"/>
          </a:p>
        </p:txBody>
      </p:sp>
      <p:sp>
        <p:nvSpPr>
          <p:cNvPr id="19" name="Shape 15"/>
          <p:cNvSpPr/>
          <p:nvPr/>
        </p:nvSpPr>
        <p:spPr>
          <a:xfrm>
            <a:off x="3840480" y="2715768"/>
            <a:ext cx="7772400" cy="768096"/>
          </a:xfrm>
          <a:prstGeom prst="roundRect">
            <a:avLst>
              <a:gd name="adj" fmla="val 14286"/>
            </a:avLst>
          </a:prstGeom>
          <a:solidFill>
            <a:srgbClr val="FFFFFF"/>
          </a:solidFill>
          <a:ln w="12700">
            <a:solidFill>
              <a:srgbClr val="FFFFFF"/>
            </a:solidFill>
            <a:prstDash val="solid"/>
          </a:ln>
        </p:spPr>
      </p:sp>
      <p:sp>
        <p:nvSpPr>
          <p:cNvPr id="20" name="Text 16"/>
          <p:cNvSpPr txBox="1"/>
          <p:nvPr/>
        </p:nvSpPr>
        <p:spPr>
          <a:xfrm>
            <a:off x="3977640" y="2761488"/>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Page speed</a:t>
            </a:r>
            <a:endParaRPr lang="en-US" sz="1300" dirty="0"/>
          </a:p>
        </p:txBody>
      </p:sp>
      <p:sp>
        <p:nvSpPr>
          <p:cNvPr id="21" name="Text 17"/>
          <p:cNvSpPr txBox="1"/>
          <p:nvPr/>
        </p:nvSpPr>
        <p:spPr>
          <a:xfrm>
            <a:off x="5669280" y="2761488"/>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 few pages were slower to respond in testing</a:t>
            </a:r>
            <a:endParaRPr lang="en-US" sz="1150" dirty="0"/>
          </a:p>
        </p:txBody>
      </p:sp>
      <p:sp>
        <p:nvSpPr>
          <p:cNvPr id="22" name="Text 18"/>
          <p:cNvSpPr txBox="1"/>
          <p:nvPr/>
        </p:nvSpPr>
        <p:spPr>
          <a:xfrm>
            <a:off x="8183880" y="2761488"/>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Monitor</a:t>
            </a:r>
            <a:endParaRPr lang="en-US" sz="1150" dirty="0"/>
          </a:p>
        </p:txBody>
      </p:sp>
      <p:sp>
        <p:nvSpPr>
          <p:cNvPr id="23" name="Text 19"/>
          <p:cNvSpPr txBox="1"/>
          <p:nvPr/>
        </p:nvSpPr>
        <p:spPr>
          <a:xfrm>
            <a:off x="9646920" y="2761488"/>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Faster experience, better search ranking</a:t>
            </a:r>
            <a:endParaRPr lang="en-US" sz="1150" dirty="0"/>
          </a:p>
        </p:txBody>
      </p:sp>
      <p:sp>
        <p:nvSpPr>
          <p:cNvPr id="24" name="Shape 20"/>
          <p:cNvSpPr/>
          <p:nvPr/>
        </p:nvSpPr>
        <p:spPr>
          <a:xfrm>
            <a:off x="3840480" y="3557016"/>
            <a:ext cx="7772400" cy="768096"/>
          </a:xfrm>
          <a:prstGeom prst="roundRect">
            <a:avLst>
              <a:gd name="adj" fmla="val 14286"/>
            </a:avLst>
          </a:prstGeom>
          <a:solidFill>
            <a:srgbClr val="F1F5F9"/>
          </a:solidFill>
          <a:ln w="12700">
            <a:solidFill>
              <a:srgbClr val="F1F5F9"/>
            </a:solidFill>
            <a:prstDash val="solid"/>
          </a:ln>
        </p:spPr>
      </p:sp>
      <p:sp>
        <p:nvSpPr>
          <p:cNvPr id="25" name="Text 21"/>
          <p:cNvSpPr txBox="1"/>
          <p:nvPr/>
        </p:nvSpPr>
        <p:spPr>
          <a:xfrm>
            <a:off x="3977640" y="3602736"/>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Email settings</a:t>
            </a:r>
            <a:endParaRPr lang="en-US" sz="1300" dirty="0"/>
          </a:p>
        </p:txBody>
      </p:sp>
      <p:sp>
        <p:nvSpPr>
          <p:cNvPr id="26" name="Text 22"/>
          <p:cNvSpPr txBox="1"/>
          <p:nvPr/>
        </p:nvSpPr>
        <p:spPr>
          <a:xfrm>
            <a:off x="5669280" y="3602736"/>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Email sender protection records are missing</a:t>
            </a:r>
            <a:endParaRPr lang="en-US" sz="1150" dirty="0"/>
          </a:p>
        </p:txBody>
      </p:sp>
      <p:sp>
        <p:nvSpPr>
          <p:cNvPr id="27" name="Text 23"/>
          <p:cNvSpPr txBox="1"/>
          <p:nvPr/>
        </p:nvSpPr>
        <p:spPr>
          <a:xfrm>
            <a:off x="8183880" y="3602736"/>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Recommended</a:t>
            </a:r>
            <a:endParaRPr lang="en-US" sz="1150" dirty="0"/>
          </a:p>
        </p:txBody>
      </p:sp>
      <p:sp>
        <p:nvSpPr>
          <p:cNvPr id="28" name="Text 24"/>
          <p:cNvSpPr txBox="1"/>
          <p:nvPr/>
        </p:nvSpPr>
        <p:spPr>
          <a:xfrm>
            <a:off x="9646920" y="3602736"/>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Shop emails are more likely to reach the inbox</a:t>
            </a:r>
            <a:endParaRPr lang="en-US" sz="1150" dirty="0"/>
          </a:p>
        </p:txBody>
      </p:sp>
      <p:sp>
        <p:nvSpPr>
          <p:cNvPr id="29" name="Shape 25"/>
          <p:cNvSpPr/>
          <p:nvPr/>
        </p:nvSpPr>
        <p:spPr>
          <a:xfrm>
            <a:off x="3840480" y="4398264"/>
            <a:ext cx="7772400" cy="768096"/>
          </a:xfrm>
          <a:prstGeom prst="roundRect">
            <a:avLst>
              <a:gd name="adj" fmla="val 14286"/>
            </a:avLst>
          </a:prstGeom>
          <a:solidFill>
            <a:srgbClr val="FFFFFF"/>
          </a:solidFill>
          <a:ln w="12700">
            <a:solidFill>
              <a:srgbClr val="FFFFFF"/>
            </a:solidFill>
            <a:prstDash val="solid"/>
          </a:ln>
        </p:spPr>
      </p:sp>
      <p:sp>
        <p:nvSpPr>
          <p:cNvPr id="30" name="Text 26"/>
          <p:cNvSpPr txBox="1"/>
          <p:nvPr/>
        </p:nvSpPr>
        <p:spPr>
          <a:xfrm>
            <a:off x="3977640" y="4443984"/>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Accessibility</a:t>
            </a:r>
            <a:endParaRPr lang="en-US" sz="1300" dirty="0"/>
          </a:p>
        </p:txBody>
      </p:sp>
      <p:sp>
        <p:nvSpPr>
          <p:cNvPr id="31" name="Text 27"/>
          <p:cNvSpPr txBox="1"/>
          <p:nvPr/>
        </p:nvSpPr>
        <p:spPr>
          <a:xfrm>
            <a:off x="5669280" y="4443984"/>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Some labels, link text and colour contrast need attention</a:t>
            </a:r>
            <a:endParaRPr lang="en-US" sz="1150" dirty="0"/>
          </a:p>
        </p:txBody>
      </p:sp>
      <p:sp>
        <p:nvSpPr>
          <p:cNvPr id="32" name="Text 28"/>
          <p:cNvSpPr txBox="1"/>
          <p:nvPr/>
        </p:nvSpPr>
        <p:spPr>
          <a:xfrm>
            <a:off x="8183880" y="4443984"/>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Recommended</a:t>
            </a:r>
            <a:endParaRPr lang="en-US" sz="1150" dirty="0"/>
          </a:p>
        </p:txBody>
      </p:sp>
      <p:sp>
        <p:nvSpPr>
          <p:cNvPr id="33" name="Text 29"/>
          <p:cNvSpPr txBox="1"/>
          <p:nvPr/>
        </p:nvSpPr>
        <p:spPr>
          <a:xfrm>
            <a:off x="9646920" y="4443984"/>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Easier for all visitors to use</a:t>
            </a:r>
            <a:endParaRPr lang="en-US" sz="1150" dirty="0"/>
          </a:p>
        </p:txBody>
      </p:sp>
      <p:sp>
        <p:nvSpPr>
          <p:cNvPr id="34" name="Shape 30"/>
          <p:cNvSpPr/>
          <p:nvPr/>
        </p:nvSpPr>
        <p:spPr>
          <a:xfrm>
            <a:off x="3840480" y="5239512"/>
            <a:ext cx="7772400" cy="768096"/>
          </a:xfrm>
          <a:prstGeom prst="roundRect">
            <a:avLst>
              <a:gd name="adj" fmla="val 14286"/>
            </a:avLst>
          </a:prstGeom>
          <a:solidFill>
            <a:srgbClr val="F1F5F9"/>
          </a:solidFill>
          <a:ln w="12700">
            <a:solidFill>
              <a:srgbClr val="F1F5F9"/>
            </a:solidFill>
            <a:prstDash val="solid"/>
          </a:ln>
        </p:spPr>
      </p:sp>
      <p:sp>
        <p:nvSpPr>
          <p:cNvPr id="35" name="Text 31"/>
          <p:cNvSpPr txBox="1"/>
          <p:nvPr/>
        </p:nvSpPr>
        <p:spPr>
          <a:xfrm>
            <a:off x="3977640" y="5285232"/>
            <a:ext cx="1645920" cy="676656"/>
          </a:xfrm>
          <a:prstGeom prst="rect">
            <a:avLst/>
          </a:prstGeom>
          <a:noFill/>
          <a:ln/>
        </p:spPr>
        <p:txBody>
          <a:bodyPr wrap="square" lIns="0" tIns="0" rIns="0" bIns="0" rtlCol="0" anchor="ctr"/>
          <a:lstStyle/>
          <a:p>
            <a:pPr indent="0" marL="0">
              <a:buNone/>
            </a:pPr>
            <a:r>
              <a:rPr lang="en-US" sz="1300" b="1" dirty="0">
                <a:solidFill>
                  <a:srgbClr val="0B1929"/>
                </a:solidFill>
                <a:latin typeface="Calibri" pitchFamily="34" charset="0"/>
                <a:ea typeface="Calibri" pitchFamily="34" charset="-122"/>
                <a:cs typeface="Calibri" pitchFamily="34" charset="-120"/>
              </a:rPr>
              <a:t>Search metadata</a:t>
            </a:r>
            <a:endParaRPr lang="en-US" sz="1300" dirty="0"/>
          </a:p>
        </p:txBody>
      </p:sp>
      <p:sp>
        <p:nvSpPr>
          <p:cNvPr id="36" name="Text 32"/>
          <p:cNvSpPr txBox="1"/>
          <p:nvPr/>
        </p:nvSpPr>
        <p:spPr>
          <a:xfrm>
            <a:off x="5669280" y="5285232"/>
            <a:ext cx="237744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Some pages lack descriptions or clear headings</a:t>
            </a:r>
            <a:endParaRPr lang="en-US" sz="1150" dirty="0"/>
          </a:p>
        </p:txBody>
      </p:sp>
      <p:sp>
        <p:nvSpPr>
          <p:cNvPr id="37" name="Text 33"/>
          <p:cNvSpPr txBox="1"/>
          <p:nvPr/>
        </p:nvSpPr>
        <p:spPr>
          <a:xfrm>
            <a:off x="8183880" y="5285232"/>
            <a:ext cx="137160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Recommended</a:t>
            </a:r>
            <a:endParaRPr lang="en-US" sz="1150" dirty="0"/>
          </a:p>
        </p:txBody>
      </p:sp>
      <p:sp>
        <p:nvSpPr>
          <p:cNvPr id="38" name="Text 34"/>
          <p:cNvSpPr txBox="1"/>
          <p:nvPr/>
        </p:nvSpPr>
        <p:spPr>
          <a:xfrm>
            <a:off x="9646920" y="5285232"/>
            <a:ext cx="1874520" cy="676656"/>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Clearer listings in search results</a:t>
            </a:r>
            <a:endParaRPr lang="en-US" sz="1150" dirty="0"/>
          </a:p>
        </p:txBody>
      </p:sp>
      <p:sp>
        <p:nvSpPr>
          <p:cNvPr id="39" name="Text 35"/>
          <p:cNvSpPr txBox="1"/>
          <p:nvPr/>
        </p:nvSpPr>
        <p:spPr>
          <a:xfrm>
            <a:off x="3931920" y="6126480"/>
            <a:ext cx="7680960" cy="27432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Addressed this month: none applied (review only). Full details are in the internal audit.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0086C7"/>
                </a:solidFill>
                <a:latin typeface="Calibri" pitchFamily="34" charset="0"/>
                <a:ea typeface="Calibri" pitchFamily="34" charset="-122"/>
                <a:cs typeface="Calibri" pitchFamily="34" charset="-120"/>
              </a:rPr>
              <a:t>HEALTH SUMMARY</a:t>
            </a:r>
            <a:endParaRPr lang="en-US" sz="1200" dirty="0"/>
          </a:p>
        </p:txBody>
      </p:sp>
      <p:pic>
        <p:nvPicPr>
          <p:cNvPr id="3" name="Image 0" descr="C:/Projects/OGH/build/brand/logo_color_big.png">    </p:cNvPr>
          <p:cNvPicPr>
            <a:picLocks noChangeAspect="1"/>
          </p:cNvPicPr>
          <p:nvPr/>
        </p:nvPicPr>
        <p:blipFill>
          <a:blip r:embed="rId1"/>
          <a:stretch>
            <a:fillRect/>
          </a:stretch>
        </p:blipFill>
        <p:spPr>
          <a:xfrm>
            <a:off x="10058400" y="347472"/>
            <a:ext cx="1554480" cy="347472"/>
          </a:xfrm>
          <a:prstGeom prst="rect">
            <a:avLst/>
          </a:prstGeom>
        </p:spPr>
      </p:pic>
      <p:sp>
        <p:nvSpPr>
          <p:cNvPr id="4" name="Text 1"/>
          <p:cNvSpPr txBox="1"/>
          <p:nvPr/>
        </p:nvSpPr>
        <p:spPr>
          <a:xfrm>
            <a:off x="548640" y="658368"/>
            <a:ext cx="9326880" cy="731520"/>
          </a:xfrm>
          <a:prstGeom prst="rect">
            <a:avLst/>
          </a:prstGeom>
          <a:noFill/>
          <a:ln/>
        </p:spPr>
        <p:txBody>
          <a:bodyPr wrap="square" lIns="0" tIns="0" rIns="0" bIns="0" rtlCol="0" anchor="t"/>
          <a:lstStyle/>
          <a:p>
            <a:pPr indent="0" marL="0">
              <a:buNone/>
            </a:pPr>
            <a:r>
              <a:rPr lang="en-US" sz="3200" b="1" dirty="0">
                <a:solidFill>
                  <a:srgbClr val="0B1929"/>
                </a:solidFill>
                <a:latin typeface="Calibri" pitchFamily="34" charset="0"/>
                <a:ea typeface="Calibri" pitchFamily="34" charset="-122"/>
                <a:cs typeface="Calibri" pitchFamily="34" charset="-120"/>
              </a:rPr>
              <a:t>Monthly health summary</a:t>
            </a:r>
            <a:endParaRPr lang="en-US" sz="3200" dirty="0"/>
          </a:p>
        </p:txBody>
      </p:sp>
      <p:sp>
        <p:nvSpPr>
          <p:cNvPr id="5" name="Text 2"/>
          <p:cNvSpPr txBox="1"/>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Prepared by WebDesk Solution  |  Our Green House  |  October 2026</a:t>
            </a:r>
            <a:endParaRPr lang="en-US" sz="1000" dirty="0"/>
          </a:p>
        </p:txBody>
      </p:sp>
      <p:sp>
        <p:nvSpPr>
          <p:cNvPr id="6" name="Text 3"/>
          <p:cNvSpPr txBox="1"/>
          <p:nvPr/>
        </p:nvSpPr>
        <p:spPr>
          <a:xfrm>
            <a:off x="11064240" y="6446520"/>
            <a:ext cx="548640" cy="228600"/>
          </a:xfrm>
          <a:prstGeom prst="rect">
            <a:avLst/>
          </a:prstGeom>
          <a:noFill/>
          <a:ln/>
        </p:spPr>
        <p:txBody>
          <a:bodyPr wrap="square" lIns="0" tIns="0" rIns="0" bIns="0" rtlCol="0" anchor="ctr"/>
          <a:lstStyle/>
          <a:p>
            <a:pPr algn="r" indent="0" marL="0">
              <a:buNone/>
            </a:pPr>
            <a:r>
              <a:rPr lang="en-US" sz="1000" dirty="0">
                <a:solidFill>
                  <a:srgbClr val="475569"/>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554480"/>
            <a:ext cx="3520440" cy="1371600"/>
          </a:xfrm>
          <a:prstGeom prst="roundRect">
            <a:avLst>
              <a:gd name="adj" fmla="val 8000"/>
            </a:avLst>
          </a:prstGeom>
          <a:solidFill>
            <a:srgbClr val="F1F5F9"/>
          </a:solidFill>
          <a:ln w="12700">
            <a:solidFill>
              <a:srgbClr val="F1F5F9"/>
            </a:solidFill>
            <a:prstDash val="solid"/>
          </a:ln>
        </p:spPr>
      </p:sp>
      <p:sp>
        <p:nvSpPr>
          <p:cNvPr id="8" name="Text 5"/>
          <p:cNvSpPr txBox="1"/>
          <p:nvPr/>
        </p:nvSpPr>
        <p:spPr>
          <a:xfrm>
            <a:off x="777240" y="169164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Website availability</a:t>
            </a:r>
            <a:endParaRPr lang="en-US" sz="1600" dirty="0"/>
          </a:p>
        </p:txBody>
      </p:sp>
      <p:sp>
        <p:nvSpPr>
          <p:cNvPr id="9" name="Shape 6"/>
          <p:cNvSpPr/>
          <p:nvPr/>
        </p:nvSpPr>
        <p:spPr>
          <a:xfrm>
            <a:off x="777240" y="2121408"/>
            <a:ext cx="1554480" cy="292608"/>
          </a:xfrm>
          <a:prstGeom prst="roundRect">
            <a:avLst>
              <a:gd name="adj" fmla="val 50000"/>
            </a:avLst>
          </a:prstGeom>
          <a:solidFill>
            <a:srgbClr val="16A34A"/>
          </a:solidFill>
          <a:ln w="12700">
            <a:solidFill>
              <a:srgbClr val="16A34A"/>
            </a:solidFill>
            <a:prstDash val="solid"/>
          </a:ln>
        </p:spPr>
      </p:sp>
      <p:sp>
        <p:nvSpPr>
          <p:cNvPr id="10" name="Text 7"/>
          <p:cNvSpPr txBox="1"/>
          <p:nvPr/>
        </p:nvSpPr>
        <p:spPr>
          <a:xfrm>
            <a:off x="777240" y="212140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11" name="Text 8"/>
          <p:cNvSpPr txBox="1"/>
          <p:nvPr/>
        </p:nvSpPr>
        <p:spPr>
          <a:xfrm>
            <a:off x="777240" y="246888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All 378 checked pages loaded</a:t>
            </a:r>
            <a:endParaRPr lang="en-US" sz="1200" dirty="0"/>
          </a:p>
        </p:txBody>
      </p:sp>
      <p:sp>
        <p:nvSpPr>
          <p:cNvPr id="12" name="Shape 9"/>
          <p:cNvSpPr/>
          <p:nvPr/>
        </p:nvSpPr>
        <p:spPr>
          <a:xfrm>
            <a:off x="4297680" y="1554480"/>
            <a:ext cx="3520440" cy="1371600"/>
          </a:xfrm>
          <a:prstGeom prst="roundRect">
            <a:avLst>
              <a:gd name="adj" fmla="val 8000"/>
            </a:avLst>
          </a:prstGeom>
          <a:solidFill>
            <a:srgbClr val="F1F5F9"/>
          </a:solidFill>
          <a:ln w="12700">
            <a:solidFill>
              <a:srgbClr val="F1F5F9"/>
            </a:solidFill>
            <a:prstDash val="solid"/>
          </a:ln>
        </p:spPr>
      </p:sp>
      <p:sp>
        <p:nvSpPr>
          <p:cNvPr id="13" name="Text 10"/>
          <p:cNvSpPr txBox="1"/>
          <p:nvPr/>
        </p:nvSpPr>
        <p:spPr>
          <a:xfrm>
            <a:off x="4526280" y="169164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Functionality</a:t>
            </a:r>
            <a:endParaRPr lang="en-US" sz="1600" dirty="0"/>
          </a:p>
        </p:txBody>
      </p:sp>
      <p:sp>
        <p:nvSpPr>
          <p:cNvPr id="14" name="Shape 11"/>
          <p:cNvSpPr/>
          <p:nvPr/>
        </p:nvSpPr>
        <p:spPr>
          <a:xfrm>
            <a:off x="4526280" y="2121408"/>
            <a:ext cx="1554480" cy="292608"/>
          </a:xfrm>
          <a:prstGeom prst="roundRect">
            <a:avLst>
              <a:gd name="adj" fmla="val 50000"/>
            </a:avLst>
          </a:prstGeom>
          <a:solidFill>
            <a:srgbClr val="16A34A"/>
          </a:solidFill>
          <a:ln w="12700">
            <a:solidFill>
              <a:srgbClr val="16A34A"/>
            </a:solidFill>
            <a:prstDash val="solid"/>
          </a:ln>
        </p:spPr>
      </p:sp>
      <p:sp>
        <p:nvSpPr>
          <p:cNvPr id="15" name="Text 12"/>
          <p:cNvSpPr txBox="1"/>
          <p:nvPr/>
        </p:nvSpPr>
        <p:spPr>
          <a:xfrm>
            <a:off x="4526280" y="212140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16" name="Text 13"/>
          <p:cNvSpPr txBox="1"/>
          <p:nvPr/>
        </p:nvSpPr>
        <p:spPr>
          <a:xfrm>
            <a:off x="4526280" y="246888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Core journeys work; builder has minor script errors</a:t>
            </a:r>
            <a:endParaRPr lang="en-US" sz="1200" dirty="0"/>
          </a:p>
        </p:txBody>
      </p:sp>
      <p:sp>
        <p:nvSpPr>
          <p:cNvPr id="17" name="Shape 14"/>
          <p:cNvSpPr/>
          <p:nvPr/>
        </p:nvSpPr>
        <p:spPr>
          <a:xfrm>
            <a:off x="8046720" y="1554480"/>
            <a:ext cx="3520440" cy="1371600"/>
          </a:xfrm>
          <a:prstGeom prst="roundRect">
            <a:avLst>
              <a:gd name="adj" fmla="val 8000"/>
            </a:avLst>
          </a:prstGeom>
          <a:solidFill>
            <a:srgbClr val="F1F5F9"/>
          </a:solidFill>
          <a:ln w="12700">
            <a:solidFill>
              <a:srgbClr val="F1F5F9"/>
            </a:solidFill>
            <a:prstDash val="solid"/>
          </a:ln>
        </p:spPr>
      </p:sp>
      <p:sp>
        <p:nvSpPr>
          <p:cNvPr id="18" name="Text 15"/>
          <p:cNvSpPr txBox="1"/>
          <p:nvPr/>
        </p:nvSpPr>
        <p:spPr>
          <a:xfrm>
            <a:off x="8275320" y="169164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UI / UX</a:t>
            </a:r>
            <a:endParaRPr lang="en-US" sz="1600" dirty="0"/>
          </a:p>
        </p:txBody>
      </p:sp>
      <p:sp>
        <p:nvSpPr>
          <p:cNvPr id="19" name="Shape 16"/>
          <p:cNvSpPr/>
          <p:nvPr/>
        </p:nvSpPr>
        <p:spPr>
          <a:xfrm>
            <a:off x="8275320" y="2121408"/>
            <a:ext cx="1554480" cy="292608"/>
          </a:xfrm>
          <a:prstGeom prst="roundRect">
            <a:avLst>
              <a:gd name="adj" fmla="val 50000"/>
            </a:avLst>
          </a:prstGeom>
          <a:solidFill>
            <a:srgbClr val="16A34A"/>
          </a:solidFill>
          <a:ln w="12700">
            <a:solidFill>
              <a:srgbClr val="16A34A"/>
            </a:solidFill>
            <a:prstDash val="solid"/>
          </a:ln>
        </p:spPr>
      </p:sp>
      <p:sp>
        <p:nvSpPr>
          <p:cNvPr id="20" name="Text 17"/>
          <p:cNvSpPr txBox="1"/>
          <p:nvPr/>
        </p:nvSpPr>
        <p:spPr>
          <a:xfrm>
            <a:off x="8275320" y="212140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21" name="Text 18"/>
          <p:cNvSpPr txBox="1"/>
          <p:nvPr/>
        </p:nvSpPr>
        <p:spPr>
          <a:xfrm>
            <a:off x="8275320" y="246888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Consistent; small accessibility points noted</a:t>
            </a:r>
            <a:endParaRPr lang="en-US" sz="1200" dirty="0"/>
          </a:p>
        </p:txBody>
      </p:sp>
      <p:sp>
        <p:nvSpPr>
          <p:cNvPr id="22" name="Shape 19"/>
          <p:cNvSpPr/>
          <p:nvPr/>
        </p:nvSpPr>
        <p:spPr>
          <a:xfrm>
            <a:off x="548640" y="3108960"/>
            <a:ext cx="3520440" cy="1371600"/>
          </a:xfrm>
          <a:prstGeom prst="roundRect">
            <a:avLst>
              <a:gd name="adj" fmla="val 8000"/>
            </a:avLst>
          </a:prstGeom>
          <a:solidFill>
            <a:srgbClr val="F1F5F9"/>
          </a:solidFill>
          <a:ln w="12700">
            <a:solidFill>
              <a:srgbClr val="F1F5F9"/>
            </a:solidFill>
            <a:prstDash val="solid"/>
          </a:ln>
        </p:spPr>
      </p:sp>
      <p:sp>
        <p:nvSpPr>
          <p:cNvPr id="23" name="Text 20"/>
          <p:cNvSpPr txBox="1"/>
          <p:nvPr/>
        </p:nvSpPr>
        <p:spPr>
          <a:xfrm>
            <a:off x="777240" y="324612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Responsive experience</a:t>
            </a:r>
            <a:endParaRPr lang="en-US" sz="1600" dirty="0"/>
          </a:p>
        </p:txBody>
      </p:sp>
      <p:sp>
        <p:nvSpPr>
          <p:cNvPr id="24" name="Shape 21"/>
          <p:cNvSpPr/>
          <p:nvPr/>
        </p:nvSpPr>
        <p:spPr>
          <a:xfrm>
            <a:off x="777240" y="3675888"/>
            <a:ext cx="1554480" cy="292608"/>
          </a:xfrm>
          <a:prstGeom prst="roundRect">
            <a:avLst>
              <a:gd name="adj" fmla="val 50000"/>
            </a:avLst>
          </a:prstGeom>
          <a:solidFill>
            <a:srgbClr val="16A34A"/>
          </a:solidFill>
          <a:ln w="12700">
            <a:solidFill>
              <a:srgbClr val="16A34A"/>
            </a:solidFill>
            <a:prstDash val="solid"/>
          </a:ln>
        </p:spPr>
      </p:sp>
      <p:sp>
        <p:nvSpPr>
          <p:cNvPr id="25" name="Text 22"/>
          <p:cNvSpPr txBox="1"/>
          <p:nvPr/>
        </p:nvSpPr>
        <p:spPr>
          <a:xfrm>
            <a:off x="777240" y="367588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26" name="Text 23"/>
          <p:cNvSpPr txBox="1"/>
          <p:nvPr/>
        </p:nvSpPr>
        <p:spPr>
          <a:xfrm>
            <a:off x="777240" y="402336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Desktop, tablet and mobile reviewed</a:t>
            </a:r>
            <a:endParaRPr lang="en-US" sz="1200" dirty="0"/>
          </a:p>
        </p:txBody>
      </p:sp>
      <p:sp>
        <p:nvSpPr>
          <p:cNvPr id="27" name="Shape 24"/>
          <p:cNvSpPr/>
          <p:nvPr/>
        </p:nvSpPr>
        <p:spPr>
          <a:xfrm>
            <a:off x="4297680" y="3108960"/>
            <a:ext cx="3520440" cy="1371600"/>
          </a:xfrm>
          <a:prstGeom prst="roundRect">
            <a:avLst>
              <a:gd name="adj" fmla="val 8000"/>
            </a:avLst>
          </a:prstGeom>
          <a:solidFill>
            <a:srgbClr val="F1F5F9"/>
          </a:solidFill>
          <a:ln w="12700">
            <a:solidFill>
              <a:srgbClr val="F1F5F9"/>
            </a:solidFill>
            <a:prstDash val="solid"/>
          </a:ln>
        </p:spPr>
      </p:sp>
      <p:sp>
        <p:nvSpPr>
          <p:cNvPr id="28" name="Text 25"/>
          <p:cNvSpPr txBox="1"/>
          <p:nvPr/>
        </p:nvSpPr>
        <p:spPr>
          <a:xfrm>
            <a:off x="4526280" y="324612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Technical health</a:t>
            </a:r>
            <a:endParaRPr lang="en-US" sz="1600" dirty="0"/>
          </a:p>
        </p:txBody>
      </p:sp>
      <p:sp>
        <p:nvSpPr>
          <p:cNvPr id="29" name="Shape 26"/>
          <p:cNvSpPr/>
          <p:nvPr/>
        </p:nvSpPr>
        <p:spPr>
          <a:xfrm>
            <a:off x="4526280" y="3675888"/>
            <a:ext cx="1554480" cy="292608"/>
          </a:xfrm>
          <a:prstGeom prst="roundRect">
            <a:avLst>
              <a:gd name="adj" fmla="val 50000"/>
            </a:avLst>
          </a:prstGeom>
          <a:solidFill>
            <a:srgbClr val="D9962B"/>
          </a:solidFill>
          <a:ln w="12700">
            <a:solidFill>
              <a:srgbClr val="D9962B"/>
            </a:solidFill>
            <a:prstDash val="solid"/>
          </a:ln>
        </p:spPr>
      </p:sp>
      <p:sp>
        <p:nvSpPr>
          <p:cNvPr id="30" name="Text 27"/>
          <p:cNvSpPr txBox="1"/>
          <p:nvPr/>
        </p:nvSpPr>
        <p:spPr>
          <a:xfrm>
            <a:off x="4526280" y="367588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Needs attention</a:t>
            </a:r>
            <a:endParaRPr lang="en-US" sz="1100" dirty="0"/>
          </a:p>
        </p:txBody>
      </p:sp>
      <p:sp>
        <p:nvSpPr>
          <p:cNvPr id="31" name="Text 28"/>
          <p:cNvSpPr txBox="1"/>
          <p:nvPr/>
        </p:nvSpPr>
        <p:spPr>
          <a:xfrm>
            <a:off x="4526280" y="402336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Some configuration items to tidy</a:t>
            </a:r>
            <a:endParaRPr lang="en-US" sz="1200" dirty="0"/>
          </a:p>
        </p:txBody>
      </p:sp>
      <p:sp>
        <p:nvSpPr>
          <p:cNvPr id="32" name="Shape 29"/>
          <p:cNvSpPr/>
          <p:nvPr/>
        </p:nvSpPr>
        <p:spPr>
          <a:xfrm>
            <a:off x="8046720" y="3108960"/>
            <a:ext cx="3520440" cy="1371600"/>
          </a:xfrm>
          <a:prstGeom prst="roundRect">
            <a:avLst>
              <a:gd name="adj" fmla="val 8000"/>
            </a:avLst>
          </a:prstGeom>
          <a:solidFill>
            <a:srgbClr val="F1F5F9"/>
          </a:solidFill>
          <a:ln w="12700">
            <a:solidFill>
              <a:srgbClr val="F1F5F9"/>
            </a:solidFill>
            <a:prstDash val="solid"/>
          </a:ln>
        </p:spPr>
      </p:sp>
      <p:sp>
        <p:nvSpPr>
          <p:cNvPr id="33" name="Text 30"/>
          <p:cNvSpPr txBox="1"/>
          <p:nvPr/>
        </p:nvSpPr>
        <p:spPr>
          <a:xfrm>
            <a:off x="8275320" y="324612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Performance</a:t>
            </a:r>
            <a:endParaRPr lang="en-US" sz="1600" dirty="0"/>
          </a:p>
        </p:txBody>
      </p:sp>
      <p:sp>
        <p:nvSpPr>
          <p:cNvPr id="34" name="Shape 31"/>
          <p:cNvSpPr/>
          <p:nvPr/>
        </p:nvSpPr>
        <p:spPr>
          <a:xfrm>
            <a:off x="8275320" y="3675888"/>
            <a:ext cx="1554480" cy="292608"/>
          </a:xfrm>
          <a:prstGeom prst="roundRect">
            <a:avLst>
              <a:gd name="adj" fmla="val 50000"/>
            </a:avLst>
          </a:prstGeom>
          <a:solidFill>
            <a:srgbClr val="16A34A"/>
          </a:solidFill>
          <a:ln w="12700">
            <a:solidFill>
              <a:srgbClr val="16A34A"/>
            </a:solidFill>
            <a:prstDash val="solid"/>
          </a:ln>
        </p:spPr>
      </p:sp>
      <p:sp>
        <p:nvSpPr>
          <p:cNvPr id="35" name="Text 32"/>
          <p:cNvSpPr txBox="1"/>
          <p:nvPr/>
        </p:nvSpPr>
        <p:spPr>
          <a:xfrm>
            <a:off x="8275320" y="367588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36" name="Text 33"/>
          <p:cNvSpPr txBox="1"/>
          <p:nvPr/>
        </p:nvSpPr>
        <p:spPr>
          <a:xfrm>
            <a:off x="8275320" y="402336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Pages respond quickly</a:t>
            </a:r>
            <a:endParaRPr lang="en-US" sz="1200" dirty="0"/>
          </a:p>
        </p:txBody>
      </p:sp>
      <p:sp>
        <p:nvSpPr>
          <p:cNvPr id="37" name="Shape 34"/>
          <p:cNvSpPr/>
          <p:nvPr/>
        </p:nvSpPr>
        <p:spPr>
          <a:xfrm>
            <a:off x="548640" y="4663440"/>
            <a:ext cx="3520440" cy="1371600"/>
          </a:xfrm>
          <a:prstGeom prst="roundRect">
            <a:avLst>
              <a:gd name="adj" fmla="val 8000"/>
            </a:avLst>
          </a:prstGeom>
          <a:solidFill>
            <a:srgbClr val="F1F5F9"/>
          </a:solidFill>
          <a:ln w="12700">
            <a:solidFill>
              <a:srgbClr val="F1F5F9"/>
            </a:solidFill>
            <a:prstDash val="solid"/>
          </a:ln>
        </p:spPr>
      </p:sp>
      <p:sp>
        <p:nvSpPr>
          <p:cNvPr id="38" name="Text 35"/>
          <p:cNvSpPr txBox="1"/>
          <p:nvPr/>
        </p:nvSpPr>
        <p:spPr>
          <a:xfrm>
            <a:off x="777240" y="480060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SEO</a:t>
            </a:r>
            <a:endParaRPr lang="en-US" sz="1600" dirty="0"/>
          </a:p>
        </p:txBody>
      </p:sp>
      <p:sp>
        <p:nvSpPr>
          <p:cNvPr id="39" name="Shape 36"/>
          <p:cNvSpPr/>
          <p:nvPr/>
        </p:nvSpPr>
        <p:spPr>
          <a:xfrm>
            <a:off x="777240" y="5230368"/>
            <a:ext cx="1554480" cy="292608"/>
          </a:xfrm>
          <a:prstGeom prst="roundRect">
            <a:avLst>
              <a:gd name="adj" fmla="val 50000"/>
            </a:avLst>
          </a:prstGeom>
          <a:solidFill>
            <a:srgbClr val="D9962B"/>
          </a:solidFill>
          <a:ln w="12700">
            <a:solidFill>
              <a:srgbClr val="D9962B"/>
            </a:solidFill>
            <a:prstDash val="solid"/>
          </a:ln>
        </p:spPr>
      </p:sp>
      <p:sp>
        <p:nvSpPr>
          <p:cNvPr id="40" name="Text 37"/>
          <p:cNvSpPr txBox="1"/>
          <p:nvPr/>
        </p:nvSpPr>
        <p:spPr>
          <a:xfrm>
            <a:off x="777240" y="523036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Needs attention</a:t>
            </a:r>
            <a:endParaRPr lang="en-US" sz="1100" dirty="0"/>
          </a:p>
        </p:txBody>
      </p:sp>
      <p:sp>
        <p:nvSpPr>
          <p:cNvPr id="41" name="Text 38"/>
          <p:cNvSpPr txBox="1"/>
          <p:nvPr/>
        </p:nvSpPr>
        <p:spPr>
          <a:xfrm>
            <a:off x="777240" y="557784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Metadata gaps on some pages</a:t>
            </a:r>
            <a:endParaRPr lang="en-US" sz="1200" dirty="0"/>
          </a:p>
        </p:txBody>
      </p:sp>
      <p:sp>
        <p:nvSpPr>
          <p:cNvPr id="42" name="Shape 39"/>
          <p:cNvSpPr/>
          <p:nvPr/>
        </p:nvSpPr>
        <p:spPr>
          <a:xfrm>
            <a:off x="4297680" y="4663440"/>
            <a:ext cx="3520440" cy="1371600"/>
          </a:xfrm>
          <a:prstGeom prst="roundRect">
            <a:avLst>
              <a:gd name="adj" fmla="val 8000"/>
            </a:avLst>
          </a:prstGeom>
          <a:solidFill>
            <a:srgbClr val="F1F5F9"/>
          </a:solidFill>
          <a:ln w="12700">
            <a:solidFill>
              <a:srgbClr val="F1F5F9"/>
            </a:solidFill>
            <a:prstDash val="solid"/>
          </a:ln>
        </p:spPr>
      </p:sp>
      <p:sp>
        <p:nvSpPr>
          <p:cNvPr id="43" name="Text 40"/>
          <p:cNvSpPr txBox="1"/>
          <p:nvPr/>
        </p:nvSpPr>
        <p:spPr>
          <a:xfrm>
            <a:off x="4526280" y="480060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Integrations</a:t>
            </a:r>
            <a:endParaRPr lang="en-US" sz="1600" dirty="0"/>
          </a:p>
        </p:txBody>
      </p:sp>
      <p:sp>
        <p:nvSpPr>
          <p:cNvPr id="44" name="Shape 41"/>
          <p:cNvSpPr/>
          <p:nvPr/>
        </p:nvSpPr>
        <p:spPr>
          <a:xfrm>
            <a:off x="4526280" y="5230368"/>
            <a:ext cx="1554480" cy="292608"/>
          </a:xfrm>
          <a:prstGeom prst="roundRect">
            <a:avLst>
              <a:gd name="adj" fmla="val 50000"/>
            </a:avLst>
          </a:prstGeom>
          <a:solidFill>
            <a:srgbClr val="16A34A"/>
          </a:solidFill>
          <a:ln w="12700">
            <a:solidFill>
              <a:srgbClr val="16A34A"/>
            </a:solidFill>
            <a:prstDash val="solid"/>
          </a:ln>
        </p:spPr>
      </p:sp>
      <p:sp>
        <p:nvSpPr>
          <p:cNvPr id="45" name="Text 42"/>
          <p:cNvSpPr txBox="1"/>
          <p:nvPr/>
        </p:nvSpPr>
        <p:spPr>
          <a:xfrm>
            <a:off x="4526280" y="523036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Healthy</a:t>
            </a:r>
            <a:endParaRPr lang="en-US" sz="1100" dirty="0"/>
          </a:p>
        </p:txBody>
      </p:sp>
      <p:sp>
        <p:nvSpPr>
          <p:cNvPr id="46" name="Text 43"/>
          <p:cNvSpPr txBox="1"/>
          <p:nvPr/>
        </p:nvSpPr>
        <p:spPr>
          <a:xfrm>
            <a:off x="4526280" y="557784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Third-party tools loading as expected</a:t>
            </a:r>
            <a:endParaRPr lang="en-US" sz="1200" dirty="0"/>
          </a:p>
        </p:txBody>
      </p:sp>
      <p:sp>
        <p:nvSpPr>
          <p:cNvPr id="47" name="Shape 44"/>
          <p:cNvSpPr/>
          <p:nvPr/>
        </p:nvSpPr>
        <p:spPr>
          <a:xfrm>
            <a:off x="8046720" y="4663440"/>
            <a:ext cx="3520440" cy="1371600"/>
          </a:xfrm>
          <a:prstGeom prst="roundRect">
            <a:avLst>
              <a:gd name="adj" fmla="val 8000"/>
            </a:avLst>
          </a:prstGeom>
          <a:solidFill>
            <a:srgbClr val="F1F5F9"/>
          </a:solidFill>
          <a:ln w="12700">
            <a:solidFill>
              <a:srgbClr val="F1F5F9"/>
            </a:solidFill>
            <a:prstDash val="solid"/>
          </a:ln>
        </p:spPr>
      </p:sp>
      <p:sp>
        <p:nvSpPr>
          <p:cNvPr id="48" name="Text 45"/>
          <p:cNvSpPr txBox="1"/>
          <p:nvPr/>
        </p:nvSpPr>
        <p:spPr>
          <a:xfrm>
            <a:off x="8275320" y="4800600"/>
            <a:ext cx="3108960" cy="365760"/>
          </a:xfrm>
          <a:prstGeom prst="rect">
            <a:avLst/>
          </a:prstGeom>
          <a:noFill/>
          <a:ln/>
        </p:spPr>
        <p:txBody>
          <a:bodyPr wrap="square" lIns="0" tIns="0" rIns="0" bIns="0" rtlCol="0" anchor="ctr"/>
          <a:lstStyle/>
          <a:p>
            <a:pPr indent="0" marL="0">
              <a:buNone/>
            </a:pPr>
            <a:r>
              <a:rPr lang="en-US" sz="1600" b="1" dirty="0">
                <a:solidFill>
                  <a:srgbClr val="0B1929"/>
                </a:solidFill>
                <a:latin typeface="Calibri" pitchFamily="34" charset="0"/>
                <a:ea typeface="Calibri" pitchFamily="34" charset="-122"/>
                <a:cs typeface="Calibri" pitchFamily="34" charset="-120"/>
              </a:rPr>
              <a:t>Security checks</a:t>
            </a:r>
            <a:endParaRPr lang="en-US" sz="1600" dirty="0"/>
          </a:p>
        </p:txBody>
      </p:sp>
      <p:sp>
        <p:nvSpPr>
          <p:cNvPr id="49" name="Shape 46"/>
          <p:cNvSpPr/>
          <p:nvPr/>
        </p:nvSpPr>
        <p:spPr>
          <a:xfrm>
            <a:off x="8275320" y="5230368"/>
            <a:ext cx="1554480" cy="292608"/>
          </a:xfrm>
          <a:prstGeom prst="roundRect">
            <a:avLst>
              <a:gd name="adj" fmla="val 50000"/>
            </a:avLst>
          </a:prstGeom>
          <a:solidFill>
            <a:srgbClr val="D9962B"/>
          </a:solidFill>
          <a:ln w="12700">
            <a:solidFill>
              <a:srgbClr val="D9962B"/>
            </a:solidFill>
            <a:prstDash val="solid"/>
          </a:ln>
        </p:spPr>
      </p:sp>
      <p:sp>
        <p:nvSpPr>
          <p:cNvPr id="50" name="Text 47"/>
          <p:cNvSpPr txBox="1"/>
          <p:nvPr/>
        </p:nvSpPr>
        <p:spPr>
          <a:xfrm>
            <a:off x="8275320" y="5230368"/>
            <a:ext cx="15544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Needs attention</a:t>
            </a:r>
            <a:endParaRPr lang="en-US" sz="1100" dirty="0"/>
          </a:p>
        </p:txBody>
      </p:sp>
      <p:sp>
        <p:nvSpPr>
          <p:cNvPr id="51" name="Text 48"/>
          <p:cNvSpPr txBox="1"/>
          <p:nvPr/>
        </p:nvSpPr>
        <p:spPr>
          <a:xfrm>
            <a:off x="8275320" y="5577840"/>
            <a:ext cx="3108960" cy="36576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Hardening recommended</a:t>
            </a:r>
            <a:endParaRPr lang="en-US" sz="1200" dirty="0"/>
          </a:p>
        </p:txBody>
      </p:sp>
      <p:sp>
        <p:nvSpPr>
          <p:cNvPr id="52" name="Text 49"/>
          <p:cNvSpPr txBox="1"/>
          <p:nvPr/>
        </p:nvSpPr>
        <p:spPr>
          <a:xfrm>
            <a:off x="548640" y="6172200"/>
            <a:ext cx="10972800" cy="22860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Statuses reflect this month's review only. Other browsers, forms and payments were not tested.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929"/>
        </a:solidFill>
      </p:bgPr>
    </p:bg>
    <p:spTree>
      <p:nvGrpSpPr>
        <p:cNvPr id="1" name=""/>
        <p:cNvGrpSpPr/>
        <p:nvPr/>
      </p:nvGrpSpPr>
      <p:grpSpPr>
        <a:xfrm>
          <a:off x="0" y="0"/>
          <a:ext cx="0" cy="0"/>
          <a:chOff x="0" y="0"/>
          <a:chExt cx="0" cy="0"/>
        </a:xfrm>
      </p:grpSpPr>
      <p:pic>
        <p:nvPicPr>
          <p:cNvPr id="2" name="Image 0" descr="C:/Projects/OGH/build/brand/logo_white.png">    </p:cNvPr>
          <p:cNvPicPr>
            <a:picLocks noChangeAspect="1"/>
          </p:cNvPicPr>
          <p:nvPr/>
        </p:nvPicPr>
        <p:blipFill>
          <a:blip r:embed="rId1"/>
          <a:stretch>
            <a:fillRect/>
          </a:stretch>
        </p:blipFill>
        <p:spPr>
          <a:xfrm>
            <a:off x="9966960" y="411480"/>
            <a:ext cx="1645920" cy="365760"/>
          </a:xfrm>
          <a:prstGeom prst="rect">
            <a:avLst/>
          </a:prstGeom>
        </p:spPr>
      </p:pic>
      <p:sp>
        <p:nvSpPr>
          <p:cNvPr id="3" name="Text 0"/>
          <p:cNvSpPr txBox="1"/>
          <p:nvPr/>
        </p:nvSpPr>
        <p:spPr>
          <a:xfrm>
            <a:off x="731520" y="640080"/>
            <a:ext cx="8961120"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Next month: continuous care</a:t>
            </a:r>
            <a:endParaRPr lang="en-US" sz="3800" dirty="0"/>
          </a:p>
        </p:txBody>
      </p:sp>
      <p:sp>
        <p:nvSpPr>
          <p:cNvPr id="4" name="Text 1"/>
          <p:cNvSpPr txBox="1"/>
          <p:nvPr/>
        </p:nvSpPr>
        <p:spPr>
          <a:xfrm>
            <a:off x="731520" y="1508760"/>
            <a:ext cx="10332720" cy="822960"/>
          </a:xfrm>
          <a:prstGeom prst="rect">
            <a:avLst/>
          </a:prstGeom>
          <a:noFill/>
          <a:ln/>
        </p:spPr>
        <p:txBody>
          <a:bodyPr wrap="square" lIns="0" tIns="0" rIns="0" bIns="0" rtlCol="0" anchor="t"/>
          <a:lstStyle/>
          <a:p>
            <a:pPr indent="0" marL="0">
              <a:buNone/>
            </a:pPr>
            <a:r>
              <a:rPr lang="en-US" sz="1700" dirty="0">
                <a:solidFill>
                  <a:srgbClr val="CBD5E1"/>
                </a:solidFill>
                <a:latin typeface="Calibri" pitchFamily="34" charset="0"/>
                <a:ea typeface="Calibri" pitchFamily="34" charset="-122"/>
                <a:cs typeface="Calibri" pitchFamily="34" charset="-120"/>
              </a:rPr>
              <a:t>Continuous monitoring helps identify functional, technical, performance and user-experience issues early, supporting a stable and reliable website.</a:t>
            </a:r>
            <a:endParaRPr lang="en-US" sz="1700" dirty="0"/>
          </a:p>
        </p:txBody>
      </p:sp>
      <p:sp>
        <p:nvSpPr>
          <p:cNvPr id="5" name="Shape 2"/>
          <p:cNvSpPr/>
          <p:nvPr/>
        </p:nvSpPr>
        <p:spPr>
          <a:xfrm>
            <a:off x="731520" y="274320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6" name="Shape 3"/>
          <p:cNvSpPr/>
          <p:nvPr/>
        </p:nvSpPr>
        <p:spPr>
          <a:xfrm>
            <a:off x="914400" y="2926080"/>
            <a:ext cx="548640" cy="548640"/>
          </a:xfrm>
          <a:prstGeom prst="ellipse">
            <a:avLst/>
          </a:prstGeom>
          <a:solidFill>
            <a:srgbClr val="F1F5F9"/>
          </a:solidFill>
          <a:ln w="12700">
            <a:solidFill>
              <a:srgbClr val="F1F5F9"/>
            </a:solidFill>
            <a:prstDash val="solid"/>
          </a:ln>
        </p:spPr>
      </p:sp>
      <p:pic>
        <p:nvPicPr>
          <p:cNvPr id="7" name="Image 1" descr="preencoded.png">    </p:cNvPr>
          <p:cNvPicPr>
            <a:picLocks noChangeAspect="1"/>
          </p:cNvPicPr>
          <p:nvPr/>
        </p:nvPicPr>
        <p:blipFill>
          <a:blip r:embed="rId2"/>
          <a:stretch>
            <a:fillRect/>
          </a:stretch>
        </p:blipFill>
        <p:spPr>
          <a:xfrm>
            <a:off x="1051560" y="3063240"/>
            <a:ext cx="274320" cy="274320"/>
          </a:xfrm>
          <a:prstGeom prst="rect">
            <a:avLst/>
          </a:prstGeom>
        </p:spPr>
      </p:pic>
      <p:sp>
        <p:nvSpPr>
          <p:cNvPr id="8" name="Text 4"/>
          <p:cNvSpPr txBox="1"/>
          <p:nvPr/>
        </p:nvSpPr>
        <p:spPr>
          <a:xfrm>
            <a:off x="914400" y="352044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Business-critical journeys</a:t>
            </a:r>
            <a:endParaRPr lang="en-US" sz="1400" dirty="0"/>
          </a:p>
        </p:txBody>
      </p:sp>
      <p:sp>
        <p:nvSpPr>
          <p:cNvPr id="9" name="Shape 5"/>
          <p:cNvSpPr/>
          <p:nvPr/>
        </p:nvSpPr>
        <p:spPr>
          <a:xfrm>
            <a:off x="3520440" y="274320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10" name="Shape 6"/>
          <p:cNvSpPr/>
          <p:nvPr/>
        </p:nvSpPr>
        <p:spPr>
          <a:xfrm>
            <a:off x="3703320" y="2926080"/>
            <a:ext cx="548640" cy="548640"/>
          </a:xfrm>
          <a:prstGeom prst="ellipse">
            <a:avLst/>
          </a:prstGeom>
          <a:solidFill>
            <a:srgbClr val="F1F5F9"/>
          </a:solidFill>
          <a:ln w="12700">
            <a:solidFill>
              <a:srgbClr val="F1F5F9"/>
            </a:solidFill>
            <a:prstDash val="solid"/>
          </a:ln>
        </p:spPr>
      </p:sp>
      <p:pic>
        <p:nvPicPr>
          <p:cNvPr id="11" name="Image 2" descr="preencoded.png">    </p:cNvPr>
          <p:cNvPicPr>
            <a:picLocks noChangeAspect="1"/>
          </p:cNvPicPr>
          <p:nvPr/>
        </p:nvPicPr>
        <p:blipFill>
          <a:blip r:embed="rId3"/>
          <a:stretch>
            <a:fillRect/>
          </a:stretch>
        </p:blipFill>
        <p:spPr>
          <a:xfrm>
            <a:off x="3840480" y="3063240"/>
            <a:ext cx="274320" cy="274320"/>
          </a:xfrm>
          <a:prstGeom prst="rect">
            <a:avLst/>
          </a:prstGeom>
        </p:spPr>
      </p:pic>
      <p:sp>
        <p:nvSpPr>
          <p:cNvPr id="12" name="Text 7"/>
          <p:cNvSpPr txBox="1"/>
          <p:nvPr/>
        </p:nvSpPr>
        <p:spPr>
          <a:xfrm>
            <a:off x="3703320" y="352044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Responsive experience</a:t>
            </a:r>
            <a:endParaRPr lang="en-US" sz="1400" dirty="0"/>
          </a:p>
        </p:txBody>
      </p:sp>
      <p:sp>
        <p:nvSpPr>
          <p:cNvPr id="13" name="Shape 8"/>
          <p:cNvSpPr/>
          <p:nvPr/>
        </p:nvSpPr>
        <p:spPr>
          <a:xfrm>
            <a:off x="6309360" y="274320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14" name="Shape 9"/>
          <p:cNvSpPr/>
          <p:nvPr/>
        </p:nvSpPr>
        <p:spPr>
          <a:xfrm>
            <a:off x="6492240" y="2926080"/>
            <a:ext cx="548640" cy="548640"/>
          </a:xfrm>
          <a:prstGeom prst="ellipse">
            <a:avLst/>
          </a:prstGeom>
          <a:solidFill>
            <a:srgbClr val="F1F5F9"/>
          </a:solidFill>
          <a:ln w="12700">
            <a:solidFill>
              <a:srgbClr val="F1F5F9"/>
            </a:solidFill>
            <a:prstDash val="solid"/>
          </a:ln>
        </p:spPr>
      </p:sp>
      <p:pic>
        <p:nvPicPr>
          <p:cNvPr id="15" name="Image 3" descr="preencoded.png">    </p:cNvPr>
          <p:cNvPicPr>
            <a:picLocks noChangeAspect="1"/>
          </p:cNvPicPr>
          <p:nvPr/>
        </p:nvPicPr>
        <p:blipFill>
          <a:blip r:embed="rId4"/>
          <a:stretch>
            <a:fillRect/>
          </a:stretch>
        </p:blipFill>
        <p:spPr>
          <a:xfrm>
            <a:off x="6629400" y="3063240"/>
            <a:ext cx="274320" cy="274320"/>
          </a:xfrm>
          <a:prstGeom prst="rect">
            <a:avLst/>
          </a:prstGeom>
        </p:spPr>
      </p:pic>
      <p:sp>
        <p:nvSpPr>
          <p:cNvPr id="16" name="Text 10"/>
          <p:cNvSpPr txBox="1"/>
          <p:nvPr/>
        </p:nvSpPr>
        <p:spPr>
          <a:xfrm>
            <a:off x="6492240" y="352044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Performance</a:t>
            </a:r>
            <a:endParaRPr lang="en-US" sz="1400" dirty="0"/>
          </a:p>
        </p:txBody>
      </p:sp>
      <p:sp>
        <p:nvSpPr>
          <p:cNvPr id="17" name="Shape 11"/>
          <p:cNvSpPr/>
          <p:nvPr/>
        </p:nvSpPr>
        <p:spPr>
          <a:xfrm>
            <a:off x="9098280" y="274320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18" name="Shape 12"/>
          <p:cNvSpPr/>
          <p:nvPr/>
        </p:nvSpPr>
        <p:spPr>
          <a:xfrm>
            <a:off x="9281160" y="2926080"/>
            <a:ext cx="548640" cy="548640"/>
          </a:xfrm>
          <a:prstGeom prst="ellipse">
            <a:avLst/>
          </a:prstGeom>
          <a:solidFill>
            <a:srgbClr val="F1F5F9"/>
          </a:solidFill>
          <a:ln w="12700">
            <a:solidFill>
              <a:srgbClr val="F1F5F9"/>
            </a:solidFill>
            <a:prstDash val="solid"/>
          </a:ln>
        </p:spPr>
      </p:sp>
      <p:pic>
        <p:nvPicPr>
          <p:cNvPr id="19" name="Image 4" descr="preencoded.png">    </p:cNvPr>
          <p:cNvPicPr>
            <a:picLocks noChangeAspect="1"/>
          </p:cNvPicPr>
          <p:nvPr/>
        </p:nvPicPr>
        <p:blipFill>
          <a:blip r:embed="rId5"/>
          <a:stretch>
            <a:fillRect/>
          </a:stretch>
        </p:blipFill>
        <p:spPr>
          <a:xfrm>
            <a:off x="9418320" y="3063240"/>
            <a:ext cx="274320" cy="274320"/>
          </a:xfrm>
          <a:prstGeom prst="rect">
            <a:avLst/>
          </a:prstGeom>
        </p:spPr>
      </p:pic>
      <p:sp>
        <p:nvSpPr>
          <p:cNvPr id="20" name="Text 13"/>
          <p:cNvSpPr txBox="1"/>
          <p:nvPr/>
        </p:nvSpPr>
        <p:spPr>
          <a:xfrm>
            <a:off x="9281160" y="352044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SEO health</a:t>
            </a:r>
            <a:endParaRPr lang="en-US" sz="1400" dirty="0"/>
          </a:p>
        </p:txBody>
      </p:sp>
      <p:sp>
        <p:nvSpPr>
          <p:cNvPr id="21" name="Shape 14"/>
          <p:cNvSpPr/>
          <p:nvPr/>
        </p:nvSpPr>
        <p:spPr>
          <a:xfrm>
            <a:off x="731520" y="420624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22" name="Shape 15"/>
          <p:cNvSpPr/>
          <p:nvPr/>
        </p:nvSpPr>
        <p:spPr>
          <a:xfrm>
            <a:off x="914400" y="4389120"/>
            <a:ext cx="548640" cy="548640"/>
          </a:xfrm>
          <a:prstGeom prst="ellipse">
            <a:avLst/>
          </a:prstGeom>
          <a:solidFill>
            <a:srgbClr val="F1F5F9"/>
          </a:solidFill>
          <a:ln w="12700">
            <a:solidFill>
              <a:srgbClr val="F1F5F9"/>
            </a:solidFill>
            <a:prstDash val="solid"/>
          </a:ln>
        </p:spPr>
      </p:sp>
      <p:pic>
        <p:nvPicPr>
          <p:cNvPr id="23" name="Image 5" descr="preencoded.png">    </p:cNvPr>
          <p:cNvPicPr>
            <a:picLocks noChangeAspect="1"/>
          </p:cNvPicPr>
          <p:nvPr/>
        </p:nvPicPr>
        <p:blipFill>
          <a:blip r:embed="rId6"/>
          <a:stretch>
            <a:fillRect/>
          </a:stretch>
        </p:blipFill>
        <p:spPr>
          <a:xfrm>
            <a:off x="1051560" y="4526280"/>
            <a:ext cx="274320" cy="274320"/>
          </a:xfrm>
          <a:prstGeom prst="rect">
            <a:avLst/>
          </a:prstGeom>
        </p:spPr>
      </p:pic>
      <p:sp>
        <p:nvSpPr>
          <p:cNvPr id="24" name="Text 16"/>
          <p:cNvSpPr txBox="1"/>
          <p:nvPr/>
        </p:nvSpPr>
        <p:spPr>
          <a:xfrm>
            <a:off x="914400" y="498348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Integrations</a:t>
            </a:r>
            <a:endParaRPr lang="en-US" sz="1400" dirty="0"/>
          </a:p>
        </p:txBody>
      </p:sp>
      <p:sp>
        <p:nvSpPr>
          <p:cNvPr id="25" name="Shape 17"/>
          <p:cNvSpPr/>
          <p:nvPr/>
        </p:nvSpPr>
        <p:spPr>
          <a:xfrm>
            <a:off x="3520440" y="420624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26" name="Shape 18"/>
          <p:cNvSpPr/>
          <p:nvPr/>
        </p:nvSpPr>
        <p:spPr>
          <a:xfrm>
            <a:off x="3703320" y="4389120"/>
            <a:ext cx="548640" cy="548640"/>
          </a:xfrm>
          <a:prstGeom prst="ellipse">
            <a:avLst/>
          </a:prstGeom>
          <a:solidFill>
            <a:srgbClr val="F1F5F9"/>
          </a:solidFill>
          <a:ln w="12700">
            <a:solidFill>
              <a:srgbClr val="F1F5F9"/>
            </a:solidFill>
            <a:prstDash val="solid"/>
          </a:ln>
        </p:spPr>
      </p:sp>
      <p:pic>
        <p:nvPicPr>
          <p:cNvPr id="27" name="Image 6" descr="preencoded.png">    </p:cNvPr>
          <p:cNvPicPr>
            <a:picLocks noChangeAspect="1"/>
          </p:cNvPicPr>
          <p:nvPr/>
        </p:nvPicPr>
        <p:blipFill>
          <a:blip r:embed="rId7"/>
          <a:stretch>
            <a:fillRect/>
          </a:stretch>
        </p:blipFill>
        <p:spPr>
          <a:xfrm>
            <a:off x="3840480" y="4526280"/>
            <a:ext cx="274320" cy="274320"/>
          </a:xfrm>
          <a:prstGeom prst="rect">
            <a:avLst/>
          </a:prstGeom>
        </p:spPr>
      </p:pic>
      <p:sp>
        <p:nvSpPr>
          <p:cNvPr id="28" name="Text 19"/>
          <p:cNvSpPr txBox="1"/>
          <p:nvPr/>
        </p:nvSpPr>
        <p:spPr>
          <a:xfrm>
            <a:off x="3703320" y="498348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Security observations</a:t>
            </a:r>
            <a:endParaRPr lang="en-US" sz="1400" dirty="0"/>
          </a:p>
        </p:txBody>
      </p:sp>
      <p:sp>
        <p:nvSpPr>
          <p:cNvPr id="29" name="Shape 20"/>
          <p:cNvSpPr/>
          <p:nvPr/>
        </p:nvSpPr>
        <p:spPr>
          <a:xfrm>
            <a:off x="6309360" y="420624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30" name="Shape 21"/>
          <p:cNvSpPr/>
          <p:nvPr/>
        </p:nvSpPr>
        <p:spPr>
          <a:xfrm>
            <a:off x="6492240" y="4389120"/>
            <a:ext cx="548640" cy="548640"/>
          </a:xfrm>
          <a:prstGeom prst="ellipse">
            <a:avLst/>
          </a:prstGeom>
          <a:solidFill>
            <a:srgbClr val="F1F5F9"/>
          </a:solidFill>
          <a:ln w="12700">
            <a:solidFill>
              <a:srgbClr val="F1F5F9"/>
            </a:solidFill>
            <a:prstDash val="solid"/>
          </a:ln>
        </p:spPr>
      </p:sp>
      <p:pic>
        <p:nvPicPr>
          <p:cNvPr id="31" name="Image 7" descr="preencoded.png">    </p:cNvPr>
          <p:cNvPicPr>
            <a:picLocks noChangeAspect="1"/>
          </p:cNvPicPr>
          <p:nvPr/>
        </p:nvPicPr>
        <p:blipFill>
          <a:blip r:embed="rId8"/>
          <a:stretch>
            <a:fillRect/>
          </a:stretch>
        </p:blipFill>
        <p:spPr>
          <a:xfrm>
            <a:off x="6629400" y="4526280"/>
            <a:ext cx="274320" cy="274320"/>
          </a:xfrm>
          <a:prstGeom prst="rect">
            <a:avLst/>
          </a:prstGeom>
        </p:spPr>
      </p:pic>
      <p:sp>
        <p:nvSpPr>
          <p:cNvPr id="32" name="Text 22"/>
          <p:cNvSpPr txBox="1"/>
          <p:nvPr/>
        </p:nvSpPr>
        <p:spPr>
          <a:xfrm>
            <a:off x="6492240" y="498348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Follow-up on this month's findings</a:t>
            </a:r>
            <a:endParaRPr lang="en-US" sz="1400" dirty="0"/>
          </a:p>
        </p:txBody>
      </p:sp>
      <p:sp>
        <p:nvSpPr>
          <p:cNvPr id="33" name="Shape 23"/>
          <p:cNvSpPr/>
          <p:nvPr/>
        </p:nvSpPr>
        <p:spPr>
          <a:xfrm>
            <a:off x="9098280" y="4206240"/>
            <a:ext cx="2606040" cy="1280160"/>
          </a:xfrm>
          <a:prstGeom prst="roundRect">
            <a:avLst>
              <a:gd name="adj" fmla="val 8571"/>
            </a:avLst>
          </a:prstGeom>
          <a:solidFill>
            <a:srgbClr val="0086C7">
              <a:alpha val="60000"/>
            </a:srgbClr>
          </a:solidFill>
          <a:ln w="12700">
            <a:solidFill>
              <a:srgbClr val="0086C7">
                <a:alpha val="60000"/>
              </a:srgbClr>
            </a:solidFill>
            <a:prstDash val="solid"/>
          </a:ln>
        </p:spPr>
      </p:sp>
      <p:sp>
        <p:nvSpPr>
          <p:cNvPr id="34" name="Shape 24"/>
          <p:cNvSpPr/>
          <p:nvPr/>
        </p:nvSpPr>
        <p:spPr>
          <a:xfrm>
            <a:off x="9281160" y="4389120"/>
            <a:ext cx="548640" cy="548640"/>
          </a:xfrm>
          <a:prstGeom prst="ellipse">
            <a:avLst/>
          </a:prstGeom>
          <a:solidFill>
            <a:srgbClr val="F1F5F9"/>
          </a:solidFill>
          <a:ln w="12700">
            <a:solidFill>
              <a:srgbClr val="F1F5F9"/>
            </a:solidFill>
            <a:prstDash val="solid"/>
          </a:ln>
        </p:spPr>
      </p:sp>
      <p:pic>
        <p:nvPicPr>
          <p:cNvPr id="35" name="Image 8" descr="preencoded.png">    </p:cNvPr>
          <p:cNvPicPr>
            <a:picLocks noChangeAspect="1"/>
          </p:cNvPicPr>
          <p:nvPr/>
        </p:nvPicPr>
        <p:blipFill>
          <a:blip r:embed="rId9"/>
          <a:stretch>
            <a:fillRect/>
          </a:stretch>
        </p:blipFill>
        <p:spPr>
          <a:xfrm>
            <a:off x="9418320" y="4526280"/>
            <a:ext cx="274320" cy="274320"/>
          </a:xfrm>
          <a:prstGeom prst="rect">
            <a:avLst/>
          </a:prstGeom>
        </p:spPr>
      </p:pic>
      <p:sp>
        <p:nvSpPr>
          <p:cNvPr id="36" name="Text 25"/>
          <p:cNvSpPr txBox="1"/>
          <p:nvPr/>
        </p:nvSpPr>
        <p:spPr>
          <a:xfrm>
            <a:off x="9281160" y="4983480"/>
            <a:ext cx="228600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New website changes</a:t>
            </a:r>
            <a:endParaRPr lang="en-US" sz="1400" dirty="0"/>
          </a:p>
        </p:txBody>
      </p:sp>
      <p:sp>
        <p:nvSpPr>
          <p:cNvPr id="37" name="Text 26"/>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400" i="1" dirty="0">
                <a:solidFill>
                  <a:srgbClr val="CBD5E1"/>
                </a:solidFill>
                <a:latin typeface="Calibri" pitchFamily="34" charset="0"/>
                <a:ea typeface="Calibri" pitchFamily="34" charset="-122"/>
                <a:cs typeface="Calibri" pitchFamily="34" charset="-120"/>
              </a:rPr>
              <a:t>Recommended next: browser testing beyond Chrome, and checkout validation in a safe test environment.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1828800" y="5989320"/>
            <a:ext cx="4206240" cy="4206240"/>
          </a:xfrm>
          <a:prstGeom prst="ellipse">
            <a:avLst/>
          </a:prstGeom>
          <a:solidFill>
            <a:srgbClr val="0086C7">
              <a:alpha val="35000"/>
            </a:srgbClr>
          </a:solidFill>
          <a:ln w="12700">
            <a:solidFill>
              <a:srgbClr val="0086C7">
                <a:alpha val="35000"/>
              </a:srgbClr>
            </a:solidFill>
            <a:prstDash val="solid"/>
          </a:ln>
        </p:spPr>
      </p:sp>
      <p:pic>
        <p:nvPicPr>
          <p:cNvPr id="3" name="Image 0" descr="C:/Projects/OGH/build/brand/logo_white.png">    </p:cNvPr>
          <p:cNvPicPr>
            <a:picLocks noChangeAspect="1"/>
          </p:cNvPicPr>
          <p:nvPr/>
        </p:nvPicPr>
        <p:blipFill>
          <a:blip r:embed="rId1"/>
          <a:stretch>
            <a:fillRect/>
          </a:stretch>
        </p:blipFill>
        <p:spPr>
          <a:xfrm>
            <a:off x="731520" y="548640"/>
            <a:ext cx="2560320" cy="576072"/>
          </a:xfrm>
          <a:prstGeom prst="rect">
            <a:avLst/>
          </a:prstGeom>
        </p:spPr>
      </p:pic>
      <p:sp>
        <p:nvSpPr>
          <p:cNvPr id="4" name="Text 1"/>
          <p:cNvSpPr txBox="1"/>
          <p:nvPr/>
        </p:nvSpPr>
        <p:spPr>
          <a:xfrm>
            <a:off x="731520" y="1737360"/>
            <a:ext cx="512064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Let's keep your website healthy</a:t>
            </a:r>
            <a:endParaRPr lang="en-US" sz="3800" dirty="0"/>
          </a:p>
        </p:txBody>
      </p:sp>
      <p:sp>
        <p:nvSpPr>
          <p:cNvPr id="5" name="Text 2"/>
          <p:cNvSpPr txBox="1"/>
          <p:nvPr/>
        </p:nvSpPr>
        <p:spPr>
          <a:xfrm>
            <a:off x="731520" y="3566160"/>
            <a:ext cx="4937760" cy="137160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Questions about this report, or ready to act on the recommendations? Our team is happy to walk you through the findings and next steps.</a:t>
            </a:r>
            <a:endParaRPr lang="en-US" sz="1600" dirty="0"/>
          </a:p>
        </p:txBody>
      </p:sp>
      <p:sp>
        <p:nvSpPr>
          <p:cNvPr id="6" name="Text 3"/>
          <p:cNvSpPr txBox="1"/>
          <p:nvPr/>
        </p:nvSpPr>
        <p:spPr>
          <a:xfrm>
            <a:off x="731520" y="4983480"/>
            <a:ext cx="4937760" cy="731520"/>
          </a:xfrm>
          <a:prstGeom prst="rect">
            <a:avLst/>
          </a:prstGeom>
          <a:noFill/>
          <a:ln/>
        </p:spPr>
        <p:txBody>
          <a:bodyPr wrap="square" lIns="0" tIns="0" rIns="0" bIns="0" rtlCol="0" anchor="t"/>
          <a:lstStyle/>
          <a:p>
            <a:pPr indent="0" marL="0">
              <a:buNone/>
            </a:pPr>
            <a:r>
              <a:rPr lang="en-US" sz="1300" i="1" dirty="0">
                <a:solidFill>
                  <a:srgbClr val="7CC4EC"/>
                </a:solidFill>
                <a:latin typeface="Calibri" pitchFamily="34" charset="0"/>
                <a:ea typeface="Calibri" pitchFamily="34" charset="-122"/>
                <a:cs typeface="Calibri" pitchFamily="34" charset="-120"/>
              </a:rPr>
              <a:t>AI-first digital growth agency for eCommerce brands and home services. New York + Toronto.</a:t>
            </a:r>
            <a:endParaRPr lang="en-US" sz="1300" dirty="0"/>
          </a:p>
        </p:txBody>
      </p:sp>
      <p:sp>
        <p:nvSpPr>
          <p:cNvPr id="7" name="Shape 4"/>
          <p:cNvSpPr/>
          <p:nvPr/>
        </p:nvSpPr>
        <p:spPr>
          <a:xfrm>
            <a:off x="6400800" y="914400"/>
            <a:ext cx="5074920" cy="4937760"/>
          </a:xfrm>
          <a:prstGeom prst="roundRect">
            <a:avLst>
              <a:gd name="adj" fmla="val 2778"/>
            </a:avLst>
          </a:prstGeom>
          <a:solidFill>
            <a:srgbClr val="FFFFFF"/>
          </a:solidFill>
          <a:ln w="12700">
            <a:solidFill>
              <a:srgbClr val="FFFFFF"/>
            </a:solidFill>
            <a:prstDash val="solid"/>
          </a:ln>
        </p:spPr>
      </p:sp>
      <p:sp>
        <p:nvSpPr>
          <p:cNvPr id="8" name="Text 5"/>
          <p:cNvSpPr txBox="1"/>
          <p:nvPr/>
        </p:nvSpPr>
        <p:spPr>
          <a:xfrm>
            <a:off x="6766560" y="1188720"/>
            <a:ext cx="4389120" cy="457200"/>
          </a:xfrm>
          <a:prstGeom prst="rect">
            <a:avLst/>
          </a:prstGeom>
          <a:noFill/>
          <a:ln/>
        </p:spPr>
        <p:txBody>
          <a:bodyPr wrap="square" lIns="0" tIns="0" rIns="0" bIns="0" rtlCol="0" anchor="ctr"/>
          <a:lstStyle/>
          <a:p>
            <a:pPr indent="0" marL="0">
              <a:buNone/>
            </a:pPr>
            <a:r>
              <a:rPr lang="en-US" sz="2200" b="1" dirty="0">
                <a:solidFill>
                  <a:srgbClr val="0B1929"/>
                </a:solidFill>
                <a:latin typeface="Calibri" pitchFamily="34" charset="0"/>
                <a:ea typeface="Calibri" pitchFamily="34" charset="-122"/>
                <a:cs typeface="Calibri" pitchFamily="34" charset="-120"/>
              </a:rPr>
              <a:t>Contact WebDesk Solution</a:t>
            </a:r>
            <a:endParaRPr lang="en-US" sz="2200" dirty="0"/>
          </a:p>
        </p:txBody>
      </p:sp>
      <p:sp>
        <p:nvSpPr>
          <p:cNvPr id="9" name="Shape 6"/>
          <p:cNvSpPr/>
          <p:nvPr/>
        </p:nvSpPr>
        <p:spPr>
          <a:xfrm>
            <a:off x="6766560" y="1874520"/>
            <a:ext cx="548640" cy="548640"/>
          </a:xfrm>
          <a:prstGeom prst="ellipse">
            <a:avLst/>
          </a:prstGeom>
          <a:solidFill>
            <a:srgbClr val="0086C7"/>
          </a:solidFill>
          <a:ln w="12700">
            <a:solidFill>
              <a:srgbClr val="0086C7"/>
            </a:solidFill>
            <a:prstDash val="solid"/>
          </a:ln>
        </p:spPr>
      </p:sp>
      <p:pic>
        <p:nvPicPr>
          <p:cNvPr id="10" name="Image 1" descr="preencoded.png">    </p:cNvPr>
          <p:cNvPicPr>
            <a:picLocks noChangeAspect="1"/>
          </p:cNvPicPr>
          <p:nvPr/>
        </p:nvPicPr>
        <p:blipFill>
          <a:blip r:embed="rId2"/>
          <a:stretch>
            <a:fillRect/>
          </a:stretch>
        </p:blipFill>
        <p:spPr>
          <a:xfrm>
            <a:off x="6903720" y="2011680"/>
            <a:ext cx="274320" cy="274320"/>
          </a:xfrm>
          <a:prstGeom prst="rect">
            <a:avLst/>
          </a:prstGeom>
        </p:spPr>
      </p:pic>
      <p:sp>
        <p:nvSpPr>
          <p:cNvPr id="11" name="Text 7"/>
          <p:cNvSpPr txBox="1"/>
          <p:nvPr/>
        </p:nvSpPr>
        <p:spPr>
          <a:xfrm>
            <a:off x="7498080" y="185623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Email</a:t>
            </a:r>
            <a:endParaRPr lang="en-US" sz="1100" dirty="0"/>
          </a:p>
        </p:txBody>
      </p:sp>
      <p:sp>
        <p:nvSpPr>
          <p:cNvPr id="12" name="Text 8"/>
          <p:cNvSpPr txBox="1"/>
          <p:nvPr/>
        </p:nvSpPr>
        <p:spPr>
          <a:xfrm>
            <a:off x="7498080" y="209397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sales@webdesksolution.com</a:t>
            </a:r>
            <a:endParaRPr lang="en-US" sz="1700" dirty="0"/>
          </a:p>
        </p:txBody>
      </p:sp>
      <p:sp>
        <p:nvSpPr>
          <p:cNvPr id="13" name="Shape 9"/>
          <p:cNvSpPr/>
          <p:nvPr/>
        </p:nvSpPr>
        <p:spPr>
          <a:xfrm>
            <a:off x="6766560" y="2651760"/>
            <a:ext cx="548640" cy="548640"/>
          </a:xfrm>
          <a:prstGeom prst="ellipse">
            <a:avLst/>
          </a:prstGeom>
          <a:solidFill>
            <a:srgbClr val="0086C7"/>
          </a:solidFill>
          <a:ln w="12700">
            <a:solidFill>
              <a:srgbClr val="0086C7"/>
            </a:solidFill>
            <a:prstDash val="solid"/>
          </a:ln>
        </p:spPr>
      </p:sp>
      <p:pic>
        <p:nvPicPr>
          <p:cNvPr id="14" name="Image 2" descr="preencoded.png">    </p:cNvPr>
          <p:cNvPicPr>
            <a:picLocks noChangeAspect="1"/>
          </p:cNvPicPr>
          <p:nvPr/>
        </p:nvPicPr>
        <p:blipFill>
          <a:blip r:embed="rId3"/>
          <a:stretch>
            <a:fillRect/>
          </a:stretch>
        </p:blipFill>
        <p:spPr>
          <a:xfrm>
            <a:off x="6903720" y="2788920"/>
            <a:ext cx="274320" cy="274320"/>
          </a:xfrm>
          <a:prstGeom prst="rect">
            <a:avLst/>
          </a:prstGeom>
        </p:spPr>
      </p:pic>
      <p:sp>
        <p:nvSpPr>
          <p:cNvPr id="15" name="Text 10"/>
          <p:cNvSpPr txBox="1"/>
          <p:nvPr/>
        </p:nvSpPr>
        <p:spPr>
          <a:xfrm>
            <a:off x="7498080" y="263347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Phone (Toronto)</a:t>
            </a:r>
            <a:endParaRPr lang="en-US" sz="1100" dirty="0"/>
          </a:p>
        </p:txBody>
      </p:sp>
      <p:sp>
        <p:nvSpPr>
          <p:cNvPr id="16" name="Text 11"/>
          <p:cNvSpPr txBox="1"/>
          <p:nvPr/>
        </p:nvSpPr>
        <p:spPr>
          <a:xfrm>
            <a:off x="7498080" y="287121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647-547-2249</a:t>
            </a:r>
            <a:endParaRPr lang="en-US" sz="1700" dirty="0"/>
          </a:p>
        </p:txBody>
      </p:sp>
      <p:sp>
        <p:nvSpPr>
          <p:cNvPr id="17" name="Shape 12"/>
          <p:cNvSpPr/>
          <p:nvPr/>
        </p:nvSpPr>
        <p:spPr>
          <a:xfrm>
            <a:off x="6766560" y="3429000"/>
            <a:ext cx="548640" cy="548640"/>
          </a:xfrm>
          <a:prstGeom prst="ellipse">
            <a:avLst/>
          </a:prstGeom>
          <a:solidFill>
            <a:srgbClr val="0086C7"/>
          </a:solidFill>
          <a:ln w="12700">
            <a:solidFill>
              <a:srgbClr val="0086C7"/>
            </a:solidFill>
            <a:prstDash val="solid"/>
          </a:ln>
        </p:spPr>
      </p:sp>
      <p:pic>
        <p:nvPicPr>
          <p:cNvPr id="18" name="Image 3" descr="preencoded.png">    </p:cNvPr>
          <p:cNvPicPr>
            <a:picLocks noChangeAspect="1"/>
          </p:cNvPicPr>
          <p:nvPr/>
        </p:nvPicPr>
        <p:blipFill>
          <a:blip r:embed="rId4"/>
          <a:stretch>
            <a:fillRect/>
          </a:stretch>
        </p:blipFill>
        <p:spPr>
          <a:xfrm>
            <a:off x="6903720" y="3566160"/>
            <a:ext cx="274320" cy="274320"/>
          </a:xfrm>
          <a:prstGeom prst="rect">
            <a:avLst/>
          </a:prstGeom>
        </p:spPr>
      </p:pic>
      <p:sp>
        <p:nvSpPr>
          <p:cNvPr id="19" name="Text 13"/>
          <p:cNvSpPr txBox="1"/>
          <p:nvPr/>
        </p:nvSpPr>
        <p:spPr>
          <a:xfrm>
            <a:off x="7498080" y="341071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Toll-free</a:t>
            </a:r>
            <a:endParaRPr lang="en-US" sz="1100" dirty="0"/>
          </a:p>
        </p:txBody>
      </p:sp>
      <p:sp>
        <p:nvSpPr>
          <p:cNvPr id="20" name="Text 14"/>
          <p:cNvSpPr txBox="1"/>
          <p:nvPr/>
        </p:nvSpPr>
        <p:spPr>
          <a:xfrm>
            <a:off x="7498080" y="364845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877-536-3789</a:t>
            </a:r>
            <a:endParaRPr lang="en-US" sz="1700" dirty="0"/>
          </a:p>
        </p:txBody>
      </p:sp>
      <p:sp>
        <p:nvSpPr>
          <p:cNvPr id="21" name="Shape 15"/>
          <p:cNvSpPr/>
          <p:nvPr/>
        </p:nvSpPr>
        <p:spPr>
          <a:xfrm>
            <a:off x="6766560" y="4206240"/>
            <a:ext cx="548640" cy="548640"/>
          </a:xfrm>
          <a:prstGeom prst="ellipse">
            <a:avLst/>
          </a:prstGeom>
          <a:solidFill>
            <a:srgbClr val="0086C7"/>
          </a:solidFill>
          <a:ln w="12700">
            <a:solidFill>
              <a:srgbClr val="0086C7"/>
            </a:solidFill>
            <a:prstDash val="solid"/>
          </a:ln>
        </p:spPr>
      </p:sp>
      <p:pic>
        <p:nvPicPr>
          <p:cNvPr id="22" name="Image 4" descr="preencoded.png">    </p:cNvPr>
          <p:cNvPicPr>
            <a:picLocks noChangeAspect="1"/>
          </p:cNvPicPr>
          <p:nvPr/>
        </p:nvPicPr>
        <p:blipFill>
          <a:blip r:embed="rId5"/>
          <a:stretch>
            <a:fillRect/>
          </a:stretch>
        </p:blipFill>
        <p:spPr>
          <a:xfrm>
            <a:off x="6903720" y="4343400"/>
            <a:ext cx="274320" cy="274320"/>
          </a:xfrm>
          <a:prstGeom prst="rect">
            <a:avLst/>
          </a:prstGeom>
        </p:spPr>
      </p:pic>
      <p:sp>
        <p:nvSpPr>
          <p:cNvPr id="23" name="Text 16"/>
          <p:cNvSpPr txBox="1"/>
          <p:nvPr/>
        </p:nvSpPr>
        <p:spPr>
          <a:xfrm>
            <a:off x="7498080" y="418795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Website</a:t>
            </a:r>
            <a:endParaRPr lang="en-US" sz="1100" dirty="0"/>
          </a:p>
        </p:txBody>
      </p:sp>
      <p:sp>
        <p:nvSpPr>
          <p:cNvPr id="24" name="Text 17"/>
          <p:cNvSpPr txBox="1"/>
          <p:nvPr/>
        </p:nvSpPr>
        <p:spPr>
          <a:xfrm>
            <a:off x="7498080" y="442569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webdesksolution.com</a:t>
            </a:r>
            <a:endParaRPr lang="en-US" sz="1700" dirty="0"/>
          </a:p>
        </p:txBody>
      </p:sp>
      <p:sp>
        <p:nvSpPr>
          <p:cNvPr id="25" name="Shape 18"/>
          <p:cNvSpPr/>
          <p:nvPr/>
        </p:nvSpPr>
        <p:spPr>
          <a:xfrm>
            <a:off x="6766560" y="4983480"/>
            <a:ext cx="548640" cy="548640"/>
          </a:xfrm>
          <a:prstGeom prst="ellipse">
            <a:avLst/>
          </a:prstGeom>
          <a:solidFill>
            <a:srgbClr val="0086C7"/>
          </a:solidFill>
          <a:ln w="12700">
            <a:solidFill>
              <a:srgbClr val="0086C7"/>
            </a:solidFill>
            <a:prstDash val="solid"/>
          </a:ln>
        </p:spPr>
      </p:sp>
      <p:pic>
        <p:nvPicPr>
          <p:cNvPr id="26" name="Image 5" descr="preencoded.png">    </p:cNvPr>
          <p:cNvPicPr>
            <a:picLocks noChangeAspect="1"/>
          </p:cNvPicPr>
          <p:nvPr/>
        </p:nvPicPr>
        <p:blipFill>
          <a:blip r:embed="rId6"/>
          <a:stretch>
            <a:fillRect/>
          </a:stretch>
        </p:blipFill>
        <p:spPr>
          <a:xfrm>
            <a:off x="6903720" y="5120640"/>
            <a:ext cx="274320" cy="274320"/>
          </a:xfrm>
          <a:prstGeom prst="rect">
            <a:avLst/>
          </a:prstGeom>
        </p:spPr>
      </p:pic>
      <p:sp>
        <p:nvSpPr>
          <p:cNvPr id="27" name="Text 19"/>
          <p:cNvSpPr txBox="1"/>
          <p:nvPr/>
        </p:nvSpPr>
        <p:spPr>
          <a:xfrm>
            <a:off x="7498080" y="4965192"/>
            <a:ext cx="3749040" cy="256032"/>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Offices</a:t>
            </a:r>
            <a:endParaRPr lang="en-US" sz="1100" dirty="0"/>
          </a:p>
        </p:txBody>
      </p:sp>
      <p:sp>
        <p:nvSpPr>
          <p:cNvPr id="28" name="Text 20"/>
          <p:cNvSpPr txBox="1"/>
          <p:nvPr/>
        </p:nvSpPr>
        <p:spPr>
          <a:xfrm>
            <a:off x="7498080" y="5202936"/>
            <a:ext cx="3749040" cy="365760"/>
          </a:xfrm>
          <a:prstGeom prst="rect">
            <a:avLst/>
          </a:prstGeom>
          <a:noFill/>
          <a:ln/>
        </p:spPr>
        <p:txBody>
          <a:bodyPr wrap="square" lIns="0" tIns="0" rIns="0" bIns="0" rtlCol="0" anchor="ctr"/>
          <a:lstStyle/>
          <a:p>
            <a:pPr indent="0" marL="0">
              <a:buNone/>
            </a:pPr>
            <a:r>
              <a:rPr lang="en-US" sz="1700" b="1" dirty="0">
                <a:solidFill>
                  <a:srgbClr val="0B1929"/>
                </a:solidFill>
                <a:latin typeface="Calibri" pitchFamily="34" charset="0"/>
                <a:ea typeface="Calibri" pitchFamily="34" charset="-122"/>
                <a:cs typeface="Calibri" pitchFamily="34" charset="-120"/>
              </a:rPr>
              <a:t>New York  |  Toronto</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Website Health &amp; Monthly Maintenance Report - Our Green House - September 2026</dc:title>
  <dc:subject>PptxGenJS Presentation</dc:subject>
  <dc:creator>WebDesk Solution</dc:creator>
  <cp:lastModifiedBy>WebDesk Solution</cp:lastModifiedBy>
  <cp:revision>1</cp:revision>
  <dcterms:created xsi:type="dcterms:W3CDTF">2026-09-30T09:54:25Z</dcterms:created>
  <dcterms:modified xsi:type="dcterms:W3CDTF">2026-09-30T09:54:25Z</dcterms:modified>
</cp:coreProperties>
</file>