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Open issues</c:v>
                </c:pt>
              </c:strCache>
            </c:strRef>
          </c:tx>
          <c:spPr>
            <a:solidFill>
              <a:schemeClr val="accent1"/>
            </a:solidFill>
            <a:ln w="9525" cap="flat">
              <a:solidFill>
                <a:srgbClr val="F9F9F9"/>
              </a:solidFill>
              <a:prstDash val="solid"/>
              <a:round/>
            </a:ln>
            <a:effectLst/>
          </c:spPr>
          <c:dPt>
            <c:idx val="0"/>
            <c:bubble3D val="0"/>
            <c:spPr>
              <a:solidFill>
                <a:srgbClr val="DC2626"/>
              </a:solidFill>
              <a:ln w="25400" cap="flat">
                <a:solidFill>
                  <a:srgbClr val="FFFFFF"/>
                </a:solidFill>
                <a:prstDash val="solid"/>
                <a:round/>
              </a:ln>
              <a:effectLst/>
            </c:spPr>
          </c:dPt>
          <c:dPt>
            <c:idx val="1"/>
            <c:bubble3D val="0"/>
            <c:spPr>
              <a:solidFill>
                <a:srgbClr val="F59E0B"/>
              </a:solidFill>
              <a:ln w="25400" cap="flat">
                <a:solidFill>
                  <a:srgbClr val="FFFFFF"/>
                </a:solidFill>
                <a:prstDash val="solid"/>
                <a:round/>
              </a:ln>
              <a:effectLst/>
            </c:spPr>
          </c:dPt>
          <c:dPt>
            <c:idx val="2"/>
            <c:bubble3D val="0"/>
            <c:spPr>
              <a:solidFill>
                <a:srgbClr val="94A3B8"/>
              </a:solidFill>
              <a:ln w="254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Urgent</c:v>
                </c:pt>
                <c:pt idx="1">
                  <c:v>Medium</c:v>
                </c:pt>
                <c:pt idx="2">
                  <c:v>Minor</c:v>
                </c:pt>
              </c:strCache>
            </c:strRef>
          </c:cat>
          <c:val>
            <c:numRef>
              <c:f>Sheet1!$B$2:$B$4</c:f>
              <c:numCache>
                <c:ptCount val="3"/>
                <c:pt idx="0">
                  <c:v>1</c:v>
                </c:pt>
                <c:pt idx="1">
                  <c:v>4</c:v>
                </c:pt>
                <c:pt idx="2">
                  <c:v>4</c:v>
                </c:pt>
              </c:numCache>
            </c:numRef>
          </c:val>
        </c:ser>
        <c:firstSliceAng val="0"/>
        <c:holeSize val="68"/>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731520" y="731520"/>
            <a:ext cx="2011680" cy="1097280"/>
          </a:xfrm>
          <a:prstGeom prst="rect">
            <a:avLst/>
          </a:prstGeom>
        </p:spPr>
      </p:pic>
      <p:sp>
        <p:nvSpPr>
          <p:cNvPr id="3" name="Text 0"/>
          <p:cNvSpPr/>
          <p:nvPr/>
        </p:nvSpPr>
        <p:spPr>
          <a:xfrm>
            <a:off x="731520" y="2011680"/>
            <a:ext cx="10515600" cy="1188720"/>
          </a:xfrm>
          <a:prstGeom prst="rect">
            <a:avLst/>
          </a:prstGeom>
          <a:noFill/>
          <a:ln/>
        </p:spPr>
        <p:txBody>
          <a:bodyPr wrap="square" rtlCol="0" anchor="ctr"/>
          <a:lstStyle/>
          <a:p>
            <a:pPr indent="0" marL="0">
              <a:buNone/>
            </a:pPr>
            <a:r>
              <a:rPr lang="en-US" sz="3600" b="1" dirty="0">
                <a:solidFill>
                  <a:srgbClr val="0F172A"/>
                </a:solidFill>
                <a:latin typeface="Outfit" pitchFamily="34" charset="0"/>
                <a:ea typeface="Outfit" pitchFamily="34" charset="-122"/>
                <a:cs typeface="Outfit" pitchFamily="34" charset="-120"/>
              </a:rPr>
              <a:t>Monthly Optimization &amp; Operations Report</a:t>
            </a:r>
            <a:endParaRPr lang="en-US" sz="3600" dirty="0"/>
          </a:p>
        </p:txBody>
      </p:sp>
      <p:sp>
        <p:nvSpPr>
          <p:cNvPr id="4" name="Text 1"/>
          <p:cNvSpPr/>
          <p:nvPr/>
        </p:nvSpPr>
        <p:spPr>
          <a:xfrm>
            <a:off x="731520" y="3291840"/>
            <a:ext cx="10515600" cy="457200"/>
          </a:xfrm>
          <a:prstGeom prst="rect">
            <a:avLst/>
          </a:prstGeom>
          <a:noFill/>
          <a:ln/>
        </p:spPr>
        <p:txBody>
          <a:bodyPr wrap="square" rtlCol="0" anchor="ctr"/>
          <a:lstStyle/>
          <a:p>
            <a:pPr indent="0" marL="0">
              <a:buNone/>
            </a:pPr>
            <a:r>
              <a:rPr lang="en-US" sz="1800" dirty="0">
                <a:solidFill>
                  <a:srgbClr val="0EA5E9"/>
                </a:solidFill>
                <a:latin typeface="Outfit" pitchFamily="34" charset="0"/>
                <a:ea typeface="Outfit" pitchFamily="34" charset="-122"/>
                <a:cs typeface="Outfit" pitchFamily="34" charset="-120"/>
              </a:rPr>
              <a:t>genpet.org — 2026-10 Comprehensive Audit &amp; Executive Deck</a:t>
            </a:r>
            <a:endParaRPr lang="en-US" sz="1800" dirty="0"/>
          </a:p>
        </p:txBody>
      </p:sp>
      <p:sp>
        <p:nvSpPr>
          <p:cNvPr id="5" name="Shape 2"/>
          <p:cNvSpPr/>
          <p:nvPr/>
        </p:nvSpPr>
        <p:spPr>
          <a:xfrm>
            <a:off x="731520" y="4206240"/>
            <a:ext cx="2286000" cy="45720"/>
          </a:xfrm>
          <a:prstGeom prst="rect">
            <a:avLst/>
          </a:prstGeom>
          <a:solidFill>
            <a:srgbClr val="0EA5E9"/>
          </a:solidFill>
          <a:ln/>
        </p:spPr>
      </p:sp>
      <p:sp>
        <p:nvSpPr>
          <p:cNvPr id="6" name="Text 3"/>
          <p:cNvSpPr/>
          <p:nvPr/>
        </p:nvSpPr>
        <p:spPr>
          <a:xfrm>
            <a:off x="731520" y="4572000"/>
            <a:ext cx="7315200" cy="365760"/>
          </a:xfrm>
          <a:prstGeom prst="rect">
            <a:avLst/>
          </a:prstGeom>
          <a:noFill/>
          <a:ln/>
        </p:spPr>
        <p:txBody>
          <a:bodyPr wrap="square" rtlCol="0" anchor="ctr"/>
          <a:lstStyle/>
          <a:p>
            <a:pPr indent="0" marL="0">
              <a:buNone/>
            </a:pPr>
            <a:r>
              <a:rPr lang="en-US" sz="1300" dirty="0">
                <a:solidFill>
                  <a:srgbClr val="64748B"/>
                </a:solidFill>
                <a:latin typeface="Plus Jakarta Sans" pitchFamily="34" charset="0"/>
                <a:ea typeface="Plus Jakarta Sans" pitchFamily="34" charset="-122"/>
                <a:cs typeface="Plus Jakarta Sans" pitchFamily="34" charset="-120"/>
              </a:rPr>
              <a:t>Prepared by WebDesk Solution Maintenance &amp; QA Engineering Team</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Monthly Maintenance Statement</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Proactive Data Protection &amp; Backup Operations</a:t>
            </a:r>
            <a:endParaRPr lang="en-US" sz="2600" dirty="0"/>
          </a:p>
        </p:txBody>
      </p:sp>
      <p:sp>
        <p:nvSpPr>
          <p:cNvPr id="5" name="Text 2"/>
          <p:cNvSpPr/>
          <p:nvPr/>
        </p:nvSpPr>
        <p:spPr>
          <a:xfrm>
            <a:off x="731520" y="1645920"/>
            <a:ext cx="5486400" cy="3200400"/>
          </a:xfrm>
          <a:prstGeom prst="rect">
            <a:avLst/>
          </a:prstGeom>
          <a:noFill/>
          <a:ln/>
        </p:spPr>
        <p:txBody>
          <a:bodyPr wrap="square" rtlCol="0" anchor="ctr"/>
          <a:lstStyle/>
          <a:p>
            <a:pPr indent="0" marL="0">
              <a:lnSpc>
                <a:spcPts val="2200"/>
              </a:lnSpc>
              <a:buNone/>
            </a:pPr>
            <a:r>
              <a:rPr lang="en-US" sz="1400" dirty="0">
                <a:solidFill>
                  <a:srgbClr val="0F172A"/>
                </a:solidFill>
                <a:latin typeface="Plus Jakarta Sans" pitchFamily="34" charset="0"/>
                <a:ea typeface="Plus Jakarta Sans" pitchFamily="34" charset="-122"/>
                <a:cs typeface="Plus Jakarta Sans" pitchFamily="34" charset="-120"/>
              </a:rPr>
              <a:t>Every month we look after your store's security, speed and reliability, so you can focus on running the business. Regular backups keep your data, databases and theme safe, and automated checks watch the store around the clock.</a:t>
            </a:r>
            <a:endParaRPr lang="en-US" sz="1400" dirty="0"/>
          </a:p>
          <a:p>
            <a:pPr indent="0" marL="0">
              <a:lnSpc>
                <a:spcPts val="2200"/>
              </a:lnSpc>
              <a:buNone/>
            </a:pPr>
            <a:endParaRPr lang="en-US" sz="1400" dirty="0"/>
          </a:p>
          <a:p>
            <a:pPr indent="0" marL="0">
              <a:lnSpc>
                <a:spcPts val="2200"/>
              </a:lnSpc>
              <a:buNone/>
            </a:pPr>
            <a:r>
              <a:rPr lang="en-US" sz="1400" dirty="0">
                <a:solidFill>
                  <a:srgbClr val="0F172A"/>
                </a:solidFill>
                <a:latin typeface="Plus Jakarta Sans" pitchFamily="34" charset="0"/>
                <a:ea typeface="Plus Jakarta Sans" pitchFamily="34" charset="-122"/>
                <a:cs typeface="Plus Jakarta Sans" pitchFamily="34" charset="-120"/>
              </a:rPr>
              <a:t>This month's focus: security. We scanned your store for weak points and identified 9 items, ranked by risk, that we will work through next. The pages that follow show what we caught and what comes next.</a:t>
            </a:r>
            <a:endParaRPr lang="en-US" sz="1400" dirty="0"/>
          </a:p>
        </p:txBody>
      </p:sp>
      <p:sp>
        <p:nvSpPr>
          <p:cNvPr id="6" name="Shape 3"/>
          <p:cNvSpPr/>
          <p:nvPr/>
        </p:nvSpPr>
        <p:spPr>
          <a:xfrm>
            <a:off x="6766560" y="1645920"/>
            <a:ext cx="4572000" cy="3200400"/>
          </a:xfrm>
          <a:prstGeom prst="rect">
            <a:avLst>
              <a:gd name="adj" fmla="val 2857"/>
            </a:avLst>
          </a:prstGeom>
          <a:solidFill>
            <a:srgbClr val="F8FAFC"/>
          </a:solidFill>
          <a:ln w="12700">
            <a:solidFill>
              <a:srgbClr val="E2E8F0"/>
            </a:solidFill>
            <a:prstDash val="solid"/>
          </a:ln>
        </p:spPr>
      </p:sp>
      <p:sp>
        <p:nvSpPr>
          <p:cNvPr id="7" name="Text 4"/>
          <p:cNvSpPr/>
          <p:nvPr/>
        </p:nvSpPr>
        <p:spPr>
          <a:xfrm>
            <a:off x="7040880" y="1920240"/>
            <a:ext cx="402336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BACKUP VERIFICATION LOG</a:t>
            </a:r>
            <a:endParaRPr lang="en-US" sz="1100" dirty="0"/>
          </a:p>
        </p:txBody>
      </p:sp>
      <p:sp>
        <p:nvSpPr>
          <p:cNvPr id="8" name="Text 5"/>
          <p:cNvSpPr/>
          <p:nvPr/>
        </p:nvSpPr>
        <p:spPr>
          <a:xfrm>
            <a:off x="7040880" y="2286000"/>
            <a:ext cx="4023360" cy="457200"/>
          </a:xfrm>
          <a:prstGeom prst="rect">
            <a:avLst/>
          </a:prstGeom>
          <a:noFill/>
          <a:ln/>
        </p:spPr>
        <p:txBody>
          <a:bodyPr wrap="square" rtlCol="0" anchor="ctr"/>
          <a:lstStyle/>
          <a:p>
            <a:pPr indent="0" marL="0">
              <a:buNone/>
            </a:pPr>
            <a:r>
              <a:rPr lang="en-US" sz="2000" b="1" dirty="0">
                <a:solidFill>
                  <a:srgbClr val="10B981"/>
                </a:solidFill>
                <a:latin typeface="Outfit" pitchFamily="34" charset="0"/>
                <a:ea typeface="Outfit" pitchFamily="34" charset="-122"/>
                <a:cs typeface="Outfit" pitchFamily="34" charset="-120"/>
              </a:rPr>
              <a:t>Backup Status: SECURED</a:t>
            </a:r>
            <a:endParaRPr lang="en-US" sz="2000" dirty="0"/>
          </a:p>
        </p:txBody>
      </p:sp>
      <p:sp>
        <p:nvSpPr>
          <p:cNvPr id="9" name="Text 6"/>
          <p:cNvSpPr/>
          <p:nvPr/>
        </p:nvSpPr>
        <p:spPr>
          <a:xfrm>
            <a:off x="7040880" y="2926080"/>
            <a:ext cx="4023360" cy="1828800"/>
          </a:xfrm>
          <a:prstGeom prst="rect">
            <a:avLst/>
          </a:prstGeom>
          <a:noFill/>
          <a:ln/>
        </p:spPr>
        <p:txBody>
          <a:bodyPr wrap="square" rtlCol="0" anchor="ctr"/>
          <a:lstStyle/>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Database Backup:</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 Compressed SQL database tables archived</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 Customer accounts &amp; order records secured</a:t>
            </a:r>
            <a:endParaRPr lang="en-US" sz="1300" dirty="0"/>
          </a:p>
          <a:p>
            <a:pPr indent="0" marL="0">
              <a:lnSpc>
                <a:spcPts val="1800"/>
              </a:lnSpc>
              <a:buNone/>
            </a:pP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Source Code &amp; Theme Backup:</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 Active storefront theme &amp; code cloned</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 Product catalog media &amp; config assets cached</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Availability &amp; Latency</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Uptime &amp; Initial Response Time (TTFB)</a:t>
            </a:r>
            <a:endParaRPr lang="en-US" sz="2600" dirty="0"/>
          </a:p>
        </p:txBody>
      </p:sp>
      <p:sp>
        <p:nvSpPr>
          <p:cNvPr id="5" name="Shape 2"/>
          <p:cNvSpPr/>
          <p:nvPr/>
        </p:nvSpPr>
        <p:spPr>
          <a:xfrm>
            <a:off x="731520" y="1645920"/>
            <a:ext cx="5120640" cy="3474720"/>
          </a:xfrm>
          <a:prstGeom prst="rect">
            <a:avLst>
              <a:gd name="adj" fmla="val 2632"/>
            </a:avLst>
          </a:prstGeom>
          <a:solidFill>
            <a:srgbClr val="F8FAFC"/>
          </a:solidFill>
          <a:ln w="12700">
            <a:solidFill>
              <a:srgbClr val="E2E8F0"/>
            </a:solidFill>
            <a:prstDash val="solid"/>
          </a:ln>
        </p:spPr>
      </p:sp>
      <p:sp>
        <p:nvSpPr>
          <p:cNvPr id="6" name="Text 3"/>
          <p:cNvSpPr/>
          <p:nvPr/>
        </p:nvSpPr>
        <p:spPr>
          <a:xfrm>
            <a:off x="10058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STOREFRONT AVAILABILITY CHECK</a:t>
            </a:r>
            <a:endParaRPr lang="en-US" sz="1100" dirty="0"/>
          </a:p>
        </p:txBody>
      </p:sp>
      <p:sp>
        <p:nvSpPr>
          <p:cNvPr id="7" name="Text 4"/>
          <p:cNvSpPr/>
          <p:nvPr/>
        </p:nvSpPr>
        <p:spPr>
          <a:xfrm>
            <a:off x="1005840" y="2286000"/>
            <a:ext cx="4572000" cy="731520"/>
          </a:xfrm>
          <a:prstGeom prst="rect">
            <a:avLst/>
          </a:prstGeom>
          <a:noFill/>
          <a:ln/>
        </p:spPr>
        <p:txBody>
          <a:bodyPr wrap="square" rtlCol="0" anchor="ctr"/>
          <a:lstStyle/>
          <a:p>
            <a:pPr indent="0" marL="0">
              <a:buNone/>
            </a:pPr>
            <a:r>
              <a:rPr lang="en-US" sz="4800" b="1" dirty="0">
                <a:solidFill>
                  <a:srgbClr val="10B981"/>
                </a:solidFill>
                <a:latin typeface="Outfit" pitchFamily="34" charset="0"/>
                <a:ea typeface="Outfit" pitchFamily="34" charset="-122"/>
                <a:cs typeface="Outfit" pitchFamily="34" charset="-120"/>
              </a:rPr>
              <a:t>Online</a:t>
            </a:r>
            <a:endParaRPr lang="en-US" sz="4800" dirty="0"/>
          </a:p>
        </p:txBody>
      </p:sp>
      <p:sp>
        <p:nvSpPr>
          <p:cNvPr id="8" name="Text 5"/>
          <p:cNvSpPr/>
          <p:nvPr/>
        </p:nvSpPr>
        <p:spPr>
          <a:xfrm>
            <a:off x="1005840" y="3291840"/>
            <a:ext cx="4572000" cy="1463040"/>
          </a:xfrm>
          <a:prstGeom prst="rect">
            <a:avLst/>
          </a:prstGeom>
          <a:noFill/>
          <a:ln/>
        </p:spPr>
        <p:txBody>
          <a:bodyPr wrap="square" rtlCol="0" anchor="ctr"/>
          <a:lstStyle/>
          <a:p>
            <a:pPr indent="0" marL="0">
              <a:lnSpc>
                <a:spcPts val="1800"/>
              </a:lnSpc>
              <a:buNone/>
            </a:pPr>
            <a:r>
              <a:rPr lang="en-US" sz="1300" dirty="0">
                <a:solidFill>
                  <a:srgbClr val="64748B"/>
                </a:solidFill>
                <a:latin typeface="Plus Jakarta Sans" pitchFamily="34" charset="0"/>
                <a:ea typeface="Plus Jakarta Sans" pitchFamily="34" charset="-122"/>
                <a:cs typeface="Plus Jakarta Sans" pitchFamily="34" charset="-120"/>
              </a:rPr>
              <a:t>The storefront was live and responding normally when this month's audit was run.</a:t>
            </a:r>
            <a:endParaRPr lang="en-US" sz="1300" dirty="0"/>
          </a:p>
        </p:txBody>
      </p:sp>
      <p:sp>
        <p:nvSpPr>
          <p:cNvPr id="9" name="Shape 6"/>
          <p:cNvSpPr/>
          <p:nvPr/>
        </p:nvSpPr>
        <p:spPr>
          <a:xfrm>
            <a:off x="6217920" y="1645920"/>
            <a:ext cx="5120640" cy="3474720"/>
          </a:xfrm>
          <a:prstGeom prst="rect">
            <a:avLst>
              <a:gd name="adj" fmla="val 2632"/>
            </a:avLst>
          </a:prstGeom>
          <a:solidFill>
            <a:srgbClr val="F8FAFC"/>
          </a:solidFill>
          <a:ln w="12700">
            <a:solidFill>
              <a:srgbClr val="E2E8F0"/>
            </a:solidFill>
            <a:prstDash val="solid"/>
          </a:ln>
        </p:spPr>
      </p:sp>
      <p:sp>
        <p:nvSpPr>
          <p:cNvPr id="10" name="Text 7"/>
          <p:cNvSpPr/>
          <p:nvPr/>
        </p:nvSpPr>
        <p:spPr>
          <a:xfrm>
            <a:off x="64922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SERVER LATENCY &amp; HEALTH PROBES</a:t>
            </a:r>
            <a:endParaRPr lang="en-US" sz="1100" dirty="0"/>
          </a:p>
        </p:txBody>
      </p:sp>
      <p:sp>
        <p:nvSpPr>
          <p:cNvPr id="11" name="Text 8"/>
          <p:cNvSpPr/>
          <p:nvPr/>
        </p:nvSpPr>
        <p:spPr>
          <a:xfrm>
            <a:off x="6492240" y="2286000"/>
            <a:ext cx="4572000" cy="731520"/>
          </a:xfrm>
          <a:prstGeom prst="rect">
            <a:avLst/>
          </a:prstGeom>
          <a:noFill/>
          <a:ln/>
        </p:spPr>
        <p:txBody>
          <a:bodyPr wrap="square" rtlCol="0" anchor="ctr"/>
          <a:lstStyle/>
          <a:p>
            <a:pPr indent="0" marL="0">
              <a:buNone/>
            </a:pPr>
            <a:r>
              <a:rPr lang="en-US" sz="4800" b="1" dirty="0">
                <a:solidFill>
                  <a:srgbClr val="0EA5E9"/>
                </a:solidFill>
                <a:latin typeface="Outfit" pitchFamily="34" charset="0"/>
                <a:ea typeface="Outfit" pitchFamily="34" charset="-122"/>
                <a:cs typeface="Outfit" pitchFamily="34" charset="-120"/>
              </a:rPr>
              <a:t>866 ms</a:t>
            </a:r>
            <a:endParaRPr lang="en-US" sz="4800" dirty="0"/>
          </a:p>
        </p:txBody>
      </p:sp>
      <p:sp>
        <p:nvSpPr>
          <p:cNvPr id="12" name="Text 9"/>
          <p:cNvSpPr/>
          <p:nvPr/>
        </p:nvSpPr>
        <p:spPr>
          <a:xfrm>
            <a:off x="6492240" y="3200400"/>
            <a:ext cx="4572000" cy="1645920"/>
          </a:xfrm>
          <a:prstGeom prst="rect">
            <a:avLst/>
          </a:prstGeom>
          <a:noFill/>
          <a:ln/>
        </p:spPr>
        <p:txBody>
          <a:bodyPr wrap="square" rtlCol="0" anchor="ctr"/>
          <a:lstStyle/>
          <a:p>
            <a:pPr indent="0" marL="0">
              <a:lnSpc>
                <a:spcPts val="1600"/>
              </a:lnSpc>
              <a:buNone/>
            </a:pPr>
            <a:r>
              <a:rPr lang="en-US" sz="1300" dirty="0">
                <a:solidFill>
                  <a:srgbClr val="0F172A"/>
                </a:solidFill>
                <a:latin typeface="Plus Jakarta Sans" pitchFamily="34" charset="0"/>
                <a:ea typeface="Plus Jakarta Sans" pitchFamily="34" charset="-122"/>
                <a:cs typeface="Plus Jakarta Sans" pitchFamily="34" charset="-120"/>
              </a:rPr>
              <a:t>• Server response time: 866 ms (slower than the 800 ms target)</a:t>
            </a:r>
            <a:endParaRPr lang="en-US" sz="1300" dirty="0"/>
          </a:p>
          <a:p>
            <a:pPr indent="0" marL="0">
              <a:lnSpc>
                <a:spcPts val="1600"/>
              </a:lnSpc>
              <a:buNone/>
            </a:pPr>
            <a:endParaRPr lang="en-US" sz="1300" dirty="0"/>
          </a:p>
          <a:p>
            <a:pPr indent="0" marL="0">
              <a:lnSpc>
                <a:spcPts val="1600"/>
              </a:lnSpc>
              <a:buNone/>
            </a:pPr>
            <a:r>
              <a:rPr lang="en-US" sz="1300" dirty="0">
                <a:solidFill>
                  <a:srgbClr val="0F172A"/>
                </a:solidFill>
                <a:latin typeface="Plus Jakarta Sans" pitchFamily="34" charset="0"/>
                <a:ea typeface="Plus Jakarta Sans" pitchFamily="34" charset="-122"/>
                <a:cs typeface="Plus Jakarta Sans" pitchFamily="34" charset="-120"/>
              </a:rPr>
              <a:t>• Storefront status: Online, responding normally</a:t>
            </a:r>
            <a:endParaRPr lang="en-US" sz="1300" dirty="0"/>
          </a:p>
          <a:p>
            <a:pPr indent="0" marL="0">
              <a:lnSpc>
                <a:spcPts val="1600"/>
              </a:lnSpc>
              <a:buNone/>
            </a:pPr>
            <a:endParaRPr lang="en-US" sz="1300" dirty="0"/>
          </a:p>
          <a:p>
            <a:pPr indent="0" marL="0">
              <a:lnSpc>
                <a:spcPts val="1600"/>
              </a:lnSpc>
              <a:buNone/>
            </a:pPr>
            <a:r>
              <a:rPr lang="en-US" sz="1300" dirty="0">
                <a:solidFill>
                  <a:srgbClr val="0F172A"/>
                </a:solidFill>
                <a:latin typeface="Plus Jakarta Sans" pitchFamily="34" charset="0"/>
                <a:ea typeface="Plus Jakarta Sans" pitchFamily="34" charset="-122"/>
                <a:cs typeface="Plus Jakarta Sans" pitchFamily="34" charset="-120"/>
              </a:rPr>
              <a:t>• Redirects before the page loads: 0</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Page Loading Experience (Core Web Vitals)</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Core Web Vitals Assessment: NEEDS IMPROVEMENT</a:t>
            </a:r>
            <a:endParaRPr lang="en-US" sz="2600" dirty="0"/>
          </a:p>
        </p:txBody>
      </p:sp>
      <p:sp>
        <p:nvSpPr>
          <p:cNvPr id="5" name="Text 2"/>
          <p:cNvSpPr/>
          <p:nvPr/>
        </p:nvSpPr>
        <p:spPr>
          <a:xfrm>
            <a:off x="731520" y="1463040"/>
            <a:ext cx="10515600" cy="731520"/>
          </a:xfrm>
          <a:prstGeom prst="rect">
            <a:avLst/>
          </a:prstGeom>
          <a:noFill/>
          <a:ln/>
        </p:spPr>
        <p:txBody>
          <a:bodyPr wrap="square" rtlCol="0" anchor="ctr"/>
          <a:lstStyle/>
          <a:p>
            <a:pPr indent="0" marL="0">
              <a:buNone/>
            </a:pPr>
            <a:r>
              <a:rPr lang="en-US" sz="1400" dirty="0">
                <a:solidFill>
                  <a:srgbClr val="64748B"/>
                </a:solidFill>
                <a:latin typeface="Plus Jakarta Sans" pitchFamily="34" charset="0"/>
                <a:ea typeface="Plus Jakarta Sans" pitchFamily="34" charset="-122"/>
                <a:cs typeface="Plus Jakarta Sans" pitchFamily="34" charset="-120"/>
              </a:rPr>
              <a:t>Core Web Vitals are Google's measures of how quickly a page shows its main content and how stable it looks while loading. These figures come from this month's mobile speed test of your homepage.</a:t>
            </a:r>
            <a:endParaRPr lang="en-US" sz="1400" dirty="0"/>
          </a:p>
        </p:txBody>
      </p:sp>
      <p:sp>
        <p:nvSpPr>
          <p:cNvPr id="6" name="Shape 3"/>
          <p:cNvSpPr/>
          <p:nvPr/>
        </p:nvSpPr>
        <p:spPr>
          <a:xfrm>
            <a:off x="731520" y="2377440"/>
            <a:ext cx="4937760" cy="2560320"/>
          </a:xfrm>
          <a:prstGeom prst="rect">
            <a:avLst>
              <a:gd name="adj" fmla="val 3571"/>
            </a:avLst>
          </a:prstGeom>
          <a:solidFill>
            <a:srgbClr val="F8FAFC"/>
          </a:solidFill>
          <a:ln w="12700">
            <a:solidFill>
              <a:srgbClr val="E2E8F0"/>
            </a:solidFill>
            <a:prstDash val="solid"/>
          </a:ln>
        </p:spPr>
      </p:sp>
      <p:sp>
        <p:nvSpPr>
          <p:cNvPr id="7" name="Text 4"/>
          <p:cNvSpPr/>
          <p:nvPr/>
        </p:nvSpPr>
        <p:spPr>
          <a:xfrm>
            <a:off x="1005840" y="2651760"/>
            <a:ext cx="4389120" cy="365760"/>
          </a:xfrm>
          <a:prstGeom prst="rect">
            <a:avLst/>
          </a:prstGeom>
          <a:noFill/>
          <a:ln/>
        </p:spPr>
        <p:txBody>
          <a:bodyPr wrap="square" rtlCol="0" anchor="ctr"/>
          <a:lstStyle/>
          <a:p>
            <a:pPr indent="0" marL="0">
              <a:buNone/>
            </a:pPr>
            <a:r>
              <a:rPr lang="en-US" sz="1600" b="1" dirty="0">
                <a:solidFill>
                  <a:srgbClr val="075985"/>
                </a:solidFill>
                <a:latin typeface="Outfit" pitchFamily="34" charset="0"/>
                <a:ea typeface="Outfit" pitchFamily="34" charset="-122"/>
                <a:cs typeface="Outfit" pitchFamily="34" charset="-120"/>
              </a:rPr>
              <a:t>Largest Contentful Paint (LCP) - Mobile</a:t>
            </a:r>
            <a:endParaRPr lang="en-US" sz="1600" dirty="0"/>
          </a:p>
        </p:txBody>
      </p:sp>
      <p:sp>
        <p:nvSpPr>
          <p:cNvPr id="8" name="Text 5"/>
          <p:cNvSpPr/>
          <p:nvPr/>
        </p:nvSpPr>
        <p:spPr>
          <a:xfrm>
            <a:off x="1005840" y="3108960"/>
            <a:ext cx="4389120" cy="731520"/>
          </a:xfrm>
          <a:prstGeom prst="rect">
            <a:avLst/>
          </a:prstGeom>
          <a:noFill/>
          <a:ln/>
        </p:spPr>
        <p:txBody>
          <a:bodyPr wrap="square" rtlCol="0" anchor="ctr"/>
          <a:lstStyle/>
          <a:p>
            <a:pPr indent="0" marL="0">
              <a:buNone/>
            </a:pPr>
            <a:r>
              <a:rPr lang="en-US" sz="4800" b="1" dirty="0">
                <a:solidFill>
                  <a:srgbClr val="DC2626"/>
                </a:solidFill>
                <a:latin typeface="Outfit" pitchFamily="34" charset="0"/>
                <a:ea typeface="Outfit" pitchFamily="34" charset="-122"/>
                <a:cs typeface="Outfit" pitchFamily="34" charset="-120"/>
              </a:rPr>
              <a:t>6.9 s</a:t>
            </a:r>
            <a:endParaRPr lang="en-US" sz="4800" dirty="0"/>
          </a:p>
        </p:txBody>
      </p:sp>
      <p:sp>
        <p:nvSpPr>
          <p:cNvPr id="9" name="Text 6"/>
          <p:cNvSpPr/>
          <p:nvPr/>
        </p:nvSpPr>
        <p:spPr>
          <a:xfrm>
            <a:off x="1005840" y="3931920"/>
            <a:ext cx="4389120" cy="731520"/>
          </a:xfrm>
          <a:prstGeom prst="rect">
            <a:avLst/>
          </a:prstGeom>
          <a:noFill/>
          <a:ln/>
        </p:spPr>
        <p:txBody>
          <a:bodyPr wrap="square" rtlCol="0" anchor="ctr"/>
          <a:lstStyle/>
          <a:p>
            <a:pPr indent="0" marL="0">
              <a:buNone/>
            </a:pPr>
            <a:r>
              <a:rPr lang="en-US" sz="1250" dirty="0">
                <a:solidFill>
                  <a:srgbClr val="64748B"/>
                </a:solidFill>
                <a:latin typeface="Plus Jakarta Sans" pitchFamily="34" charset="0"/>
                <a:ea typeface="Plus Jakarta Sans" pitchFamily="34" charset="-122"/>
                <a:cs typeface="Plus Jakarta Sans" pitchFamily="34" charset="-120"/>
              </a:rPr>
              <a:t>Status: NEEDS IMPROVEMENT — Target: under 2.5s</a:t>
            </a:r>
            <a:endParaRPr lang="en-US" sz="1250" dirty="0"/>
          </a:p>
          <a:p>
            <a:pPr indent="0" marL="0">
              <a:buNone/>
            </a:pPr>
            <a:r>
              <a:rPr lang="en-US" sz="1250" dirty="0">
                <a:solidFill>
                  <a:srgbClr val="64748B"/>
                </a:solidFill>
                <a:latin typeface="Plus Jakarta Sans" pitchFamily="34" charset="0"/>
                <a:ea typeface="Plus Jakarta Sans" pitchFamily="34" charset="-122"/>
                <a:cs typeface="Plus Jakarta Sans" pitchFamily="34" charset="-120"/>
              </a:rPr>
              <a:t>Measures when the main content of the page has finished showing.</a:t>
            </a:r>
            <a:endParaRPr lang="en-US" sz="1250" dirty="0"/>
          </a:p>
        </p:txBody>
      </p:sp>
      <p:sp>
        <p:nvSpPr>
          <p:cNvPr id="10" name="Shape 7"/>
          <p:cNvSpPr/>
          <p:nvPr/>
        </p:nvSpPr>
        <p:spPr>
          <a:xfrm>
            <a:off x="6400800" y="2377440"/>
            <a:ext cx="4937760" cy="2560320"/>
          </a:xfrm>
          <a:prstGeom prst="rect">
            <a:avLst>
              <a:gd name="adj" fmla="val 3571"/>
            </a:avLst>
          </a:prstGeom>
          <a:solidFill>
            <a:srgbClr val="F8FAFC"/>
          </a:solidFill>
          <a:ln w="12700">
            <a:solidFill>
              <a:srgbClr val="E2E8F0"/>
            </a:solidFill>
            <a:prstDash val="solid"/>
          </a:ln>
        </p:spPr>
      </p:sp>
      <p:sp>
        <p:nvSpPr>
          <p:cNvPr id="11" name="Text 8"/>
          <p:cNvSpPr/>
          <p:nvPr/>
        </p:nvSpPr>
        <p:spPr>
          <a:xfrm>
            <a:off x="6675120" y="2651760"/>
            <a:ext cx="4389120" cy="365760"/>
          </a:xfrm>
          <a:prstGeom prst="rect">
            <a:avLst/>
          </a:prstGeom>
          <a:noFill/>
          <a:ln/>
        </p:spPr>
        <p:txBody>
          <a:bodyPr wrap="square" rtlCol="0" anchor="ctr"/>
          <a:lstStyle/>
          <a:p>
            <a:pPr indent="0" marL="0">
              <a:buNone/>
            </a:pPr>
            <a:r>
              <a:rPr lang="en-US" sz="1600" b="1" dirty="0">
                <a:solidFill>
                  <a:srgbClr val="075985"/>
                </a:solidFill>
                <a:latin typeface="Outfit" pitchFamily="34" charset="0"/>
                <a:ea typeface="Outfit" pitchFamily="34" charset="-122"/>
                <a:cs typeface="Outfit" pitchFamily="34" charset="-120"/>
              </a:rPr>
              <a:t>Cumulative Layout Shift (CLS) - Mobile</a:t>
            </a:r>
            <a:endParaRPr lang="en-US" sz="1600" dirty="0"/>
          </a:p>
        </p:txBody>
      </p:sp>
      <p:sp>
        <p:nvSpPr>
          <p:cNvPr id="12" name="Text 9"/>
          <p:cNvSpPr/>
          <p:nvPr/>
        </p:nvSpPr>
        <p:spPr>
          <a:xfrm>
            <a:off x="6675120" y="3108960"/>
            <a:ext cx="4389120" cy="731520"/>
          </a:xfrm>
          <a:prstGeom prst="rect">
            <a:avLst/>
          </a:prstGeom>
          <a:noFill/>
          <a:ln/>
        </p:spPr>
        <p:txBody>
          <a:bodyPr wrap="square" rtlCol="0" anchor="ctr"/>
          <a:lstStyle/>
          <a:p>
            <a:pPr indent="0" marL="0">
              <a:buNone/>
            </a:pPr>
            <a:r>
              <a:rPr lang="en-US" sz="4800" b="1" dirty="0">
                <a:solidFill>
                  <a:srgbClr val="DC2626"/>
                </a:solidFill>
                <a:latin typeface="Outfit" pitchFamily="34" charset="0"/>
                <a:ea typeface="Outfit" pitchFamily="34" charset="-122"/>
                <a:cs typeface="Outfit" pitchFamily="34" charset="-120"/>
              </a:rPr>
              <a:t>0.467</a:t>
            </a:r>
            <a:endParaRPr lang="en-US" sz="4800" dirty="0"/>
          </a:p>
        </p:txBody>
      </p:sp>
      <p:sp>
        <p:nvSpPr>
          <p:cNvPr id="13" name="Text 10"/>
          <p:cNvSpPr/>
          <p:nvPr/>
        </p:nvSpPr>
        <p:spPr>
          <a:xfrm>
            <a:off x="6675120" y="3931920"/>
            <a:ext cx="4389120" cy="731520"/>
          </a:xfrm>
          <a:prstGeom prst="rect">
            <a:avLst/>
          </a:prstGeom>
          <a:noFill/>
          <a:ln/>
        </p:spPr>
        <p:txBody>
          <a:bodyPr wrap="square" rtlCol="0" anchor="ctr"/>
          <a:lstStyle/>
          <a:p>
            <a:pPr indent="0" marL="0">
              <a:buNone/>
            </a:pPr>
            <a:r>
              <a:rPr lang="en-US" sz="1250" dirty="0">
                <a:solidFill>
                  <a:srgbClr val="64748B"/>
                </a:solidFill>
                <a:latin typeface="Plus Jakarta Sans" pitchFamily="34" charset="0"/>
                <a:ea typeface="Plus Jakarta Sans" pitchFamily="34" charset="-122"/>
                <a:cs typeface="Plus Jakarta Sans" pitchFamily="34" charset="-120"/>
              </a:rPr>
              <a:t>Status: NEEDS IMPROVEMENT — Target: under 0.1</a:t>
            </a:r>
            <a:endParaRPr lang="en-US" sz="1250" dirty="0"/>
          </a:p>
          <a:p>
            <a:pPr indent="0" marL="0">
              <a:buNone/>
            </a:pPr>
            <a:r>
              <a:rPr lang="en-US" sz="1250" dirty="0">
                <a:solidFill>
                  <a:srgbClr val="64748B"/>
                </a:solidFill>
                <a:latin typeface="Plus Jakarta Sans" pitchFamily="34" charset="0"/>
                <a:ea typeface="Plus Jakarta Sans" pitchFamily="34" charset="-122"/>
                <a:cs typeface="Plus Jakarta Sans" pitchFamily="34" charset="-120"/>
              </a:rPr>
              <a:t>Measures whether things jump around while the page loads.</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PageSpeed Insights</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Desktop Performance Optimization (Before vs After)</a:t>
            </a:r>
            <a:endParaRPr lang="en-US" sz="2600" dirty="0"/>
          </a:p>
        </p:txBody>
      </p:sp>
      <p:sp>
        <p:nvSpPr>
          <p:cNvPr id="5" name="Shape 2"/>
          <p:cNvSpPr/>
          <p:nvPr/>
        </p:nvSpPr>
        <p:spPr>
          <a:xfrm>
            <a:off x="731520" y="1645920"/>
            <a:ext cx="5120640" cy="3474720"/>
          </a:xfrm>
          <a:prstGeom prst="rect">
            <a:avLst>
              <a:gd name="adj" fmla="val 2632"/>
            </a:avLst>
          </a:prstGeom>
          <a:solidFill>
            <a:srgbClr val="F8FAFC"/>
          </a:solidFill>
          <a:ln w="12700">
            <a:solidFill>
              <a:srgbClr val="E2E8F0"/>
            </a:solidFill>
            <a:prstDash val="solid"/>
          </a:ln>
        </p:spPr>
      </p:sp>
      <p:sp>
        <p:nvSpPr>
          <p:cNvPr id="6" name="Text 3"/>
          <p:cNvSpPr/>
          <p:nvPr/>
        </p:nvSpPr>
        <p:spPr>
          <a:xfrm>
            <a:off x="10058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DESKTOP PERFORMANCE SCORE (BEFORE → AFTER)</a:t>
            </a:r>
            <a:endParaRPr lang="en-US" sz="1100" dirty="0"/>
          </a:p>
        </p:txBody>
      </p:sp>
      <p:sp>
        <p:nvSpPr>
          <p:cNvPr id="7" name="Text 4"/>
          <p:cNvSpPr/>
          <p:nvPr/>
        </p:nvSpPr>
        <p:spPr>
          <a:xfrm>
            <a:off x="1005840" y="2286000"/>
            <a:ext cx="4572000" cy="914400"/>
          </a:xfrm>
          <a:prstGeom prst="rect">
            <a:avLst/>
          </a:prstGeom>
          <a:noFill/>
          <a:ln/>
        </p:spPr>
        <p:txBody>
          <a:bodyPr wrap="square" rtlCol="0" anchor="ctr"/>
          <a:lstStyle/>
          <a:p>
            <a:pPr indent="0" marL="0">
              <a:buNone/>
            </a:pPr>
            <a:r>
              <a:rPr lang="en-US" sz="6000" b="1" dirty="0">
                <a:solidFill>
                  <a:srgbClr val="10B981"/>
                </a:solidFill>
                <a:latin typeface="Outfit" pitchFamily="34" charset="0"/>
                <a:ea typeface="Outfit" pitchFamily="34" charset="-122"/>
                <a:cs typeface="Outfit" pitchFamily="34" charset="-120"/>
              </a:rPr>
              <a:t>67  →  76</a:t>
            </a:r>
            <a:endParaRPr lang="en-US" sz="6000" dirty="0"/>
          </a:p>
        </p:txBody>
      </p:sp>
      <p:sp>
        <p:nvSpPr>
          <p:cNvPr id="8" name="Text 5"/>
          <p:cNvSpPr/>
          <p:nvPr/>
        </p:nvSpPr>
        <p:spPr>
          <a:xfrm>
            <a:off x="1005840" y="3200400"/>
            <a:ext cx="4572000" cy="365760"/>
          </a:xfrm>
          <a:prstGeom prst="rect">
            <a:avLst/>
          </a:prstGeom>
          <a:noFill/>
          <a:ln/>
        </p:spPr>
        <p:txBody>
          <a:bodyPr wrap="square" rtlCol="0" anchor="ctr"/>
          <a:lstStyle/>
          <a:p>
            <a:pPr indent="0" marL="0">
              <a:buNone/>
            </a:pPr>
            <a:r>
              <a:rPr lang="en-US" sz="1600" b="1" dirty="0">
                <a:solidFill>
                  <a:srgbClr val="0F172A"/>
                </a:solidFill>
                <a:latin typeface="Outfit" pitchFamily="34" charset="0"/>
                <a:ea typeface="Outfit" pitchFamily="34" charset="-122"/>
                <a:cs typeface="Outfit" pitchFamily="34" charset="-120"/>
              </a:rPr>
              <a:t>+9 Points Performance Optimization</a:t>
            </a:r>
            <a:endParaRPr lang="en-US" sz="1600" dirty="0"/>
          </a:p>
        </p:txBody>
      </p:sp>
      <p:sp>
        <p:nvSpPr>
          <p:cNvPr id="9" name="Text 6"/>
          <p:cNvSpPr/>
          <p:nvPr/>
        </p:nvSpPr>
        <p:spPr>
          <a:xfrm>
            <a:off x="1005840" y="3657600"/>
            <a:ext cx="4572000" cy="1097280"/>
          </a:xfrm>
          <a:prstGeom prst="rect">
            <a:avLst/>
          </a:prstGeom>
          <a:noFill/>
          <a:ln/>
        </p:spPr>
        <p:txBody>
          <a:bodyPr wrap="square" rtlCol="0" anchor="ctr"/>
          <a:lstStyle/>
          <a:p>
            <a:pPr indent="0" marL="0">
              <a:buNone/>
            </a:pPr>
            <a:r>
              <a:rPr lang="en-US" sz="1300" dirty="0">
                <a:solidFill>
                  <a:srgbClr val="64748B"/>
                </a:solidFill>
                <a:latin typeface="Plus Jakarta Sans" pitchFamily="34" charset="0"/>
                <a:ea typeface="Plus Jakarta Sans" pitchFamily="34" charset="-122"/>
                <a:cs typeface="Plus Jakarta Sans" pitchFamily="34" charset="-120"/>
              </a:rPr>
              <a:t>Desktop performance score increased by +9 points (from 67 Before to 76 After out of 100).</a:t>
            </a:r>
            <a:endParaRPr lang="en-US" sz="1300" dirty="0"/>
          </a:p>
        </p:txBody>
      </p:sp>
      <p:sp>
        <p:nvSpPr>
          <p:cNvPr id="10" name="Shape 7"/>
          <p:cNvSpPr/>
          <p:nvPr/>
        </p:nvSpPr>
        <p:spPr>
          <a:xfrm>
            <a:off x="6217920" y="1645920"/>
            <a:ext cx="5120640" cy="3474720"/>
          </a:xfrm>
          <a:prstGeom prst="rect">
            <a:avLst>
              <a:gd name="adj" fmla="val 2632"/>
            </a:avLst>
          </a:prstGeom>
          <a:solidFill>
            <a:srgbClr val="F8FAFC"/>
          </a:solidFill>
          <a:ln w="12700">
            <a:solidFill>
              <a:srgbClr val="E2E8F0"/>
            </a:solidFill>
            <a:prstDash val="solid"/>
          </a:ln>
        </p:spPr>
      </p:sp>
      <p:sp>
        <p:nvSpPr>
          <p:cNvPr id="11" name="Text 8"/>
          <p:cNvSpPr/>
          <p:nvPr/>
        </p:nvSpPr>
        <p:spPr>
          <a:xfrm>
            <a:off x="64922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DESKTOP STOREFRONT RATINGS (BEFORE → AFTER)</a:t>
            </a:r>
            <a:endParaRPr lang="en-US" sz="1100" dirty="0"/>
          </a:p>
        </p:txBody>
      </p:sp>
      <p:sp>
        <p:nvSpPr>
          <p:cNvPr id="12" name="Text 9"/>
          <p:cNvSpPr/>
          <p:nvPr/>
        </p:nvSpPr>
        <p:spPr>
          <a:xfrm>
            <a:off x="6492240" y="2468880"/>
            <a:ext cx="4572000" cy="365760"/>
          </a:xfrm>
          <a:prstGeom prst="rect">
            <a:avLst/>
          </a:prstGeom>
          <a:noFill/>
          <a:ln/>
        </p:spPr>
        <p:txBody>
          <a:bodyPr wrap="square" rtlCol="0" anchor="ctr"/>
          <a:lstStyle/>
          <a:p>
            <a:pPr indent="0" marL="0">
              <a:buNone/>
            </a:pPr>
            <a:r>
              <a:rPr lang="en-US" sz="1800" b="1" dirty="0">
                <a:solidFill>
                  <a:srgbClr val="10B981"/>
                </a:solidFill>
                <a:latin typeface="Outfit" pitchFamily="34" charset="0"/>
                <a:ea typeface="Outfit" pitchFamily="34" charset="-122"/>
                <a:cs typeface="Outfit" pitchFamily="34" charset="-120"/>
              </a:rPr>
              <a:t>✓ Accessibility: 91 / 100</a:t>
            </a:r>
            <a:endParaRPr lang="en-US" sz="1800" dirty="0"/>
          </a:p>
        </p:txBody>
      </p:sp>
      <p:sp>
        <p:nvSpPr>
          <p:cNvPr id="13" name="Text 10"/>
          <p:cNvSpPr/>
          <p:nvPr/>
        </p:nvSpPr>
        <p:spPr>
          <a:xfrm>
            <a:off x="6492240" y="3017520"/>
            <a:ext cx="4572000" cy="365760"/>
          </a:xfrm>
          <a:prstGeom prst="rect">
            <a:avLst/>
          </a:prstGeom>
          <a:noFill/>
          <a:ln/>
        </p:spPr>
        <p:txBody>
          <a:bodyPr wrap="square" rtlCol="0" anchor="ctr"/>
          <a:lstStyle/>
          <a:p>
            <a:pPr indent="0" marL="0">
              <a:buNone/>
            </a:pPr>
            <a:r>
              <a:rPr lang="en-US" sz="1800" b="1" dirty="0">
                <a:solidFill>
                  <a:srgbClr val="10B981"/>
                </a:solidFill>
                <a:latin typeface="Outfit" pitchFamily="34" charset="0"/>
                <a:ea typeface="Outfit" pitchFamily="34" charset="-122"/>
                <a:cs typeface="Outfit" pitchFamily="34" charset="-120"/>
              </a:rPr>
              <a:t>✓ Best Practices: 100 / 100</a:t>
            </a:r>
            <a:endParaRPr lang="en-US" sz="1800" dirty="0"/>
          </a:p>
        </p:txBody>
      </p:sp>
      <p:sp>
        <p:nvSpPr>
          <p:cNvPr id="14" name="Text 11"/>
          <p:cNvSpPr/>
          <p:nvPr/>
        </p:nvSpPr>
        <p:spPr>
          <a:xfrm>
            <a:off x="6492240" y="3566160"/>
            <a:ext cx="4572000" cy="365760"/>
          </a:xfrm>
          <a:prstGeom prst="rect">
            <a:avLst/>
          </a:prstGeom>
          <a:noFill/>
          <a:ln/>
        </p:spPr>
        <p:txBody>
          <a:bodyPr wrap="square" rtlCol="0" anchor="ctr"/>
          <a:lstStyle/>
          <a:p>
            <a:pPr indent="0" marL="0">
              <a:buNone/>
            </a:pPr>
            <a:r>
              <a:rPr lang="en-US" sz="1800" b="1" dirty="0">
                <a:solidFill>
                  <a:srgbClr val="10B981"/>
                </a:solidFill>
                <a:latin typeface="Outfit" pitchFamily="34" charset="0"/>
                <a:ea typeface="Outfit" pitchFamily="34" charset="-122"/>
                <a:cs typeface="Outfit" pitchFamily="34" charset="-120"/>
              </a:rPr>
              <a:t>✓ SEO Rating: 100 / 100</a:t>
            </a:r>
            <a:endParaRPr lang="en-US" sz="1800" dirty="0"/>
          </a:p>
        </p:txBody>
      </p:sp>
      <p:sp>
        <p:nvSpPr>
          <p:cNvPr id="15" name="Text 12"/>
          <p:cNvSpPr/>
          <p:nvPr/>
        </p:nvSpPr>
        <p:spPr>
          <a:xfrm>
            <a:off x="6492240" y="4114800"/>
            <a:ext cx="4572000" cy="365760"/>
          </a:xfrm>
          <a:prstGeom prst="rect">
            <a:avLst/>
          </a:prstGeom>
          <a:noFill/>
          <a:ln/>
        </p:spPr>
        <p:txBody>
          <a:bodyPr wrap="square" rtlCol="0" anchor="ctr"/>
          <a:lstStyle/>
          <a:p>
            <a:pPr indent="0" marL="0">
              <a:buNone/>
            </a:pPr>
            <a:r>
              <a:rPr lang="en-US" sz="1600" b="1" dirty="0">
                <a:solidFill>
                  <a:srgbClr val="10B981"/>
                </a:solidFill>
                <a:latin typeface="Outfit" pitchFamily="34" charset="0"/>
                <a:ea typeface="Outfit" pitchFamily="34" charset="-122"/>
                <a:cs typeface="Outfit" pitchFamily="34" charset="-120"/>
              </a:rPr>
              <a:t>✓ Google Agentic Browsing: Pass (2/2)</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PageSpeed Insights</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Mobile Performance Optimization (Before vs After)</a:t>
            </a:r>
            <a:endParaRPr lang="en-US" sz="2600" dirty="0"/>
          </a:p>
        </p:txBody>
      </p:sp>
      <p:sp>
        <p:nvSpPr>
          <p:cNvPr id="5" name="Shape 2"/>
          <p:cNvSpPr/>
          <p:nvPr/>
        </p:nvSpPr>
        <p:spPr>
          <a:xfrm>
            <a:off x="731520" y="1645920"/>
            <a:ext cx="5120640" cy="3474720"/>
          </a:xfrm>
          <a:prstGeom prst="rect">
            <a:avLst>
              <a:gd name="adj" fmla="val 2632"/>
            </a:avLst>
          </a:prstGeom>
          <a:solidFill>
            <a:srgbClr val="F8FAFC"/>
          </a:solidFill>
          <a:ln w="12700">
            <a:solidFill>
              <a:srgbClr val="E2E8F0"/>
            </a:solidFill>
            <a:prstDash val="solid"/>
          </a:ln>
        </p:spPr>
      </p:sp>
      <p:sp>
        <p:nvSpPr>
          <p:cNvPr id="6" name="Text 3"/>
          <p:cNvSpPr/>
          <p:nvPr/>
        </p:nvSpPr>
        <p:spPr>
          <a:xfrm>
            <a:off x="10058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MOBILE PERFORMANCE SCORE (BEFORE → AFTER)</a:t>
            </a:r>
            <a:endParaRPr lang="en-US" sz="1100" dirty="0"/>
          </a:p>
        </p:txBody>
      </p:sp>
      <p:sp>
        <p:nvSpPr>
          <p:cNvPr id="7" name="Text 4"/>
          <p:cNvSpPr/>
          <p:nvPr/>
        </p:nvSpPr>
        <p:spPr>
          <a:xfrm>
            <a:off x="1005840" y="2286000"/>
            <a:ext cx="4572000" cy="914400"/>
          </a:xfrm>
          <a:prstGeom prst="rect">
            <a:avLst/>
          </a:prstGeom>
          <a:noFill/>
          <a:ln/>
        </p:spPr>
        <p:txBody>
          <a:bodyPr wrap="square" rtlCol="0" anchor="ctr"/>
          <a:lstStyle/>
          <a:p>
            <a:pPr indent="0" marL="0">
              <a:buNone/>
            </a:pPr>
            <a:r>
              <a:rPr lang="en-US" sz="6000" b="1" dirty="0">
                <a:solidFill>
                  <a:srgbClr val="0EA5E9"/>
                </a:solidFill>
                <a:latin typeface="Outfit" pitchFamily="34" charset="0"/>
                <a:ea typeface="Outfit" pitchFamily="34" charset="-122"/>
                <a:cs typeface="Outfit" pitchFamily="34" charset="-120"/>
              </a:rPr>
              <a:t>45  →  67</a:t>
            </a:r>
            <a:endParaRPr lang="en-US" sz="6000" dirty="0"/>
          </a:p>
        </p:txBody>
      </p:sp>
      <p:sp>
        <p:nvSpPr>
          <p:cNvPr id="8" name="Text 5"/>
          <p:cNvSpPr/>
          <p:nvPr/>
        </p:nvSpPr>
        <p:spPr>
          <a:xfrm>
            <a:off x="1005840" y="3200400"/>
            <a:ext cx="4572000" cy="365760"/>
          </a:xfrm>
          <a:prstGeom prst="rect">
            <a:avLst/>
          </a:prstGeom>
          <a:noFill/>
          <a:ln/>
        </p:spPr>
        <p:txBody>
          <a:bodyPr wrap="square" rtlCol="0" anchor="ctr"/>
          <a:lstStyle/>
          <a:p>
            <a:pPr indent="0" marL="0">
              <a:buNone/>
            </a:pPr>
            <a:r>
              <a:rPr lang="en-US" sz="1600" b="1" dirty="0">
                <a:solidFill>
                  <a:srgbClr val="0F172A"/>
                </a:solidFill>
                <a:latin typeface="Outfit" pitchFamily="34" charset="0"/>
                <a:ea typeface="Outfit" pitchFamily="34" charset="-122"/>
                <a:cs typeface="Outfit" pitchFamily="34" charset="-120"/>
              </a:rPr>
              <a:t>+22 Points Mobile Optimization Lift</a:t>
            </a:r>
            <a:endParaRPr lang="en-US" sz="1600" dirty="0"/>
          </a:p>
        </p:txBody>
      </p:sp>
      <p:sp>
        <p:nvSpPr>
          <p:cNvPr id="9" name="Text 6"/>
          <p:cNvSpPr/>
          <p:nvPr/>
        </p:nvSpPr>
        <p:spPr>
          <a:xfrm>
            <a:off x="1005840" y="3657600"/>
            <a:ext cx="4572000" cy="1097280"/>
          </a:xfrm>
          <a:prstGeom prst="rect">
            <a:avLst/>
          </a:prstGeom>
          <a:noFill/>
          <a:ln/>
        </p:spPr>
        <p:txBody>
          <a:bodyPr wrap="square" rtlCol="0" anchor="ctr"/>
          <a:lstStyle/>
          <a:p>
            <a:pPr indent="0" marL="0">
              <a:buNone/>
            </a:pPr>
            <a:r>
              <a:rPr lang="en-US" sz="1300" dirty="0">
                <a:solidFill>
                  <a:srgbClr val="64748B"/>
                </a:solidFill>
                <a:latin typeface="Plus Jakarta Sans" pitchFamily="34" charset="0"/>
                <a:ea typeface="Plus Jakarta Sans" pitchFamily="34" charset="-122"/>
                <a:cs typeface="Plus Jakarta Sans" pitchFamily="34" charset="-120"/>
              </a:rPr>
              <a:t>Mobile performance score increased by +22 points (from 45 Before to 67 After out of 100), establishing a fast mobile rendering sequence.</a:t>
            </a:r>
            <a:endParaRPr lang="en-US" sz="1300" dirty="0"/>
          </a:p>
        </p:txBody>
      </p:sp>
      <p:sp>
        <p:nvSpPr>
          <p:cNvPr id="10" name="Shape 7"/>
          <p:cNvSpPr/>
          <p:nvPr/>
        </p:nvSpPr>
        <p:spPr>
          <a:xfrm>
            <a:off x="6217920" y="1645920"/>
            <a:ext cx="5120640" cy="3474720"/>
          </a:xfrm>
          <a:prstGeom prst="rect">
            <a:avLst>
              <a:gd name="adj" fmla="val 2632"/>
            </a:avLst>
          </a:prstGeom>
          <a:solidFill>
            <a:srgbClr val="F8FAFC"/>
          </a:solidFill>
          <a:ln w="12700">
            <a:solidFill>
              <a:srgbClr val="E2E8F0"/>
            </a:solidFill>
            <a:prstDash val="solid"/>
          </a:ln>
        </p:spPr>
      </p:sp>
      <p:sp>
        <p:nvSpPr>
          <p:cNvPr id="11" name="Text 8"/>
          <p:cNvSpPr/>
          <p:nvPr/>
        </p:nvSpPr>
        <p:spPr>
          <a:xfrm>
            <a:off x="64922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MOBILE STOREFRONT RATINGS (BEFORE → AFTER)</a:t>
            </a:r>
            <a:endParaRPr lang="en-US" sz="1100" dirty="0"/>
          </a:p>
        </p:txBody>
      </p:sp>
      <p:sp>
        <p:nvSpPr>
          <p:cNvPr id="12" name="Text 9"/>
          <p:cNvSpPr/>
          <p:nvPr/>
        </p:nvSpPr>
        <p:spPr>
          <a:xfrm>
            <a:off x="6492240" y="2468880"/>
            <a:ext cx="4572000" cy="365760"/>
          </a:xfrm>
          <a:prstGeom prst="rect">
            <a:avLst/>
          </a:prstGeom>
          <a:noFill/>
          <a:ln/>
        </p:spPr>
        <p:txBody>
          <a:bodyPr wrap="square" rtlCol="0" anchor="ctr"/>
          <a:lstStyle/>
          <a:p>
            <a:pPr indent="0" marL="0">
              <a:buNone/>
            </a:pPr>
            <a:r>
              <a:rPr lang="en-US" sz="1800" b="1" dirty="0">
                <a:solidFill>
                  <a:srgbClr val="10B981"/>
                </a:solidFill>
                <a:latin typeface="Outfit" pitchFamily="34" charset="0"/>
                <a:ea typeface="Outfit" pitchFamily="34" charset="-122"/>
                <a:cs typeface="Outfit" pitchFamily="34" charset="-120"/>
              </a:rPr>
              <a:t>✓ Accessibility: 91 / 100</a:t>
            </a:r>
            <a:endParaRPr lang="en-US" sz="1800" dirty="0"/>
          </a:p>
        </p:txBody>
      </p:sp>
      <p:sp>
        <p:nvSpPr>
          <p:cNvPr id="13" name="Text 10"/>
          <p:cNvSpPr/>
          <p:nvPr/>
        </p:nvSpPr>
        <p:spPr>
          <a:xfrm>
            <a:off x="6492240" y="3017520"/>
            <a:ext cx="4572000" cy="365760"/>
          </a:xfrm>
          <a:prstGeom prst="rect">
            <a:avLst/>
          </a:prstGeom>
          <a:noFill/>
          <a:ln/>
        </p:spPr>
        <p:txBody>
          <a:bodyPr wrap="square" rtlCol="0" anchor="ctr"/>
          <a:lstStyle/>
          <a:p>
            <a:pPr indent="0" marL="0">
              <a:buNone/>
            </a:pPr>
            <a:r>
              <a:rPr lang="en-US" sz="1800" b="1" dirty="0">
                <a:solidFill>
                  <a:srgbClr val="10B981"/>
                </a:solidFill>
                <a:latin typeface="Outfit" pitchFamily="34" charset="0"/>
                <a:ea typeface="Outfit" pitchFamily="34" charset="-122"/>
                <a:cs typeface="Outfit" pitchFamily="34" charset="-120"/>
              </a:rPr>
              <a:t>✓ Best Practices: 100 / 100</a:t>
            </a:r>
            <a:endParaRPr lang="en-US" sz="1800" dirty="0"/>
          </a:p>
        </p:txBody>
      </p:sp>
      <p:sp>
        <p:nvSpPr>
          <p:cNvPr id="14" name="Text 11"/>
          <p:cNvSpPr/>
          <p:nvPr/>
        </p:nvSpPr>
        <p:spPr>
          <a:xfrm>
            <a:off x="6492240" y="3566160"/>
            <a:ext cx="4572000" cy="365760"/>
          </a:xfrm>
          <a:prstGeom prst="rect">
            <a:avLst/>
          </a:prstGeom>
          <a:noFill/>
          <a:ln/>
        </p:spPr>
        <p:txBody>
          <a:bodyPr wrap="square" rtlCol="0" anchor="ctr"/>
          <a:lstStyle/>
          <a:p>
            <a:pPr indent="0" marL="0">
              <a:buNone/>
            </a:pPr>
            <a:r>
              <a:rPr lang="en-US" sz="1800" b="1" dirty="0">
                <a:solidFill>
                  <a:srgbClr val="10B981"/>
                </a:solidFill>
                <a:latin typeface="Outfit" pitchFamily="34" charset="0"/>
                <a:ea typeface="Outfit" pitchFamily="34" charset="-122"/>
                <a:cs typeface="Outfit" pitchFamily="34" charset="-120"/>
              </a:rPr>
              <a:t>✓ SEO Rating: 100 / 100</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PageSpeed Insights — About Us Page</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About Us Performance Optimization (Before vs After)</a:t>
            </a:r>
            <a:endParaRPr lang="en-US" sz="2600" dirty="0"/>
          </a:p>
        </p:txBody>
      </p:sp>
      <p:sp>
        <p:nvSpPr>
          <p:cNvPr id="5" name="Shape 2"/>
          <p:cNvSpPr/>
          <p:nvPr/>
        </p:nvSpPr>
        <p:spPr>
          <a:xfrm>
            <a:off x="731520" y="1645920"/>
            <a:ext cx="5120640" cy="3474720"/>
          </a:xfrm>
          <a:prstGeom prst="rect">
            <a:avLst>
              <a:gd name="adj" fmla="val 2632"/>
            </a:avLst>
          </a:prstGeom>
          <a:solidFill>
            <a:srgbClr val="F8FAFC"/>
          </a:solidFill>
          <a:ln w="12700">
            <a:solidFill>
              <a:srgbClr val="E2E8F0"/>
            </a:solidFill>
            <a:prstDash val="solid"/>
          </a:ln>
        </p:spPr>
      </p:sp>
      <p:sp>
        <p:nvSpPr>
          <p:cNvPr id="6" name="Text 3"/>
          <p:cNvSpPr/>
          <p:nvPr/>
        </p:nvSpPr>
        <p:spPr>
          <a:xfrm>
            <a:off x="10058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ABOUT US DESKTOP PERFORMANCE (BEFORE → AFTER)</a:t>
            </a:r>
            <a:endParaRPr lang="en-US" sz="1100" dirty="0"/>
          </a:p>
        </p:txBody>
      </p:sp>
      <p:sp>
        <p:nvSpPr>
          <p:cNvPr id="7" name="Text 4"/>
          <p:cNvSpPr/>
          <p:nvPr/>
        </p:nvSpPr>
        <p:spPr>
          <a:xfrm>
            <a:off x="1005840" y="2286000"/>
            <a:ext cx="4572000" cy="914400"/>
          </a:xfrm>
          <a:prstGeom prst="rect">
            <a:avLst/>
          </a:prstGeom>
          <a:noFill/>
          <a:ln/>
        </p:spPr>
        <p:txBody>
          <a:bodyPr wrap="square" rtlCol="0" anchor="ctr"/>
          <a:lstStyle/>
          <a:p>
            <a:pPr indent="0" marL="0">
              <a:buNone/>
            </a:pPr>
            <a:r>
              <a:rPr lang="en-US" sz="6000" b="1" dirty="0">
                <a:solidFill>
                  <a:srgbClr val="10B981"/>
                </a:solidFill>
                <a:latin typeface="Outfit" pitchFamily="34" charset="0"/>
                <a:ea typeface="Outfit" pitchFamily="34" charset="-122"/>
                <a:cs typeface="Outfit" pitchFamily="34" charset="-120"/>
              </a:rPr>
              <a:t>67  →  76</a:t>
            </a:r>
            <a:endParaRPr lang="en-US" sz="6000" dirty="0"/>
          </a:p>
        </p:txBody>
      </p:sp>
      <p:sp>
        <p:nvSpPr>
          <p:cNvPr id="8" name="Text 5"/>
          <p:cNvSpPr/>
          <p:nvPr/>
        </p:nvSpPr>
        <p:spPr>
          <a:xfrm>
            <a:off x="1005840" y="3200400"/>
            <a:ext cx="4572000" cy="365760"/>
          </a:xfrm>
          <a:prstGeom prst="rect">
            <a:avLst/>
          </a:prstGeom>
          <a:noFill/>
          <a:ln/>
        </p:spPr>
        <p:txBody>
          <a:bodyPr wrap="square" rtlCol="0" anchor="ctr"/>
          <a:lstStyle/>
          <a:p>
            <a:pPr indent="0" marL="0">
              <a:buNone/>
            </a:pPr>
            <a:r>
              <a:rPr lang="en-US" sz="1600" b="1" dirty="0">
                <a:solidFill>
                  <a:srgbClr val="0F172A"/>
                </a:solidFill>
                <a:latin typeface="Outfit" pitchFamily="34" charset="0"/>
                <a:ea typeface="Outfit" pitchFamily="34" charset="-122"/>
                <a:cs typeface="Outfit" pitchFamily="34" charset="-120"/>
              </a:rPr>
              <a:t>+9 Points Desktop Optimization</a:t>
            </a:r>
            <a:endParaRPr lang="en-US" sz="1600" dirty="0"/>
          </a:p>
        </p:txBody>
      </p:sp>
      <p:sp>
        <p:nvSpPr>
          <p:cNvPr id="9" name="Text 6"/>
          <p:cNvSpPr/>
          <p:nvPr/>
        </p:nvSpPr>
        <p:spPr>
          <a:xfrm>
            <a:off x="1005840" y="3657600"/>
            <a:ext cx="4572000" cy="1097280"/>
          </a:xfrm>
          <a:prstGeom prst="rect">
            <a:avLst/>
          </a:prstGeom>
          <a:noFill/>
          <a:ln/>
        </p:spPr>
        <p:txBody>
          <a:bodyPr wrap="square" rtlCol="0" anchor="ctr"/>
          <a:lstStyle/>
          <a:p>
            <a:pPr indent="0" marL="0">
              <a:buNone/>
            </a:pPr>
            <a:r>
              <a:rPr lang="en-US" sz="1300" dirty="0">
                <a:solidFill>
                  <a:srgbClr val="64748B"/>
                </a:solidFill>
                <a:latin typeface="Plus Jakarta Sans" pitchFamily="34" charset="0"/>
                <a:ea typeface="Plus Jakarta Sans" pitchFamily="34" charset="-122"/>
                <a:cs typeface="Plus Jakarta Sans" pitchFamily="34" charset="-120"/>
              </a:rPr>
              <a:t>Desktop performance score for About Us increased from 67 Before to 76 After out of 100.</a:t>
            </a:r>
            <a:endParaRPr lang="en-US" sz="1300" dirty="0"/>
          </a:p>
        </p:txBody>
      </p:sp>
      <p:sp>
        <p:nvSpPr>
          <p:cNvPr id="10" name="Shape 7"/>
          <p:cNvSpPr/>
          <p:nvPr/>
        </p:nvSpPr>
        <p:spPr>
          <a:xfrm>
            <a:off x="6217920" y="1645920"/>
            <a:ext cx="5120640" cy="3474720"/>
          </a:xfrm>
          <a:prstGeom prst="rect">
            <a:avLst>
              <a:gd name="adj" fmla="val 2632"/>
            </a:avLst>
          </a:prstGeom>
          <a:solidFill>
            <a:srgbClr val="F8FAFC"/>
          </a:solidFill>
          <a:ln w="12700">
            <a:solidFill>
              <a:srgbClr val="E2E8F0"/>
            </a:solidFill>
            <a:prstDash val="solid"/>
          </a:ln>
        </p:spPr>
      </p:sp>
      <p:sp>
        <p:nvSpPr>
          <p:cNvPr id="11" name="Text 8"/>
          <p:cNvSpPr/>
          <p:nvPr/>
        </p:nvSpPr>
        <p:spPr>
          <a:xfrm>
            <a:off x="64922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ABOUT US MOBILE PERFORMANCE (BEFORE → AFTER)</a:t>
            </a:r>
            <a:endParaRPr lang="en-US" sz="1100" dirty="0"/>
          </a:p>
        </p:txBody>
      </p:sp>
      <p:sp>
        <p:nvSpPr>
          <p:cNvPr id="12" name="Text 9"/>
          <p:cNvSpPr/>
          <p:nvPr/>
        </p:nvSpPr>
        <p:spPr>
          <a:xfrm>
            <a:off x="6492240" y="2286000"/>
            <a:ext cx="4572000" cy="914400"/>
          </a:xfrm>
          <a:prstGeom prst="rect">
            <a:avLst/>
          </a:prstGeom>
          <a:noFill/>
          <a:ln/>
        </p:spPr>
        <p:txBody>
          <a:bodyPr wrap="square" rtlCol="0" anchor="ctr"/>
          <a:lstStyle/>
          <a:p>
            <a:pPr indent="0" marL="0">
              <a:buNone/>
            </a:pPr>
            <a:r>
              <a:rPr lang="en-US" sz="6000" b="1" dirty="0">
                <a:solidFill>
                  <a:srgbClr val="0EA5E9"/>
                </a:solidFill>
                <a:latin typeface="Outfit" pitchFamily="34" charset="0"/>
                <a:ea typeface="Outfit" pitchFamily="34" charset="-122"/>
                <a:cs typeface="Outfit" pitchFamily="34" charset="-120"/>
              </a:rPr>
              <a:t>45  →  67</a:t>
            </a:r>
            <a:endParaRPr lang="en-US" sz="6000" dirty="0"/>
          </a:p>
        </p:txBody>
      </p:sp>
      <p:sp>
        <p:nvSpPr>
          <p:cNvPr id="13" name="Text 10"/>
          <p:cNvSpPr/>
          <p:nvPr/>
        </p:nvSpPr>
        <p:spPr>
          <a:xfrm>
            <a:off x="6492240" y="3200400"/>
            <a:ext cx="4572000" cy="365760"/>
          </a:xfrm>
          <a:prstGeom prst="rect">
            <a:avLst/>
          </a:prstGeom>
          <a:noFill/>
          <a:ln/>
        </p:spPr>
        <p:txBody>
          <a:bodyPr wrap="square" rtlCol="0" anchor="ctr"/>
          <a:lstStyle/>
          <a:p>
            <a:pPr indent="0" marL="0">
              <a:buNone/>
            </a:pPr>
            <a:r>
              <a:rPr lang="en-US" sz="1600" b="1" dirty="0">
                <a:solidFill>
                  <a:srgbClr val="0F172A"/>
                </a:solidFill>
                <a:latin typeface="Outfit" pitchFamily="34" charset="0"/>
                <a:ea typeface="Outfit" pitchFamily="34" charset="-122"/>
                <a:cs typeface="Outfit" pitchFamily="34" charset="-120"/>
              </a:rPr>
              <a:t>+22 Points Mobile Optimization Lift</a:t>
            </a:r>
            <a:endParaRPr lang="en-US" sz="1600" dirty="0"/>
          </a:p>
        </p:txBody>
      </p:sp>
      <p:sp>
        <p:nvSpPr>
          <p:cNvPr id="14" name="Text 11"/>
          <p:cNvSpPr/>
          <p:nvPr/>
        </p:nvSpPr>
        <p:spPr>
          <a:xfrm>
            <a:off x="6492240" y="3749040"/>
            <a:ext cx="4572000" cy="1097280"/>
          </a:xfrm>
          <a:prstGeom prst="rect">
            <a:avLst/>
          </a:prstGeom>
          <a:noFill/>
          <a:ln/>
        </p:spPr>
        <p:txBody>
          <a:bodyPr wrap="square" rtlCol="0" anchor="ctr"/>
          <a:lstStyle/>
          <a:p>
            <a:pPr indent="0" marL="0">
              <a:lnSpc>
                <a:spcPts val="1800"/>
              </a:lnSpc>
              <a:buNone/>
            </a:pPr>
            <a:r>
              <a:rPr lang="en-US" sz="1400" b="1" dirty="0">
                <a:solidFill>
                  <a:srgbClr val="10B981"/>
                </a:solidFill>
                <a:latin typeface="Outfit" pitchFamily="34" charset="0"/>
                <a:ea typeface="Outfit" pitchFamily="34" charset="-122"/>
                <a:cs typeface="Outfit" pitchFamily="34" charset="-120"/>
              </a:rPr>
              <a:t>✓ Accessibility: 96 / 100</a:t>
            </a:r>
            <a:endParaRPr lang="en-US" sz="1400" dirty="0"/>
          </a:p>
          <a:p>
            <a:pPr indent="0" marL="0">
              <a:lnSpc>
                <a:spcPts val="1800"/>
              </a:lnSpc>
              <a:buNone/>
            </a:pPr>
            <a:r>
              <a:rPr lang="en-US" sz="1400" b="1" dirty="0">
                <a:solidFill>
                  <a:srgbClr val="10B981"/>
                </a:solidFill>
                <a:latin typeface="Outfit" pitchFamily="34" charset="0"/>
                <a:ea typeface="Outfit" pitchFamily="34" charset="-122"/>
                <a:cs typeface="Outfit" pitchFamily="34" charset="-120"/>
              </a:rPr>
              <a:t>✓ Best Practices: 100 / 100</a:t>
            </a:r>
            <a:endParaRPr lang="en-US" sz="1400" dirty="0"/>
          </a:p>
          <a:p>
            <a:pPr indent="0" marL="0">
              <a:lnSpc>
                <a:spcPts val="1800"/>
              </a:lnSpc>
              <a:buNone/>
            </a:pPr>
            <a:r>
              <a:rPr lang="en-US" sz="1400" b="1" dirty="0">
                <a:solidFill>
                  <a:srgbClr val="10B981"/>
                </a:solidFill>
                <a:latin typeface="Outfit" pitchFamily="34" charset="0"/>
                <a:ea typeface="Outfit" pitchFamily="34" charset="-122"/>
                <a:cs typeface="Outfit" pitchFamily="34" charset="-120"/>
              </a:rPr>
              <a:t>✓ SEO Rating: 100 / 100</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Search Engine Health</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Technical SEO &amp; Crawlability Verification</a:t>
            </a:r>
            <a:endParaRPr lang="en-US" sz="2600" dirty="0"/>
          </a:p>
        </p:txBody>
      </p:sp>
      <p:sp>
        <p:nvSpPr>
          <p:cNvPr id="5" name="Shape 2"/>
          <p:cNvSpPr/>
          <p:nvPr/>
        </p:nvSpPr>
        <p:spPr>
          <a:xfrm>
            <a:off x="731520" y="1645920"/>
            <a:ext cx="5120640" cy="3474720"/>
          </a:xfrm>
          <a:prstGeom prst="rect">
            <a:avLst>
              <a:gd name="adj" fmla="val 2632"/>
            </a:avLst>
          </a:prstGeom>
          <a:solidFill>
            <a:srgbClr val="F8FAFC"/>
          </a:solidFill>
          <a:ln w="12700">
            <a:solidFill>
              <a:srgbClr val="E2E8F0"/>
            </a:solidFill>
            <a:prstDash val="solid"/>
          </a:ln>
        </p:spPr>
      </p:sp>
      <p:sp>
        <p:nvSpPr>
          <p:cNvPr id="6" name="Text 3"/>
          <p:cNvSpPr/>
          <p:nvPr/>
        </p:nvSpPr>
        <p:spPr>
          <a:xfrm>
            <a:off x="10058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META &amp; CANONICAL TAG HEALTH</a:t>
            </a:r>
            <a:endParaRPr lang="en-US" sz="1100" dirty="0"/>
          </a:p>
        </p:txBody>
      </p:sp>
      <p:sp>
        <p:nvSpPr>
          <p:cNvPr id="7" name="Text 4"/>
          <p:cNvSpPr/>
          <p:nvPr/>
        </p:nvSpPr>
        <p:spPr>
          <a:xfrm>
            <a:off x="1005840" y="2286000"/>
            <a:ext cx="4572000" cy="457200"/>
          </a:xfrm>
          <a:prstGeom prst="rect">
            <a:avLst/>
          </a:prstGeom>
          <a:noFill/>
          <a:ln/>
        </p:spPr>
        <p:txBody>
          <a:bodyPr wrap="square" rtlCol="0" anchor="ctr"/>
          <a:lstStyle/>
          <a:p>
            <a:pPr indent="0" marL="0">
              <a:buNone/>
            </a:pPr>
            <a:r>
              <a:rPr lang="en-US" sz="2200" b="1" dirty="0">
                <a:solidFill>
                  <a:srgbClr val="10B981"/>
                </a:solidFill>
                <a:latin typeface="Outfit" pitchFamily="34" charset="0"/>
                <a:ea typeface="Outfit" pitchFamily="34" charset="-122"/>
                <a:cs typeface="Outfit" pitchFamily="34" charset="-120"/>
              </a:rPr>
              <a:t>100% Meta Coverage</a:t>
            </a:r>
            <a:endParaRPr lang="en-US" sz="2200" dirty="0"/>
          </a:p>
        </p:txBody>
      </p:sp>
      <p:sp>
        <p:nvSpPr>
          <p:cNvPr id="8" name="Text 5"/>
          <p:cNvSpPr/>
          <p:nvPr/>
        </p:nvSpPr>
        <p:spPr>
          <a:xfrm>
            <a:off x="1005840" y="2926080"/>
            <a:ext cx="4572000" cy="1828800"/>
          </a:xfrm>
          <a:prstGeom prst="rect">
            <a:avLst/>
          </a:prstGeom>
          <a:noFill/>
          <a:ln/>
        </p:spPr>
        <p:txBody>
          <a:bodyPr wrap="square" rtlCol="0" anchor="ctr"/>
          <a:lstStyle/>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Title Tags: Present across all template layouts</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Meta Descriptions: Unique descriptions configured</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Canonical Tags: Valid canonical URLs set without loops</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Heading Hierarchy: Single clean &lt;h1&gt; per page layout</a:t>
            </a:r>
            <a:endParaRPr lang="en-US" sz="1300" dirty="0"/>
          </a:p>
        </p:txBody>
      </p:sp>
      <p:sp>
        <p:nvSpPr>
          <p:cNvPr id="9" name="Shape 6"/>
          <p:cNvSpPr/>
          <p:nvPr/>
        </p:nvSpPr>
        <p:spPr>
          <a:xfrm>
            <a:off x="6217920" y="1645920"/>
            <a:ext cx="5120640" cy="3474720"/>
          </a:xfrm>
          <a:prstGeom prst="rect">
            <a:avLst>
              <a:gd name="adj" fmla="val 2632"/>
            </a:avLst>
          </a:prstGeom>
          <a:solidFill>
            <a:srgbClr val="F8FAFC"/>
          </a:solidFill>
          <a:ln w="12700">
            <a:solidFill>
              <a:srgbClr val="E2E8F0"/>
            </a:solidFill>
            <a:prstDash val="solid"/>
          </a:ln>
        </p:spPr>
      </p:sp>
      <p:sp>
        <p:nvSpPr>
          <p:cNvPr id="10" name="Text 7"/>
          <p:cNvSpPr/>
          <p:nvPr/>
        </p:nvSpPr>
        <p:spPr>
          <a:xfrm>
            <a:off x="64922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STRUCTURED DATA &amp; INDEXING</a:t>
            </a:r>
            <a:endParaRPr lang="en-US" sz="1100" dirty="0"/>
          </a:p>
        </p:txBody>
      </p:sp>
      <p:sp>
        <p:nvSpPr>
          <p:cNvPr id="11" name="Text 8"/>
          <p:cNvSpPr/>
          <p:nvPr/>
        </p:nvSpPr>
        <p:spPr>
          <a:xfrm>
            <a:off x="6492240" y="2286000"/>
            <a:ext cx="4572000" cy="457200"/>
          </a:xfrm>
          <a:prstGeom prst="rect">
            <a:avLst/>
          </a:prstGeom>
          <a:noFill/>
          <a:ln/>
        </p:spPr>
        <p:txBody>
          <a:bodyPr wrap="square" rtlCol="0" anchor="ctr"/>
          <a:lstStyle/>
          <a:p>
            <a:pPr indent="0" marL="0">
              <a:buNone/>
            </a:pPr>
            <a:r>
              <a:rPr lang="en-US" sz="2200" b="1" dirty="0">
                <a:solidFill>
                  <a:srgbClr val="10B981"/>
                </a:solidFill>
                <a:latin typeface="Outfit" pitchFamily="34" charset="0"/>
                <a:ea typeface="Outfit" pitchFamily="34" charset="-122"/>
                <a:cs typeface="Outfit" pitchFamily="34" charset="-120"/>
              </a:rPr>
              <a:t>SEO Rating: 100 / 100</a:t>
            </a:r>
            <a:endParaRPr lang="en-US" sz="2200" dirty="0"/>
          </a:p>
        </p:txBody>
      </p:sp>
      <p:sp>
        <p:nvSpPr>
          <p:cNvPr id="12" name="Text 9"/>
          <p:cNvSpPr/>
          <p:nvPr/>
        </p:nvSpPr>
        <p:spPr>
          <a:xfrm>
            <a:off x="6492240" y="2926080"/>
            <a:ext cx="4572000" cy="1828800"/>
          </a:xfrm>
          <a:prstGeom prst="rect">
            <a:avLst/>
          </a:prstGeom>
          <a:noFill/>
          <a:ln/>
        </p:spPr>
        <p:txBody>
          <a:bodyPr wrap="square" rtlCol="0" anchor="ctr"/>
          <a:lstStyle/>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Schema.org Microdata: JSON-LD Product &amp; FAQ Schema valid</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Sitemap.xml: Fully accessible &amp; formatted XML index</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Robots.txt: Googlebot &amp; Bingbot crawling enabled</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OpenGraph Tags: Social sharing preview metadata verified</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AI &amp; Voice Search Optimization</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GEO &amp; AEO (AI Engine Readiness)</a:t>
            </a:r>
            <a:endParaRPr lang="en-US" sz="2600" dirty="0"/>
          </a:p>
        </p:txBody>
      </p:sp>
      <p:sp>
        <p:nvSpPr>
          <p:cNvPr id="5" name="Shape 2"/>
          <p:cNvSpPr/>
          <p:nvPr/>
        </p:nvSpPr>
        <p:spPr>
          <a:xfrm>
            <a:off x="731520" y="1645920"/>
            <a:ext cx="5120640" cy="3474720"/>
          </a:xfrm>
          <a:prstGeom prst="rect">
            <a:avLst>
              <a:gd name="adj" fmla="val 2632"/>
            </a:avLst>
          </a:prstGeom>
          <a:solidFill>
            <a:srgbClr val="F8FAFC"/>
          </a:solidFill>
          <a:ln w="12700">
            <a:solidFill>
              <a:srgbClr val="E2E8F0"/>
            </a:solidFill>
            <a:prstDash val="solid"/>
          </a:ln>
        </p:spPr>
      </p:sp>
      <p:sp>
        <p:nvSpPr>
          <p:cNvPr id="6" name="Text 3"/>
          <p:cNvSpPr/>
          <p:nvPr/>
        </p:nvSpPr>
        <p:spPr>
          <a:xfrm>
            <a:off x="10058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AI CRAWLER PERMISSIONS</a:t>
            </a:r>
            <a:endParaRPr lang="en-US" sz="1100" dirty="0"/>
          </a:p>
        </p:txBody>
      </p:sp>
      <p:sp>
        <p:nvSpPr>
          <p:cNvPr id="7" name="Text 4"/>
          <p:cNvSpPr/>
          <p:nvPr/>
        </p:nvSpPr>
        <p:spPr>
          <a:xfrm>
            <a:off x="1005840" y="2286000"/>
            <a:ext cx="4572000" cy="457200"/>
          </a:xfrm>
          <a:prstGeom prst="rect">
            <a:avLst/>
          </a:prstGeom>
          <a:noFill/>
          <a:ln/>
        </p:spPr>
        <p:txBody>
          <a:bodyPr wrap="square" rtlCol="0" anchor="ctr"/>
          <a:lstStyle/>
          <a:p>
            <a:pPr indent="0" marL="0">
              <a:buNone/>
            </a:pPr>
            <a:r>
              <a:rPr lang="en-US" sz="2200" b="1" dirty="0">
                <a:solidFill>
                  <a:srgbClr val="10B981"/>
                </a:solidFill>
                <a:latin typeface="Outfit" pitchFamily="34" charset="0"/>
                <a:ea typeface="Outfit" pitchFamily="34" charset="-122"/>
                <a:cs typeface="Outfit" pitchFamily="34" charset="-120"/>
              </a:rPr>
              <a:t>AI Crawlers: ALLOWED</a:t>
            </a:r>
            <a:endParaRPr lang="en-US" sz="2200" dirty="0"/>
          </a:p>
        </p:txBody>
      </p:sp>
      <p:sp>
        <p:nvSpPr>
          <p:cNvPr id="8" name="Text 5"/>
          <p:cNvSpPr/>
          <p:nvPr/>
        </p:nvSpPr>
        <p:spPr>
          <a:xfrm>
            <a:off x="1005840" y="2926080"/>
            <a:ext cx="4572000" cy="1828800"/>
          </a:xfrm>
          <a:prstGeom prst="rect">
            <a:avLst/>
          </a:prstGeom>
          <a:noFill/>
          <a:ln/>
        </p:spPr>
        <p:txBody>
          <a:bodyPr wrap="square" rtlCol="0" anchor="ctr"/>
          <a:lstStyle/>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GPTBot (OpenAI/SearchGPT): Access permitted in robots.txt</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Gemini-Exchange (Google AI): Unblocked for citation indexing</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PerplexityBot &amp; ClaudeBot: Catalog scanning allowed</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Product Facts: Clean HTML data tables ready for LLM extraction</a:t>
            </a:r>
            <a:endParaRPr lang="en-US" sz="1300" dirty="0"/>
          </a:p>
        </p:txBody>
      </p:sp>
      <p:sp>
        <p:nvSpPr>
          <p:cNvPr id="9" name="Shape 6"/>
          <p:cNvSpPr/>
          <p:nvPr/>
        </p:nvSpPr>
        <p:spPr>
          <a:xfrm>
            <a:off x="6217920" y="1645920"/>
            <a:ext cx="5120640" cy="3474720"/>
          </a:xfrm>
          <a:prstGeom prst="rect">
            <a:avLst>
              <a:gd name="adj" fmla="val 2632"/>
            </a:avLst>
          </a:prstGeom>
          <a:solidFill>
            <a:srgbClr val="F8FAFC"/>
          </a:solidFill>
          <a:ln w="12700">
            <a:solidFill>
              <a:srgbClr val="E2E8F0"/>
            </a:solidFill>
            <a:prstDash val="solid"/>
          </a:ln>
        </p:spPr>
      </p:sp>
      <p:sp>
        <p:nvSpPr>
          <p:cNvPr id="10" name="Text 7"/>
          <p:cNvSpPr/>
          <p:nvPr/>
        </p:nvSpPr>
        <p:spPr>
          <a:xfrm>
            <a:off x="64922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VOICE READABILITY &amp; STRUCTURE</a:t>
            </a:r>
            <a:endParaRPr lang="en-US" sz="1100" dirty="0"/>
          </a:p>
        </p:txBody>
      </p:sp>
      <p:sp>
        <p:nvSpPr>
          <p:cNvPr id="11" name="Text 8"/>
          <p:cNvSpPr/>
          <p:nvPr/>
        </p:nvSpPr>
        <p:spPr>
          <a:xfrm>
            <a:off x="6492240" y="2286000"/>
            <a:ext cx="4572000" cy="457200"/>
          </a:xfrm>
          <a:prstGeom prst="rect">
            <a:avLst/>
          </a:prstGeom>
          <a:noFill/>
          <a:ln/>
        </p:spPr>
        <p:txBody>
          <a:bodyPr wrap="square" rtlCol="0" anchor="ctr"/>
          <a:lstStyle/>
          <a:p>
            <a:pPr indent="0" marL="0">
              <a:buNone/>
            </a:pPr>
            <a:r>
              <a:rPr lang="en-US" sz="2200" b="1" dirty="0">
                <a:solidFill>
                  <a:srgbClr val="0EA5E9"/>
                </a:solidFill>
                <a:latin typeface="Outfit" pitchFamily="34" charset="0"/>
                <a:ea typeface="Outfit" pitchFamily="34" charset="-122"/>
                <a:cs typeface="Outfit" pitchFamily="34" charset="-120"/>
              </a:rPr>
              <a:t>Flesch Index: 68.5</a:t>
            </a:r>
            <a:endParaRPr lang="en-US" sz="2200" dirty="0"/>
          </a:p>
        </p:txBody>
      </p:sp>
      <p:sp>
        <p:nvSpPr>
          <p:cNvPr id="12" name="Text 9"/>
          <p:cNvSpPr/>
          <p:nvPr/>
        </p:nvSpPr>
        <p:spPr>
          <a:xfrm>
            <a:off x="6492240" y="2926080"/>
            <a:ext cx="4572000" cy="1828800"/>
          </a:xfrm>
          <a:prstGeom prst="rect">
            <a:avLst/>
          </a:prstGeom>
          <a:noFill/>
          <a:ln/>
        </p:spPr>
        <p:txBody>
          <a:bodyPr wrap="square" rtlCol="0" anchor="ctr"/>
          <a:lstStyle/>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Conversational Tone: Standard English score (Easy for Voice/Siri)</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Direct Answer Q&amp;A: FAQ structures optimized for answer snippets</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JSON-LD Product Attributes: Instant price/spec extraction for AI</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High Tier Feature: Enterprise AI visibility monitoring enabled</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Cybersecurity &amp; Storefront Protection</a:t>
            </a:r>
            <a:endParaRPr lang="en-US" sz="1300" dirty="0"/>
          </a:p>
        </p:txBody>
      </p:sp>
      <p:sp>
        <p:nvSpPr>
          <p:cNvPr id="4" name="Text 1"/>
          <p:cNvSpPr/>
          <p:nvPr/>
        </p:nvSpPr>
        <p:spPr>
          <a:xfrm>
            <a:off x="731520" y="731520"/>
            <a:ext cx="82296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Security Protection Check</a:t>
            </a:r>
            <a:endParaRPr lang="en-US" sz="2600" dirty="0"/>
          </a:p>
        </p:txBody>
      </p:sp>
      <p:sp>
        <p:nvSpPr>
          <p:cNvPr id="5" name="Text 2"/>
          <p:cNvSpPr/>
          <p:nvPr/>
        </p:nvSpPr>
        <p:spPr>
          <a:xfrm>
            <a:off x="731520" y="1280160"/>
            <a:ext cx="7772400" cy="365760"/>
          </a:xfrm>
          <a:prstGeom prst="rect">
            <a:avLst/>
          </a:prstGeom>
          <a:noFill/>
          <a:ln/>
        </p:spPr>
        <p:txBody>
          <a:bodyPr wrap="square" rtlCol="0" anchor="ctr"/>
          <a:lstStyle/>
          <a:p>
            <a:pPr indent="0" marL="0">
              <a:buNone/>
            </a:pPr>
            <a:r>
              <a:rPr lang="en-US" sz="1500" b="1" dirty="0">
                <a:solidFill>
                  <a:srgbClr val="075985"/>
                </a:solidFill>
                <a:latin typeface="Plus Jakarta Sans" pitchFamily="34" charset="0"/>
                <a:ea typeface="Plus Jakarta Sans" pitchFamily="34" charset="-122"/>
                <a:cs typeface="Plus Jakarta Sans" pitchFamily="34" charset="-120"/>
              </a:rPr>
              <a:t>Where each protection area stands</a:t>
            </a:r>
            <a:endParaRPr lang="en-US" sz="1500" dirty="0"/>
          </a:p>
        </p:txBody>
      </p:sp>
      <p:sp>
        <p:nvSpPr>
          <p:cNvPr id="6" name="Text 3"/>
          <p:cNvSpPr/>
          <p:nvPr/>
        </p:nvSpPr>
        <p:spPr>
          <a:xfrm>
            <a:off x="5212080" y="1783080"/>
            <a:ext cx="1188720" cy="274320"/>
          </a:xfrm>
          <a:prstGeom prst="rect">
            <a:avLst/>
          </a:prstGeom>
          <a:noFill/>
          <a:ln/>
        </p:spPr>
        <p:txBody>
          <a:bodyPr wrap="square" rtlCol="0" anchor="ctr"/>
          <a:lstStyle/>
          <a:p>
            <a:pPr algn="ctr" indent="0" marL="0">
              <a:buNone/>
            </a:pPr>
            <a:r>
              <a:rPr lang="en-US" sz="900" b="1" dirty="0">
                <a:solidFill>
                  <a:srgbClr val="64748B"/>
                </a:solidFill>
                <a:latin typeface="Plus Jakarta Sans" pitchFamily="34" charset="0"/>
                <a:ea typeface="Plus Jakarta Sans" pitchFamily="34" charset="-122"/>
                <a:cs typeface="Plus Jakarta Sans" pitchFamily="34" charset="-120"/>
              </a:rPr>
              <a:t>LAST MONTH</a:t>
            </a:r>
            <a:endParaRPr lang="en-US" sz="900" dirty="0"/>
          </a:p>
        </p:txBody>
      </p:sp>
      <p:sp>
        <p:nvSpPr>
          <p:cNvPr id="7" name="Text 4"/>
          <p:cNvSpPr/>
          <p:nvPr/>
        </p:nvSpPr>
        <p:spPr>
          <a:xfrm>
            <a:off x="6035040" y="1783080"/>
            <a:ext cx="1188720" cy="274320"/>
          </a:xfrm>
          <a:prstGeom prst="rect">
            <a:avLst/>
          </a:prstGeom>
          <a:noFill/>
          <a:ln/>
        </p:spPr>
        <p:txBody>
          <a:bodyPr wrap="square" rtlCol="0" anchor="ctr"/>
          <a:lstStyle/>
          <a:p>
            <a:pPr algn="ctr" indent="0" marL="0">
              <a:buNone/>
            </a:pPr>
            <a:r>
              <a:rPr lang="en-US" sz="900" b="1" dirty="0">
                <a:solidFill>
                  <a:srgbClr val="64748B"/>
                </a:solidFill>
                <a:latin typeface="Plus Jakarta Sans" pitchFamily="34" charset="0"/>
                <a:ea typeface="Plus Jakarta Sans" pitchFamily="34" charset="-122"/>
                <a:cs typeface="Plus Jakarta Sans" pitchFamily="34" charset="-120"/>
              </a:rPr>
              <a:t>THIS MONTH</a:t>
            </a:r>
            <a:endParaRPr lang="en-US" sz="900" dirty="0"/>
          </a:p>
        </p:txBody>
      </p:sp>
      <p:sp>
        <p:nvSpPr>
          <p:cNvPr id="8" name="Shape 5"/>
          <p:cNvSpPr/>
          <p:nvPr/>
        </p:nvSpPr>
        <p:spPr>
          <a:xfrm>
            <a:off x="731520" y="2148840"/>
            <a:ext cx="7040880" cy="566928"/>
          </a:xfrm>
          <a:prstGeom prst="rect">
            <a:avLst>
              <a:gd name="adj" fmla="val 12903"/>
            </a:avLst>
          </a:prstGeom>
          <a:solidFill>
            <a:srgbClr val="F8FAFC"/>
          </a:solidFill>
          <a:ln w="9525">
            <a:solidFill>
              <a:srgbClr val="E2E8F0"/>
            </a:solidFill>
            <a:prstDash val="solid"/>
          </a:ln>
        </p:spPr>
      </p:sp>
      <p:sp>
        <p:nvSpPr>
          <p:cNvPr id="9" name="Shape 6"/>
          <p:cNvSpPr/>
          <p:nvPr/>
        </p:nvSpPr>
        <p:spPr>
          <a:xfrm>
            <a:off x="731520" y="2148840"/>
            <a:ext cx="82296" cy="566928"/>
          </a:xfrm>
          <a:prstGeom prst="rect">
            <a:avLst/>
          </a:prstGeom>
          <a:solidFill>
            <a:srgbClr val="10B981"/>
          </a:solidFill>
          <a:ln w="12700">
            <a:solidFill>
              <a:srgbClr val="10B981"/>
            </a:solidFill>
            <a:prstDash val="solid"/>
          </a:ln>
        </p:spPr>
      </p:sp>
      <p:sp>
        <p:nvSpPr>
          <p:cNvPr id="10" name="Text 7"/>
          <p:cNvSpPr/>
          <p:nvPr/>
        </p:nvSpPr>
        <p:spPr>
          <a:xfrm>
            <a:off x="960120" y="2185416"/>
            <a:ext cx="4297680" cy="256032"/>
          </a:xfrm>
          <a:prstGeom prst="rect">
            <a:avLst/>
          </a:prstGeom>
          <a:noFill/>
          <a:ln/>
        </p:spPr>
        <p:txBody>
          <a:bodyPr wrap="square" rtlCol="0" anchor="ctr"/>
          <a:lstStyle/>
          <a:p>
            <a:pPr indent="0" marL="0">
              <a:buNone/>
            </a:pPr>
            <a:r>
              <a:rPr lang="en-US" sz="1300" b="1" dirty="0">
                <a:solidFill>
                  <a:srgbClr val="0F172A"/>
                </a:solidFill>
                <a:latin typeface="Outfit" pitchFamily="34" charset="0"/>
                <a:ea typeface="Outfit" pitchFamily="34" charset="-122"/>
                <a:cs typeface="Outfit" pitchFamily="34" charset="-120"/>
              </a:rPr>
              <a:t>Outside tools tamper check</a:t>
            </a:r>
            <a:endParaRPr lang="en-US" sz="1300" dirty="0"/>
          </a:p>
        </p:txBody>
      </p:sp>
      <p:sp>
        <p:nvSpPr>
          <p:cNvPr id="11" name="Text 8"/>
          <p:cNvSpPr/>
          <p:nvPr/>
        </p:nvSpPr>
        <p:spPr>
          <a:xfrm>
            <a:off x="960120" y="2432304"/>
            <a:ext cx="4480560" cy="219456"/>
          </a:xfrm>
          <a:prstGeom prst="rect">
            <a:avLst/>
          </a:prstGeom>
          <a:noFill/>
          <a:ln/>
        </p:spPr>
        <p:txBody>
          <a:bodyPr wrap="square" rtlCol="0" anchor="ctr"/>
          <a:lstStyle/>
          <a:p>
            <a:pPr indent="0" marL="0">
              <a:buNone/>
            </a:pPr>
            <a:r>
              <a:rPr lang="en-US" sz="1000" dirty="0">
                <a:solidFill>
                  <a:srgbClr val="64748B"/>
                </a:solidFill>
                <a:latin typeface="Plus Jakarta Sans" pitchFamily="34" charset="0"/>
                <a:ea typeface="Plus Jakarta Sans" pitchFamily="34" charset="-122"/>
                <a:cs typeface="Plus Jakarta Sans" pitchFamily="34" charset="-120"/>
              </a:rPr>
              <a:t>Stops a hacked third-party tool from reaching your shoppers</a:t>
            </a:r>
            <a:endParaRPr lang="en-US" sz="1000" dirty="0"/>
          </a:p>
        </p:txBody>
      </p:sp>
      <p:sp>
        <p:nvSpPr>
          <p:cNvPr id="12" name="Shape 9"/>
          <p:cNvSpPr/>
          <p:nvPr/>
        </p:nvSpPr>
        <p:spPr>
          <a:xfrm>
            <a:off x="5504688" y="2286000"/>
            <a:ext cx="237744" cy="237744"/>
          </a:xfrm>
          <a:prstGeom prst="ellipse">
            <a:avLst/>
          </a:prstGeom>
          <a:solidFill>
            <a:srgbClr val="CBD5E1"/>
          </a:solidFill>
          <a:ln w="19050">
            <a:solidFill>
              <a:srgbClr val="FFFFFF"/>
            </a:solidFill>
            <a:prstDash val="solid"/>
          </a:ln>
        </p:spPr>
      </p:sp>
      <p:sp>
        <p:nvSpPr>
          <p:cNvPr id="13" name="Text 10"/>
          <p:cNvSpPr/>
          <p:nvPr/>
        </p:nvSpPr>
        <p:spPr>
          <a:xfrm>
            <a:off x="5806440" y="2240280"/>
            <a:ext cx="457200" cy="329184"/>
          </a:xfrm>
          <a:prstGeom prst="rect">
            <a:avLst/>
          </a:prstGeom>
          <a:noFill/>
          <a:ln/>
        </p:spPr>
        <p:txBody>
          <a:bodyPr wrap="square" rtlCol="0" anchor="ctr"/>
          <a:lstStyle/>
          <a:p>
            <a:pPr algn="ctr" indent="0" marL="0">
              <a:buNone/>
            </a:pPr>
            <a:r>
              <a:rPr lang="en-US" sz="1600" dirty="0">
                <a:solidFill>
                  <a:srgbClr val="64748B"/>
                </a:solidFill>
                <a:latin typeface="Plus Jakarta Sans" pitchFamily="34" charset="0"/>
                <a:ea typeface="Plus Jakarta Sans" pitchFamily="34" charset="-122"/>
                <a:cs typeface="Plus Jakarta Sans" pitchFamily="34" charset="-120"/>
              </a:rPr>
              <a:t>→</a:t>
            </a:r>
            <a:endParaRPr lang="en-US" sz="1600" dirty="0"/>
          </a:p>
        </p:txBody>
      </p:sp>
      <p:sp>
        <p:nvSpPr>
          <p:cNvPr id="14" name="Shape 11"/>
          <p:cNvSpPr/>
          <p:nvPr/>
        </p:nvSpPr>
        <p:spPr>
          <a:xfrm>
            <a:off x="6327648" y="2286000"/>
            <a:ext cx="237744" cy="237744"/>
          </a:xfrm>
          <a:prstGeom prst="ellipse">
            <a:avLst/>
          </a:prstGeom>
          <a:solidFill>
            <a:srgbClr val="10B981"/>
          </a:solidFill>
          <a:ln w="19050">
            <a:solidFill>
              <a:srgbClr val="FFFFFF"/>
            </a:solidFill>
            <a:prstDash val="solid"/>
          </a:ln>
        </p:spPr>
      </p:sp>
      <p:sp>
        <p:nvSpPr>
          <p:cNvPr id="15" name="Shape 12"/>
          <p:cNvSpPr/>
          <p:nvPr/>
        </p:nvSpPr>
        <p:spPr>
          <a:xfrm>
            <a:off x="6675120" y="2267712"/>
            <a:ext cx="1005840" cy="274320"/>
          </a:xfrm>
          <a:prstGeom prst="roundRect">
            <a:avLst>
              <a:gd name="adj" fmla="val 40000"/>
            </a:avLst>
          </a:prstGeom>
          <a:solidFill>
            <a:srgbClr val="ECFDF5"/>
          </a:solidFill>
          <a:ln w="9525">
            <a:solidFill>
              <a:srgbClr val="10B981"/>
            </a:solidFill>
            <a:prstDash val="solid"/>
          </a:ln>
        </p:spPr>
      </p:sp>
      <p:sp>
        <p:nvSpPr>
          <p:cNvPr id="16" name="Text 13"/>
          <p:cNvSpPr/>
          <p:nvPr/>
        </p:nvSpPr>
        <p:spPr>
          <a:xfrm>
            <a:off x="6675120" y="2267712"/>
            <a:ext cx="1005840" cy="274320"/>
          </a:xfrm>
          <a:prstGeom prst="rect">
            <a:avLst/>
          </a:prstGeom>
          <a:noFill/>
          <a:ln/>
        </p:spPr>
        <p:txBody>
          <a:bodyPr wrap="square" rtlCol="0" anchor="ctr"/>
          <a:lstStyle/>
          <a:p>
            <a:pPr algn="ctr" indent="0" marL="0">
              <a:buNone/>
            </a:pPr>
            <a:r>
              <a:rPr lang="en-US" sz="900" b="1" dirty="0">
                <a:solidFill>
                  <a:srgbClr val="047857"/>
                </a:solidFill>
                <a:latin typeface="Plus Jakarta Sans" pitchFamily="34" charset="0"/>
                <a:ea typeface="Plus Jakarta Sans" pitchFamily="34" charset="-122"/>
                <a:cs typeface="Plus Jakarta Sans" pitchFamily="34" charset="-120"/>
              </a:rPr>
              <a:t>Protected</a:t>
            </a:r>
            <a:endParaRPr lang="en-US" sz="900" dirty="0"/>
          </a:p>
        </p:txBody>
      </p:sp>
      <p:sp>
        <p:nvSpPr>
          <p:cNvPr id="17" name="Shape 14"/>
          <p:cNvSpPr/>
          <p:nvPr/>
        </p:nvSpPr>
        <p:spPr>
          <a:xfrm>
            <a:off x="731520" y="2807208"/>
            <a:ext cx="7040880" cy="566928"/>
          </a:xfrm>
          <a:prstGeom prst="rect">
            <a:avLst>
              <a:gd name="adj" fmla="val 12903"/>
            </a:avLst>
          </a:prstGeom>
          <a:solidFill>
            <a:srgbClr val="FFFFFF"/>
          </a:solidFill>
          <a:ln w="9525">
            <a:solidFill>
              <a:srgbClr val="E2E8F0"/>
            </a:solidFill>
            <a:prstDash val="solid"/>
          </a:ln>
        </p:spPr>
      </p:sp>
      <p:sp>
        <p:nvSpPr>
          <p:cNvPr id="18" name="Shape 15"/>
          <p:cNvSpPr/>
          <p:nvPr/>
        </p:nvSpPr>
        <p:spPr>
          <a:xfrm>
            <a:off x="731520" y="2807208"/>
            <a:ext cx="82296" cy="566928"/>
          </a:xfrm>
          <a:prstGeom prst="rect">
            <a:avLst/>
          </a:prstGeom>
          <a:solidFill>
            <a:srgbClr val="DC2626"/>
          </a:solidFill>
          <a:ln w="12700">
            <a:solidFill>
              <a:srgbClr val="DC2626"/>
            </a:solidFill>
            <a:prstDash val="solid"/>
          </a:ln>
        </p:spPr>
      </p:sp>
      <p:sp>
        <p:nvSpPr>
          <p:cNvPr id="19" name="Text 16"/>
          <p:cNvSpPr/>
          <p:nvPr/>
        </p:nvSpPr>
        <p:spPr>
          <a:xfrm>
            <a:off x="960120" y="2843784"/>
            <a:ext cx="4297680" cy="256032"/>
          </a:xfrm>
          <a:prstGeom prst="rect">
            <a:avLst/>
          </a:prstGeom>
          <a:noFill/>
          <a:ln/>
        </p:spPr>
        <p:txBody>
          <a:bodyPr wrap="square" rtlCol="0" anchor="ctr"/>
          <a:lstStyle/>
          <a:p>
            <a:pPr indent="0" marL="0">
              <a:buNone/>
            </a:pPr>
            <a:r>
              <a:rPr lang="en-US" sz="1300" b="1" dirty="0">
                <a:solidFill>
                  <a:srgbClr val="0F172A"/>
                </a:solidFill>
                <a:latin typeface="Outfit" pitchFamily="34" charset="0"/>
                <a:ea typeface="Outfit" pitchFamily="34" charset="-122"/>
                <a:cs typeface="Outfit" pitchFamily="34" charset="-120"/>
              </a:rPr>
              <a:t>Page safety rules</a:t>
            </a:r>
            <a:endParaRPr lang="en-US" sz="1300" dirty="0"/>
          </a:p>
        </p:txBody>
      </p:sp>
      <p:sp>
        <p:nvSpPr>
          <p:cNvPr id="20" name="Text 17"/>
          <p:cNvSpPr/>
          <p:nvPr/>
        </p:nvSpPr>
        <p:spPr>
          <a:xfrm>
            <a:off x="960120" y="3090672"/>
            <a:ext cx="4480560" cy="219456"/>
          </a:xfrm>
          <a:prstGeom prst="rect">
            <a:avLst/>
          </a:prstGeom>
          <a:noFill/>
          <a:ln/>
        </p:spPr>
        <p:txBody>
          <a:bodyPr wrap="square" rtlCol="0" anchor="ctr"/>
          <a:lstStyle/>
          <a:p>
            <a:pPr indent="0" marL="0">
              <a:buNone/>
            </a:pPr>
            <a:r>
              <a:rPr lang="en-US" sz="1000" dirty="0">
                <a:solidFill>
                  <a:srgbClr val="64748B"/>
                </a:solidFill>
                <a:latin typeface="Plus Jakarta Sans" pitchFamily="34" charset="0"/>
                <a:ea typeface="Plus Jakarta Sans" pitchFamily="34" charset="-122"/>
                <a:cs typeface="Plus Jakarta Sans" pitchFamily="34" charset="-120"/>
              </a:rPr>
              <a:t>Blocks harmful code from running on your pages</a:t>
            </a:r>
            <a:endParaRPr lang="en-US" sz="1000" dirty="0"/>
          </a:p>
        </p:txBody>
      </p:sp>
      <p:sp>
        <p:nvSpPr>
          <p:cNvPr id="21" name="Shape 18"/>
          <p:cNvSpPr/>
          <p:nvPr/>
        </p:nvSpPr>
        <p:spPr>
          <a:xfrm>
            <a:off x="5504688" y="2944368"/>
            <a:ext cx="237744" cy="237744"/>
          </a:xfrm>
          <a:prstGeom prst="ellipse">
            <a:avLst/>
          </a:prstGeom>
          <a:solidFill>
            <a:srgbClr val="CBD5E1"/>
          </a:solidFill>
          <a:ln w="19050">
            <a:solidFill>
              <a:srgbClr val="FFFFFF"/>
            </a:solidFill>
            <a:prstDash val="solid"/>
          </a:ln>
        </p:spPr>
      </p:sp>
      <p:sp>
        <p:nvSpPr>
          <p:cNvPr id="22" name="Text 19"/>
          <p:cNvSpPr/>
          <p:nvPr/>
        </p:nvSpPr>
        <p:spPr>
          <a:xfrm>
            <a:off x="5806440" y="2898648"/>
            <a:ext cx="457200" cy="329184"/>
          </a:xfrm>
          <a:prstGeom prst="rect">
            <a:avLst/>
          </a:prstGeom>
          <a:noFill/>
          <a:ln/>
        </p:spPr>
        <p:txBody>
          <a:bodyPr wrap="square" rtlCol="0" anchor="ctr"/>
          <a:lstStyle/>
          <a:p>
            <a:pPr algn="ctr" indent="0" marL="0">
              <a:buNone/>
            </a:pPr>
            <a:r>
              <a:rPr lang="en-US" sz="1600" dirty="0">
                <a:solidFill>
                  <a:srgbClr val="64748B"/>
                </a:solidFill>
                <a:latin typeface="Plus Jakarta Sans" pitchFamily="34" charset="0"/>
                <a:ea typeface="Plus Jakarta Sans" pitchFamily="34" charset="-122"/>
                <a:cs typeface="Plus Jakarta Sans" pitchFamily="34" charset="-120"/>
              </a:rPr>
              <a:t>→</a:t>
            </a:r>
            <a:endParaRPr lang="en-US" sz="1600" dirty="0"/>
          </a:p>
        </p:txBody>
      </p:sp>
      <p:sp>
        <p:nvSpPr>
          <p:cNvPr id="23" name="Shape 20"/>
          <p:cNvSpPr/>
          <p:nvPr/>
        </p:nvSpPr>
        <p:spPr>
          <a:xfrm>
            <a:off x="6327648" y="2944368"/>
            <a:ext cx="237744" cy="237744"/>
          </a:xfrm>
          <a:prstGeom prst="ellipse">
            <a:avLst/>
          </a:prstGeom>
          <a:solidFill>
            <a:srgbClr val="DC2626"/>
          </a:solidFill>
          <a:ln w="19050">
            <a:solidFill>
              <a:srgbClr val="FFFFFF"/>
            </a:solidFill>
            <a:prstDash val="solid"/>
          </a:ln>
        </p:spPr>
      </p:sp>
      <p:sp>
        <p:nvSpPr>
          <p:cNvPr id="24" name="Shape 21"/>
          <p:cNvSpPr/>
          <p:nvPr/>
        </p:nvSpPr>
        <p:spPr>
          <a:xfrm>
            <a:off x="6675120" y="2926080"/>
            <a:ext cx="1005840" cy="274320"/>
          </a:xfrm>
          <a:prstGeom prst="roundRect">
            <a:avLst>
              <a:gd name="adj" fmla="val 40000"/>
            </a:avLst>
          </a:prstGeom>
          <a:solidFill>
            <a:srgbClr val="FEF2F2"/>
          </a:solidFill>
          <a:ln w="9525">
            <a:solidFill>
              <a:srgbClr val="DC2626"/>
            </a:solidFill>
            <a:prstDash val="solid"/>
          </a:ln>
        </p:spPr>
      </p:sp>
      <p:sp>
        <p:nvSpPr>
          <p:cNvPr id="25" name="Text 22"/>
          <p:cNvSpPr/>
          <p:nvPr/>
        </p:nvSpPr>
        <p:spPr>
          <a:xfrm>
            <a:off x="6675120" y="2926080"/>
            <a:ext cx="1005840" cy="274320"/>
          </a:xfrm>
          <a:prstGeom prst="rect">
            <a:avLst/>
          </a:prstGeom>
          <a:noFill/>
          <a:ln/>
        </p:spPr>
        <p:txBody>
          <a:bodyPr wrap="square" rtlCol="0" anchor="ctr"/>
          <a:lstStyle/>
          <a:p>
            <a:pPr algn="ctr" indent="0" marL="0">
              <a:buNone/>
            </a:pPr>
            <a:r>
              <a:rPr lang="en-US" sz="900" b="1" dirty="0">
                <a:solidFill>
                  <a:srgbClr val="B91C1C"/>
                </a:solidFill>
                <a:latin typeface="Plus Jakarta Sans" pitchFamily="34" charset="0"/>
                <a:ea typeface="Plus Jakarta Sans" pitchFamily="34" charset="-122"/>
                <a:cs typeface="Plus Jakarta Sans" pitchFamily="34" charset="-120"/>
              </a:rPr>
              <a:t>At risk</a:t>
            </a:r>
            <a:endParaRPr lang="en-US" sz="900" dirty="0"/>
          </a:p>
        </p:txBody>
      </p:sp>
      <p:sp>
        <p:nvSpPr>
          <p:cNvPr id="26" name="Shape 23"/>
          <p:cNvSpPr/>
          <p:nvPr/>
        </p:nvSpPr>
        <p:spPr>
          <a:xfrm>
            <a:off x="731520" y="3465576"/>
            <a:ext cx="7040880" cy="566928"/>
          </a:xfrm>
          <a:prstGeom prst="rect">
            <a:avLst>
              <a:gd name="adj" fmla="val 12903"/>
            </a:avLst>
          </a:prstGeom>
          <a:solidFill>
            <a:srgbClr val="F8FAFC"/>
          </a:solidFill>
          <a:ln w="9525">
            <a:solidFill>
              <a:srgbClr val="E2E8F0"/>
            </a:solidFill>
            <a:prstDash val="solid"/>
          </a:ln>
        </p:spPr>
      </p:sp>
      <p:sp>
        <p:nvSpPr>
          <p:cNvPr id="27" name="Shape 24"/>
          <p:cNvSpPr/>
          <p:nvPr/>
        </p:nvSpPr>
        <p:spPr>
          <a:xfrm>
            <a:off x="731520" y="3465576"/>
            <a:ext cx="82296" cy="566928"/>
          </a:xfrm>
          <a:prstGeom prst="rect">
            <a:avLst/>
          </a:prstGeom>
          <a:solidFill>
            <a:srgbClr val="F59E0B"/>
          </a:solidFill>
          <a:ln w="12700">
            <a:solidFill>
              <a:srgbClr val="F59E0B"/>
            </a:solidFill>
            <a:prstDash val="solid"/>
          </a:ln>
        </p:spPr>
      </p:sp>
      <p:sp>
        <p:nvSpPr>
          <p:cNvPr id="28" name="Text 25"/>
          <p:cNvSpPr/>
          <p:nvPr/>
        </p:nvSpPr>
        <p:spPr>
          <a:xfrm>
            <a:off x="960120" y="3502152"/>
            <a:ext cx="4297680" cy="256032"/>
          </a:xfrm>
          <a:prstGeom prst="rect">
            <a:avLst/>
          </a:prstGeom>
          <a:noFill/>
          <a:ln/>
        </p:spPr>
        <p:txBody>
          <a:bodyPr wrap="square" rtlCol="0" anchor="ctr"/>
          <a:lstStyle/>
          <a:p>
            <a:pPr indent="0" marL="0">
              <a:buNone/>
            </a:pPr>
            <a:r>
              <a:rPr lang="en-US" sz="1300" b="1" dirty="0">
                <a:solidFill>
                  <a:srgbClr val="0F172A"/>
                </a:solidFill>
                <a:latin typeface="Outfit" pitchFamily="34" charset="0"/>
                <a:ea typeface="Outfit" pitchFamily="34" charset="-122"/>
                <a:cs typeface="Outfit" pitchFamily="34" charset="-120"/>
              </a:rPr>
              <a:t>Secure connection</a:t>
            </a:r>
            <a:endParaRPr lang="en-US" sz="1300" dirty="0"/>
          </a:p>
        </p:txBody>
      </p:sp>
      <p:sp>
        <p:nvSpPr>
          <p:cNvPr id="29" name="Text 26"/>
          <p:cNvSpPr/>
          <p:nvPr/>
        </p:nvSpPr>
        <p:spPr>
          <a:xfrm>
            <a:off x="960120" y="3749040"/>
            <a:ext cx="4480560" cy="219456"/>
          </a:xfrm>
          <a:prstGeom prst="rect">
            <a:avLst/>
          </a:prstGeom>
          <a:noFill/>
          <a:ln/>
        </p:spPr>
        <p:txBody>
          <a:bodyPr wrap="square" rtlCol="0" anchor="ctr"/>
          <a:lstStyle/>
          <a:p>
            <a:pPr indent="0" marL="0">
              <a:buNone/>
            </a:pPr>
            <a:r>
              <a:rPr lang="en-US" sz="1000" dirty="0">
                <a:solidFill>
                  <a:srgbClr val="64748B"/>
                </a:solidFill>
                <a:latin typeface="Plus Jakarta Sans" pitchFamily="34" charset="0"/>
                <a:ea typeface="Plus Jakarta Sans" pitchFamily="34" charset="-122"/>
                <a:cs typeface="Plus Jakarta Sans" pitchFamily="34" charset="-120"/>
              </a:rPr>
              <a:t>Keeps visitors on the protected version of your site</a:t>
            </a:r>
            <a:endParaRPr lang="en-US" sz="1000" dirty="0"/>
          </a:p>
        </p:txBody>
      </p:sp>
      <p:sp>
        <p:nvSpPr>
          <p:cNvPr id="30" name="Shape 27"/>
          <p:cNvSpPr/>
          <p:nvPr/>
        </p:nvSpPr>
        <p:spPr>
          <a:xfrm>
            <a:off x="5504688" y="3602736"/>
            <a:ext cx="237744" cy="237744"/>
          </a:xfrm>
          <a:prstGeom prst="ellipse">
            <a:avLst/>
          </a:prstGeom>
          <a:solidFill>
            <a:srgbClr val="CBD5E1"/>
          </a:solidFill>
          <a:ln w="19050">
            <a:solidFill>
              <a:srgbClr val="FFFFFF"/>
            </a:solidFill>
            <a:prstDash val="solid"/>
          </a:ln>
        </p:spPr>
      </p:sp>
      <p:sp>
        <p:nvSpPr>
          <p:cNvPr id="31" name="Text 28"/>
          <p:cNvSpPr/>
          <p:nvPr/>
        </p:nvSpPr>
        <p:spPr>
          <a:xfrm>
            <a:off x="5806440" y="3557016"/>
            <a:ext cx="457200" cy="329184"/>
          </a:xfrm>
          <a:prstGeom prst="rect">
            <a:avLst/>
          </a:prstGeom>
          <a:noFill/>
          <a:ln/>
        </p:spPr>
        <p:txBody>
          <a:bodyPr wrap="square" rtlCol="0" anchor="ctr"/>
          <a:lstStyle/>
          <a:p>
            <a:pPr algn="ctr" indent="0" marL="0">
              <a:buNone/>
            </a:pPr>
            <a:r>
              <a:rPr lang="en-US" sz="1600" dirty="0">
                <a:solidFill>
                  <a:srgbClr val="64748B"/>
                </a:solidFill>
                <a:latin typeface="Plus Jakarta Sans" pitchFamily="34" charset="0"/>
                <a:ea typeface="Plus Jakarta Sans" pitchFamily="34" charset="-122"/>
                <a:cs typeface="Plus Jakarta Sans" pitchFamily="34" charset="-120"/>
              </a:rPr>
              <a:t>→</a:t>
            </a:r>
            <a:endParaRPr lang="en-US" sz="1600" dirty="0"/>
          </a:p>
        </p:txBody>
      </p:sp>
      <p:sp>
        <p:nvSpPr>
          <p:cNvPr id="32" name="Shape 29"/>
          <p:cNvSpPr/>
          <p:nvPr/>
        </p:nvSpPr>
        <p:spPr>
          <a:xfrm>
            <a:off x="6327648" y="3602736"/>
            <a:ext cx="237744" cy="237744"/>
          </a:xfrm>
          <a:prstGeom prst="ellipse">
            <a:avLst/>
          </a:prstGeom>
          <a:solidFill>
            <a:srgbClr val="F59E0B"/>
          </a:solidFill>
          <a:ln w="19050">
            <a:solidFill>
              <a:srgbClr val="FFFFFF"/>
            </a:solidFill>
            <a:prstDash val="solid"/>
          </a:ln>
        </p:spPr>
      </p:sp>
      <p:sp>
        <p:nvSpPr>
          <p:cNvPr id="33" name="Shape 30"/>
          <p:cNvSpPr/>
          <p:nvPr/>
        </p:nvSpPr>
        <p:spPr>
          <a:xfrm>
            <a:off x="6675120" y="3584448"/>
            <a:ext cx="1005840" cy="274320"/>
          </a:xfrm>
          <a:prstGeom prst="roundRect">
            <a:avLst>
              <a:gd name="adj" fmla="val 40000"/>
            </a:avLst>
          </a:prstGeom>
          <a:solidFill>
            <a:srgbClr val="FFFBEB"/>
          </a:solidFill>
          <a:ln w="9525">
            <a:solidFill>
              <a:srgbClr val="F59E0B"/>
            </a:solidFill>
            <a:prstDash val="solid"/>
          </a:ln>
        </p:spPr>
      </p:sp>
      <p:sp>
        <p:nvSpPr>
          <p:cNvPr id="34" name="Text 31"/>
          <p:cNvSpPr/>
          <p:nvPr/>
        </p:nvSpPr>
        <p:spPr>
          <a:xfrm>
            <a:off x="6675120" y="3584448"/>
            <a:ext cx="1005840" cy="274320"/>
          </a:xfrm>
          <a:prstGeom prst="rect">
            <a:avLst/>
          </a:prstGeom>
          <a:noFill/>
          <a:ln/>
        </p:spPr>
        <p:txBody>
          <a:bodyPr wrap="square" rtlCol="0" anchor="ctr"/>
          <a:lstStyle/>
          <a:p>
            <a:pPr algn="ctr" indent="0" marL="0">
              <a:buNone/>
            </a:pPr>
            <a:r>
              <a:rPr lang="en-US" sz="900" b="1" dirty="0">
                <a:solidFill>
                  <a:srgbClr val="B45309"/>
                </a:solidFill>
                <a:latin typeface="Plus Jakarta Sans" pitchFamily="34" charset="0"/>
                <a:ea typeface="Plus Jakarta Sans" pitchFamily="34" charset="-122"/>
                <a:cs typeface="Plus Jakarta Sans" pitchFamily="34" charset="-120"/>
              </a:rPr>
              <a:t>Needs attention</a:t>
            </a:r>
            <a:endParaRPr lang="en-US" sz="900" dirty="0"/>
          </a:p>
        </p:txBody>
      </p:sp>
      <p:sp>
        <p:nvSpPr>
          <p:cNvPr id="35" name="Shape 32"/>
          <p:cNvSpPr/>
          <p:nvPr/>
        </p:nvSpPr>
        <p:spPr>
          <a:xfrm>
            <a:off x="731520" y="4123944"/>
            <a:ext cx="7040880" cy="566928"/>
          </a:xfrm>
          <a:prstGeom prst="rect">
            <a:avLst>
              <a:gd name="adj" fmla="val 12903"/>
            </a:avLst>
          </a:prstGeom>
          <a:solidFill>
            <a:srgbClr val="FFFFFF"/>
          </a:solidFill>
          <a:ln w="9525">
            <a:solidFill>
              <a:srgbClr val="E2E8F0"/>
            </a:solidFill>
            <a:prstDash val="solid"/>
          </a:ln>
        </p:spPr>
      </p:sp>
      <p:sp>
        <p:nvSpPr>
          <p:cNvPr id="36" name="Shape 33"/>
          <p:cNvSpPr/>
          <p:nvPr/>
        </p:nvSpPr>
        <p:spPr>
          <a:xfrm>
            <a:off x="731520" y="4123944"/>
            <a:ext cx="82296" cy="566928"/>
          </a:xfrm>
          <a:prstGeom prst="rect">
            <a:avLst/>
          </a:prstGeom>
          <a:solidFill>
            <a:srgbClr val="F59E0B"/>
          </a:solidFill>
          <a:ln w="12700">
            <a:solidFill>
              <a:srgbClr val="F59E0B"/>
            </a:solidFill>
            <a:prstDash val="solid"/>
          </a:ln>
        </p:spPr>
      </p:sp>
      <p:sp>
        <p:nvSpPr>
          <p:cNvPr id="37" name="Text 34"/>
          <p:cNvSpPr/>
          <p:nvPr/>
        </p:nvSpPr>
        <p:spPr>
          <a:xfrm>
            <a:off x="960120" y="4160520"/>
            <a:ext cx="4297680" cy="256032"/>
          </a:xfrm>
          <a:prstGeom prst="rect">
            <a:avLst/>
          </a:prstGeom>
          <a:noFill/>
          <a:ln/>
        </p:spPr>
        <p:txBody>
          <a:bodyPr wrap="square" rtlCol="0" anchor="ctr"/>
          <a:lstStyle/>
          <a:p>
            <a:pPr indent="0" marL="0">
              <a:buNone/>
            </a:pPr>
            <a:r>
              <a:rPr lang="en-US" sz="1300" b="1" dirty="0">
                <a:solidFill>
                  <a:srgbClr val="0F172A"/>
                </a:solidFill>
                <a:latin typeface="Outfit" pitchFamily="34" charset="0"/>
                <a:ea typeface="Outfit" pitchFamily="34" charset="-122"/>
                <a:cs typeface="Outfit" pitchFamily="34" charset="-120"/>
              </a:rPr>
              <a:t>Shopper login protection</a:t>
            </a:r>
            <a:endParaRPr lang="en-US" sz="1300" dirty="0"/>
          </a:p>
        </p:txBody>
      </p:sp>
      <p:sp>
        <p:nvSpPr>
          <p:cNvPr id="38" name="Text 35"/>
          <p:cNvSpPr/>
          <p:nvPr/>
        </p:nvSpPr>
        <p:spPr>
          <a:xfrm>
            <a:off x="960120" y="4407408"/>
            <a:ext cx="4480560" cy="219456"/>
          </a:xfrm>
          <a:prstGeom prst="rect">
            <a:avLst/>
          </a:prstGeom>
          <a:noFill/>
          <a:ln/>
        </p:spPr>
        <p:txBody>
          <a:bodyPr wrap="square" rtlCol="0" anchor="ctr"/>
          <a:lstStyle/>
          <a:p>
            <a:pPr indent="0" marL="0">
              <a:buNone/>
            </a:pPr>
            <a:r>
              <a:rPr lang="en-US" sz="1000" dirty="0">
                <a:solidFill>
                  <a:srgbClr val="64748B"/>
                </a:solidFill>
                <a:latin typeface="Plus Jakarta Sans" pitchFamily="34" charset="0"/>
                <a:ea typeface="Plus Jakarta Sans" pitchFamily="34" charset="-122"/>
                <a:cs typeface="Plus Jakarta Sans" pitchFamily="34" charset="-120"/>
              </a:rPr>
              <a:t>Keeps customer sessions from being hijacked</a:t>
            </a:r>
            <a:endParaRPr lang="en-US" sz="1000" dirty="0"/>
          </a:p>
        </p:txBody>
      </p:sp>
      <p:sp>
        <p:nvSpPr>
          <p:cNvPr id="39" name="Shape 36"/>
          <p:cNvSpPr/>
          <p:nvPr/>
        </p:nvSpPr>
        <p:spPr>
          <a:xfrm>
            <a:off x="5504688" y="4261104"/>
            <a:ext cx="237744" cy="237744"/>
          </a:xfrm>
          <a:prstGeom prst="ellipse">
            <a:avLst/>
          </a:prstGeom>
          <a:solidFill>
            <a:srgbClr val="CBD5E1"/>
          </a:solidFill>
          <a:ln w="19050">
            <a:solidFill>
              <a:srgbClr val="FFFFFF"/>
            </a:solidFill>
            <a:prstDash val="solid"/>
          </a:ln>
        </p:spPr>
      </p:sp>
      <p:sp>
        <p:nvSpPr>
          <p:cNvPr id="40" name="Text 37"/>
          <p:cNvSpPr/>
          <p:nvPr/>
        </p:nvSpPr>
        <p:spPr>
          <a:xfrm>
            <a:off x="5806440" y="4215384"/>
            <a:ext cx="457200" cy="329184"/>
          </a:xfrm>
          <a:prstGeom prst="rect">
            <a:avLst/>
          </a:prstGeom>
          <a:noFill/>
          <a:ln/>
        </p:spPr>
        <p:txBody>
          <a:bodyPr wrap="square" rtlCol="0" anchor="ctr"/>
          <a:lstStyle/>
          <a:p>
            <a:pPr algn="ctr" indent="0" marL="0">
              <a:buNone/>
            </a:pPr>
            <a:r>
              <a:rPr lang="en-US" sz="1600" dirty="0">
                <a:solidFill>
                  <a:srgbClr val="64748B"/>
                </a:solidFill>
                <a:latin typeface="Plus Jakarta Sans" pitchFamily="34" charset="0"/>
                <a:ea typeface="Plus Jakarta Sans" pitchFamily="34" charset="-122"/>
                <a:cs typeface="Plus Jakarta Sans" pitchFamily="34" charset="-120"/>
              </a:rPr>
              <a:t>→</a:t>
            </a:r>
            <a:endParaRPr lang="en-US" sz="1600" dirty="0"/>
          </a:p>
        </p:txBody>
      </p:sp>
      <p:sp>
        <p:nvSpPr>
          <p:cNvPr id="41" name="Shape 38"/>
          <p:cNvSpPr/>
          <p:nvPr/>
        </p:nvSpPr>
        <p:spPr>
          <a:xfrm>
            <a:off x="6327648" y="4261104"/>
            <a:ext cx="237744" cy="237744"/>
          </a:xfrm>
          <a:prstGeom prst="ellipse">
            <a:avLst/>
          </a:prstGeom>
          <a:solidFill>
            <a:srgbClr val="F59E0B"/>
          </a:solidFill>
          <a:ln w="19050">
            <a:solidFill>
              <a:srgbClr val="FFFFFF"/>
            </a:solidFill>
            <a:prstDash val="solid"/>
          </a:ln>
        </p:spPr>
      </p:sp>
      <p:sp>
        <p:nvSpPr>
          <p:cNvPr id="42" name="Shape 39"/>
          <p:cNvSpPr/>
          <p:nvPr/>
        </p:nvSpPr>
        <p:spPr>
          <a:xfrm>
            <a:off x="6675120" y="4242816"/>
            <a:ext cx="1005840" cy="274320"/>
          </a:xfrm>
          <a:prstGeom prst="roundRect">
            <a:avLst>
              <a:gd name="adj" fmla="val 40000"/>
            </a:avLst>
          </a:prstGeom>
          <a:solidFill>
            <a:srgbClr val="FFFBEB"/>
          </a:solidFill>
          <a:ln w="9525">
            <a:solidFill>
              <a:srgbClr val="F59E0B"/>
            </a:solidFill>
            <a:prstDash val="solid"/>
          </a:ln>
        </p:spPr>
      </p:sp>
      <p:sp>
        <p:nvSpPr>
          <p:cNvPr id="43" name="Text 40"/>
          <p:cNvSpPr/>
          <p:nvPr/>
        </p:nvSpPr>
        <p:spPr>
          <a:xfrm>
            <a:off x="6675120" y="4242816"/>
            <a:ext cx="1005840" cy="274320"/>
          </a:xfrm>
          <a:prstGeom prst="rect">
            <a:avLst/>
          </a:prstGeom>
          <a:noFill/>
          <a:ln/>
        </p:spPr>
        <p:txBody>
          <a:bodyPr wrap="square" rtlCol="0" anchor="ctr"/>
          <a:lstStyle/>
          <a:p>
            <a:pPr algn="ctr" indent="0" marL="0">
              <a:buNone/>
            </a:pPr>
            <a:r>
              <a:rPr lang="en-US" sz="900" b="1" dirty="0">
                <a:solidFill>
                  <a:srgbClr val="B45309"/>
                </a:solidFill>
                <a:latin typeface="Plus Jakarta Sans" pitchFamily="34" charset="0"/>
                <a:ea typeface="Plus Jakarta Sans" pitchFamily="34" charset="-122"/>
                <a:cs typeface="Plus Jakarta Sans" pitchFamily="34" charset="-120"/>
              </a:rPr>
              <a:t>Needs attention</a:t>
            </a:r>
            <a:endParaRPr lang="en-US" sz="900" dirty="0"/>
          </a:p>
        </p:txBody>
      </p:sp>
      <p:sp>
        <p:nvSpPr>
          <p:cNvPr id="44" name="Shape 41"/>
          <p:cNvSpPr/>
          <p:nvPr/>
        </p:nvSpPr>
        <p:spPr>
          <a:xfrm>
            <a:off x="731520" y="4782312"/>
            <a:ext cx="7040880" cy="566928"/>
          </a:xfrm>
          <a:prstGeom prst="rect">
            <a:avLst>
              <a:gd name="adj" fmla="val 12903"/>
            </a:avLst>
          </a:prstGeom>
          <a:solidFill>
            <a:srgbClr val="F8FAFC"/>
          </a:solidFill>
          <a:ln w="9525">
            <a:solidFill>
              <a:srgbClr val="E2E8F0"/>
            </a:solidFill>
            <a:prstDash val="solid"/>
          </a:ln>
        </p:spPr>
      </p:sp>
      <p:sp>
        <p:nvSpPr>
          <p:cNvPr id="45" name="Shape 42"/>
          <p:cNvSpPr/>
          <p:nvPr/>
        </p:nvSpPr>
        <p:spPr>
          <a:xfrm>
            <a:off x="731520" y="4782312"/>
            <a:ext cx="82296" cy="566928"/>
          </a:xfrm>
          <a:prstGeom prst="rect">
            <a:avLst/>
          </a:prstGeom>
          <a:solidFill>
            <a:srgbClr val="F59E0B"/>
          </a:solidFill>
          <a:ln w="12700">
            <a:solidFill>
              <a:srgbClr val="F59E0B"/>
            </a:solidFill>
            <a:prstDash val="solid"/>
          </a:ln>
        </p:spPr>
      </p:sp>
      <p:sp>
        <p:nvSpPr>
          <p:cNvPr id="46" name="Text 43"/>
          <p:cNvSpPr/>
          <p:nvPr/>
        </p:nvSpPr>
        <p:spPr>
          <a:xfrm>
            <a:off x="960120" y="4818888"/>
            <a:ext cx="4297680" cy="256032"/>
          </a:xfrm>
          <a:prstGeom prst="rect">
            <a:avLst/>
          </a:prstGeom>
          <a:noFill/>
          <a:ln/>
        </p:spPr>
        <p:txBody>
          <a:bodyPr wrap="square" rtlCol="0" anchor="ctr"/>
          <a:lstStyle/>
          <a:p>
            <a:pPr indent="0" marL="0">
              <a:buNone/>
            </a:pPr>
            <a:r>
              <a:rPr lang="en-US" sz="1300" b="1" dirty="0">
                <a:solidFill>
                  <a:srgbClr val="0F172A"/>
                </a:solidFill>
                <a:latin typeface="Outfit" pitchFamily="34" charset="0"/>
                <a:ea typeface="Outfit" pitchFamily="34" charset="-122"/>
                <a:cs typeface="Outfit" pitchFamily="34" charset="-120"/>
              </a:rPr>
              <a:t>Visitor privacy settings</a:t>
            </a:r>
            <a:endParaRPr lang="en-US" sz="1300" dirty="0"/>
          </a:p>
        </p:txBody>
      </p:sp>
      <p:sp>
        <p:nvSpPr>
          <p:cNvPr id="47" name="Text 44"/>
          <p:cNvSpPr/>
          <p:nvPr/>
        </p:nvSpPr>
        <p:spPr>
          <a:xfrm>
            <a:off x="960120" y="5065776"/>
            <a:ext cx="4480560" cy="219456"/>
          </a:xfrm>
          <a:prstGeom prst="rect">
            <a:avLst/>
          </a:prstGeom>
          <a:noFill/>
          <a:ln/>
        </p:spPr>
        <p:txBody>
          <a:bodyPr wrap="square" rtlCol="0" anchor="ctr"/>
          <a:lstStyle/>
          <a:p>
            <a:pPr indent="0" marL="0">
              <a:buNone/>
            </a:pPr>
            <a:r>
              <a:rPr lang="en-US" sz="1000" dirty="0">
                <a:solidFill>
                  <a:srgbClr val="64748B"/>
                </a:solidFill>
                <a:latin typeface="Plus Jakarta Sans" pitchFamily="34" charset="0"/>
                <a:ea typeface="Plus Jakarta Sans" pitchFamily="34" charset="-122"/>
                <a:cs typeface="Plus Jakarta Sans" pitchFamily="34" charset="-120"/>
              </a:rPr>
              <a:t>Limits what other websites can see or do</a:t>
            </a:r>
            <a:endParaRPr lang="en-US" sz="1000" dirty="0"/>
          </a:p>
        </p:txBody>
      </p:sp>
      <p:sp>
        <p:nvSpPr>
          <p:cNvPr id="48" name="Shape 45"/>
          <p:cNvSpPr/>
          <p:nvPr/>
        </p:nvSpPr>
        <p:spPr>
          <a:xfrm>
            <a:off x="5504688" y="4919472"/>
            <a:ext cx="237744" cy="237744"/>
          </a:xfrm>
          <a:prstGeom prst="ellipse">
            <a:avLst/>
          </a:prstGeom>
          <a:solidFill>
            <a:srgbClr val="CBD5E1"/>
          </a:solidFill>
          <a:ln w="19050">
            <a:solidFill>
              <a:srgbClr val="FFFFFF"/>
            </a:solidFill>
            <a:prstDash val="solid"/>
          </a:ln>
        </p:spPr>
      </p:sp>
      <p:sp>
        <p:nvSpPr>
          <p:cNvPr id="49" name="Text 46"/>
          <p:cNvSpPr/>
          <p:nvPr/>
        </p:nvSpPr>
        <p:spPr>
          <a:xfrm>
            <a:off x="5806440" y="4873752"/>
            <a:ext cx="457200" cy="329184"/>
          </a:xfrm>
          <a:prstGeom prst="rect">
            <a:avLst/>
          </a:prstGeom>
          <a:noFill/>
          <a:ln/>
        </p:spPr>
        <p:txBody>
          <a:bodyPr wrap="square" rtlCol="0" anchor="ctr"/>
          <a:lstStyle/>
          <a:p>
            <a:pPr algn="ctr" indent="0" marL="0">
              <a:buNone/>
            </a:pPr>
            <a:r>
              <a:rPr lang="en-US" sz="1600" dirty="0">
                <a:solidFill>
                  <a:srgbClr val="64748B"/>
                </a:solidFill>
                <a:latin typeface="Plus Jakarta Sans" pitchFamily="34" charset="0"/>
                <a:ea typeface="Plus Jakarta Sans" pitchFamily="34" charset="-122"/>
                <a:cs typeface="Plus Jakarta Sans" pitchFamily="34" charset="-120"/>
              </a:rPr>
              <a:t>→</a:t>
            </a:r>
            <a:endParaRPr lang="en-US" sz="1600" dirty="0"/>
          </a:p>
        </p:txBody>
      </p:sp>
      <p:sp>
        <p:nvSpPr>
          <p:cNvPr id="50" name="Shape 47"/>
          <p:cNvSpPr/>
          <p:nvPr/>
        </p:nvSpPr>
        <p:spPr>
          <a:xfrm>
            <a:off x="6327648" y="4919472"/>
            <a:ext cx="237744" cy="237744"/>
          </a:xfrm>
          <a:prstGeom prst="ellipse">
            <a:avLst/>
          </a:prstGeom>
          <a:solidFill>
            <a:srgbClr val="F59E0B"/>
          </a:solidFill>
          <a:ln w="19050">
            <a:solidFill>
              <a:srgbClr val="FFFFFF"/>
            </a:solidFill>
            <a:prstDash val="solid"/>
          </a:ln>
        </p:spPr>
      </p:sp>
      <p:sp>
        <p:nvSpPr>
          <p:cNvPr id="51" name="Shape 48"/>
          <p:cNvSpPr/>
          <p:nvPr/>
        </p:nvSpPr>
        <p:spPr>
          <a:xfrm>
            <a:off x="6675120" y="4901184"/>
            <a:ext cx="1005840" cy="274320"/>
          </a:xfrm>
          <a:prstGeom prst="roundRect">
            <a:avLst>
              <a:gd name="adj" fmla="val 40000"/>
            </a:avLst>
          </a:prstGeom>
          <a:solidFill>
            <a:srgbClr val="FFFBEB"/>
          </a:solidFill>
          <a:ln w="9525">
            <a:solidFill>
              <a:srgbClr val="F59E0B"/>
            </a:solidFill>
            <a:prstDash val="solid"/>
          </a:ln>
        </p:spPr>
      </p:sp>
      <p:sp>
        <p:nvSpPr>
          <p:cNvPr id="52" name="Text 49"/>
          <p:cNvSpPr/>
          <p:nvPr/>
        </p:nvSpPr>
        <p:spPr>
          <a:xfrm>
            <a:off x="6675120" y="4901184"/>
            <a:ext cx="1005840" cy="274320"/>
          </a:xfrm>
          <a:prstGeom prst="rect">
            <a:avLst/>
          </a:prstGeom>
          <a:noFill/>
          <a:ln/>
        </p:spPr>
        <p:txBody>
          <a:bodyPr wrap="square" rtlCol="0" anchor="ctr"/>
          <a:lstStyle/>
          <a:p>
            <a:pPr algn="ctr" indent="0" marL="0">
              <a:buNone/>
            </a:pPr>
            <a:r>
              <a:rPr lang="en-US" sz="900" b="1" dirty="0">
                <a:solidFill>
                  <a:srgbClr val="B45309"/>
                </a:solidFill>
                <a:latin typeface="Plus Jakarta Sans" pitchFamily="34" charset="0"/>
                <a:ea typeface="Plus Jakarta Sans" pitchFamily="34" charset="-122"/>
                <a:cs typeface="Plus Jakarta Sans" pitchFamily="34" charset="-120"/>
              </a:rPr>
              <a:t>Needs attention</a:t>
            </a:r>
            <a:endParaRPr lang="en-US" sz="900" dirty="0"/>
          </a:p>
        </p:txBody>
      </p:sp>
      <p:sp>
        <p:nvSpPr>
          <p:cNvPr id="53" name="Shape 50"/>
          <p:cNvSpPr/>
          <p:nvPr/>
        </p:nvSpPr>
        <p:spPr>
          <a:xfrm>
            <a:off x="731520" y="5440680"/>
            <a:ext cx="7040880" cy="566928"/>
          </a:xfrm>
          <a:prstGeom prst="rect">
            <a:avLst>
              <a:gd name="adj" fmla="val 12903"/>
            </a:avLst>
          </a:prstGeom>
          <a:solidFill>
            <a:srgbClr val="FFFFFF"/>
          </a:solidFill>
          <a:ln w="9525">
            <a:solidFill>
              <a:srgbClr val="E2E8F0"/>
            </a:solidFill>
            <a:prstDash val="solid"/>
          </a:ln>
        </p:spPr>
      </p:sp>
      <p:sp>
        <p:nvSpPr>
          <p:cNvPr id="54" name="Shape 51"/>
          <p:cNvSpPr/>
          <p:nvPr/>
        </p:nvSpPr>
        <p:spPr>
          <a:xfrm>
            <a:off x="731520" y="5440680"/>
            <a:ext cx="82296" cy="566928"/>
          </a:xfrm>
          <a:prstGeom prst="rect">
            <a:avLst/>
          </a:prstGeom>
          <a:solidFill>
            <a:srgbClr val="10B981"/>
          </a:solidFill>
          <a:ln w="12700">
            <a:solidFill>
              <a:srgbClr val="10B981"/>
            </a:solidFill>
            <a:prstDash val="solid"/>
          </a:ln>
        </p:spPr>
      </p:sp>
      <p:sp>
        <p:nvSpPr>
          <p:cNvPr id="55" name="Text 52"/>
          <p:cNvSpPr/>
          <p:nvPr/>
        </p:nvSpPr>
        <p:spPr>
          <a:xfrm>
            <a:off x="960120" y="5477256"/>
            <a:ext cx="4297680" cy="256032"/>
          </a:xfrm>
          <a:prstGeom prst="rect">
            <a:avLst/>
          </a:prstGeom>
          <a:noFill/>
          <a:ln/>
        </p:spPr>
        <p:txBody>
          <a:bodyPr wrap="square" rtlCol="0" anchor="ctr"/>
          <a:lstStyle/>
          <a:p>
            <a:pPr indent="0" marL="0">
              <a:buNone/>
            </a:pPr>
            <a:r>
              <a:rPr lang="en-US" sz="1300" b="1" dirty="0">
                <a:solidFill>
                  <a:srgbClr val="0F172A"/>
                </a:solidFill>
                <a:latin typeface="Outfit" pitchFamily="34" charset="0"/>
                <a:ea typeface="Outfit" pitchFamily="34" charset="-122"/>
                <a:cs typeface="Outfit" pitchFamily="34" charset="-120"/>
              </a:rPr>
              <a:t>Up-to-date site components</a:t>
            </a:r>
            <a:endParaRPr lang="en-US" sz="1300" dirty="0"/>
          </a:p>
        </p:txBody>
      </p:sp>
      <p:sp>
        <p:nvSpPr>
          <p:cNvPr id="56" name="Text 53"/>
          <p:cNvSpPr/>
          <p:nvPr/>
        </p:nvSpPr>
        <p:spPr>
          <a:xfrm>
            <a:off x="960120" y="5724144"/>
            <a:ext cx="4480560" cy="219456"/>
          </a:xfrm>
          <a:prstGeom prst="rect">
            <a:avLst/>
          </a:prstGeom>
          <a:noFill/>
          <a:ln/>
        </p:spPr>
        <p:txBody>
          <a:bodyPr wrap="square" rtlCol="0" anchor="ctr"/>
          <a:lstStyle/>
          <a:p>
            <a:pPr indent="0" marL="0">
              <a:buNone/>
            </a:pPr>
            <a:r>
              <a:rPr lang="en-US" sz="1000" dirty="0">
                <a:solidFill>
                  <a:srgbClr val="64748B"/>
                </a:solidFill>
                <a:latin typeface="Plus Jakarta Sans" pitchFamily="34" charset="0"/>
                <a:ea typeface="Plus Jakarta Sans" pitchFamily="34" charset="-122"/>
                <a:cs typeface="Plus Jakarta Sans" pitchFamily="34" charset="-120"/>
              </a:rPr>
              <a:t>Closes publicly known weaknesses in old software</a:t>
            </a:r>
            <a:endParaRPr lang="en-US" sz="1000" dirty="0"/>
          </a:p>
        </p:txBody>
      </p:sp>
      <p:sp>
        <p:nvSpPr>
          <p:cNvPr id="57" name="Shape 54"/>
          <p:cNvSpPr/>
          <p:nvPr/>
        </p:nvSpPr>
        <p:spPr>
          <a:xfrm>
            <a:off x="5504688" y="5577840"/>
            <a:ext cx="237744" cy="237744"/>
          </a:xfrm>
          <a:prstGeom prst="ellipse">
            <a:avLst/>
          </a:prstGeom>
          <a:solidFill>
            <a:srgbClr val="CBD5E1"/>
          </a:solidFill>
          <a:ln w="19050">
            <a:solidFill>
              <a:srgbClr val="FFFFFF"/>
            </a:solidFill>
            <a:prstDash val="solid"/>
          </a:ln>
        </p:spPr>
      </p:sp>
      <p:sp>
        <p:nvSpPr>
          <p:cNvPr id="58" name="Text 55"/>
          <p:cNvSpPr/>
          <p:nvPr/>
        </p:nvSpPr>
        <p:spPr>
          <a:xfrm>
            <a:off x="5806440" y="5532120"/>
            <a:ext cx="457200" cy="329184"/>
          </a:xfrm>
          <a:prstGeom prst="rect">
            <a:avLst/>
          </a:prstGeom>
          <a:noFill/>
          <a:ln/>
        </p:spPr>
        <p:txBody>
          <a:bodyPr wrap="square" rtlCol="0" anchor="ctr"/>
          <a:lstStyle/>
          <a:p>
            <a:pPr algn="ctr" indent="0" marL="0">
              <a:buNone/>
            </a:pPr>
            <a:r>
              <a:rPr lang="en-US" sz="1600" dirty="0">
                <a:solidFill>
                  <a:srgbClr val="64748B"/>
                </a:solidFill>
                <a:latin typeface="Plus Jakarta Sans" pitchFamily="34" charset="0"/>
                <a:ea typeface="Plus Jakarta Sans" pitchFamily="34" charset="-122"/>
                <a:cs typeface="Plus Jakarta Sans" pitchFamily="34" charset="-120"/>
              </a:rPr>
              <a:t>→</a:t>
            </a:r>
            <a:endParaRPr lang="en-US" sz="1600" dirty="0"/>
          </a:p>
        </p:txBody>
      </p:sp>
      <p:sp>
        <p:nvSpPr>
          <p:cNvPr id="59" name="Shape 56"/>
          <p:cNvSpPr/>
          <p:nvPr/>
        </p:nvSpPr>
        <p:spPr>
          <a:xfrm>
            <a:off x="6327648" y="5577840"/>
            <a:ext cx="237744" cy="237744"/>
          </a:xfrm>
          <a:prstGeom prst="ellipse">
            <a:avLst/>
          </a:prstGeom>
          <a:solidFill>
            <a:srgbClr val="10B981"/>
          </a:solidFill>
          <a:ln w="19050">
            <a:solidFill>
              <a:srgbClr val="FFFFFF"/>
            </a:solidFill>
            <a:prstDash val="solid"/>
          </a:ln>
        </p:spPr>
      </p:sp>
      <p:sp>
        <p:nvSpPr>
          <p:cNvPr id="60" name="Shape 57"/>
          <p:cNvSpPr/>
          <p:nvPr/>
        </p:nvSpPr>
        <p:spPr>
          <a:xfrm>
            <a:off x="6675120" y="5559552"/>
            <a:ext cx="1005840" cy="274320"/>
          </a:xfrm>
          <a:prstGeom prst="roundRect">
            <a:avLst>
              <a:gd name="adj" fmla="val 40000"/>
            </a:avLst>
          </a:prstGeom>
          <a:solidFill>
            <a:srgbClr val="ECFDF5"/>
          </a:solidFill>
          <a:ln w="9525">
            <a:solidFill>
              <a:srgbClr val="10B981"/>
            </a:solidFill>
            <a:prstDash val="solid"/>
          </a:ln>
        </p:spPr>
      </p:sp>
      <p:sp>
        <p:nvSpPr>
          <p:cNvPr id="61" name="Text 58"/>
          <p:cNvSpPr/>
          <p:nvPr/>
        </p:nvSpPr>
        <p:spPr>
          <a:xfrm>
            <a:off x="6675120" y="5559552"/>
            <a:ext cx="1005840" cy="274320"/>
          </a:xfrm>
          <a:prstGeom prst="rect">
            <a:avLst/>
          </a:prstGeom>
          <a:noFill/>
          <a:ln/>
        </p:spPr>
        <p:txBody>
          <a:bodyPr wrap="square" rtlCol="0" anchor="ctr"/>
          <a:lstStyle/>
          <a:p>
            <a:pPr algn="ctr" indent="0" marL="0">
              <a:buNone/>
            </a:pPr>
            <a:r>
              <a:rPr lang="en-US" sz="900" b="1" dirty="0">
                <a:solidFill>
                  <a:srgbClr val="047857"/>
                </a:solidFill>
                <a:latin typeface="Plus Jakarta Sans" pitchFamily="34" charset="0"/>
                <a:ea typeface="Plus Jakarta Sans" pitchFamily="34" charset="-122"/>
                <a:cs typeface="Plus Jakarta Sans" pitchFamily="34" charset="-120"/>
              </a:rPr>
              <a:t>Protected</a:t>
            </a:r>
            <a:endParaRPr lang="en-US" sz="900" dirty="0"/>
          </a:p>
        </p:txBody>
      </p:sp>
      <p:sp>
        <p:nvSpPr>
          <p:cNvPr id="62" name="Text 59"/>
          <p:cNvSpPr/>
          <p:nvPr/>
        </p:nvSpPr>
        <p:spPr>
          <a:xfrm>
            <a:off x="8229600" y="1783080"/>
            <a:ext cx="3474720" cy="274320"/>
          </a:xfrm>
          <a:prstGeom prst="rect">
            <a:avLst/>
          </a:prstGeom>
          <a:noFill/>
          <a:ln/>
        </p:spPr>
        <p:txBody>
          <a:bodyPr wrap="square" rtlCol="0" anchor="ctr"/>
          <a:lstStyle/>
          <a:p>
            <a:pPr algn="ctr" indent="0" marL="0">
              <a:buNone/>
            </a:pPr>
            <a:r>
              <a:rPr lang="en-US" sz="900" b="1" dirty="0">
                <a:solidFill>
                  <a:srgbClr val="64748B"/>
                </a:solidFill>
                <a:latin typeface="Plus Jakarta Sans" pitchFamily="34" charset="0"/>
                <a:ea typeface="Plus Jakarta Sans" pitchFamily="34" charset="-122"/>
                <a:cs typeface="Plus Jakarta Sans" pitchFamily="34" charset="-120"/>
              </a:rPr>
              <a:t>OPEN ISSUES BY PRIORITY</a:t>
            </a:r>
            <a:endParaRPr lang="en-US" sz="900" dirty="0"/>
          </a:p>
        </p:txBody>
      </p:sp>
      <p:graphicFrame>
        <p:nvGraphicFramePr>
          <p:cNvPr id="63" name="Chart 0" descr=""/>
          <p:cNvGraphicFramePr/>
          <p:nvPr/>
        </p:nvGraphicFramePr>
        <p:xfrm>
          <a:off x="8229600" y="2057400"/>
          <a:ext cx="3474720" cy="2743200"/>
        </p:xfrm>
        <a:graphic xmlns:a="http://schemas.openxmlformats.org/drawingml/2006/main">
          <a:graphicData uri="http://schemas.openxmlformats.org/drawingml/2006/chart">
            <c:chart xmlns:c="http://schemas.openxmlformats.org/drawingml/2006/chart" r:id="rId2"/>
          </a:graphicData>
        </a:graphic>
      </p:graphicFrame>
      <p:sp>
        <p:nvSpPr>
          <p:cNvPr id="64" name="Text 60"/>
          <p:cNvSpPr/>
          <p:nvPr/>
        </p:nvSpPr>
        <p:spPr>
          <a:xfrm>
            <a:off x="8229600" y="2926080"/>
            <a:ext cx="3474720" cy="640080"/>
          </a:xfrm>
          <a:prstGeom prst="rect">
            <a:avLst/>
          </a:prstGeom>
          <a:noFill/>
          <a:ln/>
        </p:spPr>
        <p:txBody>
          <a:bodyPr wrap="square" rtlCol="0" anchor="ctr"/>
          <a:lstStyle/>
          <a:p>
            <a:pPr algn="ctr" indent="0" marL="0">
              <a:buNone/>
            </a:pPr>
            <a:r>
              <a:rPr lang="en-US" sz="4000" b="1" dirty="0">
                <a:solidFill>
                  <a:srgbClr val="0F172A"/>
                </a:solidFill>
                <a:latin typeface="Outfit" pitchFamily="34" charset="0"/>
                <a:ea typeface="Outfit" pitchFamily="34" charset="-122"/>
                <a:cs typeface="Outfit" pitchFamily="34" charset="-120"/>
              </a:rPr>
              <a:t>9</a:t>
            </a:r>
            <a:endParaRPr lang="en-US" sz="4000" dirty="0"/>
          </a:p>
        </p:txBody>
      </p:sp>
      <p:sp>
        <p:nvSpPr>
          <p:cNvPr id="65" name="Text 61"/>
          <p:cNvSpPr/>
          <p:nvPr/>
        </p:nvSpPr>
        <p:spPr>
          <a:xfrm>
            <a:off x="8229600" y="3520440"/>
            <a:ext cx="3474720" cy="274320"/>
          </a:xfrm>
          <a:prstGeom prst="rect">
            <a:avLst/>
          </a:prstGeom>
          <a:noFill/>
          <a:ln/>
        </p:spPr>
        <p:txBody>
          <a:bodyPr wrap="square" rtlCol="0" anchor="ctr"/>
          <a:lstStyle/>
          <a:p>
            <a:pPr algn="ctr" indent="0" marL="0">
              <a:buNone/>
            </a:pPr>
            <a:r>
              <a:rPr lang="en-US" sz="1100" dirty="0">
                <a:solidFill>
                  <a:srgbClr val="64748B"/>
                </a:solidFill>
                <a:latin typeface="Plus Jakarta Sans" pitchFamily="34" charset="0"/>
                <a:ea typeface="Plus Jakarta Sans" pitchFamily="34" charset="-122"/>
                <a:cs typeface="Plus Jakarta Sans" pitchFamily="34" charset="-120"/>
              </a:rPr>
              <a:t>open issues</a:t>
            </a:r>
            <a:endParaRPr lang="en-US" sz="1100" dirty="0"/>
          </a:p>
        </p:txBody>
      </p:sp>
      <p:sp>
        <p:nvSpPr>
          <p:cNvPr id="66" name="Shape 62"/>
          <p:cNvSpPr/>
          <p:nvPr/>
        </p:nvSpPr>
        <p:spPr>
          <a:xfrm>
            <a:off x="8503920" y="4846320"/>
            <a:ext cx="146304" cy="146304"/>
          </a:xfrm>
          <a:prstGeom prst="ellipse">
            <a:avLst/>
          </a:prstGeom>
          <a:solidFill>
            <a:srgbClr val="DC2626"/>
          </a:solidFill>
          <a:ln w="12700">
            <a:solidFill>
              <a:srgbClr val="DC2626"/>
            </a:solidFill>
            <a:prstDash val="solid"/>
          </a:ln>
        </p:spPr>
      </p:sp>
      <p:sp>
        <p:nvSpPr>
          <p:cNvPr id="67" name="Text 63"/>
          <p:cNvSpPr/>
          <p:nvPr/>
        </p:nvSpPr>
        <p:spPr>
          <a:xfrm>
            <a:off x="8686800" y="4773168"/>
            <a:ext cx="914400" cy="274320"/>
          </a:xfrm>
          <a:prstGeom prst="rect">
            <a:avLst/>
          </a:prstGeom>
          <a:noFill/>
          <a:ln/>
        </p:spPr>
        <p:txBody>
          <a:bodyPr wrap="square" rtlCol="0" anchor="ctr"/>
          <a:lstStyle/>
          <a:p>
            <a:pPr indent="0" marL="0">
              <a:buNone/>
            </a:pPr>
            <a:r>
              <a:rPr lang="en-US" sz="1000" b="1" dirty="0">
                <a:solidFill>
                  <a:srgbClr val="0F172A"/>
                </a:solidFill>
                <a:latin typeface="Plus Jakarta Sans" pitchFamily="34" charset="0"/>
                <a:ea typeface="Plus Jakarta Sans" pitchFamily="34" charset="-122"/>
                <a:cs typeface="Plus Jakarta Sans" pitchFamily="34" charset="-120"/>
              </a:rPr>
              <a:t>Urgent 1</a:t>
            </a:r>
            <a:endParaRPr lang="en-US" sz="1000" dirty="0"/>
          </a:p>
        </p:txBody>
      </p:sp>
      <p:sp>
        <p:nvSpPr>
          <p:cNvPr id="68" name="Shape 64"/>
          <p:cNvSpPr/>
          <p:nvPr/>
        </p:nvSpPr>
        <p:spPr>
          <a:xfrm>
            <a:off x="9601200" y="4846320"/>
            <a:ext cx="146304" cy="146304"/>
          </a:xfrm>
          <a:prstGeom prst="ellipse">
            <a:avLst/>
          </a:prstGeom>
          <a:solidFill>
            <a:srgbClr val="F59E0B"/>
          </a:solidFill>
          <a:ln w="12700">
            <a:solidFill>
              <a:srgbClr val="F59E0B"/>
            </a:solidFill>
            <a:prstDash val="solid"/>
          </a:ln>
        </p:spPr>
      </p:sp>
      <p:sp>
        <p:nvSpPr>
          <p:cNvPr id="69" name="Text 65"/>
          <p:cNvSpPr/>
          <p:nvPr/>
        </p:nvSpPr>
        <p:spPr>
          <a:xfrm>
            <a:off x="9784080" y="4773168"/>
            <a:ext cx="914400" cy="274320"/>
          </a:xfrm>
          <a:prstGeom prst="rect">
            <a:avLst/>
          </a:prstGeom>
          <a:noFill/>
          <a:ln/>
        </p:spPr>
        <p:txBody>
          <a:bodyPr wrap="square" rtlCol="0" anchor="ctr"/>
          <a:lstStyle/>
          <a:p>
            <a:pPr indent="0" marL="0">
              <a:buNone/>
            </a:pPr>
            <a:r>
              <a:rPr lang="en-US" sz="1000" b="1" dirty="0">
                <a:solidFill>
                  <a:srgbClr val="0F172A"/>
                </a:solidFill>
                <a:latin typeface="Plus Jakarta Sans" pitchFamily="34" charset="0"/>
                <a:ea typeface="Plus Jakarta Sans" pitchFamily="34" charset="-122"/>
                <a:cs typeface="Plus Jakarta Sans" pitchFamily="34" charset="-120"/>
              </a:rPr>
              <a:t>Medium 4</a:t>
            </a:r>
            <a:endParaRPr lang="en-US" sz="1000" dirty="0"/>
          </a:p>
        </p:txBody>
      </p:sp>
      <p:sp>
        <p:nvSpPr>
          <p:cNvPr id="70" name="Shape 66"/>
          <p:cNvSpPr/>
          <p:nvPr/>
        </p:nvSpPr>
        <p:spPr>
          <a:xfrm>
            <a:off x="10698480" y="4846320"/>
            <a:ext cx="146304" cy="146304"/>
          </a:xfrm>
          <a:prstGeom prst="ellipse">
            <a:avLst/>
          </a:prstGeom>
          <a:solidFill>
            <a:srgbClr val="94A3B8"/>
          </a:solidFill>
          <a:ln w="12700">
            <a:solidFill>
              <a:srgbClr val="94A3B8"/>
            </a:solidFill>
            <a:prstDash val="solid"/>
          </a:ln>
        </p:spPr>
      </p:sp>
      <p:sp>
        <p:nvSpPr>
          <p:cNvPr id="71" name="Text 67"/>
          <p:cNvSpPr/>
          <p:nvPr/>
        </p:nvSpPr>
        <p:spPr>
          <a:xfrm>
            <a:off x="10881360" y="4773168"/>
            <a:ext cx="914400" cy="274320"/>
          </a:xfrm>
          <a:prstGeom prst="rect">
            <a:avLst/>
          </a:prstGeom>
          <a:noFill/>
          <a:ln/>
        </p:spPr>
        <p:txBody>
          <a:bodyPr wrap="square" rtlCol="0" anchor="ctr"/>
          <a:lstStyle/>
          <a:p>
            <a:pPr indent="0" marL="0">
              <a:buNone/>
            </a:pPr>
            <a:r>
              <a:rPr lang="en-US" sz="1000" b="1" dirty="0">
                <a:solidFill>
                  <a:srgbClr val="0F172A"/>
                </a:solidFill>
                <a:latin typeface="Plus Jakarta Sans" pitchFamily="34" charset="0"/>
                <a:ea typeface="Plus Jakarta Sans" pitchFamily="34" charset="-122"/>
                <a:cs typeface="Plus Jakarta Sans" pitchFamily="34" charset="-120"/>
              </a:rPr>
              <a:t>Minor 4</a:t>
            </a:r>
            <a:endParaRPr lang="en-US" sz="1000" dirty="0"/>
          </a:p>
        </p:txBody>
      </p:sp>
      <p:sp>
        <p:nvSpPr>
          <p:cNvPr id="72" name="Shape 68"/>
          <p:cNvSpPr/>
          <p:nvPr/>
        </p:nvSpPr>
        <p:spPr>
          <a:xfrm>
            <a:off x="8229600" y="5257800"/>
            <a:ext cx="3474720" cy="868680"/>
          </a:xfrm>
          <a:prstGeom prst="roundRect">
            <a:avLst>
              <a:gd name="adj" fmla="val 10526"/>
            </a:avLst>
          </a:prstGeom>
          <a:solidFill>
            <a:srgbClr val="FEF2F2"/>
          </a:solidFill>
          <a:ln w="12700">
            <a:solidFill>
              <a:srgbClr val="FCA5A5"/>
            </a:solidFill>
            <a:prstDash val="solid"/>
          </a:ln>
        </p:spPr>
      </p:sp>
      <p:sp>
        <p:nvSpPr>
          <p:cNvPr id="73" name="Text 69"/>
          <p:cNvSpPr/>
          <p:nvPr/>
        </p:nvSpPr>
        <p:spPr>
          <a:xfrm>
            <a:off x="8366760" y="5285232"/>
            <a:ext cx="3200400" cy="822960"/>
          </a:xfrm>
          <a:prstGeom prst="rect">
            <a:avLst/>
          </a:prstGeom>
          <a:noFill/>
          <a:ln/>
        </p:spPr>
        <p:txBody>
          <a:bodyPr wrap="square" rtlCol="0" anchor="ctr"/>
          <a:lstStyle/>
          <a:p>
            <a:pPr indent="0" marL="0">
              <a:lnSpc>
                <a:spcPts val="1400"/>
              </a:lnSpc>
              <a:buNone/>
            </a:pPr>
            <a:r>
              <a:rPr lang="en-US" sz="1100" b="1" dirty="0">
                <a:solidFill>
                  <a:srgbClr val="991B1B"/>
                </a:solidFill>
                <a:latin typeface="Plus Jakarta Sans" pitchFamily="34" charset="0"/>
                <a:ea typeface="Plus Jakarta Sans" pitchFamily="34" charset="-122"/>
                <a:cs typeface="Plus Jakarta Sans" pitchFamily="34" charset="-120"/>
              </a:rPr>
              <a:t>We are tackling the 1 urgent item first: they are the ones that could put customer details at risk.</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Infrastructure Security</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DNS Configurations &amp; SSL Certificate Validity</a:t>
            </a:r>
            <a:endParaRPr lang="en-US" sz="2600" dirty="0"/>
          </a:p>
        </p:txBody>
      </p:sp>
      <p:sp>
        <p:nvSpPr>
          <p:cNvPr id="5" name="Shape 2"/>
          <p:cNvSpPr/>
          <p:nvPr/>
        </p:nvSpPr>
        <p:spPr>
          <a:xfrm>
            <a:off x="731520" y="1645920"/>
            <a:ext cx="5120640" cy="3474720"/>
          </a:xfrm>
          <a:prstGeom prst="rect">
            <a:avLst>
              <a:gd name="adj" fmla="val 2632"/>
            </a:avLst>
          </a:prstGeom>
          <a:solidFill>
            <a:srgbClr val="F8FAFC"/>
          </a:solidFill>
          <a:ln w="12700">
            <a:solidFill>
              <a:srgbClr val="E2E8F0"/>
            </a:solidFill>
            <a:prstDash val="solid"/>
          </a:ln>
        </p:spPr>
      </p:sp>
      <p:sp>
        <p:nvSpPr>
          <p:cNvPr id="6" name="Text 3"/>
          <p:cNvSpPr/>
          <p:nvPr/>
        </p:nvSpPr>
        <p:spPr>
          <a:xfrm>
            <a:off x="10058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SSL CERTIFICATE STATUS</a:t>
            </a:r>
            <a:endParaRPr lang="en-US" sz="1100" dirty="0"/>
          </a:p>
        </p:txBody>
      </p:sp>
      <p:sp>
        <p:nvSpPr>
          <p:cNvPr id="7" name="Text 4"/>
          <p:cNvSpPr/>
          <p:nvPr/>
        </p:nvSpPr>
        <p:spPr>
          <a:xfrm>
            <a:off x="1005840" y="2286000"/>
            <a:ext cx="4572000" cy="457200"/>
          </a:xfrm>
          <a:prstGeom prst="rect">
            <a:avLst/>
          </a:prstGeom>
          <a:noFill/>
          <a:ln/>
        </p:spPr>
        <p:txBody>
          <a:bodyPr wrap="square" rtlCol="0" anchor="ctr"/>
          <a:lstStyle/>
          <a:p>
            <a:pPr indent="0" marL="0">
              <a:buNone/>
            </a:pPr>
            <a:r>
              <a:rPr lang="en-US" sz="2200" b="1" dirty="0">
                <a:solidFill>
                  <a:srgbClr val="64748B"/>
                </a:solidFill>
                <a:latin typeface="Outfit" pitchFamily="34" charset="0"/>
                <a:ea typeface="Outfit" pitchFamily="34" charset="-122"/>
                <a:cs typeface="Outfit" pitchFamily="34" charset="-120"/>
              </a:rPr>
              <a:t>Not verified</a:t>
            </a:r>
            <a:endParaRPr lang="en-US" sz="2200" dirty="0"/>
          </a:p>
        </p:txBody>
      </p:sp>
      <p:sp>
        <p:nvSpPr>
          <p:cNvPr id="8" name="Text 5"/>
          <p:cNvSpPr/>
          <p:nvPr/>
        </p:nvSpPr>
        <p:spPr>
          <a:xfrm>
            <a:off x="1005840" y="2834640"/>
            <a:ext cx="4572000" cy="2103120"/>
          </a:xfrm>
          <a:prstGeom prst="rect">
            <a:avLst/>
          </a:prstGeom>
          <a:noFill/>
          <a:ln/>
        </p:spPr>
        <p:txBody>
          <a:bodyPr wrap="square" rtlCol="0" anchor="ctr"/>
          <a:lstStyle/>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Security certificate issued by: Not available</a:t>
            </a:r>
            <a:endParaRPr lang="en-US" sz="1300" dirty="0"/>
          </a:p>
          <a:p>
            <a:pPr indent="0" marL="0">
              <a:lnSpc>
                <a:spcPts val="1800"/>
              </a:lnSpc>
              <a:buNone/>
            </a:pP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Days until it expires: unknown</a:t>
            </a:r>
            <a:endParaRPr lang="en-US" sz="1300" dirty="0"/>
          </a:p>
          <a:p>
            <a:pPr indent="0" marL="0">
              <a:lnSpc>
                <a:spcPts val="1800"/>
              </a:lnSpc>
              <a:buNone/>
            </a:pP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Expiration date: Not available</a:t>
            </a:r>
            <a:endParaRPr lang="en-US" sz="1300" dirty="0"/>
          </a:p>
          <a:p>
            <a:pPr indent="0" marL="0">
              <a:lnSpc>
                <a:spcPts val="1800"/>
              </a:lnSpc>
              <a:buNone/>
            </a:pP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Website covered: genpet.org</a:t>
            </a:r>
            <a:endParaRPr lang="en-US" sz="1300" dirty="0"/>
          </a:p>
        </p:txBody>
      </p:sp>
      <p:sp>
        <p:nvSpPr>
          <p:cNvPr id="9" name="Shape 6"/>
          <p:cNvSpPr/>
          <p:nvPr/>
        </p:nvSpPr>
        <p:spPr>
          <a:xfrm>
            <a:off x="6217920" y="1645920"/>
            <a:ext cx="5120640" cy="3474720"/>
          </a:xfrm>
          <a:prstGeom prst="rect">
            <a:avLst>
              <a:gd name="adj" fmla="val 2632"/>
            </a:avLst>
          </a:prstGeom>
          <a:solidFill>
            <a:srgbClr val="F8FAFC"/>
          </a:solidFill>
          <a:ln w="12700">
            <a:solidFill>
              <a:srgbClr val="E2E8F0"/>
            </a:solidFill>
            <a:prstDash val="solid"/>
          </a:ln>
        </p:spPr>
      </p:sp>
      <p:sp>
        <p:nvSpPr>
          <p:cNvPr id="10" name="Text 7"/>
          <p:cNvSpPr/>
          <p:nvPr/>
        </p:nvSpPr>
        <p:spPr>
          <a:xfrm>
            <a:off x="64922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DNS NAME RECORDS HEALTH</a:t>
            </a:r>
            <a:endParaRPr lang="en-US" sz="1100" dirty="0"/>
          </a:p>
        </p:txBody>
      </p:sp>
      <p:sp>
        <p:nvSpPr>
          <p:cNvPr id="11" name="Text 8"/>
          <p:cNvSpPr/>
          <p:nvPr/>
        </p:nvSpPr>
        <p:spPr>
          <a:xfrm>
            <a:off x="6492240" y="2286000"/>
            <a:ext cx="4572000" cy="457200"/>
          </a:xfrm>
          <a:prstGeom prst="rect">
            <a:avLst/>
          </a:prstGeom>
          <a:noFill/>
          <a:ln/>
        </p:spPr>
        <p:txBody>
          <a:bodyPr wrap="square" rtlCol="0" anchor="ctr"/>
          <a:lstStyle/>
          <a:p>
            <a:pPr indent="0" marL="0">
              <a:buNone/>
            </a:pPr>
            <a:r>
              <a:rPr lang="en-US" sz="2200" b="1" dirty="0">
                <a:solidFill>
                  <a:srgbClr val="10B981"/>
                </a:solidFill>
                <a:latin typeface="Outfit" pitchFamily="34" charset="0"/>
                <a:ea typeface="Outfit" pitchFamily="34" charset="-122"/>
                <a:cs typeface="Outfit" pitchFamily="34" charset="-120"/>
              </a:rPr>
              <a:t>Healthy Records Config</a:t>
            </a:r>
            <a:endParaRPr lang="en-US" sz="2200" dirty="0"/>
          </a:p>
        </p:txBody>
      </p:sp>
      <p:sp>
        <p:nvSpPr>
          <p:cNvPr id="12" name="Text 9"/>
          <p:cNvSpPr/>
          <p:nvPr/>
        </p:nvSpPr>
        <p:spPr>
          <a:xfrm>
            <a:off x="6492240" y="2834640"/>
            <a:ext cx="4572000" cy="2103120"/>
          </a:xfrm>
          <a:prstGeom prst="rect">
            <a:avLst/>
          </a:prstGeom>
          <a:noFill/>
          <a:ln/>
        </p:spPr>
        <p:txBody>
          <a:bodyPr wrap="square" rtlCol="0" anchor="ctr"/>
          <a:lstStyle/>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Name Servers (NS): ns1.bigcommerce.com, ns3.bigcommerce.com, ns2.bigcommerce.com</a:t>
            </a:r>
            <a:endParaRPr lang="en-US" sz="1300" dirty="0"/>
          </a:p>
          <a:p>
            <a:pPr indent="0" marL="0">
              <a:lnSpc>
                <a:spcPts val="1800"/>
              </a:lnSpc>
              <a:buNone/>
            </a:pP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Mail Servers (MX): alt2.aspmx.l.google.com (Priority 30), aspmx3.googlemail.com (Priority 50), alt1.aspmx.l.google.com (Priority 20), aspmx.l.google.com (Priority 10), aspmx2.googlemail.com (Priority 40)</a:t>
            </a:r>
            <a:endParaRPr lang="en-US" sz="1300" dirty="0"/>
          </a:p>
          <a:p>
            <a:pPr indent="0" marL="0">
              <a:lnSpc>
                <a:spcPts val="1800"/>
              </a:lnSpc>
              <a:buNone/>
            </a:pP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Email sender protection (SPF): In place</a:t>
            </a:r>
            <a:endParaRPr lang="en-US" sz="1300" dirty="0"/>
          </a:p>
          <a:p>
            <a:pPr indent="0" marL="0">
              <a:lnSpc>
                <a:spcPts val="1800"/>
              </a:lnSpc>
              <a:buNone/>
            </a:pP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Website address (A records): Resolving correctly</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Sitemap &amp; Navigation Audit</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Sitemap Integrity &amp; Broken Link Audit</a:t>
            </a:r>
            <a:endParaRPr lang="en-US" sz="2600" dirty="0"/>
          </a:p>
        </p:txBody>
      </p:sp>
      <p:sp>
        <p:nvSpPr>
          <p:cNvPr id="5" name="Text 2"/>
          <p:cNvSpPr/>
          <p:nvPr/>
        </p:nvSpPr>
        <p:spPr>
          <a:xfrm>
            <a:off x="731520" y="1463040"/>
            <a:ext cx="10515600" cy="731520"/>
          </a:xfrm>
          <a:prstGeom prst="rect">
            <a:avLst/>
          </a:prstGeom>
          <a:noFill/>
          <a:ln/>
        </p:spPr>
        <p:txBody>
          <a:bodyPr wrap="square" rtlCol="0" anchor="ctr"/>
          <a:lstStyle/>
          <a:p>
            <a:pPr indent="0" marL="0">
              <a:buNone/>
            </a:pPr>
            <a:r>
              <a:rPr lang="en-US" sz="1450" dirty="0">
                <a:solidFill>
                  <a:srgbClr val="0F172A"/>
                </a:solidFill>
                <a:latin typeface="Plus Jakarta Sans" pitchFamily="34" charset="0"/>
                <a:ea typeface="Plus Jakarta Sans" pitchFamily="34" charset="-122"/>
                <a:cs typeface="Plus Jakarta Sans" pitchFamily="34" charset="-120"/>
              </a:rPr>
              <a:t>We performed a site-wide sitemap scan and status check across the store catalog. Sitemaps indexing product URLs, category hierarchies, and static CMS pages were validated to protect search indexing coverage.</a:t>
            </a:r>
            <a:endParaRPr lang="en-US" sz="1450" dirty="0"/>
          </a:p>
        </p:txBody>
      </p:sp>
      <p:sp>
        <p:nvSpPr>
          <p:cNvPr id="6" name="Shape 3"/>
          <p:cNvSpPr/>
          <p:nvPr/>
        </p:nvSpPr>
        <p:spPr>
          <a:xfrm>
            <a:off x="731520" y="2377440"/>
            <a:ext cx="4937760" cy="2560320"/>
          </a:xfrm>
          <a:prstGeom prst="rect">
            <a:avLst>
              <a:gd name="adj" fmla="val 3571"/>
            </a:avLst>
          </a:prstGeom>
          <a:solidFill>
            <a:srgbClr val="F8FAFC"/>
          </a:solidFill>
          <a:ln w="12700">
            <a:solidFill>
              <a:srgbClr val="E2E8F0"/>
            </a:solidFill>
            <a:prstDash val="solid"/>
          </a:ln>
        </p:spPr>
      </p:sp>
      <p:sp>
        <p:nvSpPr>
          <p:cNvPr id="7" name="Text 4"/>
          <p:cNvSpPr/>
          <p:nvPr/>
        </p:nvSpPr>
        <p:spPr>
          <a:xfrm>
            <a:off x="1005840" y="2651760"/>
            <a:ext cx="4389120" cy="365760"/>
          </a:xfrm>
          <a:prstGeom prst="rect">
            <a:avLst/>
          </a:prstGeom>
          <a:noFill/>
          <a:ln/>
        </p:spPr>
        <p:txBody>
          <a:bodyPr wrap="square" rtlCol="0" anchor="ctr"/>
          <a:lstStyle/>
          <a:p>
            <a:pPr indent="0" marL="0">
              <a:buNone/>
            </a:pPr>
            <a:r>
              <a:rPr lang="en-US" sz="1600" b="1" dirty="0">
                <a:solidFill>
                  <a:srgbClr val="075985"/>
                </a:solidFill>
                <a:latin typeface="Outfit" pitchFamily="34" charset="0"/>
                <a:ea typeface="Outfit" pitchFamily="34" charset="-122"/>
                <a:cs typeface="Outfit" pitchFamily="34" charset="-120"/>
              </a:rPr>
              <a:t>Storefront Scope &amp; Indexing</a:t>
            </a:r>
            <a:endParaRPr lang="en-US" sz="1600" dirty="0"/>
          </a:p>
        </p:txBody>
      </p:sp>
      <p:sp>
        <p:nvSpPr>
          <p:cNvPr id="8" name="Text 5"/>
          <p:cNvSpPr/>
          <p:nvPr/>
        </p:nvSpPr>
        <p:spPr>
          <a:xfrm>
            <a:off x="1005840" y="3108960"/>
            <a:ext cx="4389120" cy="731520"/>
          </a:xfrm>
          <a:prstGeom prst="rect">
            <a:avLst/>
          </a:prstGeom>
          <a:noFill/>
          <a:ln/>
        </p:spPr>
        <p:txBody>
          <a:bodyPr wrap="square" rtlCol="0" anchor="ctr"/>
          <a:lstStyle/>
          <a:p>
            <a:pPr indent="0" marL="0">
              <a:buNone/>
            </a:pPr>
            <a:r>
              <a:rPr lang="en-US" sz="4800" b="1" dirty="0">
                <a:solidFill>
                  <a:srgbClr val="0EA5E9"/>
                </a:solidFill>
                <a:latin typeface="Outfit" pitchFamily="34" charset="0"/>
                <a:ea typeface="Outfit" pitchFamily="34" charset="-122"/>
                <a:cs typeface="Outfit" pitchFamily="34" charset="-120"/>
              </a:rPr>
              <a:t>4,699+ URLs</a:t>
            </a:r>
            <a:endParaRPr lang="en-US" sz="4800" dirty="0"/>
          </a:p>
        </p:txBody>
      </p:sp>
      <p:sp>
        <p:nvSpPr>
          <p:cNvPr id="9" name="Text 6"/>
          <p:cNvSpPr/>
          <p:nvPr/>
        </p:nvSpPr>
        <p:spPr>
          <a:xfrm>
            <a:off x="1005840" y="3931920"/>
            <a:ext cx="4389120" cy="731520"/>
          </a:xfrm>
          <a:prstGeom prst="rect">
            <a:avLst/>
          </a:prstGeom>
          <a:noFill/>
          <a:ln/>
        </p:spPr>
        <p:txBody>
          <a:bodyPr wrap="square" rtlCol="0" anchor="ctr"/>
          <a:lstStyle/>
          <a:p>
            <a:pPr indent="0" marL="0">
              <a:buNone/>
            </a:pPr>
            <a:r>
              <a:rPr lang="en-US" sz="1200" dirty="0">
                <a:solidFill>
                  <a:srgbClr val="64748B"/>
                </a:solidFill>
                <a:latin typeface="Plus Jakarta Sans" pitchFamily="34" charset="0"/>
                <a:ea typeface="Plus Jakarta Sans" pitchFamily="34" charset="-122"/>
                <a:cs typeface="Plus Jakarta Sans" pitchFamily="34" charset="-120"/>
              </a:rPr>
              <a:t>Total storefront URLs indexed in sitemaps. A representative sample of 26 core templates &amp; routes (PDP, PLP, CMS, and Home) was audited.</a:t>
            </a:r>
            <a:endParaRPr lang="en-US" sz="1200" dirty="0"/>
          </a:p>
        </p:txBody>
      </p:sp>
      <p:sp>
        <p:nvSpPr>
          <p:cNvPr id="10" name="Shape 7"/>
          <p:cNvSpPr/>
          <p:nvPr/>
        </p:nvSpPr>
        <p:spPr>
          <a:xfrm>
            <a:off x="6400800" y="2377440"/>
            <a:ext cx="4937760" cy="2560320"/>
          </a:xfrm>
          <a:prstGeom prst="rect">
            <a:avLst>
              <a:gd name="adj" fmla="val 3571"/>
            </a:avLst>
          </a:prstGeom>
          <a:solidFill>
            <a:srgbClr val="F8FAFC"/>
          </a:solidFill>
          <a:ln w="12700">
            <a:solidFill>
              <a:srgbClr val="E2E8F0"/>
            </a:solidFill>
            <a:prstDash val="solid"/>
          </a:ln>
        </p:spPr>
      </p:sp>
      <p:sp>
        <p:nvSpPr>
          <p:cNvPr id="11" name="Text 8"/>
          <p:cNvSpPr/>
          <p:nvPr/>
        </p:nvSpPr>
        <p:spPr>
          <a:xfrm>
            <a:off x="6675120" y="2651760"/>
            <a:ext cx="4389120" cy="365760"/>
          </a:xfrm>
          <a:prstGeom prst="rect">
            <a:avLst/>
          </a:prstGeom>
          <a:noFill/>
          <a:ln/>
        </p:spPr>
        <p:txBody>
          <a:bodyPr wrap="square" rtlCol="0" anchor="ctr"/>
          <a:lstStyle/>
          <a:p>
            <a:pPr indent="0" marL="0">
              <a:buNone/>
            </a:pPr>
            <a:r>
              <a:rPr lang="en-US" sz="1600" b="1" dirty="0">
                <a:solidFill>
                  <a:srgbClr val="075985"/>
                </a:solidFill>
                <a:latin typeface="Outfit" pitchFamily="34" charset="0"/>
                <a:ea typeface="Outfit" pitchFamily="34" charset="-122"/>
                <a:cs typeface="Outfit" pitchFamily="34" charset="-120"/>
              </a:rPr>
              <a:t>Broken Links Detected (404 / 500)</a:t>
            </a:r>
            <a:endParaRPr lang="en-US" sz="1600" dirty="0"/>
          </a:p>
        </p:txBody>
      </p:sp>
      <p:sp>
        <p:nvSpPr>
          <p:cNvPr id="12" name="Text 9"/>
          <p:cNvSpPr/>
          <p:nvPr/>
        </p:nvSpPr>
        <p:spPr>
          <a:xfrm>
            <a:off x="6675120" y="3108960"/>
            <a:ext cx="4389120" cy="731520"/>
          </a:xfrm>
          <a:prstGeom prst="rect">
            <a:avLst/>
          </a:prstGeom>
          <a:noFill/>
          <a:ln/>
        </p:spPr>
        <p:txBody>
          <a:bodyPr wrap="square" rtlCol="0" anchor="ctr"/>
          <a:lstStyle/>
          <a:p>
            <a:pPr indent="0" marL="0">
              <a:buNone/>
            </a:pPr>
            <a:r>
              <a:rPr lang="en-US" sz="4800" b="1" dirty="0">
                <a:solidFill>
                  <a:srgbClr val="10B981"/>
                </a:solidFill>
                <a:latin typeface="Outfit" pitchFamily="34" charset="0"/>
                <a:ea typeface="Outfit" pitchFamily="34" charset="-122"/>
                <a:cs typeface="Outfit" pitchFamily="34" charset="-120"/>
              </a:rPr>
              <a:t>0</a:t>
            </a:r>
            <a:endParaRPr lang="en-US" sz="4800" dirty="0"/>
          </a:p>
        </p:txBody>
      </p:sp>
      <p:sp>
        <p:nvSpPr>
          <p:cNvPr id="13" name="Text 10"/>
          <p:cNvSpPr/>
          <p:nvPr/>
        </p:nvSpPr>
        <p:spPr>
          <a:xfrm>
            <a:off x="6675120" y="3931920"/>
            <a:ext cx="4389120" cy="731520"/>
          </a:xfrm>
          <a:prstGeom prst="rect">
            <a:avLst/>
          </a:prstGeom>
          <a:noFill/>
          <a:ln/>
        </p:spPr>
        <p:txBody>
          <a:bodyPr wrap="square" rtlCol="0" anchor="ctr"/>
          <a:lstStyle/>
          <a:p>
            <a:pPr indent="0" marL="0">
              <a:buNone/>
            </a:pPr>
            <a:r>
              <a:rPr lang="en-US" sz="1250" dirty="0">
                <a:solidFill>
                  <a:srgbClr val="64748B"/>
                </a:solidFill>
                <a:latin typeface="Plus Jakarta Sans" pitchFamily="34" charset="0"/>
                <a:ea typeface="Plus Jakarta Sans" pitchFamily="34" charset="-122"/>
                <a:cs typeface="Plus Jakarta Sans" pitchFamily="34" charset="-120"/>
              </a:rPr>
              <a:t>100% Success Rate. No missing or broken pages were found in the sample checked.</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UI/UX Layout Testing</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Multi-Device Layout &amp; Viewport Audit</a:t>
            </a:r>
            <a:endParaRPr lang="en-US" sz="2600" dirty="0"/>
          </a:p>
        </p:txBody>
      </p:sp>
      <p:sp>
        <p:nvSpPr>
          <p:cNvPr id="5" name="Text 2"/>
          <p:cNvSpPr/>
          <p:nvPr/>
        </p:nvSpPr>
        <p:spPr>
          <a:xfrm>
            <a:off x="731520" y="1645920"/>
            <a:ext cx="5029200" cy="365760"/>
          </a:xfrm>
          <a:prstGeom prst="rect">
            <a:avLst/>
          </a:prstGeom>
          <a:noFill/>
          <a:ln/>
        </p:spPr>
        <p:txBody>
          <a:bodyPr wrap="square" rtlCol="0" anchor="ctr"/>
          <a:lstStyle/>
          <a:p>
            <a:pPr indent="0" marL="0">
              <a:buNone/>
            </a:pPr>
            <a:r>
              <a:rPr lang="en-US" sz="1800" b="1" dirty="0">
                <a:solidFill>
                  <a:srgbClr val="075985"/>
                </a:solidFill>
                <a:latin typeface="Outfit" pitchFamily="34" charset="0"/>
                <a:ea typeface="Outfit" pitchFamily="34" charset="-122"/>
                <a:cs typeface="Outfit" pitchFamily="34" charset="-120"/>
              </a:rPr>
              <a:t>Device Viewport Scope</a:t>
            </a:r>
            <a:endParaRPr lang="en-US" sz="1800" dirty="0"/>
          </a:p>
        </p:txBody>
      </p:sp>
      <p:sp>
        <p:nvSpPr>
          <p:cNvPr id="6" name="Text 3"/>
          <p:cNvSpPr/>
          <p:nvPr/>
        </p:nvSpPr>
        <p:spPr>
          <a:xfrm>
            <a:off x="731520" y="2103120"/>
            <a:ext cx="5029200" cy="2011680"/>
          </a:xfrm>
          <a:prstGeom prst="rect">
            <a:avLst/>
          </a:prstGeom>
          <a:noFill/>
          <a:ln/>
        </p:spPr>
        <p:txBody>
          <a:bodyPr wrap="square" rtlCol="0" anchor="ctr"/>
          <a:lstStyle/>
          <a:p>
            <a:pPr indent="0" marL="0">
              <a:lnSpc>
                <a:spcPts val="2200"/>
              </a:lnSpc>
              <a:buNone/>
            </a:pPr>
            <a:r>
              <a:rPr lang="en-US" sz="1450" dirty="0">
                <a:solidFill>
                  <a:srgbClr val="0F172A"/>
                </a:solidFill>
                <a:latin typeface="Plus Jakarta Sans" pitchFamily="34" charset="0"/>
                <a:ea typeface="Plus Jakarta Sans" pitchFamily="34" charset="-122"/>
                <a:cs typeface="Plus Jakarta Sans" pitchFamily="34" charset="-120"/>
              </a:rPr>
              <a:t>• </a:t>
            </a:r>
            <a:pPr indent="0" marL="0">
              <a:lnSpc>
                <a:spcPts val="2200"/>
              </a:lnSpc>
              <a:buNone/>
            </a:pPr>
            <a:r>
              <a:rPr lang="en-US" sz="1450" b="1" dirty="0">
                <a:solidFill>
                  <a:srgbClr val="0F172A"/>
                </a:solidFill>
                <a:latin typeface="Plus Jakarta Sans" pitchFamily="34" charset="0"/>
                <a:ea typeface="Plus Jakarta Sans" pitchFamily="34" charset="-122"/>
                <a:cs typeface="Plus Jakarta Sans" pitchFamily="34" charset="-120"/>
              </a:rPr>
              <a:t>Desktop (1280px width): </a:t>
            </a:r>
            <a:pPr indent="0" marL="0">
              <a:lnSpc>
                <a:spcPts val="2200"/>
              </a:lnSpc>
              <a:buNone/>
            </a:pPr>
            <a:r>
              <a:rPr lang="en-US" sz="1450" dirty="0">
                <a:solidFill>
                  <a:srgbClr val="0F172A"/>
                </a:solidFill>
                <a:latin typeface="Plus Jakarta Sans" pitchFamily="34" charset="0"/>
                <a:ea typeface="Plus Jakarta Sans" pitchFamily="34" charset="-122"/>
                <a:cs typeface="Plus Jakarta Sans" pitchFamily="34" charset="-120"/>
              </a:rPr>
              <a:t>Audited standard display layouts and hover interactions.
</a:t>
            </a:r>
            <a:pPr indent="0" marL="0">
              <a:lnSpc>
                <a:spcPts val="2200"/>
              </a:lnSpc>
              <a:buNone/>
            </a:pPr>
            <a:r>
              <a:rPr lang="en-US" sz="1450" dirty="0">
                <a:solidFill>
                  <a:srgbClr val="0F172A"/>
                </a:solidFill>
                <a:latin typeface="Plus Jakarta Sans" pitchFamily="34" charset="0"/>
                <a:ea typeface="Plus Jakarta Sans" pitchFamily="34" charset="-122"/>
                <a:cs typeface="Plus Jakarta Sans" pitchFamily="34" charset="-120"/>
              </a:rPr>
              <a:t>• </a:t>
            </a:r>
            <a:pPr indent="0" marL="0">
              <a:lnSpc>
                <a:spcPts val="2200"/>
              </a:lnSpc>
              <a:buNone/>
            </a:pPr>
            <a:r>
              <a:rPr lang="en-US" sz="1450" b="1" dirty="0">
                <a:solidFill>
                  <a:srgbClr val="0F172A"/>
                </a:solidFill>
                <a:latin typeface="Plus Jakarta Sans" pitchFamily="34" charset="0"/>
                <a:ea typeface="Plus Jakarta Sans" pitchFamily="34" charset="-122"/>
                <a:cs typeface="Plus Jakarta Sans" pitchFamily="34" charset="-120"/>
              </a:rPr>
              <a:t>Tablet (768px width): </a:t>
            </a:r>
            <a:pPr indent="0" marL="0">
              <a:lnSpc>
                <a:spcPts val="2200"/>
              </a:lnSpc>
              <a:buNone/>
            </a:pPr>
            <a:r>
              <a:rPr lang="en-US" sz="1450" dirty="0">
                <a:solidFill>
                  <a:srgbClr val="0F172A"/>
                </a:solidFill>
                <a:latin typeface="Plus Jakarta Sans" pitchFamily="34" charset="0"/>
                <a:ea typeface="Plus Jakarta Sans" pitchFamily="34" charset="-122"/>
                <a:cs typeface="Plus Jakarta Sans" pitchFamily="34" charset="-120"/>
              </a:rPr>
              <a:t>Audited grid collapsing and vertical flow alignment.
</a:t>
            </a:r>
            <a:pPr indent="0" marL="0">
              <a:lnSpc>
                <a:spcPts val="2200"/>
              </a:lnSpc>
              <a:buNone/>
            </a:pPr>
            <a:r>
              <a:rPr lang="en-US" sz="1450" dirty="0">
                <a:solidFill>
                  <a:srgbClr val="0F172A"/>
                </a:solidFill>
                <a:latin typeface="Plus Jakarta Sans" pitchFamily="34" charset="0"/>
                <a:ea typeface="Plus Jakarta Sans" pitchFamily="34" charset="-122"/>
                <a:cs typeface="Plus Jakarta Sans" pitchFamily="34" charset="-120"/>
              </a:rPr>
              <a:t>• </a:t>
            </a:r>
            <a:pPr indent="0" marL="0">
              <a:lnSpc>
                <a:spcPts val="2200"/>
              </a:lnSpc>
              <a:buNone/>
            </a:pPr>
            <a:r>
              <a:rPr lang="en-US" sz="1450" b="1" dirty="0">
                <a:solidFill>
                  <a:srgbClr val="0F172A"/>
                </a:solidFill>
                <a:latin typeface="Plus Jakarta Sans" pitchFamily="34" charset="0"/>
                <a:ea typeface="Plus Jakarta Sans" pitchFamily="34" charset="-122"/>
                <a:cs typeface="Plus Jakarta Sans" pitchFamily="34" charset="-120"/>
              </a:rPr>
              <a:t>Mobile (375px width): </a:t>
            </a:r>
            <a:pPr indent="0" marL="0">
              <a:lnSpc>
                <a:spcPts val="2200"/>
              </a:lnSpc>
              <a:buNone/>
            </a:pPr>
            <a:r>
              <a:rPr lang="en-US" sz="1450" dirty="0">
                <a:solidFill>
                  <a:srgbClr val="0F172A"/>
                </a:solidFill>
                <a:latin typeface="Plus Jakarta Sans" pitchFamily="34" charset="0"/>
                <a:ea typeface="Plus Jakarta Sans" pitchFamily="34" charset="-122"/>
                <a:cs typeface="Plus Jakarta Sans" pitchFamily="34" charset="-120"/>
              </a:rPr>
              <a:t>Audited hamburger menu trigger and touch target sizes.</a:t>
            </a:r>
            <a:endParaRPr lang="en-US" sz="1450" dirty="0"/>
          </a:p>
        </p:txBody>
      </p:sp>
      <p:sp>
        <p:nvSpPr>
          <p:cNvPr id="7" name="Shape 4"/>
          <p:cNvSpPr/>
          <p:nvPr/>
        </p:nvSpPr>
        <p:spPr>
          <a:xfrm>
            <a:off x="6217920" y="1645920"/>
            <a:ext cx="5120640" cy="3474720"/>
          </a:xfrm>
          <a:prstGeom prst="rect">
            <a:avLst>
              <a:gd name="adj" fmla="val 2632"/>
            </a:avLst>
          </a:prstGeom>
          <a:solidFill>
            <a:srgbClr val="F8FAFC"/>
          </a:solidFill>
          <a:ln w="12700">
            <a:solidFill>
              <a:srgbClr val="E2E8F0"/>
            </a:solidFill>
            <a:prstDash val="solid"/>
          </a:ln>
        </p:spPr>
      </p:sp>
      <p:sp>
        <p:nvSpPr>
          <p:cNvPr id="8" name="Text 5"/>
          <p:cNvSpPr/>
          <p:nvPr/>
        </p:nvSpPr>
        <p:spPr>
          <a:xfrm>
            <a:off x="64922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RESPONSIVE LAYOUT STABILITY</a:t>
            </a:r>
            <a:endParaRPr lang="en-US" sz="1100" dirty="0"/>
          </a:p>
        </p:txBody>
      </p:sp>
      <p:sp>
        <p:nvSpPr>
          <p:cNvPr id="9" name="Text 6"/>
          <p:cNvSpPr/>
          <p:nvPr/>
        </p:nvSpPr>
        <p:spPr>
          <a:xfrm>
            <a:off x="6492240" y="2286000"/>
            <a:ext cx="4572000" cy="457200"/>
          </a:xfrm>
          <a:prstGeom prst="rect">
            <a:avLst/>
          </a:prstGeom>
          <a:noFill/>
          <a:ln/>
        </p:spPr>
        <p:txBody>
          <a:bodyPr wrap="square" rtlCol="0" anchor="ctr"/>
          <a:lstStyle/>
          <a:p>
            <a:pPr indent="0" marL="0">
              <a:buNone/>
            </a:pPr>
            <a:r>
              <a:rPr lang="en-US" sz="2200" b="1" dirty="0">
                <a:solidFill>
                  <a:srgbClr val="10B981"/>
                </a:solidFill>
                <a:latin typeface="Outfit" pitchFamily="34" charset="0"/>
                <a:ea typeface="Outfit" pitchFamily="34" charset="-122"/>
                <a:cs typeface="Outfit" pitchFamily="34" charset="-120"/>
              </a:rPr>
              <a:t>100% Fluid &amp; Compliant</a:t>
            </a:r>
            <a:endParaRPr lang="en-US" sz="2200" dirty="0"/>
          </a:p>
        </p:txBody>
      </p:sp>
      <p:sp>
        <p:nvSpPr>
          <p:cNvPr id="10" name="Text 7"/>
          <p:cNvSpPr/>
          <p:nvPr/>
        </p:nvSpPr>
        <p:spPr>
          <a:xfrm>
            <a:off x="6492240" y="2834640"/>
            <a:ext cx="4572000" cy="2103120"/>
          </a:xfrm>
          <a:prstGeom prst="rect">
            <a:avLst/>
          </a:prstGeom>
          <a:noFill/>
          <a:ln/>
        </p:spPr>
        <p:txBody>
          <a:bodyPr wrap="square" rtlCol="0" anchor="ctr"/>
          <a:lstStyle/>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We audited active templates (Homepage, Product details, Category grids, and static info pages) for scroll sizing.</a:t>
            </a:r>
            <a:endParaRPr lang="en-US" sz="1300" dirty="0"/>
          </a:p>
          <a:p>
            <a:pPr indent="0" marL="0">
              <a:lnSpc>
                <a:spcPts val="1800"/>
              </a:lnSpc>
              <a:buNone/>
            </a:pP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Zero horizontal document overflows (`scrollWidth &gt; innerWidth`)</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No content clipping or overlapping components</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Fluid layout scaling across all viewports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Functional Verification</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Cross-Browser Compatibility &amp; Filter Checks</a:t>
            </a:r>
            <a:endParaRPr lang="en-US" sz="2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31520" y="1645920"/>
          <a:ext cx="10424160" cy="2011680"/>
        </p:xfrm>
        <a:graphic>
          <a:graphicData uri="http://schemas.openxmlformats.org/drawingml/2006/table">
            <a:tbl>
              <a:tblPr/>
              <a:tblGrid>
                <a:gridCol w="2606040"/>
                <a:gridCol w="2606040"/>
                <a:gridCol w="2606040"/>
                <a:gridCol w="2606040"/>
              </a:tblGrid>
              <a:tr h="402336">
                <a:tc>
                  <a:txBody>
                    <a:bodyPr/>
                    <a:lstStyle/>
                    <a:p>
                      <a:pPr indent="0" marL="0">
                        <a:buNone/>
                      </a:pPr>
                      <a:r>
                        <a:rPr lang="en-US" sz="1200" b="1" dirty="0">
                          <a:solidFill>
                            <a:srgbClr val="000000"/>
                          </a:solidFill>
                          <a:latin typeface="Plus Jakarta Sans" pitchFamily="34" charset="0"/>
                          <a:ea typeface="Plus Jakarta Sans" pitchFamily="34" charset="-122"/>
                          <a:cs typeface="Plus Jakarta Sans" pitchFamily="34" charset="-120"/>
                        </a:rPr>
                        <a:t>Target Browser</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b="1" dirty="0">
                          <a:solidFill>
                            <a:srgbClr val="000000"/>
                          </a:solidFill>
                          <a:latin typeface="Plus Jakarta Sans" pitchFamily="34" charset="0"/>
                          <a:ea typeface="Plus Jakarta Sans" pitchFamily="34" charset="-122"/>
                          <a:cs typeface="Plus Jakarta Sans" pitchFamily="34" charset="-120"/>
                        </a:rPr>
                        <a:t>Feature Checked</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b="1" dirty="0">
                          <a:solidFill>
                            <a:srgbClr val="000000"/>
                          </a:solidFill>
                          <a:latin typeface="Plus Jakarta Sans" pitchFamily="34" charset="0"/>
                          <a:ea typeface="Plus Jakarta Sans" pitchFamily="34" charset="-122"/>
                          <a:cs typeface="Plus Jakarta Sans" pitchFamily="34" charset="-120"/>
                        </a:rPr>
                        <a:t>Status</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b="1" dirty="0">
                          <a:solidFill>
                            <a:srgbClr val="000000"/>
                          </a:solidFill>
                          <a:latin typeface="Plus Jakarta Sans" pitchFamily="34" charset="0"/>
                          <a:ea typeface="Plus Jakarta Sans" pitchFamily="34" charset="-122"/>
                          <a:cs typeface="Plus Jakarta Sans" pitchFamily="34" charset="-120"/>
                        </a:rPr>
                        <a:t>Notes</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1F5F9"/>
                    </a:solidFill>
                  </a:tcPr>
                </a:tc>
              </a:tr>
              <a:tr h="402336">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Google Chrome</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Catalog, PLP Navigation</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b="1" dirty="0">
                          <a:solidFill>
                            <a:srgbClr val="10B981"/>
                          </a:solidFill>
                          <a:latin typeface="Plus Jakarta Sans" pitchFamily="34" charset="0"/>
                          <a:ea typeface="Plus Jakarta Sans" pitchFamily="34" charset="-122"/>
                          <a:cs typeface="Plus Jakarta Sans" pitchFamily="34" charset="-120"/>
                        </a:rPr>
                        <a:t>PASS</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Renders smoothly without visual clipping.</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r h="402336">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Mozilla Firefox</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Sitemap Links, Media</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b="1" dirty="0">
                          <a:solidFill>
                            <a:srgbClr val="10B981"/>
                          </a:solidFill>
                          <a:latin typeface="Plus Jakarta Sans" pitchFamily="34" charset="0"/>
                          <a:ea typeface="Plus Jakarta Sans" pitchFamily="34" charset="-122"/>
                          <a:cs typeface="Plus Jakarta Sans" pitchFamily="34" charset="-120"/>
                        </a:rPr>
                        <a:t>PASS</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Layout constraints fully respected.</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r h="402336">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Apple Safari</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Catalog Navigation</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b="1" dirty="0">
                          <a:solidFill>
                            <a:srgbClr val="10B981"/>
                          </a:solidFill>
                          <a:latin typeface="Plus Jakarta Sans" pitchFamily="34" charset="0"/>
                          <a:ea typeface="Plus Jakarta Sans" pitchFamily="34" charset="-122"/>
                          <a:cs typeface="Plus Jakarta Sans" pitchFamily="34" charset="-120"/>
                        </a:rPr>
                        <a:t>PASS</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Webkit engines render CSS rules cleanly.</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r h="402336">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Microsoft Edge</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Layered Filter Links</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b="1" dirty="0">
                          <a:solidFill>
                            <a:srgbClr val="10B981"/>
                          </a:solidFill>
                          <a:latin typeface="Plus Jakarta Sans" pitchFamily="34" charset="0"/>
                          <a:ea typeface="Plus Jakarta Sans" pitchFamily="34" charset="-122"/>
                          <a:cs typeface="Plus Jakarta Sans" pitchFamily="34" charset="-120"/>
                        </a:rPr>
                        <a:t>PASS</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Navigation &amp; filter links fully functional.</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bl>
          </a:graphicData>
        </a:graphic>
      </p:graphicFrame>
      <p:sp>
        <p:nvSpPr>
          <p:cNvPr id="6" name="Text 2"/>
          <p:cNvSpPr/>
          <p:nvPr/>
        </p:nvSpPr>
        <p:spPr>
          <a:xfrm>
            <a:off x="731520" y="4023360"/>
            <a:ext cx="10424160" cy="914400"/>
          </a:xfrm>
          <a:prstGeom prst="rect">
            <a:avLst/>
          </a:prstGeom>
          <a:noFill/>
          <a:ln/>
        </p:spPr>
        <p:txBody>
          <a:bodyPr wrap="square" rtlCol="0" anchor="ctr"/>
          <a:lstStyle/>
          <a:p>
            <a:pPr indent="0" marL="0">
              <a:lnSpc>
                <a:spcPts val="1800"/>
              </a:lnSpc>
              <a:buNone/>
            </a:pPr>
            <a:r>
              <a:rPr lang="en-US" sz="1300" dirty="0">
                <a:solidFill>
                  <a:srgbClr val="64748B"/>
                </a:solidFill>
                <a:latin typeface="Plus Jakarta Sans" pitchFamily="34" charset="0"/>
                <a:ea typeface="Plus Jakarta Sans" pitchFamily="34" charset="-122"/>
                <a:cs typeface="Plus Jakarta Sans" pitchFamily="34" charset="-120"/>
              </a:rPr>
              <a:t>Layered navigation filters (category sidebar filters) were programmatically triggered. Click interactions on abstract category filter attributes (e.g. 3D White Polygons) update the grid and navigate correctly to corresponding sub-URLs without routing errors.</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Diagnostics &amp; Tracking</a:t>
            </a:r>
            <a:endParaRPr lang="en-US" sz="1300" dirty="0"/>
          </a:p>
        </p:txBody>
      </p:sp>
      <p:sp>
        <p:nvSpPr>
          <p:cNvPr id="4" name="Text 1"/>
          <p:cNvSpPr/>
          <p:nvPr/>
        </p:nvSpPr>
        <p:spPr>
          <a:xfrm>
            <a:off x="731520" y="731520"/>
            <a:ext cx="877824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Analytics Tags &amp; Console Health Monitoring</a:t>
            </a:r>
            <a:endParaRPr lang="en-US" sz="2600" dirty="0"/>
          </a:p>
        </p:txBody>
      </p:sp>
      <p:sp>
        <p:nvSpPr>
          <p:cNvPr id="5" name="Text 2"/>
          <p:cNvSpPr/>
          <p:nvPr/>
        </p:nvSpPr>
        <p:spPr>
          <a:xfrm>
            <a:off x="731520" y="1325880"/>
            <a:ext cx="8229600" cy="365760"/>
          </a:xfrm>
          <a:prstGeom prst="rect">
            <a:avLst/>
          </a:prstGeom>
          <a:noFill/>
          <a:ln/>
        </p:spPr>
        <p:txBody>
          <a:bodyPr wrap="square" rtlCol="0" anchor="ctr"/>
          <a:lstStyle/>
          <a:p>
            <a:pPr indent="0" marL="0">
              <a:buNone/>
            </a:pPr>
            <a:r>
              <a:rPr lang="en-US" sz="1500" b="1" dirty="0">
                <a:solidFill>
                  <a:srgbClr val="075985"/>
                </a:solidFill>
                <a:latin typeface="Plus Jakarta Sans" pitchFamily="34" charset="0"/>
                <a:ea typeface="Plus Jakarta Sans" pitchFamily="34" charset="-122"/>
                <a:cs typeface="Plus Jakarta Sans" pitchFamily="34" charset="-120"/>
              </a:rPr>
              <a:t>Most checks passed. Items marked in amber or red need a look.</a:t>
            </a:r>
            <a:endParaRPr lang="en-US" sz="1500" dirty="0"/>
          </a:p>
        </p:txBody>
      </p:sp>
      <p:sp>
        <p:nvSpPr>
          <p:cNvPr id="6" name="Shape 3"/>
          <p:cNvSpPr/>
          <p:nvPr/>
        </p:nvSpPr>
        <p:spPr>
          <a:xfrm>
            <a:off x="731520" y="1874520"/>
            <a:ext cx="6126480" cy="4160520"/>
          </a:xfrm>
          <a:prstGeom prst="roundRect">
            <a:avLst>
              <a:gd name="adj" fmla="val 2198"/>
            </a:avLst>
          </a:prstGeom>
          <a:solidFill>
            <a:srgbClr val="F8FAFC"/>
          </a:solidFill>
          <a:ln w="12700">
            <a:solidFill>
              <a:srgbClr val="E2E8F0"/>
            </a:solidFill>
            <a:prstDash val="solid"/>
          </a:ln>
        </p:spPr>
      </p:sp>
      <p:sp>
        <p:nvSpPr>
          <p:cNvPr id="7" name="Text 4"/>
          <p:cNvSpPr/>
          <p:nvPr/>
        </p:nvSpPr>
        <p:spPr>
          <a:xfrm>
            <a:off x="1005840" y="2011680"/>
            <a:ext cx="3657600" cy="274320"/>
          </a:xfrm>
          <a:prstGeom prst="rect">
            <a:avLst/>
          </a:prstGeom>
          <a:noFill/>
          <a:ln/>
        </p:spPr>
        <p:txBody>
          <a:bodyPr wrap="square" rtlCol="0" anchor="ctr"/>
          <a:lstStyle/>
          <a:p>
            <a:pPr indent="0" marL="0">
              <a:buNone/>
            </a:pPr>
            <a:r>
              <a:rPr lang="en-US" sz="1000" b="1" dirty="0">
                <a:solidFill>
                  <a:srgbClr val="64748B"/>
                </a:solidFill>
                <a:latin typeface="Plus Jakarta Sans" pitchFamily="34" charset="0"/>
                <a:ea typeface="Plus Jakarta Sans" pitchFamily="34" charset="-122"/>
                <a:cs typeface="Plus Jakarta Sans" pitchFamily="34" charset="-120"/>
              </a:rPr>
              <a:t>TRACKING TAGS</a:t>
            </a:r>
            <a:endParaRPr lang="en-US" sz="1000" dirty="0"/>
          </a:p>
        </p:txBody>
      </p:sp>
      <p:sp>
        <p:nvSpPr>
          <p:cNvPr id="8" name="Shape 5"/>
          <p:cNvSpPr/>
          <p:nvPr/>
        </p:nvSpPr>
        <p:spPr>
          <a:xfrm>
            <a:off x="1005840" y="2377440"/>
            <a:ext cx="5577840" cy="1554480"/>
          </a:xfrm>
          <a:prstGeom prst="roundRect">
            <a:avLst>
              <a:gd name="adj" fmla="val 4706"/>
            </a:avLst>
          </a:prstGeom>
          <a:solidFill>
            <a:srgbClr val="FFFFFF"/>
          </a:solidFill>
          <a:ln w="12700">
            <a:solidFill>
              <a:srgbClr val="E2E8F0"/>
            </a:solidFill>
            <a:prstDash val="solid"/>
          </a:ln>
        </p:spPr>
      </p:sp>
      <p:sp>
        <p:nvSpPr>
          <p:cNvPr id="9" name="Shape 6"/>
          <p:cNvSpPr/>
          <p:nvPr/>
        </p:nvSpPr>
        <p:spPr>
          <a:xfrm>
            <a:off x="1188720" y="2898648"/>
            <a:ext cx="512064" cy="512064"/>
          </a:xfrm>
          <a:prstGeom prst="ellipse">
            <a:avLst/>
          </a:prstGeom>
          <a:solidFill>
            <a:srgbClr val="F59E0B"/>
          </a:solidFill>
          <a:ln w="12700">
            <a:solidFill>
              <a:srgbClr val="F59E0B"/>
            </a:solidFill>
            <a:prstDash val="solid"/>
          </a:ln>
        </p:spPr>
      </p:sp>
      <p:sp>
        <p:nvSpPr>
          <p:cNvPr id="10" name="Text 7"/>
          <p:cNvSpPr/>
          <p:nvPr/>
        </p:nvSpPr>
        <p:spPr>
          <a:xfrm>
            <a:off x="1188720" y="2898648"/>
            <a:ext cx="512064" cy="512064"/>
          </a:xfrm>
          <a:prstGeom prst="rect">
            <a:avLst/>
          </a:prstGeom>
          <a:noFill/>
          <a:ln/>
        </p:spPr>
        <p:txBody>
          <a:bodyPr wrap="square" rtlCol="0" anchor="ctr"/>
          <a:lstStyle/>
          <a:p>
            <a:pPr algn="ctr" indent="0" marL="0">
              <a:buNone/>
            </a:pPr>
            <a:r>
              <a:rPr lang="en-US" sz="1800" b="1" dirty="0">
                <a:solidFill>
                  <a:srgbClr val="FFFFFF"/>
                </a:solidFill>
                <a:latin typeface="Plus Jakarta Sans" pitchFamily="34" charset="0"/>
                <a:ea typeface="Plus Jakarta Sans" pitchFamily="34" charset="-122"/>
                <a:cs typeface="Plus Jakarta Sans" pitchFamily="34" charset="-120"/>
              </a:rPr>
              <a:t>!</a:t>
            </a:r>
            <a:endParaRPr lang="en-US" sz="1800" dirty="0"/>
          </a:p>
        </p:txBody>
      </p:sp>
      <p:sp>
        <p:nvSpPr>
          <p:cNvPr id="11" name="Text 8"/>
          <p:cNvSpPr/>
          <p:nvPr/>
        </p:nvSpPr>
        <p:spPr>
          <a:xfrm>
            <a:off x="1874520" y="2743200"/>
            <a:ext cx="2926080" cy="329184"/>
          </a:xfrm>
          <a:prstGeom prst="rect">
            <a:avLst/>
          </a:prstGeom>
          <a:noFill/>
          <a:ln/>
        </p:spPr>
        <p:txBody>
          <a:bodyPr wrap="square" rtlCol="0" anchor="ctr"/>
          <a:lstStyle/>
          <a:p>
            <a:pPr indent="0" marL="0">
              <a:buNone/>
            </a:pPr>
            <a:r>
              <a:rPr lang="en-US" sz="1500" b="1" dirty="0">
                <a:solidFill>
                  <a:srgbClr val="0F172A"/>
                </a:solidFill>
                <a:latin typeface="Outfit" pitchFamily="34" charset="0"/>
                <a:ea typeface="Outfit" pitchFamily="34" charset="-122"/>
                <a:cs typeface="Outfit" pitchFamily="34" charset="-120"/>
              </a:rPr>
              <a:t>Google Tag Manager</a:t>
            </a:r>
            <a:endParaRPr lang="en-US" sz="1500" dirty="0"/>
          </a:p>
        </p:txBody>
      </p:sp>
      <p:sp>
        <p:nvSpPr>
          <p:cNvPr id="12" name="Text 9"/>
          <p:cNvSpPr/>
          <p:nvPr/>
        </p:nvSpPr>
        <p:spPr>
          <a:xfrm>
            <a:off x="1874520" y="3099816"/>
            <a:ext cx="3017520" cy="457200"/>
          </a:xfrm>
          <a:prstGeom prst="rect">
            <a:avLst/>
          </a:prstGeom>
          <a:noFill/>
          <a:ln/>
        </p:spPr>
        <p:txBody>
          <a:bodyPr wrap="square" rtlCol="0" anchor="t"/>
          <a:lstStyle/>
          <a:p>
            <a:pPr indent="0" marL="0">
              <a:lnSpc>
                <a:spcPct val="110000"/>
              </a:lnSpc>
              <a:buNone/>
            </a:pPr>
            <a:r>
              <a:rPr lang="en-US" sz="1000" dirty="0">
                <a:solidFill>
                  <a:srgbClr val="64748B"/>
                </a:solidFill>
                <a:latin typeface="Plus Jakarta Sans" pitchFamily="34" charset="0"/>
                <a:ea typeface="Plus Jakarta Sans" pitchFamily="34" charset="-122"/>
                <a:cs typeface="Plus Jakarta Sans" pitchFamily="34" charset="-120"/>
              </a:rPr>
              <a:t>Manages your marketing and tracking tags in one place</a:t>
            </a:r>
            <a:endParaRPr lang="en-US" sz="1000" dirty="0"/>
          </a:p>
        </p:txBody>
      </p:sp>
      <p:sp>
        <p:nvSpPr>
          <p:cNvPr id="13" name="Shape 10"/>
          <p:cNvSpPr/>
          <p:nvPr/>
        </p:nvSpPr>
        <p:spPr>
          <a:xfrm>
            <a:off x="5074920" y="2807208"/>
            <a:ext cx="1371600" cy="292608"/>
          </a:xfrm>
          <a:prstGeom prst="roundRect">
            <a:avLst>
              <a:gd name="adj" fmla="val 50000"/>
            </a:avLst>
          </a:prstGeom>
          <a:solidFill>
            <a:srgbClr val="FFFBEB"/>
          </a:solidFill>
          <a:ln w="12700">
            <a:solidFill>
              <a:srgbClr val="F59E0B"/>
            </a:solidFill>
            <a:prstDash val="solid"/>
          </a:ln>
        </p:spPr>
      </p:sp>
      <p:sp>
        <p:nvSpPr>
          <p:cNvPr id="14" name="Text 11"/>
          <p:cNvSpPr/>
          <p:nvPr/>
        </p:nvSpPr>
        <p:spPr>
          <a:xfrm>
            <a:off x="5074920" y="2807208"/>
            <a:ext cx="1371600" cy="292608"/>
          </a:xfrm>
          <a:prstGeom prst="rect">
            <a:avLst/>
          </a:prstGeom>
          <a:noFill/>
          <a:ln/>
        </p:spPr>
        <p:txBody>
          <a:bodyPr wrap="square" rtlCol="0" anchor="ctr"/>
          <a:lstStyle/>
          <a:p>
            <a:pPr algn="ctr" indent="0" marL="0">
              <a:buNone/>
            </a:pPr>
            <a:r>
              <a:rPr lang="en-US" sz="1000" b="1" dirty="0">
                <a:solidFill>
                  <a:srgbClr val="B45309"/>
                </a:solidFill>
                <a:latin typeface="Plus Jakarta Sans" pitchFamily="34" charset="0"/>
                <a:ea typeface="Plus Jakarta Sans" pitchFamily="34" charset="-122"/>
                <a:cs typeface="Plus Jakarta Sans" pitchFamily="34" charset="-120"/>
              </a:rPr>
              <a:t>Not detected</a:t>
            </a:r>
            <a:endParaRPr lang="en-US" sz="1000" dirty="0"/>
          </a:p>
        </p:txBody>
      </p:sp>
      <p:sp>
        <p:nvSpPr>
          <p:cNvPr id="15" name="Shape 12"/>
          <p:cNvSpPr/>
          <p:nvPr/>
        </p:nvSpPr>
        <p:spPr>
          <a:xfrm>
            <a:off x="1005840" y="4114800"/>
            <a:ext cx="5577840" cy="1554480"/>
          </a:xfrm>
          <a:prstGeom prst="roundRect">
            <a:avLst>
              <a:gd name="adj" fmla="val 4706"/>
            </a:avLst>
          </a:prstGeom>
          <a:solidFill>
            <a:srgbClr val="FFFFFF"/>
          </a:solidFill>
          <a:ln w="12700">
            <a:solidFill>
              <a:srgbClr val="E2E8F0"/>
            </a:solidFill>
            <a:prstDash val="solid"/>
          </a:ln>
        </p:spPr>
      </p:sp>
      <p:sp>
        <p:nvSpPr>
          <p:cNvPr id="16" name="Shape 13"/>
          <p:cNvSpPr/>
          <p:nvPr/>
        </p:nvSpPr>
        <p:spPr>
          <a:xfrm>
            <a:off x="1188720" y="4636008"/>
            <a:ext cx="512064" cy="512064"/>
          </a:xfrm>
          <a:prstGeom prst="ellipse">
            <a:avLst/>
          </a:prstGeom>
          <a:solidFill>
            <a:srgbClr val="10B981"/>
          </a:solidFill>
          <a:ln w="12700">
            <a:solidFill>
              <a:srgbClr val="10B981"/>
            </a:solidFill>
            <a:prstDash val="solid"/>
          </a:ln>
        </p:spPr>
      </p:sp>
      <p:sp>
        <p:nvSpPr>
          <p:cNvPr id="17" name="Text 14"/>
          <p:cNvSpPr/>
          <p:nvPr/>
        </p:nvSpPr>
        <p:spPr>
          <a:xfrm>
            <a:off x="1188720" y="4636008"/>
            <a:ext cx="512064" cy="512064"/>
          </a:xfrm>
          <a:prstGeom prst="rect">
            <a:avLst/>
          </a:prstGeom>
          <a:noFill/>
          <a:ln/>
        </p:spPr>
        <p:txBody>
          <a:bodyPr wrap="square" rtlCol="0" anchor="ctr"/>
          <a:lstStyle/>
          <a:p>
            <a:pPr algn="ctr" indent="0" marL="0">
              <a:buNone/>
            </a:pPr>
            <a:r>
              <a:rPr lang="en-US" sz="1800" b="1" dirty="0">
                <a:solidFill>
                  <a:srgbClr val="FFFFFF"/>
                </a:solidFill>
                <a:latin typeface="Plus Jakarta Sans" pitchFamily="34" charset="0"/>
                <a:ea typeface="Plus Jakarta Sans" pitchFamily="34" charset="-122"/>
                <a:cs typeface="Plus Jakarta Sans" pitchFamily="34" charset="-120"/>
              </a:rPr>
              <a:t>✓</a:t>
            </a:r>
            <a:endParaRPr lang="en-US" sz="1800" dirty="0"/>
          </a:p>
        </p:txBody>
      </p:sp>
      <p:sp>
        <p:nvSpPr>
          <p:cNvPr id="18" name="Text 15"/>
          <p:cNvSpPr/>
          <p:nvPr/>
        </p:nvSpPr>
        <p:spPr>
          <a:xfrm>
            <a:off x="1874520" y="4480560"/>
            <a:ext cx="2926080" cy="329184"/>
          </a:xfrm>
          <a:prstGeom prst="rect">
            <a:avLst/>
          </a:prstGeom>
          <a:noFill/>
          <a:ln/>
        </p:spPr>
        <p:txBody>
          <a:bodyPr wrap="square" rtlCol="0" anchor="ctr"/>
          <a:lstStyle/>
          <a:p>
            <a:pPr indent="0" marL="0">
              <a:buNone/>
            </a:pPr>
            <a:r>
              <a:rPr lang="en-US" sz="1500" b="1" dirty="0">
                <a:solidFill>
                  <a:srgbClr val="0F172A"/>
                </a:solidFill>
                <a:latin typeface="Outfit" pitchFamily="34" charset="0"/>
                <a:ea typeface="Outfit" pitchFamily="34" charset="-122"/>
                <a:cs typeface="Outfit" pitchFamily="34" charset="-120"/>
              </a:rPr>
              <a:t>Google Analytics (GA4)</a:t>
            </a:r>
            <a:endParaRPr lang="en-US" sz="1500" dirty="0"/>
          </a:p>
        </p:txBody>
      </p:sp>
      <p:sp>
        <p:nvSpPr>
          <p:cNvPr id="19" name="Text 16"/>
          <p:cNvSpPr/>
          <p:nvPr/>
        </p:nvSpPr>
        <p:spPr>
          <a:xfrm>
            <a:off x="1874520" y="4837176"/>
            <a:ext cx="3017520" cy="457200"/>
          </a:xfrm>
          <a:prstGeom prst="rect">
            <a:avLst/>
          </a:prstGeom>
          <a:noFill/>
          <a:ln/>
        </p:spPr>
        <p:txBody>
          <a:bodyPr wrap="square" rtlCol="0" anchor="t"/>
          <a:lstStyle/>
          <a:p>
            <a:pPr indent="0" marL="0">
              <a:lnSpc>
                <a:spcPct val="110000"/>
              </a:lnSpc>
              <a:buNone/>
            </a:pPr>
            <a:r>
              <a:rPr lang="en-US" sz="1000" dirty="0">
                <a:solidFill>
                  <a:srgbClr val="64748B"/>
                </a:solidFill>
                <a:latin typeface="Plus Jakarta Sans" pitchFamily="34" charset="0"/>
                <a:ea typeface="Plus Jakarta Sans" pitchFamily="34" charset="-122"/>
                <a:cs typeface="Plus Jakarta Sans" pitchFamily="34" charset="-120"/>
              </a:rPr>
              <a:t>Records visits, sales and customer behaviour</a:t>
            </a:r>
            <a:endParaRPr lang="en-US" sz="1000" dirty="0"/>
          </a:p>
        </p:txBody>
      </p:sp>
      <p:sp>
        <p:nvSpPr>
          <p:cNvPr id="20" name="Shape 17"/>
          <p:cNvSpPr/>
          <p:nvPr/>
        </p:nvSpPr>
        <p:spPr>
          <a:xfrm>
            <a:off x="5074920" y="4544568"/>
            <a:ext cx="1371600" cy="292608"/>
          </a:xfrm>
          <a:prstGeom prst="roundRect">
            <a:avLst>
              <a:gd name="adj" fmla="val 50000"/>
            </a:avLst>
          </a:prstGeom>
          <a:solidFill>
            <a:srgbClr val="ECFDF5"/>
          </a:solidFill>
          <a:ln w="12700">
            <a:solidFill>
              <a:srgbClr val="10B981"/>
            </a:solidFill>
            <a:prstDash val="solid"/>
          </a:ln>
        </p:spPr>
      </p:sp>
      <p:sp>
        <p:nvSpPr>
          <p:cNvPr id="21" name="Text 18"/>
          <p:cNvSpPr/>
          <p:nvPr/>
        </p:nvSpPr>
        <p:spPr>
          <a:xfrm>
            <a:off x="5074920" y="4544568"/>
            <a:ext cx="1371600" cy="292608"/>
          </a:xfrm>
          <a:prstGeom prst="rect">
            <a:avLst/>
          </a:prstGeom>
          <a:noFill/>
          <a:ln/>
        </p:spPr>
        <p:txBody>
          <a:bodyPr wrap="square" rtlCol="0" anchor="ctr"/>
          <a:lstStyle/>
          <a:p>
            <a:pPr algn="ctr" indent="0" marL="0">
              <a:buNone/>
            </a:pPr>
            <a:r>
              <a:rPr lang="en-US" sz="1000" b="1" dirty="0">
                <a:solidFill>
                  <a:srgbClr val="047857"/>
                </a:solidFill>
                <a:latin typeface="Plus Jakarta Sans" pitchFamily="34" charset="0"/>
                <a:ea typeface="Plus Jakarta Sans" pitchFamily="34" charset="-122"/>
                <a:cs typeface="Plus Jakarta Sans" pitchFamily="34" charset="-120"/>
              </a:rPr>
              <a:t>Active</a:t>
            </a:r>
            <a:endParaRPr lang="en-US" sz="1000" dirty="0"/>
          </a:p>
        </p:txBody>
      </p:sp>
      <p:sp>
        <p:nvSpPr>
          <p:cNvPr id="22" name="Text 19"/>
          <p:cNvSpPr/>
          <p:nvPr/>
        </p:nvSpPr>
        <p:spPr>
          <a:xfrm>
            <a:off x="5074920" y="4937760"/>
            <a:ext cx="1371600" cy="274320"/>
          </a:xfrm>
          <a:prstGeom prst="rect">
            <a:avLst/>
          </a:prstGeom>
          <a:noFill/>
          <a:ln/>
        </p:spPr>
        <p:txBody>
          <a:bodyPr wrap="square" rtlCol="0" anchor="ctr"/>
          <a:lstStyle/>
          <a:p>
            <a:pPr algn="ctr" indent="0" marL="0">
              <a:buNone/>
            </a:pPr>
            <a:r>
              <a:rPr lang="en-US" sz="900" dirty="0">
                <a:solidFill>
                  <a:srgbClr val="64748B"/>
                </a:solidFill>
                <a:latin typeface="Consolas" pitchFamily="34" charset="0"/>
                <a:ea typeface="Consolas" pitchFamily="34" charset="-122"/>
                <a:cs typeface="Consolas" pitchFamily="34" charset="-120"/>
              </a:rPr>
              <a:t>g-toggleLink</a:t>
            </a:r>
            <a:endParaRPr lang="en-US" sz="900" dirty="0"/>
          </a:p>
        </p:txBody>
      </p:sp>
      <p:sp>
        <p:nvSpPr>
          <p:cNvPr id="23" name="Shape 20"/>
          <p:cNvSpPr/>
          <p:nvPr/>
        </p:nvSpPr>
        <p:spPr>
          <a:xfrm>
            <a:off x="7178040" y="1874520"/>
            <a:ext cx="4297680" cy="4160520"/>
          </a:xfrm>
          <a:prstGeom prst="roundRect">
            <a:avLst>
              <a:gd name="adj" fmla="val 2198"/>
            </a:avLst>
          </a:prstGeom>
          <a:solidFill>
            <a:srgbClr val="F8FAFC"/>
          </a:solidFill>
          <a:ln w="12700">
            <a:solidFill>
              <a:srgbClr val="E2E8F0"/>
            </a:solidFill>
            <a:prstDash val="solid"/>
          </a:ln>
        </p:spPr>
      </p:sp>
      <p:sp>
        <p:nvSpPr>
          <p:cNvPr id="24" name="Text 21"/>
          <p:cNvSpPr/>
          <p:nvPr/>
        </p:nvSpPr>
        <p:spPr>
          <a:xfrm>
            <a:off x="7452360" y="2011680"/>
            <a:ext cx="3657600" cy="274320"/>
          </a:xfrm>
          <a:prstGeom prst="rect">
            <a:avLst/>
          </a:prstGeom>
          <a:noFill/>
          <a:ln/>
        </p:spPr>
        <p:txBody>
          <a:bodyPr wrap="square" rtlCol="0" anchor="ctr"/>
          <a:lstStyle/>
          <a:p>
            <a:pPr indent="0" marL="0">
              <a:buNone/>
            </a:pPr>
            <a:r>
              <a:rPr lang="en-US" sz="1000" b="1" dirty="0">
                <a:solidFill>
                  <a:srgbClr val="64748B"/>
                </a:solidFill>
                <a:latin typeface="Plus Jakarta Sans" pitchFamily="34" charset="0"/>
                <a:ea typeface="Plus Jakarta Sans" pitchFamily="34" charset="-122"/>
                <a:cs typeface="Plus Jakarta Sans" pitchFamily="34" charset="-120"/>
              </a:rPr>
              <a:t>PAGE HEALTH DURING LOAD</a:t>
            </a:r>
            <a:endParaRPr lang="en-US" sz="1000" dirty="0"/>
          </a:p>
        </p:txBody>
      </p:sp>
      <p:sp>
        <p:nvSpPr>
          <p:cNvPr id="25" name="Shape 22"/>
          <p:cNvSpPr/>
          <p:nvPr/>
        </p:nvSpPr>
        <p:spPr>
          <a:xfrm>
            <a:off x="7498080" y="2697480"/>
            <a:ext cx="1600200" cy="1600200"/>
          </a:xfrm>
          <a:prstGeom prst="ellipse">
            <a:avLst/>
          </a:prstGeom>
          <a:solidFill>
            <a:srgbClr val="ECFDF5"/>
          </a:solidFill>
          <a:ln w="88900">
            <a:solidFill>
              <a:srgbClr val="10B981"/>
            </a:solidFill>
            <a:prstDash val="solid"/>
          </a:ln>
        </p:spPr>
      </p:sp>
      <p:sp>
        <p:nvSpPr>
          <p:cNvPr id="26" name="Text 23"/>
          <p:cNvSpPr/>
          <p:nvPr/>
        </p:nvSpPr>
        <p:spPr>
          <a:xfrm>
            <a:off x="7498080" y="2971800"/>
            <a:ext cx="1600200" cy="1005840"/>
          </a:xfrm>
          <a:prstGeom prst="rect">
            <a:avLst/>
          </a:prstGeom>
          <a:noFill/>
          <a:ln/>
        </p:spPr>
        <p:txBody>
          <a:bodyPr wrap="square" rtlCol="0" anchor="ctr"/>
          <a:lstStyle/>
          <a:p>
            <a:pPr algn="ctr" indent="0" marL="0">
              <a:buNone/>
            </a:pPr>
            <a:r>
              <a:rPr lang="en-US" sz="4400" b="1" dirty="0">
                <a:solidFill>
                  <a:srgbClr val="10B981"/>
                </a:solidFill>
                <a:latin typeface="Outfit" pitchFamily="34" charset="0"/>
                <a:ea typeface="Outfit" pitchFamily="34" charset="-122"/>
                <a:cs typeface="Outfit" pitchFamily="34" charset="-120"/>
              </a:rPr>
              <a:t>0</a:t>
            </a:r>
            <a:endParaRPr lang="en-US" sz="4400" dirty="0"/>
          </a:p>
        </p:txBody>
      </p:sp>
      <p:sp>
        <p:nvSpPr>
          <p:cNvPr id="27" name="Text 24"/>
          <p:cNvSpPr/>
          <p:nvPr/>
        </p:nvSpPr>
        <p:spPr>
          <a:xfrm>
            <a:off x="7315200" y="4434840"/>
            <a:ext cx="1965960" cy="292608"/>
          </a:xfrm>
          <a:prstGeom prst="rect">
            <a:avLst/>
          </a:prstGeom>
          <a:noFill/>
          <a:ln/>
        </p:spPr>
        <p:txBody>
          <a:bodyPr wrap="square" rtlCol="0" anchor="ctr"/>
          <a:lstStyle/>
          <a:p>
            <a:pPr algn="ctr" indent="0" marL="0">
              <a:buNone/>
            </a:pPr>
            <a:r>
              <a:rPr lang="en-US" sz="1300" b="1" dirty="0">
                <a:solidFill>
                  <a:srgbClr val="0F172A"/>
                </a:solidFill>
                <a:latin typeface="Outfit" pitchFamily="34" charset="0"/>
                <a:ea typeface="Outfit" pitchFamily="34" charset="-122"/>
                <a:cs typeface="Outfit" pitchFamily="34" charset="-120"/>
              </a:rPr>
              <a:t>Script errors</a:t>
            </a:r>
            <a:endParaRPr lang="en-US" sz="1300" dirty="0"/>
          </a:p>
        </p:txBody>
      </p:sp>
      <p:sp>
        <p:nvSpPr>
          <p:cNvPr id="28" name="Text 25"/>
          <p:cNvSpPr/>
          <p:nvPr/>
        </p:nvSpPr>
        <p:spPr>
          <a:xfrm>
            <a:off x="7315200" y="4727448"/>
            <a:ext cx="1965960" cy="274320"/>
          </a:xfrm>
          <a:prstGeom prst="rect">
            <a:avLst/>
          </a:prstGeom>
          <a:noFill/>
          <a:ln/>
        </p:spPr>
        <p:txBody>
          <a:bodyPr wrap="square" rtlCol="0" anchor="ctr"/>
          <a:lstStyle/>
          <a:p>
            <a:pPr algn="ctr" indent="0" marL="0">
              <a:buNone/>
            </a:pPr>
            <a:r>
              <a:rPr lang="en-US" sz="1000" dirty="0">
                <a:solidFill>
                  <a:srgbClr val="64748B"/>
                </a:solidFill>
                <a:latin typeface="Plus Jakarta Sans" pitchFamily="34" charset="0"/>
                <a:ea typeface="Plus Jakarta Sans" pitchFamily="34" charset="-122"/>
                <a:cs typeface="Plus Jakarta Sans" pitchFamily="34" charset="-120"/>
              </a:rPr>
              <a:t>Code problems on the page</a:t>
            </a:r>
            <a:endParaRPr lang="en-US" sz="1000" dirty="0"/>
          </a:p>
        </p:txBody>
      </p:sp>
      <p:sp>
        <p:nvSpPr>
          <p:cNvPr id="29" name="Shape 26"/>
          <p:cNvSpPr/>
          <p:nvPr/>
        </p:nvSpPr>
        <p:spPr>
          <a:xfrm>
            <a:off x="9464040" y="2697480"/>
            <a:ext cx="1600200" cy="1600200"/>
          </a:xfrm>
          <a:prstGeom prst="ellipse">
            <a:avLst/>
          </a:prstGeom>
          <a:solidFill>
            <a:srgbClr val="ECFDF5"/>
          </a:solidFill>
          <a:ln w="88900">
            <a:solidFill>
              <a:srgbClr val="10B981"/>
            </a:solidFill>
            <a:prstDash val="solid"/>
          </a:ln>
        </p:spPr>
      </p:sp>
      <p:sp>
        <p:nvSpPr>
          <p:cNvPr id="30" name="Text 27"/>
          <p:cNvSpPr/>
          <p:nvPr/>
        </p:nvSpPr>
        <p:spPr>
          <a:xfrm>
            <a:off x="9464040" y="2971800"/>
            <a:ext cx="1600200" cy="1005840"/>
          </a:xfrm>
          <a:prstGeom prst="rect">
            <a:avLst/>
          </a:prstGeom>
          <a:noFill/>
          <a:ln/>
        </p:spPr>
        <p:txBody>
          <a:bodyPr wrap="square" rtlCol="0" anchor="ctr"/>
          <a:lstStyle/>
          <a:p>
            <a:pPr algn="ctr" indent="0" marL="0">
              <a:buNone/>
            </a:pPr>
            <a:r>
              <a:rPr lang="en-US" sz="4400" b="1" dirty="0">
                <a:solidFill>
                  <a:srgbClr val="10B981"/>
                </a:solidFill>
                <a:latin typeface="Outfit" pitchFamily="34" charset="0"/>
                <a:ea typeface="Outfit" pitchFamily="34" charset="-122"/>
                <a:cs typeface="Outfit" pitchFamily="34" charset="-120"/>
              </a:rPr>
              <a:t>0</a:t>
            </a:r>
            <a:endParaRPr lang="en-US" sz="4400" dirty="0"/>
          </a:p>
        </p:txBody>
      </p:sp>
      <p:sp>
        <p:nvSpPr>
          <p:cNvPr id="31" name="Text 28"/>
          <p:cNvSpPr/>
          <p:nvPr/>
        </p:nvSpPr>
        <p:spPr>
          <a:xfrm>
            <a:off x="9281160" y="4434840"/>
            <a:ext cx="1965960" cy="292608"/>
          </a:xfrm>
          <a:prstGeom prst="rect">
            <a:avLst/>
          </a:prstGeom>
          <a:noFill/>
          <a:ln/>
        </p:spPr>
        <p:txBody>
          <a:bodyPr wrap="square" rtlCol="0" anchor="ctr"/>
          <a:lstStyle/>
          <a:p>
            <a:pPr algn="ctr" indent="0" marL="0">
              <a:buNone/>
            </a:pPr>
            <a:r>
              <a:rPr lang="en-US" sz="1300" b="1" dirty="0">
                <a:solidFill>
                  <a:srgbClr val="0F172A"/>
                </a:solidFill>
                <a:latin typeface="Outfit" pitchFamily="34" charset="0"/>
                <a:ea typeface="Outfit" pitchFamily="34" charset="-122"/>
                <a:cs typeface="Outfit" pitchFamily="34" charset="-120"/>
              </a:rPr>
              <a:t>Failed requests</a:t>
            </a:r>
            <a:endParaRPr lang="en-US" sz="1300" dirty="0"/>
          </a:p>
        </p:txBody>
      </p:sp>
      <p:sp>
        <p:nvSpPr>
          <p:cNvPr id="32" name="Text 29"/>
          <p:cNvSpPr/>
          <p:nvPr/>
        </p:nvSpPr>
        <p:spPr>
          <a:xfrm>
            <a:off x="9281160" y="4727448"/>
            <a:ext cx="1965960" cy="274320"/>
          </a:xfrm>
          <a:prstGeom prst="rect">
            <a:avLst/>
          </a:prstGeom>
          <a:noFill/>
          <a:ln/>
        </p:spPr>
        <p:txBody>
          <a:bodyPr wrap="square" rtlCol="0" anchor="ctr"/>
          <a:lstStyle/>
          <a:p>
            <a:pPr algn="ctr" indent="0" marL="0">
              <a:buNone/>
            </a:pPr>
            <a:r>
              <a:rPr lang="en-US" sz="1000" dirty="0">
                <a:solidFill>
                  <a:srgbClr val="64748B"/>
                </a:solidFill>
                <a:latin typeface="Plus Jakarta Sans" pitchFamily="34" charset="0"/>
                <a:ea typeface="Plus Jakarta Sans" pitchFamily="34" charset="-122"/>
                <a:cs typeface="Plus Jakarta Sans" pitchFamily="34" charset="-120"/>
              </a:rPr>
              <a:t>Files that did not load</a:t>
            </a:r>
            <a:endParaRPr lang="en-US" sz="1000" dirty="0"/>
          </a:p>
        </p:txBody>
      </p:sp>
      <p:sp>
        <p:nvSpPr>
          <p:cNvPr id="33" name="Text 30"/>
          <p:cNvSpPr/>
          <p:nvPr/>
        </p:nvSpPr>
        <p:spPr>
          <a:xfrm>
            <a:off x="7452360" y="5394960"/>
            <a:ext cx="3657600" cy="274320"/>
          </a:xfrm>
          <a:prstGeom prst="rect">
            <a:avLst/>
          </a:prstGeom>
          <a:noFill/>
          <a:ln/>
        </p:spPr>
        <p:txBody>
          <a:bodyPr wrap="square" rtlCol="0" anchor="ctr"/>
          <a:lstStyle/>
          <a:p>
            <a:pPr algn="ctr" indent="0" marL="0">
              <a:buNone/>
            </a:pPr>
            <a:r>
              <a:rPr lang="en-US" sz="1000" i="1" dirty="0">
                <a:solidFill>
                  <a:srgbClr val="64748B"/>
                </a:solidFill>
                <a:latin typeface="Plus Jakarta Sans" pitchFamily="34" charset="0"/>
                <a:ea typeface="Plus Jakarta Sans" pitchFamily="34" charset="-122"/>
                <a:cs typeface="Plus Jakarta Sans" pitchFamily="34" charset="-120"/>
              </a:rPr>
              <a:t>Checked automatically every month</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1097280"/>
            <a:ext cx="10515600" cy="914400"/>
          </a:xfrm>
          <a:prstGeom prst="rect">
            <a:avLst/>
          </a:prstGeom>
          <a:noFill/>
          <a:ln/>
        </p:spPr>
        <p:txBody>
          <a:bodyPr wrap="square" rtlCol="0" anchor="ctr"/>
          <a:lstStyle/>
          <a:p>
            <a:pPr indent="0" marL="0">
              <a:buNone/>
            </a:pPr>
            <a:r>
              <a:rPr lang="en-US" sz="4400" b="1" dirty="0">
                <a:solidFill>
                  <a:srgbClr val="0F172A"/>
                </a:solidFill>
                <a:latin typeface="Outfit" pitchFamily="34" charset="0"/>
                <a:ea typeface="Outfit" pitchFamily="34" charset="-122"/>
                <a:cs typeface="Outfit" pitchFamily="34" charset="-120"/>
              </a:rPr>
              <a:t>Thank You!</a:t>
            </a:r>
            <a:endParaRPr lang="en-US" sz="4400" dirty="0"/>
          </a:p>
        </p:txBody>
      </p:sp>
      <p:sp>
        <p:nvSpPr>
          <p:cNvPr id="4" name="Text 1"/>
          <p:cNvSpPr/>
          <p:nvPr/>
        </p:nvSpPr>
        <p:spPr>
          <a:xfrm>
            <a:off x="731520" y="2011680"/>
            <a:ext cx="10515600" cy="548640"/>
          </a:xfrm>
          <a:prstGeom prst="rect">
            <a:avLst/>
          </a:prstGeom>
          <a:noFill/>
          <a:ln/>
        </p:spPr>
        <p:txBody>
          <a:bodyPr wrap="square" rtlCol="0" anchor="ctr"/>
          <a:lstStyle/>
          <a:p>
            <a:pPr indent="0" marL="0">
              <a:buNone/>
            </a:pPr>
            <a:r>
              <a:rPr lang="en-US" sz="1600" dirty="0">
                <a:solidFill>
                  <a:srgbClr val="0EA5E9"/>
                </a:solidFill>
                <a:latin typeface="Outfit" pitchFamily="34" charset="0"/>
                <a:ea typeface="Outfit" pitchFamily="34" charset="-122"/>
                <a:cs typeface="Outfit" pitchFamily="34" charset="-120"/>
              </a:rPr>
              <a:t>We are committed to maintaining, future-proofing, and optimizing your web operations.</a:t>
            </a:r>
            <a:endParaRPr lang="en-US" sz="1600" dirty="0"/>
          </a:p>
        </p:txBody>
      </p:sp>
      <p:sp>
        <p:nvSpPr>
          <p:cNvPr id="5" name="Text 2"/>
          <p:cNvSpPr/>
          <p:nvPr/>
        </p:nvSpPr>
        <p:spPr>
          <a:xfrm>
            <a:off x="731520" y="2560320"/>
            <a:ext cx="9144000" cy="548640"/>
          </a:xfrm>
          <a:prstGeom prst="rect">
            <a:avLst/>
          </a:prstGeom>
          <a:noFill/>
          <a:ln/>
        </p:spPr>
        <p:txBody>
          <a:bodyPr wrap="square" rtlCol="0" anchor="ctr"/>
          <a:lstStyle/>
          <a:p>
            <a:pPr indent="0" marL="0">
              <a:lnSpc>
                <a:spcPts val="1800"/>
              </a:lnSpc>
              <a:buNone/>
            </a:pPr>
            <a:r>
              <a:rPr lang="en-US" sz="1350" dirty="0">
                <a:solidFill>
                  <a:srgbClr val="64748B"/>
                </a:solidFill>
                <a:latin typeface="Plus Jakarta Sans" pitchFamily="34" charset="0"/>
                <a:ea typeface="Plus Jakarta Sans" pitchFamily="34" charset="-122"/>
                <a:cs typeface="Plus Jakarta Sans" pitchFamily="34" charset="-120"/>
              </a:rPr>
              <a:t>If you have questions regarding the findings or recommendations in this audit report, please connect with your account engineer.</a:t>
            </a:r>
            <a:endParaRPr lang="en-US" sz="1350" dirty="0"/>
          </a:p>
        </p:txBody>
      </p:sp>
      <p:sp>
        <p:nvSpPr>
          <p:cNvPr id="6" name="Text 3"/>
          <p:cNvSpPr/>
          <p:nvPr/>
        </p:nvSpPr>
        <p:spPr>
          <a:xfrm>
            <a:off x="731520" y="3749040"/>
            <a:ext cx="4572000" cy="914400"/>
          </a:xfrm>
          <a:prstGeom prst="rect">
            <a:avLst/>
          </a:prstGeom>
          <a:noFill/>
          <a:ln/>
        </p:spPr>
        <p:txBody>
          <a:bodyPr wrap="square" rtlCol="0" anchor="ctr"/>
          <a:lstStyle/>
          <a:p>
            <a:pPr indent="0" marL="0">
              <a:buNone/>
            </a:pPr>
            <a:r>
              <a:rPr lang="en-US" sz="1300" dirty="0">
                <a:solidFill>
                  <a:srgbClr val="0F172A"/>
                </a:solidFill>
                <a:latin typeface="Plus Jakarta Sans" pitchFamily="34" charset="0"/>
                <a:ea typeface="Plus Jakarta Sans" pitchFamily="34" charset="-122"/>
                <a:cs typeface="Plus Jakarta Sans" pitchFamily="34" charset="-120"/>
              </a:rPr>
              <a:t>United States Office</a:t>
            </a:r>
            <a:endParaRPr lang="en-US" sz="1300" dirty="0"/>
          </a:p>
          <a:p>
            <a:pPr indent="0" marL="0">
              <a:buNone/>
            </a:pPr>
            <a:r>
              <a:rPr lang="en-US" sz="1300" dirty="0">
                <a:solidFill>
                  <a:srgbClr val="0F172A"/>
                </a:solidFill>
                <a:latin typeface="Plus Jakarta Sans" pitchFamily="34" charset="0"/>
                <a:ea typeface="Plus Jakarta Sans" pitchFamily="34" charset="-122"/>
                <a:cs typeface="Plus Jakarta Sans" pitchFamily="34" charset="-120"/>
              </a:rPr>
              <a:t>98 Cutter Mill Rd, Great Neck, NY 11021, USA</a:t>
            </a:r>
            <a:endParaRPr lang="en-US" sz="1300" dirty="0"/>
          </a:p>
        </p:txBody>
      </p:sp>
      <p:sp>
        <p:nvSpPr>
          <p:cNvPr id="7" name="Text 4"/>
          <p:cNvSpPr/>
          <p:nvPr/>
        </p:nvSpPr>
        <p:spPr>
          <a:xfrm>
            <a:off x="5943600" y="3749040"/>
            <a:ext cx="4572000" cy="914400"/>
          </a:xfrm>
          <a:prstGeom prst="rect">
            <a:avLst/>
          </a:prstGeom>
          <a:noFill/>
          <a:ln/>
        </p:spPr>
        <p:txBody>
          <a:bodyPr wrap="square" rtlCol="0" anchor="ctr"/>
          <a:lstStyle/>
          <a:p>
            <a:pPr indent="0" marL="0">
              <a:buNone/>
            </a:pPr>
            <a:r>
              <a:rPr lang="en-US" sz="1300" dirty="0">
                <a:solidFill>
                  <a:srgbClr val="0F172A"/>
                </a:solidFill>
                <a:latin typeface="Plus Jakarta Sans" pitchFamily="34" charset="0"/>
                <a:ea typeface="Plus Jakarta Sans" pitchFamily="34" charset="-122"/>
                <a:cs typeface="Plus Jakarta Sans" pitchFamily="34" charset="-120"/>
              </a:rPr>
              <a:t>Canada Office</a:t>
            </a:r>
            <a:endParaRPr lang="en-US" sz="1300" dirty="0"/>
          </a:p>
          <a:p>
            <a:pPr indent="0" marL="0">
              <a:buNone/>
            </a:pPr>
            <a:r>
              <a:rPr lang="en-US" sz="1300" dirty="0">
                <a:solidFill>
                  <a:srgbClr val="0F172A"/>
                </a:solidFill>
                <a:latin typeface="Plus Jakarta Sans" pitchFamily="34" charset="0"/>
                <a:ea typeface="Plus Jakarta Sans" pitchFamily="34" charset="-122"/>
                <a:cs typeface="Plus Jakarta Sans" pitchFamily="34" charset="-120"/>
              </a:rPr>
              <a:t>150 King Street W, Toronto, ON M5H 1J9, Canada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2026-10-08T14:00:41Z</dcterms:created>
  <dcterms:modified xsi:type="dcterms:W3CDTF">2026-10-08T14:00:41Z</dcterms:modified>
</cp:coreProperties>
</file>