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Open issues</c:v>
                </c:pt>
              </c:strCache>
            </c:strRef>
          </c:tx>
          <c:spPr>
            <a:solidFill>
              <a:schemeClr val="accent1"/>
            </a:solidFill>
            <a:ln w="9525" cap="flat">
              <a:solidFill>
                <a:srgbClr val="F9F9F9"/>
              </a:solidFill>
              <a:prstDash val="solid"/>
              <a:round/>
            </a:ln>
            <a:effectLst/>
          </c:spPr>
          <c:dPt>
            <c:idx val="0"/>
            <c:bubble3D val="0"/>
            <c:spPr>
              <a:solidFill>
                <a:srgbClr val="DC2626"/>
              </a:solidFill>
              <a:ln w="25400" cap="flat">
                <a:solidFill>
                  <a:srgbClr val="FFFFFF"/>
                </a:solidFill>
                <a:prstDash val="solid"/>
                <a:round/>
              </a:ln>
              <a:effectLst/>
            </c:spPr>
          </c:dPt>
          <c:dPt>
            <c:idx val="1"/>
            <c:bubble3D val="0"/>
            <c:spPr>
              <a:solidFill>
                <a:srgbClr val="F59E0B"/>
              </a:solidFill>
              <a:ln w="25400" cap="flat">
                <a:solidFill>
                  <a:srgbClr val="FFFFFF"/>
                </a:solidFill>
                <a:prstDash val="solid"/>
                <a:round/>
              </a:ln>
              <a:effectLst/>
            </c:spPr>
          </c:dPt>
          <c:dPt>
            <c:idx val="2"/>
            <c:bubble3D val="0"/>
            <c:spPr>
              <a:solidFill>
                <a:srgbClr val="94A3B8"/>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Urgent</c:v>
                </c:pt>
                <c:pt idx="1">
                  <c:v>Medium</c:v>
                </c:pt>
                <c:pt idx="2">
                  <c:v>Minor</c:v>
                </c:pt>
              </c:strCache>
            </c:strRef>
          </c:cat>
          <c:val>
            <c:numRef>
              <c:f>Sheet1!$B$2:$B$4</c:f>
              <c:numCache>
                <c:ptCount val="3"/>
                <c:pt idx="0">
                  <c:v>1</c:v>
                </c:pt>
                <c:pt idx="1">
                  <c:v>4</c:v>
                </c:pt>
                <c:pt idx="2">
                  <c:v>4</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731520" y="731520"/>
            <a:ext cx="2011680" cy="1097280"/>
          </a:xfrm>
          <a:prstGeom prst="rect">
            <a:avLst/>
          </a:prstGeom>
        </p:spPr>
      </p:pic>
      <p:sp>
        <p:nvSpPr>
          <p:cNvPr id="3" name="Text 0"/>
          <p:cNvSpPr/>
          <p:nvPr/>
        </p:nvSpPr>
        <p:spPr>
          <a:xfrm>
            <a:off x="731520" y="2011680"/>
            <a:ext cx="10515600" cy="1188720"/>
          </a:xfrm>
          <a:prstGeom prst="rect">
            <a:avLst/>
          </a:prstGeom>
          <a:noFill/>
          <a:ln/>
        </p:spPr>
        <p:txBody>
          <a:bodyPr wrap="square" rtlCol="0" anchor="ctr"/>
          <a:lstStyle/>
          <a:p>
            <a:pPr indent="0" marL="0">
              <a:buNone/>
            </a:pPr>
            <a:r>
              <a:rPr lang="en-US" sz="3600" b="1" dirty="0">
                <a:solidFill>
                  <a:srgbClr val="0F172A"/>
                </a:solidFill>
                <a:latin typeface="Outfit" pitchFamily="34" charset="0"/>
                <a:ea typeface="Outfit" pitchFamily="34" charset="-122"/>
                <a:cs typeface="Outfit" pitchFamily="34" charset="-120"/>
              </a:rPr>
              <a:t>Monthly Optimization &amp; Operations Report</a:t>
            </a:r>
            <a:endParaRPr lang="en-US" sz="3600" dirty="0"/>
          </a:p>
        </p:txBody>
      </p:sp>
      <p:sp>
        <p:nvSpPr>
          <p:cNvPr id="4" name="Text 1"/>
          <p:cNvSpPr/>
          <p:nvPr/>
        </p:nvSpPr>
        <p:spPr>
          <a:xfrm>
            <a:off x="731520" y="3291840"/>
            <a:ext cx="10515600" cy="457200"/>
          </a:xfrm>
          <a:prstGeom prst="rect">
            <a:avLst/>
          </a:prstGeom>
          <a:noFill/>
          <a:ln/>
        </p:spPr>
        <p:txBody>
          <a:bodyPr wrap="square" rtlCol="0" anchor="ctr"/>
          <a:lstStyle/>
          <a:p>
            <a:pPr indent="0" marL="0">
              <a:buNone/>
            </a:pPr>
            <a:r>
              <a:rPr lang="en-US" sz="1800" dirty="0">
                <a:solidFill>
                  <a:srgbClr val="0EA5E9"/>
                </a:solidFill>
                <a:latin typeface="Outfit" pitchFamily="34" charset="0"/>
                <a:ea typeface="Outfit" pitchFamily="34" charset="-122"/>
                <a:cs typeface="Outfit" pitchFamily="34" charset="-120"/>
              </a:rPr>
              <a:t>genpet.org — 2026-10 Comprehensive Audit &amp; Executive Deck</a:t>
            </a:r>
            <a:endParaRPr lang="en-US" sz="1800" dirty="0"/>
          </a:p>
        </p:txBody>
      </p:sp>
      <p:sp>
        <p:nvSpPr>
          <p:cNvPr id="5" name="Shape 2"/>
          <p:cNvSpPr/>
          <p:nvPr/>
        </p:nvSpPr>
        <p:spPr>
          <a:xfrm>
            <a:off x="731520" y="4206240"/>
            <a:ext cx="2286000" cy="45720"/>
          </a:xfrm>
          <a:prstGeom prst="rect">
            <a:avLst/>
          </a:prstGeom>
          <a:solidFill>
            <a:srgbClr val="0EA5E9"/>
          </a:solidFill>
          <a:ln/>
        </p:spPr>
      </p:sp>
      <p:sp>
        <p:nvSpPr>
          <p:cNvPr id="6" name="Text 3"/>
          <p:cNvSpPr/>
          <p:nvPr/>
        </p:nvSpPr>
        <p:spPr>
          <a:xfrm>
            <a:off x="731520" y="4572000"/>
            <a:ext cx="7315200" cy="36576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Prepared by WebDesk Solution Maintenance &amp; QA Engineering Team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Monthly Maintenance Statement</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Proactive Data Protection &amp; Backup Operations</a:t>
            </a:r>
            <a:endParaRPr lang="en-US" sz="2600" dirty="0"/>
          </a:p>
        </p:txBody>
      </p:sp>
      <p:sp>
        <p:nvSpPr>
          <p:cNvPr id="5" name="Text 2"/>
          <p:cNvSpPr/>
          <p:nvPr/>
        </p:nvSpPr>
        <p:spPr>
          <a:xfrm>
            <a:off x="731520" y="1645920"/>
            <a:ext cx="5486400" cy="3200400"/>
          </a:xfrm>
          <a:prstGeom prst="rect">
            <a:avLst/>
          </a:prstGeom>
          <a:noFill/>
          <a:ln/>
        </p:spPr>
        <p:txBody>
          <a:bodyPr wrap="square" rtlCol="0" anchor="ctr"/>
          <a:lstStyle/>
          <a:p>
            <a:pPr indent="0" marL="0">
              <a:lnSpc>
                <a:spcPts val="2200"/>
              </a:lnSpc>
              <a:buNone/>
            </a:pPr>
            <a:r>
              <a:rPr lang="en-US" sz="1400" dirty="0">
                <a:solidFill>
                  <a:srgbClr val="0F172A"/>
                </a:solidFill>
                <a:latin typeface="Plus Jakarta Sans" pitchFamily="34" charset="0"/>
                <a:ea typeface="Plus Jakarta Sans" pitchFamily="34" charset="-122"/>
                <a:cs typeface="Plus Jakarta Sans" pitchFamily="34" charset="-120"/>
              </a:rPr>
              <a:t>Every month we look after your store's security, speed and reliability, so you can focus on running the business. Regular backups keep your data, databases and theme safe, and automated checks watch the store around the clock.</a:t>
            </a:r>
            <a:endParaRPr lang="en-US" sz="1400" dirty="0"/>
          </a:p>
          <a:p>
            <a:pPr indent="0" marL="0">
              <a:lnSpc>
                <a:spcPts val="2200"/>
              </a:lnSpc>
              <a:buNone/>
            </a:pPr>
            <a:endParaRPr lang="en-US" sz="1400" dirty="0"/>
          </a:p>
          <a:p>
            <a:pPr indent="0" marL="0">
              <a:lnSpc>
                <a:spcPts val="2200"/>
              </a:lnSpc>
              <a:buNone/>
            </a:pPr>
            <a:r>
              <a:rPr lang="en-US" sz="1400" dirty="0">
                <a:solidFill>
                  <a:srgbClr val="0F172A"/>
                </a:solidFill>
                <a:latin typeface="Plus Jakarta Sans" pitchFamily="34" charset="0"/>
                <a:ea typeface="Plus Jakarta Sans" pitchFamily="34" charset="-122"/>
                <a:cs typeface="Plus Jakarta Sans" pitchFamily="34" charset="-120"/>
              </a:rPr>
              <a:t>This month's focus: security. We scanned your store for weak points and identified 9 items, ranked by risk, that we will work through next. The pages that follow show what we caught and what comes next.</a:t>
            </a:r>
            <a:endParaRPr lang="en-US" sz="1400" dirty="0"/>
          </a:p>
        </p:txBody>
      </p:sp>
      <p:sp>
        <p:nvSpPr>
          <p:cNvPr id="6" name="Shape 3"/>
          <p:cNvSpPr/>
          <p:nvPr/>
        </p:nvSpPr>
        <p:spPr>
          <a:xfrm>
            <a:off x="6766560" y="1645920"/>
            <a:ext cx="4572000" cy="3200400"/>
          </a:xfrm>
          <a:prstGeom prst="rect">
            <a:avLst>
              <a:gd name="adj" fmla="val 2857"/>
            </a:avLst>
          </a:prstGeom>
          <a:solidFill>
            <a:srgbClr val="F8FAFC"/>
          </a:solidFill>
          <a:ln w="12700">
            <a:solidFill>
              <a:srgbClr val="E2E8F0"/>
            </a:solidFill>
            <a:prstDash val="solid"/>
          </a:ln>
        </p:spPr>
      </p:sp>
      <p:sp>
        <p:nvSpPr>
          <p:cNvPr id="7" name="Text 4"/>
          <p:cNvSpPr/>
          <p:nvPr/>
        </p:nvSpPr>
        <p:spPr>
          <a:xfrm>
            <a:off x="7040880" y="1920240"/>
            <a:ext cx="402336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BACKUP VERIFICATION LOG</a:t>
            </a:r>
            <a:endParaRPr lang="en-US" sz="1100" dirty="0"/>
          </a:p>
        </p:txBody>
      </p:sp>
      <p:sp>
        <p:nvSpPr>
          <p:cNvPr id="8" name="Text 5"/>
          <p:cNvSpPr/>
          <p:nvPr/>
        </p:nvSpPr>
        <p:spPr>
          <a:xfrm>
            <a:off x="7040880" y="2286000"/>
            <a:ext cx="4023360" cy="457200"/>
          </a:xfrm>
          <a:prstGeom prst="rect">
            <a:avLst/>
          </a:prstGeom>
          <a:noFill/>
          <a:ln/>
        </p:spPr>
        <p:txBody>
          <a:bodyPr wrap="square" rtlCol="0" anchor="ctr"/>
          <a:lstStyle/>
          <a:p>
            <a:pPr indent="0" marL="0">
              <a:buNone/>
            </a:pPr>
            <a:r>
              <a:rPr lang="en-US" sz="2000" b="1" dirty="0">
                <a:solidFill>
                  <a:srgbClr val="10B981"/>
                </a:solidFill>
                <a:latin typeface="Outfit" pitchFamily="34" charset="0"/>
                <a:ea typeface="Outfit" pitchFamily="34" charset="-122"/>
                <a:cs typeface="Outfit" pitchFamily="34" charset="-120"/>
              </a:rPr>
              <a:t>Backup Status: SECURED</a:t>
            </a:r>
            <a:endParaRPr lang="en-US" sz="2000" dirty="0"/>
          </a:p>
        </p:txBody>
      </p:sp>
      <p:sp>
        <p:nvSpPr>
          <p:cNvPr id="9" name="Text 6"/>
          <p:cNvSpPr/>
          <p:nvPr/>
        </p:nvSpPr>
        <p:spPr>
          <a:xfrm>
            <a:off x="7040880" y="2926080"/>
            <a:ext cx="402336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Database Backup:</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 Compressed SQL database tables archived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 Customer accounts &amp; order records secured</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Source Code &amp; Theme Backup:</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 Active storefront theme &amp; code cloned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 Product catalog media &amp; config assets cached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Availability &amp; Latency</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Uptime &amp; Initial Response Time (TTFB)</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30-DAY STOREFRONT AVAILABILITY</a:t>
            </a:r>
            <a:endParaRPr lang="en-US" sz="1100" dirty="0"/>
          </a:p>
        </p:txBody>
      </p:sp>
      <p:sp>
        <p:nvSpPr>
          <p:cNvPr id="7" name="Text 4"/>
          <p:cNvSpPr/>
          <p:nvPr/>
        </p:nvSpPr>
        <p:spPr>
          <a:xfrm>
            <a:off x="1005840" y="2286000"/>
            <a:ext cx="4572000" cy="731520"/>
          </a:xfrm>
          <a:prstGeom prst="rect">
            <a:avLst/>
          </a:prstGeom>
          <a:noFill/>
          <a:ln/>
        </p:spPr>
        <p:txBody>
          <a:bodyPr wrap="square" rtlCol="0" anchor="ctr"/>
          <a:lstStyle/>
          <a:p>
            <a:pPr indent="0" marL="0">
              <a:buNone/>
            </a:pPr>
            <a:r>
              <a:rPr lang="en-US" sz="4800" b="1" dirty="0">
                <a:solidFill>
                  <a:srgbClr val="10B981"/>
                </a:solidFill>
                <a:latin typeface="Outfit" pitchFamily="34" charset="0"/>
                <a:ea typeface="Outfit" pitchFamily="34" charset="-122"/>
                <a:cs typeface="Outfit" pitchFamily="34" charset="-120"/>
              </a:rPr>
              <a:t>100% Uptime</a:t>
            </a:r>
            <a:endParaRPr lang="en-US" sz="4800" dirty="0"/>
          </a:p>
        </p:txBody>
      </p:sp>
      <p:sp>
        <p:nvSpPr>
          <p:cNvPr id="8" name="Text 5"/>
          <p:cNvSpPr/>
          <p:nvPr/>
        </p:nvSpPr>
        <p:spPr>
          <a:xfrm>
            <a:off x="1005840" y="3291840"/>
            <a:ext cx="4572000" cy="1463040"/>
          </a:xfrm>
          <a:prstGeom prst="rect">
            <a:avLst/>
          </a:prstGeom>
          <a:noFill/>
          <a:ln/>
        </p:spPr>
        <p:txBody>
          <a:bodyPr wrap="square" rtlCol="0" anchor="ctr"/>
          <a:lstStyle/>
          <a:p>
            <a:pPr indent="0" marL="0">
              <a:lnSpc>
                <a:spcPts val="1800"/>
              </a:lnSpc>
              <a:buNone/>
            </a:pPr>
            <a:r>
              <a:rPr lang="en-US" sz="1300" dirty="0">
                <a:solidFill>
                  <a:srgbClr val="64748B"/>
                </a:solidFill>
                <a:latin typeface="Plus Jakarta Sans" pitchFamily="34" charset="0"/>
                <a:ea typeface="Plus Jakarta Sans" pitchFamily="34" charset="-122"/>
                <a:cs typeface="Plus Jakarta Sans" pitchFamily="34" charset="-120"/>
              </a:rPr>
              <a:t>Continuous health monitoring measured 100% availability over the last 30 days.</a:t>
            </a:r>
            <a:endParaRPr lang="en-US" sz="1300" dirty="0"/>
          </a:p>
        </p:txBody>
      </p:sp>
      <p:sp>
        <p:nvSpPr>
          <p:cNvPr id="9" name="Shape 6"/>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0" name="Text 7"/>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SERVER LATENCY &amp; HEALTH PROBES</a:t>
            </a:r>
            <a:endParaRPr lang="en-US" sz="1100" dirty="0"/>
          </a:p>
        </p:txBody>
      </p:sp>
      <p:sp>
        <p:nvSpPr>
          <p:cNvPr id="11" name="Text 8"/>
          <p:cNvSpPr/>
          <p:nvPr/>
        </p:nvSpPr>
        <p:spPr>
          <a:xfrm>
            <a:off x="6492240" y="2286000"/>
            <a:ext cx="4572000" cy="731520"/>
          </a:xfrm>
          <a:prstGeom prst="rect">
            <a:avLst/>
          </a:prstGeom>
          <a:noFill/>
          <a:ln/>
        </p:spPr>
        <p:txBody>
          <a:bodyPr wrap="square" rtlCol="0" anchor="ctr"/>
          <a:lstStyle/>
          <a:p>
            <a:pPr indent="0" marL="0">
              <a:buNone/>
            </a:pPr>
            <a:r>
              <a:rPr lang="en-US" sz="4800" b="1" dirty="0">
                <a:solidFill>
                  <a:srgbClr val="0EA5E9"/>
                </a:solidFill>
                <a:latin typeface="Outfit" pitchFamily="34" charset="0"/>
                <a:ea typeface="Outfit" pitchFamily="34" charset="-122"/>
                <a:cs typeface="Outfit" pitchFamily="34" charset="-120"/>
              </a:rPr>
              <a:t>339 ms</a:t>
            </a:r>
            <a:endParaRPr lang="en-US" sz="4800" dirty="0"/>
          </a:p>
        </p:txBody>
      </p:sp>
      <p:sp>
        <p:nvSpPr>
          <p:cNvPr id="12" name="Text 9"/>
          <p:cNvSpPr/>
          <p:nvPr/>
        </p:nvSpPr>
        <p:spPr>
          <a:xfrm>
            <a:off x="6492240" y="3200400"/>
            <a:ext cx="4572000" cy="1645920"/>
          </a:xfrm>
          <a:prstGeom prst="rect">
            <a:avLst/>
          </a:prstGeom>
          <a:noFill/>
          <a:ln/>
        </p:spPr>
        <p:txBody>
          <a:bodyPr wrap="square" rtlCol="0" anchor="ctr"/>
          <a:lstStyle/>
          <a:p>
            <a:pPr indent="0" marL="0">
              <a:lnSpc>
                <a:spcPts val="1600"/>
              </a:lnSpc>
              <a:buNone/>
            </a:pPr>
            <a:r>
              <a:rPr lang="en-US" sz="1300" dirty="0">
                <a:solidFill>
                  <a:srgbClr val="0F172A"/>
                </a:solidFill>
                <a:latin typeface="Plus Jakarta Sans" pitchFamily="34" charset="0"/>
                <a:ea typeface="Plus Jakarta Sans" pitchFamily="34" charset="-122"/>
                <a:cs typeface="Plus Jakarta Sans" pitchFamily="34" charset="-120"/>
              </a:rPr>
              <a:t>• Server response time: 339 ms (fast)</a:t>
            </a:r>
            <a:endParaRPr lang="en-US" sz="1300" dirty="0"/>
          </a:p>
          <a:p>
            <a:pPr indent="0" marL="0">
              <a:lnSpc>
                <a:spcPts val="1600"/>
              </a:lnSpc>
              <a:buNone/>
            </a:pPr>
            <a:endParaRPr lang="en-US" sz="1300" dirty="0"/>
          </a:p>
          <a:p>
            <a:pPr indent="0" marL="0">
              <a:lnSpc>
                <a:spcPts val="1600"/>
              </a:lnSpc>
              <a:buNone/>
            </a:pPr>
            <a:r>
              <a:rPr lang="en-US" sz="1300" dirty="0">
                <a:solidFill>
                  <a:srgbClr val="0F172A"/>
                </a:solidFill>
                <a:latin typeface="Plus Jakarta Sans" pitchFamily="34" charset="0"/>
                <a:ea typeface="Plus Jakarta Sans" pitchFamily="34" charset="-122"/>
                <a:cs typeface="Plus Jakarta Sans" pitchFamily="34" charset="-120"/>
              </a:rPr>
              <a:t>• Storefront status: Online, responding normally</a:t>
            </a:r>
            <a:endParaRPr lang="en-US" sz="1300" dirty="0"/>
          </a:p>
          <a:p>
            <a:pPr indent="0" marL="0">
              <a:lnSpc>
                <a:spcPts val="1600"/>
              </a:lnSpc>
              <a:buNone/>
            </a:pPr>
            <a:endParaRPr lang="en-US" sz="1300" dirty="0"/>
          </a:p>
          <a:p>
            <a:pPr indent="0" marL="0">
              <a:lnSpc>
                <a:spcPts val="1600"/>
              </a:lnSpc>
              <a:buNone/>
            </a:pPr>
            <a:r>
              <a:rPr lang="en-US" sz="1300" dirty="0">
                <a:solidFill>
                  <a:srgbClr val="0F172A"/>
                </a:solidFill>
                <a:latin typeface="Plus Jakarta Sans" pitchFamily="34" charset="0"/>
                <a:ea typeface="Plus Jakarta Sans" pitchFamily="34" charset="-122"/>
                <a:cs typeface="Plus Jakarta Sans" pitchFamily="34" charset="-120"/>
              </a:rPr>
              <a:t>• Redirects before the page loads: 0</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 Loading Experience (Core Web Vitals)</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Core Web Vitals Assessment: NEEDS IMPROVEMENT</a:t>
            </a:r>
            <a:endParaRPr lang="en-US" sz="2600" dirty="0"/>
          </a:p>
        </p:txBody>
      </p:sp>
      <p:sp>
        <p:nvSpPr>
          <p:cNvPr id="5" name="Text 2"/>
          <p:cNvSpPr/>
          <p:nvPr/>
        </p:nvSpPr>
        <p:spPr>
          <a:xfrm>
            <a:off x="731520" y="1463040"/>
            <a:ext cx="10515600" cy="731520"/>
          </a:xfrm>
          <a:prstGeom prst="rect">
            <a:avLst/>
          </a:prstGeom>
          <a:noFill/>
          <a:ln/>
        </p:spPr>
        <p:txBody>
          <a:bodyPr wrap="square" rtlCol="0" anchor="ctr"/>
          <a:lstStyle/>
          <a:p>
            <a:pPr indent="0" marL="0">
              <a:buNone/>
            </a:pPr>
            <a:r>
              <a:rPr lang="en-US" sz="1400" dirty="0">
                <a:solidFill>
                  <a:srgbClr val="64748B"/>
                </a:solidFill>
                <a:latin typeface="Plus Jakarta Sans" pitchFamily="34" charset="0"/>
                <a:ea typeface="Plus Jakarta Sans" pitchFamily="34" charset="-122"/>
                <a:cs typeface="Plus Jakarta Sans" pitchFamily="34" charset="-120"/>
              </a:rPr>
              <a:t>Core Web Vitals are Google's measures of how quickly a page shows its main content and how stable it looks while loading. These figures come from this month's mobile speed test of your homepage.</a:t>
            </a:r>
            <a:endParaRPr lang="en-US" sz="1400" dirty="0"/>
          </a:p>
        </p:txBody>
      </p:sp>
      <p:sp>
        <p:nvSpPr>
          <p:cNvPr id="6" name="Shape 3"/>
          <p:cNvSpPr/>
          <p:nvPr/>
        </p:nvSpPr>
        <p:spPr>
          <a:xfrm>
            <a:off x="731520" y="2377440"/>
            <a:ext cx="4937760" cy="2560320"/>
          </a:xfrm>
          <a:prstGeom prst="rect">
            <a:avLst>
              <a:gd name="adj" fmla="val 3571"/>
            </a:avLst>
          </a:prstGeom>
          <a:solidFill>
            <a:srgbClr val="F8FAFC"/>
          </a:solidFill>
          <a:ln w="12700">
            <a:solidFill>
              <a:srgbClr val="E2E8F0"/>
            </a:solidFill>
            <a:prstDash val="solid"/>
          </a:ln>
        </p:spPr>
      </p:sp>
      <p:sp>
        <p:nvSpPr>
          <p:cNvPr id="7" name="Text 4"/>
          <p:cNvSpPr/>
          <p:nvPr/>
        </p:nvSpPr>
        <p:spPr>
          <a:xfrm>
            <a:off x="1005840" y="2651760"/>
            <a:ext cx="4389120" cy="365760"/>
          </a:xfrm>
          <a:prstGeom prst="rect">
            <a:avLst/>
          </a:prstGeom>
          <a:noFill/>
          <a:ln/>
        </p:spPr>
        <p:txBody>
          <a:bodyPr wrap="square" rtlCol="0" anchor="ctr"/>
          <a:lstStyle/>
          <a:p>
            <a:pPr indent="0" marL="0">
              <a:buNone/>
            </a:pPr>
            <a:r>
              <a:rPr lang="en-US" sz="1600" b="1" dirty="0">
                <a:solidFill>
                  <a:srgbClr val="075985"/>
                </a:solidFill>
                <a:latin typeface="Outfit" pitchFamily="34" charset="0"/>
                <a:ea typeface="Outfit" pitchFamily="34" charset="-122"/>
                <a:cs typeface="Outfit" pitchFamily="34" charset="-120"/>
              </a:rPr>
              <a:t>Largest Contentful Paint (LCP) - Mobile</a:t>
            </a:r>
            <a:endParaRPr lang="en-US" sz="1600" dirty="0"/>
          </a:p>
        </p:txBody>
      </p:sp>
      <p:sp>
        <p:nvSpPr>
          <p:cNvPr id="8" name="Text 5"/>
          <p:cNvSpPr/>
          <p:nvPr/>
        </p:nvSpPr>
        <p:spPr>
          <a:xfrm>
            <a:off x="1005840" y="3108960"/>
            <a:ext cx="4389120" cy="731520"/>
          </a:xfrm>
          <a:prstGeom prst="rect">
            <a:avLst/>
          </a:prstGeom>
          <a:noFill/>
          <a:ln/>
        </p:spPr>
        <p:txBody>
          <a:bodyPr wrap="square" rtlCol="0" anchor="ctr"/>
          <a:lstStyle/>
          <a:p>
            <a:pPr indent="0" marL="0">
              <a:buNone/>
            </a:pPr>
            <a:r>
              <a:rPr lang="en-US" sz="4800" b="1" dirty="0">
                <a:solidFill>
                  <a:srgbClr val="DC2626"/>
                </a:solidFill>
                <a:latin typeface="Outfit" pitchFamily="34" charset="0"/>
                <a:ea typeface="Outfit" pitchFamily="34" charset="-122"/>
                <a:cs typeface="Outfit" pitchFamily="34" charset="-120"/>
              </a:rPr>
              <a:t>6.9 s</a:t>
            </a:r>
            <a:endParaRPr lang="en-US" sz="4800" dirty="0"/>
          </a:p>
        </p:txBody>
      </p:sp>
      <p:sp>
        <p:nvSpPr>
          <p:cNvPr id="9" name="Text 6"/>
          <p:cNvSpPr/>
          <p:nvPr/>
        </p:nvSpPr>
        <p:spPr>
          <a:xfrm>
            <a:off x="1005840" y="3931920"/>
            <a:ext cx="4389120" cy="731520"/>
          </a:xfrm>
          <a:prstGeom prst="rect">
            <a:avLst/>
          </a:prstGeom>
          <a:noFill/>
          <a:ln/>
        </p:spPr>
        <p:txBody>
          <a:bodyPr wrap="square" rtlCol="0" anchor="ctr"/>
          <a:lstStyle/>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Status: NEEDS IMPROVEMENT — Target: under 2.5s</a:t>
            </a:r>
            <a:endParaRPr lang="en-US" sz="1250" dirty="0"/>
          </a:p>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Measures when the main content of the page has finished showing.</a:t>
            </a:r>
            <a:endParaRPr lang="en-US" sz="1250" dirty="0"/>
          </a:p>
        </p:txBody>
      </p:sp>
      <p:sp>
        <p:nvSpPr>
          <p:cNvPr id="10" name="Shape 7"/>
          <p:cNvSpPr/>
          <p:nvPr/>
        </p:nvSpPr>
        <p:spPr>
          <a:xfrm>
            <a:off x="6400800" y="2377440"/>
            <a:ext cx="4937760" cy="2560320"/>
          </a:xfrm>
          <a:prstGeom prst="rect">
            <a:avLst>
              <a:gd name="adj" fmla="val 3571"/>
            </a:avLst>
          </a:prstGeom>
          <a:solidFill>
            <a:srgbClr val="F8FAFC"/>
          </a:solidFill>
          <a:ln w="12700">
            <a:solidFill>
              <a:srgbClr val="E2E8F0"/>
            </a:solidFill>
            <a:prstDash val="solid"/>
          </a:ln>
        </p:spPr>
      </p:sp>
      <p:sp>
        <p:nvSpPr>
          <p:cNvPr id="11" name="Text 8"/>
          <p:cNvSpPr/>
          <p:nvPr/>
        </p:nvSpPr>
        <p:spPr>
          <a:xfrm>
            <a:off x="6675120" y="2651760"/>
            <a:ext cx="4389120" cy="365760"/>
          </a:xfrm>
          <a:prstGeom prst="rect">
            <a:avLst/>
          </a:prstGeom>
          <a:noFill/>
          <a:ln/>
        </p:spPr>
        <p:txBody>
          <a:bodyPr wrap="square" rtlCol="0" anchor="ctr"/>
          <a:lstStyle/>
          <a:p>
            <a:pPr indent="0" marL="0">
              <a:buNone/>
            </a:pPr>
            <a:r>
              <a:rPr lang="en-US" sz="1600" b="1" dirty="0">
                <a:solidFill>
                  <a:srgbClr val="075985"/>
                </a:solidFill>
                <a:latin typeface="Outfit" pitchFamily="34" charset="0"/>
                <a:ea typeface="Outfit" pitchFamily="34" charset="-122"/>
                <a:cs typeface="Outfit" pitchFamily="34" charset="-120"/>
              </a:rPr>
              <a:t>Cumulative Layout Shift (CLS) - Mobile</a:t>
            </a:r>
            <a:endParaRPr lang="en-US" sz="1600" dirty="0"/>
          </a:p>
        </p:txBody>
      </p:sp>
      <p:sp>
        <p:nvSpPr>
          <p:cNvPr id="12" name="Text 9"/>
          <p:cNvSpPr/>
          <p:nvPr/>
        </p:nvSpPr>
        <p:spPr>
          <a:xfrm>
            <a:off x="6675120" y="3108960"/>
            <a:ext cx="4389120" cy="731520"/>
          </a:xfrm>
          <a:prstGeom prst="rect">
            <a:avLst/>
          </a:prstGeom>
          <a:noFill/>
          <a:ln/>
        </p:spPr>
        <p:txBody>
          <a:bodyPr wrap="square" rtlCol="0" anchor="ctr"/>
          <a:lstStyle/>
          <a:p>
            <a:pPr indent="0" marL="0">
              <a:buNone/>
            </a:pPr>
            <a:r>
              <a:rPr lang="en-US" sz="4800" b="1" dirty="0">
                <a:solidFill>
                  <a:srgbClr val="DC2626"/>
                </a:solidFill>
                <a:latin typeface="Outfit" pitchFamily="34" charset="0"/>
                <a:ea typeface="Outfit" pitchFamily="34" charset="-122"/>
                <a:cs typeface="Outfit" pitchFamily="34" charset="-120"/>
              </a:rPr>
              <a:t>0.467</a:t>
            </a:r>
            <a:endParaRPr lang="en-US" sz="4800" dirty="0"/>
          </a:p>
        </p:txBody>
      </p:sp>
      <p:sp>
        <p:nvSpPr>
          <p:cNvPr id="13" name="Text 10"/>
          <p:cNvSpPr/>
          <p:nvPr/>
        </p:nvSpPr>
        <p:spPr>
          <a:xfrm>
            <a:off x="6675120" y="3931920"/>
            <a:ext cx="4389120" cy="731520"/>
          </a:xfrm>
          <a:prstGeom prst="rect">
            <a:avLst/>
          </a:prstGeom>
          <a:noFill/>
          <a:ln/>
        </p:spPr>
        <p:txBody>
          <a:bodyPr wrap="square" rtlCol="0" anchor="ctr"/>
          <a:lstStyle/>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Status: NEEDS IMPROVEMENT — Target: under 0.1</a:t>
            </a:r>
            <a:endParaRPr lang="en-US" sz="1250" dirty="0"/>
          </a:p>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Measures whether things jump around while the page loads.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PageSpeed Insights</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Desktop Performance Optimization (Before vs After)</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DESKTOP PERFORMANCE SCORE (BEFORE → AFTER)</a:t>
            </a:r>
            <a:endParaRPr lang="en-US" sz="1100" dirty="0"/>
          </a:p>
        </p:txBody>
      </p:sp>
      <p:sp>
        <p:nvSpPr>
          <p:cNvPr id="7" name="Text 4"/>
          <p:cNvSpPr/>
          <p:nvPr/>
        </p:nvSpPr>
        <p:spPr>
          <a:xfrm>
            <a:off x="1005840" y="2286000"/>
            <a:ext cx="4572000" cy="914400"/>
          </a:xfrm>
          <a:prstGeom prst="rect">
            <a:avLst/>
          </a:prstGeom>
          <a:noFill/>
          <a:ln/>
        </p:spPr>
        <p:txBody>
          <a:bodyPr wrap="square" rtlCol="0" anchor="ctr"/>
          <a:lstStyle/>
          <a:p>
            <a:pPr indent="0" marL="0">
              <a:buNone/>
            </a:pPr>
            <a:r>
              <a:rPr lang="en-US" sz="6000" b="1" dirty="0">
                <a:solidFill>
                  <a:srgbClr val="10B981"/>
                </a:solidFill>
                <a:latin typeface="Outfit" pitchFamily="34" charset="0"/>
                <a:ea typeface="Outfit" pitchFamily="34" charset="-122"/>
                <a:cs typeface="Outfit" pitchFamily="34" charset="-120"/>
              </a:rPr>
              <a:t>67  →  76</a:t>
            </a:r>
            <a:endParaRPr lang="en-US" sz="6000" dirty="0"/>
          </a:p>
        </p:txBody>
      </p:sp>
      <p:sp>
        <p:nvSpPr>
          <p:cNvPr id="8" name="Text 5"/>
          <p:cNvSpPr/>
          <p:nvPr/>
        </p:nvSpPr>
        <p:spPr>
          <a:xfrm>
            <a:off x="1005840" y="3200400"/>
            <a:ext cx="4572000" cy="365760"/>
          </a:xfrm>
          <a:prstGeom prst="rect">
            <a:avLst/>
          </a:prstGeom>
          <a:noFill/>
          <a:ln/>
        </p:spPr>
        <p:txBody>
          <a:bodyPr wrap="square" rtlCol="0" anchor="ctr"/>
          <a:lstStyle/>
          <a:p>
            <a:pPr indent="0" marL="0">
              <a:buNone/>
            </a:pPr>
            <a:r>
              <a:rPr lang="en-US" sz="1600" b="1" dirty="0">
                <a:solidFill>
                  <a:srgbClr val="0F172A"/>
                </a:solidFill>
                <a:latin typeface="Outfit" pitchFamily="34" charset="0"/>
                <a:ea typeface="Outfit" pitchFamily="34" charset="-122"/>
                <a:cs typeface="Outfit" pitchFamily="34" charset="-120"/>
              </a:rPr>
              <a:t>+9 Points Performance Optimization</a:t>
            </a:r>
            <a:endParaRPr lang="en-US" sz="1600" dirty="0"/>
          </a:p>
        </p:txBody>
      </p:sp>
      <p:sp>
        <p:nvSpPr>
          <p:cNvPr id="9" name="Text 6"/>
          <p:cNvSpPr/>
          <p:nvPr/>
        </p:nvSpPr>
        <p:spPr>
          <a:xfrm>
            <a:off x="1005840" y="3657600"/>
            <a:ext cx="4572000" cy="109728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Desktop performance score increased by +9 points (from 67 Before to 76 After out of 100).</a:t>
            </a:r>
            <a:endParaRPr lang="en-US" sz="1300" dirty="0"/>
          </a:p>
        </p:txBody>
      </p:sp>
      <p:sp>
        <p:nvSpPr>
          <p:cNvPr id="10" name="Shape 7"/>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1" name="Text 8"/>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DESKTOP STOREFRONT RATINGS (BEFORE → AFTER)</a:t>
            </a:r>
            <a:endParaRPr lang="en-US" sz="1100" dirty="0"/>
          </a:p>
        </p:txBody>
      </p:sp>
      <p:sp>
        <p:nvSpPr>
          <p:cNvPr id="12" name="Text 9"/>
          <p:cNvSpPr/>
          <p:nvPr/>
        </p:nvSpPr>
        <p:spPr>
          <a:xfrm>
            <a:off x="6492240" y="246888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Accessibility: 91 / 100</a:t>
            </a:r>
            <a:endParaRPr lang="en-US" sz="1800" dirty="0"/>
          </a:p>
        </p:txBody>
      </p:sp>
      <p:sp>
        <p:nvSpPr>
          <p:cNvPr id="13" name="Text 10"/>
          <p:cNvSpPr/>
          <p:nvPr/>
        </p:nvSpPr>
        <p:spPr>
          <a:xfrm>
            <a:off x="6492240" y="301752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Best Practices: 100 / 100</a:t>
            </a:r>
            <a:endParaRPr lang="en-US" sz="1800" dirty="0"/>
          </a:p>
        </p:txBody>
      </p:sp>
      <p:sp>
        <p:nvSpPr>
          <p:cNvPr id="14" name="Text 11"/>
          <p:cNvSpPr/>
          <p:nvPr/>
        </p:nvSpPr>
        <p:spPr>
          <a:xfrm>
            <a:off x="6492240" y="356616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SEO Rating: 100 / 100</a:t>
            </a:r>
            <a:endParaRPr lang="en-US" sz="1800" dirty="0"/>
          </a:p>
        </p:txBody>
      </p:sp>
      <p:sp>
        <p:nvSpPr>
          <p:cNvPr id="15" name="Text 12"/>
          <p:cNvSpPr/>
          <p:nvPr/>
        </p:nvSpPr>
        <p:spPr>
          <a:xfrm>
            <a:off x="6492240" y="4114800"/>
            <a:ext cx="4572000" cy="365760"/>
          </a:xfrm>
          <a:prstGeom prst="rect">
            <a:avLst/>
          </a:prstGeom>
          <a:noFill/>
          <a:ln/>
        </p:spPr>
        <p:txBody>
          <a:bodyPr wrap="square" rtlCol="0" anchor="ctr"/>
          <a:lstStyle/>
          <a:p>
            <a:pPr indent="0" marL="0">
              <a:buNone/>
            </a:pPr>
            <a:r>
              <a:rPr lang="en-US" sz="1600" b="1" dirty="0">
                <a:solidFill>
                  <a:srgbClr val="10B981"/>
                </a:solidFill>
                <a:latin typeface="Outfit" pitchFamily="34" charset="0"/>
                <a:ea typeface="Outfit" pitchFamily="34" charset="-122"/>
                <a:cs typeface="Outfit" pitchFamily="34" charset="-120"/>
              </a:rPr>
              <a:t>✓ Google Agentic Browsing: Pass (2/2)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PageSpeed Insights</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Mobile Performance Optimization (Before vs After)</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MOBILE PERFORMANCE SCORE (BEFORE → AFTER)</a:t>
            </a:r>
            <a:endParaRPr lang="en-US" sz="1100" dirty="0"/>
          </a:p>
        </p:txBody>
      </p:sp>
      <p:sp>
        <p:nvSpPr>
          <p:cNvPr id="7" name="Text 4"/>
          <p:cNvSpPr/>
          <p:nvPr/>
        </p:nvSpPr>
        <p:spPr>
          <a:xfrm>
            <a:off x="1005840" y="2286000"/>
            <a:ext cx="4572000" cy="914400"/>
          </a:xfrm>
          <a:prstGeom prst="rect">
            <a:avLst/>
          </a:prstGeom>
          <a:noFill/>
          <a:ln/>
        </p:spPr>
        <p:txBody>
          <a:bodyPr wrap="square" rtlCol="0" anchor="ctr"/>
          <a:lstStyle/>
          <a:p>
            <a:pPr indent="0" marL="0">
              <a:buNone/>
            </a:pPr>
            <a:r>
              <a:rPr lang="en-US" sz="6000" b="1" dirty="0">
                <a:solidFill>
                  <a:srgbClr val="0EA5E9"/>
                </a:solidFill>
                <a:latin typeface="Outfit" pitchFamily="34" charset="0"/>
                <a:ea typeface="Outfit" pitchFamily="34" charset="-122"/>
                <a:cs typeface="Outfit" pitchFamily="34" charset="-120"/>
              </a:rPr>
              <a:t>45  →  67</a:t>
            </a:r>
            <a:endParaRPr lang="en-US" sz="6000" dirty="0"/>
          </a:p>
        </p:txBody>
      </p:sp>
      <p:sp>
        <p:nvSpPr>
          <p:cNvPr id="8" name="Text 5"/>
          <p:cNvSpPr/>
          <p:nvPr/>
        </p:nvSpPr>
        <p:spPr>
          <a:xfrm>
            <a:off x="1005840" y="3200400"/>
            <a:ext cx="4572000" cy="365760"/>
          </a:xfrm>
          <a:prstGeom prst="rect">
            <a:avLst/>
          </a:prstGeom>
          <a:noFill/>
          <a:ln/>
        </p:spPr>
        <p:txBody>
          <a:bodyPr wrap="square" rtlCol="0" anchor="ctr"/>
          <a:lstStyle/>
          <a:p>
            <a:pPr indent="0" marL="0">
              <a:buNone/>
            </a:pPr>
            <a:r>
              <a:rPr lang="en-US" sz="1600" b="1" dirty="0">
                <a:solidFill>
                  <a:srgbClr val="0F172A"/>
                </a:solidFill>
                <a:latin typeface="Outfit" pitchFamily="34" charset="0"/>
                <a:ea typeface="Outfit" pitchFamily="34" charset="-122"/>
                <a:cs typeface="Outfit" pitchFamily="34" charset="-120"/>
              </a:rPr>
              <a:t>+22 Points Mobile Optimization Lift</a:t>
            </a:r>
            <a:endParaRPr lang="en-US" sz="1600" dirty="0"/>
          </a:p>
        </p:txBody>
      </p:sp>
      <p:sp>
        <p:nvSpPr>
          <p:cNvPr id="9" name="Text 6"/>
          <p:cNvSpPr/>
          <p:nvPr/>
        </p:nvSpPr>
        <p:spPr>
          <a:xfrm>
            <a:off x="1005840" y="3657600"/>
            <a:ext cx="4572000" cy="109728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Mobile performance score increased by +22 points (from 45 Before to 67 After out of 100), establishing a fast mobile rendering sequence.</a:t>
            </a:r>
            <a:endParaRPr lang="en-US" sz="1300" dirty="0"/>
          </a:p>
        </p:txBody>
      </p:sp>
      <p:sp>
        <p:nvSpPr>
          <p:cNvPr id="10" name="Shape 7"/>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1" name="Text 8"/>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MOBILE STOREFRONT RATINGS (BEFORE → AFTER)</a:t>
            </a:r>
            <a:endParaRPr lang="en-US" sz="1100" dirty="0"/>
          </a:p>
        </p:txBody>
      </p:sp>
      <p:sp>
        <p:nvSpPr>
          <p:cNvPr id="12" name="Text 9"/>
          <p:cNvSpPr/>
          <p:nvPr/>
        </p:nvSpPr>
        <p:spPr>
          <a:xfrm>
            <a:off x="6492240" y="246888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Accessibility: 91 / 100</a:t>
            </a:r>
            <a:endParaRPr lang="en-US" sz="1800" dirty="0"/>
          </a:p>
        </p:txBody>
      </p:sp>
      <p:sp>
        <p:nvSpPr>
          <p:cNvPr id="13" name="Text 10"/>
          <p:cNvSpPr/>
          <p:nvPr/>
        </p:nvSpPr>
        <p:spPr>
          <a:xfrm>
            <a:off x="6492240" y="301752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Best Practices: 100 / 100</a:t>
            </a:r>
            <a:endParaRPr lang="en-US" sz="1800" dirty="0"/>
          </a:p>
        </p:txBody>
      </p:sp>
      <p:sp>
        <p:nvSpPr>
          <p:cNvPr id="14" name="Text 11"/>
          <p:cNvSpPr/>
          <p:nvPr/>
        </p:nvSpPr>
        <p:spPr>
          <a:xfrm>
            <a:off x="6492240" y="356616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SEO Rating: 100 / 100</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PageSpeed Insights — About Us Page</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About Us Performance Optimization (Before vs After)</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ABOUT US DESKTOP PERFORMANCE (BEFORE → AFTER)</a:t>
            </a:r>
            <a:endParaRPr lang="en-US" sz="1100" dirty="0"/>
          </a:p>
        </p:txBody>
      </p:sp>
      <p:sp>
        <p:nvSpPr>
          <p:cNvPr id="7" name="Text 4"/>
          <p:cNvSpPr/>
          <p:nvPr/>
        </p:nvSpPr>
        <p:spPr>
          <a:xfrm>
            <a:off x="1005840" y="2286000"/>
            <a:ext cx="4572000" cy="914400"/>
          </a:xfrm>
          <a:prstGeom prst="rect">
            <a:avLst/>
          </a:prstGeom>
          <a:noFill/>
          <a:ln/>
        </p:spPr>
        <p:txBody>
          <a:bodyPr wrap="square" rtlCol="0" anchor="ctr"/>
          <a:lstStyle/>
          <a:p>
            <a:pPr indent="0" marL="0">
              <a:buNone/>
            </a:pPr>
            <a:r>
              <a:rPr lang="en-US" sz="6000" b="1" dirty="0">
                <a:solidFill>
                  <a:srgbClr val="10B981"/>
                </a:solidFill>
                <a:latin typeface="Outfit" pitchFamily="34" charset="0"/>
                <a:ea typeface="Outfit" pitchFamily="34" charset="-122"/>
                <a:cs typeface="Outfit" pitchFamily="34" charset="-120"/>
              </a:rPr>
              <a:t>67  →  76</a:t>
            </a:r>
            <a:endParaRPr lang="en-US" sz="6000" dirty="0"/>
          </a:p>
        </p:txBody>
      </p:sp>
      <p:sp>
        <p:nvSpPr>
          <p:cNvPr id="8" name="Text 5"/>
          <p:cNvSpPr/>
          <p:nvPr/>
        </p:nvSpPr>
        <p:spPr>
          <a:xfrm>
            <a:off x="1005840" y="3200400"/>
            <a:ext cx="4572000" cy="365760"/>
          </a:xfrm>
          <a:prstGeom prst="rect">
            <a:avLst/>
          </a:prstGeom>
          <a:noFill/>
          <a:ln/>
        </p:spPr>
        <p:txBody>
          <a:bodyPr wrap="square" rtlCol="0" anchor="ctr"/>
          <a:lstStyle/>
          <a:p>
            <a:pPr indent="0" marL="0">
              <a:buNone/>
            </a:pPr>
            <a:r>
              <a:rPr lang="en-US" sz="1600" b="1" dirty="0">
                <a:solidFill>
                  <a:srgbClr val="0F172A"/>
                </a:solidFill>
                <a:latin typeface="Outfit" pitchFamily="34" charset="0"/>
                <a:ea typeface="Outfit" pitchFamily="34" charset="-122"/>
                <a:cs typeface="Outfit" pitchFamily="34" charset="-120"/>
              </a:rPr>
              <a:t>+9 Points Desktop Optimization</a:t>
            </a:r>
            <a:endParaRPr lang="en-US" sz="1600" dirty="0"/>
          </a:p>
        </p:txBody>
      </p:sp>
      <p:sp>
        <p:nvSpPr>
          <p:cNvPr id="9" name="Text 6"/>
          <p:cNvSpPr/>
          <p:nvPr/>
        </p:nvSpPr>
        <p:spPr>
          <a:xfrm>
            <a:off x="1005840" y="3657600"/>
            <a:ext cx="4572000" cy="109728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Desktop performance score for About Us increased from 67 Before to 76 After out of 100.</a:t>
            </a:r>
            <a:endParaRPr lang="en-US" sz="1300" dirty="0"/>
          </a:p>
        </p:txBody>
      </p:sp>
      <p:sp>
        <p:nvSpPr>
          <p:cNvPr id="10" name="Shape 7"/>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1" name="Text 8"/>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ABOUT US MOBILE PERFORMANCE (BEFORE → AFTER)</a:t>
            </a:r>
            <a:endParaRPr lang="en-US" sz="1100" dirty="0"/>
          </a:p>
        </p:txBody>
      </p:sp>
      <p:sp>
        <p:nvSpPr>
          <p:cNvPr id="12" name="Text 9"/>
          <p:cNvSpPr/>
          <p:nvPr/>
        </p:nvSpPr>
        <p:spPr>
          <a:xfrm>
            <a:off x="6492240" y="2286000"/>
            <a:ext cx="4572000" cy="914400"/>
          </a:xfrm>
          <a:prstGeom prst="rect">
            <a:avLst/>
          </a:prstGeom>
          <a:noFill/>
          <a:ln/>
        </p:spPr>
        <p:txBody>
          <a:bodyPr wrap="square" rtlCol="0" anchor="ctr"/>
          <a:lstStyle/>
          <a:p>
            <a:pPr indent="0" marL="0">
              <a:buNone/>
            </a:pPr>
            <a:r>
              <a:rPr lang="en-US" sz="6000" b="1" dirty="0">
                <a:solidFill>
                  <a:srgbClr val="0EA5E9"/>
                </a:solidFill>
                <a:latin typeface="Outfit" pitchFamily="34" charset="0"/>
                <a:ea typeface="Outfit" pitchFamily="34" charset="-122"/>
                <a:cs typeface="Outfit" pitchFamily="34" charset="-120"/>
              </a:rPr>
              <a:t>45  →  67</a:t>
            </a:r>
            <a:endParaRPr lang="en-US" sz="6000" dirty="0"/>
          </a:p>
        </p:txBody>
      </p:sp>
      <p:sp>
        <p:nvSpPr>
          <p:cNvPr id="13" name="Text 10"/>
          <p:cNvSpPr/>
          <p:nvPr/>
        </p:nvSpPr>
        <p:spPr>
          <a:xfrm>
            <a:off x="6492240" y="3200400"/>
            <a:ext cx="4572000" cy="365760"/>
          </a:xfrm>
          <a:prstGeom prst="rect">
            <a:avLst/>
          </a:prstGeom>
          <a:noFill/>
          <a:ln/>
        </p:spPr>
        <p:txBody>
          <a:bodyPr wrap="square" rtlCol="0" anchor="ctr"/>
          <a:lstStyle/>
          <a:p>
            <a:pPr indent="0" marL="0">
              <a:buNone/>
            </a:pPr>
            <a:r>
              <a:rPr lang="en-US" sz="1600" b="1" dirty="0">
                <a:solidFill>
                  <a:srgbClr val="0F172A"/>
                </a:solidFill>
                <a:latin typeface="Outfit" pitchFamily="34" charset="0"/>
                <a:ea typeface="Outfit" pitchFamily="34" charset="-122"/>
                <a:cs typeface="Outfit" pitchFamily="34" charset="-120"/>
              </a:rPr>
              <a:t>+22 Points Mobile Optimization Lift</a:t>
            </a:r>
            <a:endParaRPr lang="en-US" sz="1600" dirty="0"/>
          </a:p>
        </p:txBody>
      </p:sp>
      <p:sp>
        <p:nvSpPr>
          <p:cNvPr id="14" name="Text 11"/>
          <p:cNvSpPr/>
          <p:nvPr/>
        </p:nvSpPr>
        <p:spPr>
          <a:xfrm>
            <a:off x="6492240" y="3749040"/>
            <a:ext cx="4572000" cy="1097280"/>
          </a:xfrm>
          <a:prstGeom prst="rect">
            <a:avLst/>
          </a:prstGeom>
          <a:noFill/>
          <a:ln/>
        </p:spPr>
        <p:txBody>
          <a:bodyPr wrap="square" rtlCol="0" anchor="ctr"/>
          <a:lstStyle/>
          <a:p>
            <a:pPr indent="0" marL="0">
              <a:lnSpc>
                <a:spcPts val="1800"/>
              </a:lnSpc>
              <a:buNone/>
            </a:pPr>
            <a:r>
              <a:rPr lang="en-US" sz="1400" b="1" dirty="0">
                <a:solidFill>
                  <a:srgbClr val="10B981"/>
                </a:solidFill>
                <a:latin typeface="Outfit" pitchFamily="34" charset="0"/>
                <a:ea typeface="Outfit" pitchFamily="34" charset="-122"/>
                <a:cs typeface="Outfit" pitchFamily="34" charset="-120"/>
              </a:rPr>
              <a:t>✓ Accessibility: 96 / 100</a:t>
            </a:r>
            <a:endParaRPr lang="en-US" sz="1400" dirty="0"/>
          </a:p>
          <a:p>
            <a:pPr indent="0" marL="0">
              <a:lnSpc>
                <a:spcPts val="1800"/>
              </a:lnSpc>
              <a:buNone/>
            </a:pPr>
            <a:r>
              <a:rPr lang="en-US" sz="1400" b="1" dirty="0">
                <a:solidFill>
                  <a:srgbClr val="10B981"/>
                </a:solidFill>
                <a:latin typeface="Outfit" pitchFamily="34" charset="0"/>
                <a:ea typeface="Outfit" pitchFamily="34" charset="-122"/>
                <a:cs typeface="Outfit" pitchFamily="34" charset="-120"/>
              </a:rPr>
              <a:t>✓ Best Practices: 100 / 100</a:t>
            </a:r>
            <a:endParaRPr lang="en-US" sz="1400" dirty="0"/>
          </a:p>
          <a:p>
            <a:pPr indent="0" marL="0">
              <a:lnSpc>
                <a:spcPts val="1800"/>
              </a:lnSpc>
              <a:buNone/>
            </a:pPr>
            <a:r>
              <a:rPr lang="en-US" sz="1400" b="1" dirty="0">
                <a:solidFill>
                  <a:srgbClr val="10B981"/>
                </a:solidFill>
                <a:latin typeface="Outfit" pitchFamily="34" charset="0"/>
                <a:ea typeface="Outfit" pitchFamily="34" charset="-122"/>
                <a:cs typeface="Outfit" pitchFamily="34" charset="-120"/>
              </a:rPr>
              <a:t>✓ SEO Rating: 100 / 100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Search Engine Health</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Technical SEO &amp; Crawlability Verification</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META &amp; CANONICAL TAG HEALTH</a:t>
            </a:r>
            <a:endParaRPr lang="en-US" sz="1100" dirty="0"/>
          </a:p>
        </p:txBody>
      </p:sp>
      <p:sp>
        <p:nvSpPr>
          <p:cNvPr id="7" name="Text 4"/>
          <p:cNvSpPr/>
          <p:nvPr/>
        </p:nvSpPr>
        <p:spPr>
          <a:xfrm>
            <a:off x="10058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100% Meta Coverage</a:t>
            </a:r>
            <a:endParaRPr lang="en-US" sz="2200" dirty="0"/>
          </a:p>
        </p:txBody>
      </p:sp>
      <p:sp>
        <p:nvSpPr>
          <p:cNvPr id="8" name="Text 5"/>
          <p:cNvSpPr/>
          <p:nvPr/>
        </p:nvSpPr>
        <p:spPr>
          <a:xfrm>
            <a:off x="1005840" y="2926080"/>
            <a:ext cx="457200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Title Tags: Present across all template layouts</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Meta Descriptions: Unique descriptions configured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Canonical Tags: Valid canonical URLs set without loops</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Heading Hierarchy: Single clean &lt;h1&gt; per page layout</a:t>
            </a:r>
            <a:endParaRPr lang="en-US" sz="1300" dirty="0"/>
          </a:p>
        </p:txBody>
      </p:sp>
      <p:sp>
        <p:nvSpPr>
          <p:cNvPr id="9" name="Shape 6"/>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0" name="Text 7"/>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STRUCTURED DATA &amp; INDEXING</a:t>
            </a:r>
            <a:endParaRPr lang="en-US" sz="1100" dirty="0"/>
          </a:p>
        </p:txBody>
      </p:sp>
      <p:sp>
        <p:nvSpPr>
          <p:cNvPr id="11" name="Text 8"/>
          <p:cNvSpPr/>
          <p:nvPr/>
        </p:nvSpPr>
        <p:spPr>
          <a:xfrm>
            <a:off x="64922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SEO Rating: 100 / 100</a:t>
            </a:r>
            <a:endParaRPr lang="en-US" sz="2200" dirty="0"/>
          </a:p>
        </p:txBody>
      </p:sp>
      <p:sp>
        <p:nvSpPr>
          <p:cNvPr id="12" name="Text 9"/>
          <p:cNvSpPr/>
          <p:nvPr/>
        </p:nvSpPr>
        <p:spPr>
          <a:xfrm>
            <a:off x="6492240" y="2926080"/>
            <a:ext cx="457200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Schema.org Microdata: JSON-LD Product &amp; FAQ Schema valid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Sitemap.xml: Fully accessible &amp; formatted XML index</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Robots.txt: Googlebot &amp; Bingbot crawling enabled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OpenGraph Tags: Social sharing preview metadata verified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AI &amp; Voice Search Optimization</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GEO &amp; AEO (AI Engine Readiness)</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AI CRAWLER PERMISSIONS</a:t>
            </a:r>
            <a:endParaRPr lang="en-US" sz="1100" dirty="0"/>
          </a:p>
        </p:txBody>
      </p:sp>
      <p:sp>
        <p:nvSpPr>
          <p:cNvPr id="7" name="Text 4"/>
          <p:cNvSpPr/>
          <p:nvPr/>
        </p:nvSpPr>
        <p:spPr>
          <a:xfrm>
            <a:off x="10058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AI Crawlers: ALLOWED</a:t>
            </a:r>
            <a:endParaRPr lang="en-US" sz="2200" dirty="0"/>
          </a:p>
        </p:txBody>
      </p:sp>
      <p:sp>
        <p:nvSpPr>
          <p:cNvPr id="8" name="Text 5"/>
          <p:cNvSpPr/>
          <p:nvPr/>
        </p:nvSpPr>
        <p:spPr>
          <a:xfrm>
            <a:off x="1005840" y="2926080"/>
            <a:ext cx="457200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GPTBot (OpenAI/SearchGPT): Access permitted in robots.txt</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Gemini-Exchange (Google AI): Unblocked for citation indexing</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PerplexityBot &amp; ClaudeBot: Catalog scanning allowed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Product Facts: Clean HTML data tables ready for LLM extraction</a:t>
            </a:r>
            <a:endParaRPr lang="en-US" sz="1300" dirty="0"/>
          </a:p>
        </p:txBody>
      </p:sp>
      <p:sp>
        <p:nvSpPr>
          <p:cNvPr id="9" name="Shape 6"/>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0" name="Text 7"/>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VOICE READABILITY &amp; STRUCTURE</a:t>
            </a:r>
            <a:endParaRPr lang="en-US" sz="1100" dirty="0"/>
          </a:p>
        </p:txBody>
      </p:sp>
      <p:sp>
        <p:nvSpPr>
          <p:cNvPr id="11" name="Text 8"/>
          <p:cNvSpPr/>
          <p:nvPr/>
        </p:nvSpPr>
        <p:spPr>
          <a:xfrm>
            <a:off x="6492240" y="2286000"/>
            <a:ext cx="4572000" cy="457200"/>
          </a:xfrm>
          <a:prstGeom prst="rect">
            <a:avLst/>
          </a:prstGeom>
          <a:noFill/>
          <a:ln/>
        </p:spPr>
        <p:txBody>
          <a:bodyPr wrap="square" rtlCol="0" anchor="ctr"/>
          <a:lstStyle/>
          <a:p>
            <a:pPr indent="0" marL="0">
              <a:buNone/>
            </a:pPr>
            <a:r>
              <a:rPr lang="en-US" sz="2200" b="1" dirty="0">
                <a:solidFill>
                  <a:srgbClr val="0EA5E9"/>
                </a:solidFill>
                <a:latin typeface="Outfit" pitchFamily="34" charset="0"/>
                <a:ea typeface="Outfit" pitchFamily="34" charset="-122"/>
                <a:cs typeface="Outfit" pitchFamily="34" charset="-120"/>
              </a:rPr>
              <a:t>Flesch Index: 68.5</a:t>
            </a:r>
            <a:endParaRPr lang="en-US" sz="2200" dirty="0"/>
          </a:p>
        </p:txBody>
      </p:sp>
      <p:sp>
        <p:nvSpPr>
          <p:cNvPr id="12" name="Text 9"/>
          <p:cNvSpPr/>
          <p:nvPr/>
        </p:nvSpPr>
        <p:spPr>
          <a:xfrm>
            <a:off x="6492240" y="2926080"/>
            <a:ext cx="457200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Conversational Tone: Standard English score (Easy for Voice/Siri)</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Direct Answer Q&amp;A: FAQ structures optimized for answer snippets</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JSON-LD Product Attributes: Instant price/spec extraction for AI</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High Tier Feature: Enterprise AI visibility monitoring enabled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Cybersecurity &amp; Storefront Protection</a:t>
            </a:r>
            <a:endParaRPr lang="en-US" sz="1300" dirty="0"/>
          </a:p>
        </p:txBody>
      </p:sp>
      <p:sp>
        <p:nvSpPr>
          <p:cNvPr id="4" name="Text 1"/>
          <p:cNvSpPr/>
          <p:nvPr/>
        </p:nvSpPr>
        <p:spPr>
          <a:xfrm>
            <a:off x="731520" y="731520"/>
            <a:ext cx="82296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Security Protection Check</a:t>
            </a:r>
            <a:endParaRPr lang="en-US" sz="2600" dirty="0"/>
          </a:p>
        </p:txBody>
      </p:sp>
      <p:sp>
        <p:nvSpPr>
          <p:cNvPr id="5" name="Text 2"/>
          <p:cNvSpPr/>
          <p:nvPr/>
        </p:nvSpPr>
        <p:spPr>
          <a:xfrm>
            <a:off x="731520" y="1280160"/>
            <a:ext cx="7772400" cy="365760"/>
          </a:xfrm>
          <a:prstGeom prst="rect">
            <a:avLst/>
          </a:prstGeom>
          <a:noFill/>
          <a:ln/>
        </p:spPr>
        <p:txBody>
          <a:bodyPr wrap="square" rtlCol="0" anchor="ctr"/>
          <a:lstStyle/>
          <a:p>
            <a:pPr indent="0" marL="0">
              <a:buNone/>
            </a:pPr>
            <a:r>
              <a:rPr lang="en-US" sz="1500" b="1" dirty="0">
                <a:solidFill>
                  <a:srgbClr val="075985"/>
                </a:solidFill>
                <a:latin typeface="Plus Jakarta Sans" pitchFamily="34" charset="0"/>
                <a:ea typeface="Plus Jakarta Sans" pitchFamily="34" charset="-122"/>
                <a:cs typeface="Plus Jakarta Sans" pitchFamily="34" charset="-120"/>
              </a:rPr>
              <a:t>Where each protection area stands</a:t>
            </a:r>
            <a:endParaRPr lang="en-US" sz="1500" dirty="0"/>
          </a:p>
        </p:txBody>
      </p:sp>
      <p:sp>
        <p:nvSpPr>
          <p:cNvPr id="6" name="Text 3"/>
          <p:cNvSpPr/>
          <p:nvPr/>
        </p:nvSpPr>
        <p:spPr>
          <a:xfrm>
            <a:off x="5212080" y="1783080"/>
            <a:ext cx="1188720" cy="274320"/>
          </a:xfrm>
          <a:prstGeom prst="rect">
            <a:avLst/>
          </a:prstGeom>
          <a:noFill/>
          <a:ln/>
        </p:spPr>
        <p:txBody>
          <a:bodyPr wrap="square" rtlCol="0" anchor="ctr"/>
          <a:lstStyle/>
          <a:p>
            <a:pPr algn="ctr" indent="0" marL="0">
              <a:buNone/>
            </a:pPr>
            <a:r>
              <a:rPr lang="en-US" sz="900" b="1" dirty="0">
                <a:solidFill>
                  <a:srgbClr val="64748B"/>
                </a:solidFill>
                <a:latin typeface="Plus Jakarta Sans" pitchFamily="34" charset="0"/>
                <a:ea typeface="Plus Jakarta Sans" pitchFamily="34" charset="-122"/>
                <a:cs typeface="Plus Jakarta Sans" pitchFamily="34" charset="-120"/>
              </a:rPr>
              <a:t>LAST MONTH</a:t>
            </a:r>
            <a:endParaRPr lang="en-US" sz="900" dirty="0"/>
          </a:p>
        </p:txBody>
      </p:sp>
      <p:sp>
        <p:nvSpPr>
          <p:cNvPr id="7" name="Text 4"/>
          <p:cNvSpPr/>
          <p:nvPr/>
        </p:nvSpPr>
        <p:spPr>
          <a:xfrm>
            <a:off x="6035040" y="1783080"/>
            <a:ext cx="1188720" cy="274320"/>
          </a:xfrm>
          <a:prstGeom prst="rect">
            <a:avLst/>
          </a:prstGeom>
          <a:noFill/>
          <a:ln/>
        </p:spPr>
        <p:txBody>
          <a:bodyPr wrap="square" rtlCol="0" anchor="ctr"/>
          <a:lstStyle/>
          <a:p>
            <a:pPr algn="ctr" indent="0" marL="0">
              <a:buNone/>
            </a:pPr>
            <a:r>
              <a:rPr lang="en-US" sz="900" b="1" dirty="0">
                <a:solidFill>
                  <a:srgbClr val="64748B"/>
                </a:solidFill>
                <a:latin typeface="Plus Jakarta Sans" pitchFamily="34" charset="0"/>
                <a:ea typeface="Plus Jakarta Sans" pitchFamily="34" charset="-122"/>
                <a:cs typeface="Plus Jakarta Sans" pitchFamily="34" charset="-120"/>
              </a:rPr>
              <a:t>THIS MONTH</a:t>
            </a:r>
            <a:endParaRPr lang="en-US" sz="900" dirty="0"/>
          </a:p>
        </p:txBody>
      </p:sp>
      <p:sp>
        <p:nvSpPr>
          <p:cNvPr id="8" name="Shape 5"/>
          <p:cNvSpPr/>
          <p:nvPr/>
        </p:nvSpPr>
        <p:spPr>
          <a:xfrm>
            <a:off x="731520" y="2148840"/>
            <a:ext cx="7040880" cy="566928"/>
          </a:xfrm>
          <a:prstGeom prst="rect">
            <a:avLst>
              <a:gd name="adj" fmla="val 12903"/>
            </a:avLst>
          </a:prstGeom>
          <a:solidFill>
            <a:srgbClr val="F8FAFC"/>
          </a:solidFill>
          <a:ln w="9525">
            <a:solidFill>
              <a:srgbClr val="E2E8F0"/>
            </a:solidFill>
            <a:prstDash val="solid"/>
          </a:ln>
        </p:spPr>
      </p:sp>
      <p:sp>
        <p:nvSpPr>
          <p:cNvPr id="9" name="Shape 6"/>
          <p:cNvSpPr/>
          <p:nvPr/>
        </p:nvSpPr>
        <p:spPr>
          <a:xfrm>
            <a:off x="731520" y="2148840"/>
            <a:ext cx="82296" cy="566928"/>
          </a:xfrm>
          <a:prstGeom prst="rect">
            <a:avLst/>
          </a:prstGeom>
          <a:solidFill>
            <a:srgbClr val="10B981"/>
          </a:solidFill>
          <a:ln w="12700">
            <a:solidFill>
              <a:srgbClr val="10B981"/>
            </a:solidFill>
            <a:prstDash val="solid"/>
          </a:ln>
        </p:spPr>
      </p:sp>
      <p:sp>
        <p:nvSpPr>
          <p:cNvPr id="10" name="Text 7"/>
          <p:cNvSpPr/>
          <p:nvPr/>
        </p:nvSpPr>
        <p:spPr>
          <a:xfrm>
            <a:off x="960120" y="2185416"/>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Outside tools tamper check</a:t>
            </a:r>
            <a:endParaRPr lang="en-US" sz="1300" dirty="0"/>
          </a:p>
        </p:txBody>
      </p:sp>
      <p:sp>
        <p:nvSpPr>
          <p:cNvPr id="11" name="Text 8"/>
          <p:cNvSpPr/>
          <p:nvPr/>
        </p:nvSpPr>
        <p:spPr>
          <a:xfrm>
            <a:off x="960120" y="2432304"/>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Stops a hacked third-party tool from reaching your shoppers</a:t>
            </a:r>
            <a:endParaRPr lang="en-US" sz="1000" dirty="0"/>
          </a:p>
        </p:txBody>
      </p:sp>
      <p:sp>
        <p:nvSpPr>
          <p:cNvPr id="12" name="Shape 9"/>
          <p:cNvSpPr/>
          <p:nvPr/>
        </p:nvSpPr>
        <p:spPr>
          <a:xfrm>
            <a:off x="5504688" y="2286000"/>
            <a:ext cx="237744" cy="237744"/>
          </a:xfrm>
          <a:prstGeom prst="ellipse">
            <a:avLst/>
          </a:prstGeom>
          <a:solidFill>
            <a:srgbClr val="CBD5E1"/>
          </a:solidFill>
          <a:ln w="19050">
            <a:solidFill>
              <a:srgbClr val="FFFFFF"/>
            </a:solidFill>
            <a:prstDash val="solid"/>
          </a:ln>
        </p:spPr>
      </p:sp>
      <p:sp>
        <p:nvSpPr>
          <p:cNvPr id="13" name="Text 10"/>
          <p:cNvSpPr/>
          <p:nvPr/>
        </p:nvSpPr>
        <p:spPr>
          <a:xfrm>
            <a:off x="5806440" y="2240280"/>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14" name="Shape 11"/>
          <p:cNvSpPr/>
          <p:nvPr/>
        </p:nvSpPr>
        <p:spPr>
          <a:xfrm>
            <a:off x="6327648" y="2286000"/>
            <a:ext cx="237744" cy="237744"/>
          </a:xfrm>
          <a:prstGeom prst="ellipse">
            <a:avLst/>
          </a:prstGeom>
          <a:solidFill>
            <a:srgbClr val="10B981"/>
          </a:solidFill>
          <a:ln w="19050">
            <a:solidFill>
              <a:srgbClr val="FFFFFF"/>
            </a:solidFill>
            <a:prstDash val="solid"/>
          </a:ln>
        </p:spPr>
      </p:sp>
      <p:sp>
        <p:nvSpPr>
          <p:cNvPr id="15" name="Shape 12"/>
          <p:cNvSpPr/>
          <p:nvPr/>
        </p:nvSpPr>
        <p:spPr>
          <a:xfrm>
            <a:off x="6675120" y="2267712"/>
            <a:ext cx="1005840" cy="274320"/>
          </a:xfrm>
          <a:prstGeom prst="roundRect">
            <a:avLst>
              <a:gd name="adj" fmla="val 40000"/>
            </a:avLst>
          </a:prstGeom>
          <a:solidFill>
            <a:srgbClr val="ECFDF5"/>
          </a:solidFill>
          <a:ln w="9525">
            <a:solidFill>
              <a:srgbClr val="10B981"/>
            </a:solidFill>
            <a:prstDash val="solid"/>
          </a:ln>
        </p:spPr>
      </p:sp>
      <p:sp>
        <p:nvSpPr>
          <p:cNvPr id="16" name="Text 13"/>
          <p:cNvSpPr/>
          <p:nvPr/>
        </p:nvSpPr>
        <p:spPr>
          <a:xfrm>
            <a:off x="6675120" y="2267712"/>
            <a:ext cx="1005840" cy="274320"/>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Protected</a:t>
            </a:r>
            <a:endParaRPr lang="en-US" sz="900" dirty="0"/>
          </a:p>
        </p:txBody>
      </p:sp>
      <p:sp>
        <p:nvSpPr>
          <p:cNvPr id="17" name="Shape 14"/>
          <p:cNvSpPr/>
          <p:nvPr/>
        </p:nvSpPr>
        <p:spPr>
          <a:xfrm>
            <a:off x="731520" y="2807208"/>
            <a:ext cx="7040880" cy="566928"/>
          </a:xfrm>
          <a:prstGeom prst="rect">
            <a:avLst>
              <a:gd name="adj" fmla="val 12903"/>
            </a:avLst>
          </a:prstGeom>
          <a:solidFill>
            <a:srgbClr val="FFFFFF"/>
          </a:solidFill>
          <a:ln w="9525">
            <a:solidFill>
              <a:srgbClr val="E2E8F0"/>
            </a:solidFill>
            <a:prstDash val="solid"/>
          </a:ln>
        </p:spPr>
      </p:sp>
      <p:sp>
        <p:nvSpPr>
          <p:cNvPr id="18" name="Shape 15"/>
          <p:cNvSpPr/>
          <p:nvPr/>
        </p:nvSpPr>
        <p:spPr>
          <a:xfrm>
            <a:off x="731520" y="2807208"/>
            <a:ext cx="82296" cy="566928"/>
          </a:xfrm>
          <a:prstGeom prst="rect">
            <a:avLst/>
          </a:prstGeom>
          <a:solidFill>
            <a:srgbClr val="DC2626"/>
          </a:solidFill>
          <a:ln w="12700">
            <a:solidFill>
              <a:srgbClr val="DC2626"/>
            </a:solidFill>
            <a:prstDash val="solid"/>
          </a:ln>
        </p:spPr>
      </p:sp>
      <p:sp>
        <p:nvSpPr>
          <p:cNvPr id="19" name="Text 16"/>
          <p:cNvSpPr/>
          <p:nvPr/>
        </p:nvSpPr>
        <p:spPr>
          <a:xfrm>
            <a:off x="960120" y="2843784"/>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Page safety rules</a:t>
            </a:r>
            <a:endParaRPr lang="en-US" sz="1300" dirty="0"/>
          </a:p>
        </p:txBody>
      </p:sp>
      <p:sp>
        <p:nvSpPr>
          <p:cNvPr id="20" name="Text 17"/>
          <p:cNvSpPr/>
          <p:nvPr/>
        </p:nvSpPr>
        <p:spPr>
          <a:xfrm>
            <a:off x="960120" y="3090672"/>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Blocks harmful code from running on your pages</a:t>
            </a:r>
            <a:endParaRPr lang="en-US" sz="1000" dirty="0"/>
          </a:p>
        </p:txBody>
      </p:sp>
      <p:sp>
        <p:nvSpPr>
          <p:cNvPr id="21" name="Shape 18"/>
          <p:cNvSpPr/>
          <p:nvPr/>
        </p:nvSpPr>
        <p:spPr>
          <a:xfrm>
            <a:off x="5504688" y="2944368"/>
            <a:ext cx="237744" cy="237744"/>
          </a:xfrm>
          <a:prstGeom prst="ellipse">
            <a:avLst/>
          </a:prstGeom>
          <a:solidFill>
            <a:srgbClr val="CBD5E1"/>
          </a:solidFill>
          <a:ln w="19050">
            <a:solidFill>
              <a:srgbClr val="FFFFFF"/>
            </a:solidFill>
            <a:prstDash val="solid"/>
          </a:ln>
        </p:spPr>
      </p:sp>
      <p:sp>
        <p:nvSpPr>
          <p:cNvPr id="22" name="Text 19"/>
          <p:cNvSpPr/>
          <p:nvPr/>
        </p:nvSpPr>
        <p:spPr>
          <a:xfrm>
            <a:off x="5806440" y="2898648"/>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23" name="Shape 20"/>
          <p:cNvSpPr/>
          <p:nvPr/>
        </p:nvSpPr>
        <p:spPr>
          <a:xfrm>
            <a:off x="6327648" y="2944368"/>
            <a:ext cx="237744" cy="237744"/>
          </a:xfrm>
          <a:prstGeom prst="ellipse">
            <a:avLst/>
          </a:prstGeom>
          <a:solidFill>
            <a:srgbClr val="DC2626"/>
          </a:solidFill>
          <a:ln w="19050">
            <a:solidFill>
              <a:srgbClr val="FFFFFF"/>
            </a:solidFill>
            <a:prstDash val="solid"/>
          </a:ln>
        </p:spPr>
      </p:sp>
      <p:sp>
        <p:nvSpPr>
          <p:cNvPr id="24" name="Shape 21"/>
          <p:cNvSpPr/>
          <p:nvPr/>
        </p:nvSpPr>
        <p:spPr>
          <a:xfrm>
            <a:off x="6675120" y="2926080"/>
            <a:ext cx="1005840" cy="274320"/>
          </a:xfrm>
          <a:prstGeom prst="roundRect">
            <a:avLst>
              <a:gd name="adj" fmla="val 40000"/>
            </a:avLst>
          </a:prstGeom>
          <a:solidFill>
            <a:srgbClr val="FEF2F2"/>
          </a:solidFill>
          <a:ln w="9525">
            <a:solidFill>
              <a:srgbClr val="DC2626"/>
            </a:solidFill>
            <a:prstDash val="solid"/>
          </a:ln>
        </p:spPr>
      </p:sp>
      <p:sp>
        <p:nvSpPr>
          <p:cNvPr id="25" name="Text 22"/>
          <p:cNvSpPr/>
          <p:nvPr/>
        </p:nvSpPr>
        <p:spPr>
          <a:xfrm>
            <a:off x="6675120" y="2926080"/>
            <a:ext cx="1005840" cy="274320"/>
          </a:xfrm>
          <a:prstGeom prst="rect">
            <a:avLst/>
          </a:prstGeom>
          <a:noFill/>
          <a:ln/>
        </p:spPr>
        <p:txBody>
          <a:bodyPr wrap="square" rtlCol="0" anchor="ctr"/>
          <a:lstStyle/>
          <a:p>
            <a:pPr algn="ctr" indent="0" marL="0">
              <a:buNone/>
            </a:pPr>
            <a:r>
              <a:rPr lang="en-US" sz="900" b="1" dirty="0">
                <a:solidFill>
                  <a:srgbClr val="B91C1C"/>
                </a:solidFill>
                <a:latin typeface="Plus Jakarta Sans" pitchFamily="34" charset="0"/>
                <a:ea typeface="Plus Jakarta Sans" pitchFamily="34" charset="-122"/>
                <a:cs typeface="Plus Jakarta Sans" pitchFamily="34" charset="-120"/>
              </a:rPr>
              <a:t>At risk</a:t>
            </a:r>
            <a:endParaRPr lang="en-US" sz="900" dirty="0"/>
          </a:p>
        </p:txBody>
      </p:sp>
      <p:sp>
        <p:nvSpPr>
          <p:cNvPr id="26" name="Shape 23"/>
          <p:cNvSpPr/>
          <p:nvPr/>
        </p:nvSpPr>
        <p:spPr>
          <a:xfrm>
            <a:off x="731520" y="3465576"/>
            <a:ext cx="7040880" cy="566928"/>
          </a:xfrm>
          <a:prstGeom prst="rect">
            <a:avLst>
              <a:gd name="adj" fmla="val 12903"/>
            </a:avLst>
          </a:prstGeom>
          <a:solidFill>
            <a:srgbClr val="F8FAFC"/>
          </a:solidFill>
          <a:ln w="9525">
            <a:solidFill>
              <a:srgbClr val="E2E8F0"/>
            </a:solidFill>
            <a:prstDash val="solid"/>
          </a:ln>
        </p:spPr>
      </p:sp>
      <p:sp>
        <p:nvSpPr>
          <p:cNvPr id="27" name="Shape 24"/>
          <p:cNvSpPr/>
          <p:nvPr/>
        </p:nvSpPr>
        <p:spPr>
          <a:xfrm>
            <a:off x="731520" y="3465576"/>
            <a:ext cx="82296" cy="566928"/>
          </a:xfrm>
          <a:prstGeom prst="rect">
            <a:avLst/>
          </a:prstGeom>
          <a:solidFill>
            <a:srgbClr val="F59E0B"/>
          </a:solidFill>
          <a:ln w="12700">
            <a:solidFill>
              <a:srgbClr val="F59E0B"/>
            </a:solidFill>
            <a:prstDash val="solid"/>
          </a:ln>
        </p:spPr>
      </p:sp>
      <p:sp>
        <p:nvSpPr>
          <p:cNvPr id="28" name="Text 25"/>
          <p:cNvSpPr/>
          <p:nvPr/>
        </p:nvSpPr>
        <p:spPr>
          <a:xfrm>
            <a:off x="960120" y="3502152"/>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Secure connection</a:t>
            </a:r>
            <a:endParaRPr lang="en-US" sz="1300" dirty="0"/>
          </a:p>
        </p:txBody>
      </p:sp>
      <p:sp>
        <p:nvSpPr>
          <p:cNvPr id="29" name="Text 26"/>
          <p:cNvSpPr/>
          <p:nvPr/>
        </p:nvSpPr>
        <p:spPr>
          <a:xfrm>
            <a:off x="960120" y="3749040"/>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Keeps visitors on the protected version of your site</a:t>
            </a:r>
            <a:endParaRPr lang="en-US" sz="1000" dirty="0"/>
          </a:p>
        </p:txBody>
      </p:sp>
      <p:sp>
        <p:nvSpPr>
          <p:cNvPr id="30" name="Shape 27"/>
          <p:cNvSpPr/>
          <p:nvPr/>
        </p:nvSpPr>
        <p:spPr>
          <a:xfrm>
            <a:off x="5504688" y="3602736"/>
            <a:ext cx="237744" cy="237744"/>
          </a:xfrm>
          <a:prstGeom prst="ellipse">
            <a:avLst/>
          </a:prstGeom>
          <a:solidFill>
            <a:srgbClr val="CBD5E1"/>
          </a:solidFill>
          <a:ln w="19050">
            <a:solidFill>
              <a:srgbClr val="FFFFFF"/>
            </a:solidFill>
            <a:prstDash val="solid"/>
          </a:ln>
        </p:spPr>
      </p:sp>
      <p:sp>
        <p:nvSpPr>
          <p:cNvPr id="31" name="Text 28"/>
          <p:cNvSpPr/>
          <p:nvPr/>
        </p:nvSpPr>
        <p:spPr>
          <a:xfrm>
            <a:off x="5806440" y="3557016"/>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32" name="Shape 29"/>
          <p:cNvSpPr/>
          <p:nvPr/>
        </p:nvSpPr>
        <p:spPr>
          <a:xfrm>
            <a:off x="6327648" y="3602736"/>
            <a:ext cx="237744" cy="237744"/>
          </a:xfrm>
          <a:prstGeom prst="ellipse">
            <a:avLst/>
          </a:prstGeom>
          <a:solidFill>
            <a:srgbClr val="F59E0B"/>
          </a:solidFill>
          <a:ln w="19050">
            <a:solidFill>
              <a:srgbClr val="FFFFFF"/>
            </a:solidFill>
            <a:prstDash val="solid"/>
          </a:ln>
        </p:spPr>
      </p:sp>
      <p:sp>
        <p:nvSpPr>
          <p:cNvPr id="33" name="Shape 30"/>
          <p:cNvSpPr/>
          <p:nvPr/>
        </p:nvSpPr>
        <p:spPr>
          <a:xfrm>
            <a:off x="6675120" y="3584448"/>
            <a:ext cx="1005840" cy="274320"/>
          </a:xfrm>
          <a:prstGeom prst="roundRect">
            <a:avLst>
              <a:gd name="adj" fmla="val 40000"/>
            </a:avLst>
          </a:prstGeom>
          <a:solidFill>
            <a:srgbClr val="FFFBEB"/>
          </a:solidFill>
          <a:ln w="9525">
            <a:solidFill>
              <a:srgbClr val="F59E0B"/>
            </a:solidFill>
            <a:prstDash val="solid"/>
          </a:ln>
        </p:spPr>
      </p:sp>
      <p:sp>
        <p:nvSpPr>
          <p:cNvPr id="34" name="Text 31"/>
          <p:cNvSpPr/>
          <p:nvPr/>
        </p:nvSpPr>
        <p:spPr>
          <a:xfrm>
            <a:off x="6675120" y="3584448"/>
            <a:ext cx="1005840" cy="274320"/>
          </a:xfrm>
          <a:prstGeom prst="rect">
            <a:avLst/>
          </a:prstGeom>
          <a:noFill/>
          <a:ln/>
        </p:spPr>
        <p:txBody>
          <a:bodyPr wrap="square" rtlCol="0" anchor="ctr"/>
          <a:lstStyle/>
          <a:p>
            <a:pPr algn="ctr" indent="0" marL="0">
              <a:buNone/>
            </a:pPr>
            <a:r>
              <a:rPr lang="en-US" sz="900" b="1" dirty="0">
                <a:solidFill>
                  <a:srgbClr val="B45309"/>
                </a:solidFill>
                <a:latin typeface="Plus Jakarta Sans" pitchFamily="34" charset="0"/>
                <a:ea typeface="Plus Jakarta Sans" pitchFamily="34" charset="-122"/>
                <a:cs typeface="Plus Jakarta Sans" pitchFamily="34" charset="-120"/>
              </a:rPr>
              <a:t>Needs attention</a:t>
            </a:r>
            <a:endParaRPr lang="en-US" sz="900" dirty="0"/>
          </a:p>
        </p:txBody>
      </p:sp>
      <p:sp>
        <p:nvSpPr>
          <p:cNvPr id="35" name="Shape 32"/>
          <p:cNvSpPr/>
          <p:nvPr/>
        </p:nvSpPr>
        <p:spPr>
          <a:xfrm>
            <a:off x="731520" y="4123944"/>
            <a:ext cx="7040880" cy="566928"/>
          </a:xfrm>
          <a:prstGeom prst="rect">
            <a:avLst>
              <a:gd name="adj" fmla="val 12903"/>
            </a:avLst>
          </a:prstGeom>
          <a:solidFill>
            <a:srgbClr val="FFFFFF"/>
          </a:solidFill>
          <a:ln w="9525">
            <a:solidFill>
              <a:srgbClr val="E2E8F0"/>
            </a:solidFill>
            <a:prstDash val="solid"/>
          </a:ln>
        </p:spPr>
      </p:sp>
      <p:sp>
        <p:nvSpPr>
          <p:cNvPr id="36" name="Shape 33"/>
          <p:cNvSpPr/>
          <p:nvPr/>
        </p:nvSpPr>
        <p:spPr>
          <a:xfrm>
            <a:off x="731520" y="4123944"/>
            <a:ext cx="82296" cy="566928"/>
          </a:xfrm>
          <a:prstGeom prst="rect">
            <a:avLst/>
          </a:prstGeom>
          <a:solidFill>
            <a:srgbClr val="F59E0B"/>
          </a:solidFill>
          <a:ln w="12700">
            <a:solidFill>
              <a:srgbClr val="F59E0B"/>
            </a:solidFill>
            <a:prstDash val="solid"/>
          </a:ln>
        </p:spPr>
      </p:sp>
      <p:sp>
        <p:nvSpPr>
          <p:cNvPr id="37" name="Text 34"/>
          <p:cNvSpPr/>
          <p:nvPr/>
        </p:nvSpPr>
        <p:spPr>
          <a:xfrm>
            <a:off x="960120" y="4160520"/>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Shopper login protection</a:t>
            </a:r>
            <a:endParaRPr lang="en-US" sz="1300" dirty="0"/>
          </a:p>
        </p:txBody>
      </p:sp>
      <p:sp>
        <p:nvSpPr>
          <p:cNvPr id="38" name="Text 35"/>
          <p:cNvSpPr/>
          <p:nvPr/>
        </p:nvSpPr>
        <p:spPr>
          <a:xfrm>
            <a:off x="960120" y="4407408"/>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Keeps customer sessions from being hijacked</a:t>
            </a:r>
            <a:endParaRPr lang="en-US" sz="1000" dirty="0"/>
          </a:p>
        </p:txBody>
      </p:sp>
      <p:sp>
        <p:nvSpPr>
          <p:cNvPr id="39" name="Shape 36"/>
          <p:cNvSpPr/>
          <p:nvPr/>
        </p:nvSpPr>
        <p:spPr>
          <a:xfrm>
            <a:off x="5504688" y="4261104"/>
            <a:ext cx="237744" cy="237744"/>
          </a:xfrm>
          <a:prstGeom prst="ellipse">
            <a:avLst/>
          </a:prstGeom>
          <a:solidFill>
            <a:srgbClr val="CBD5E1"/>
          </a:solidFill>
          <a:ln w="19050">
            <a:solidFill>
              <a:srgbClr val="FFFFFF"/>
            </a:solidFill>
            <a:prstDash val="solid"/>
          </a:ln>
        </p:spPr>
      </p:sp>
      <p:sp>
        <p:nvSpPr>
          <p:cNvPr id="40" name="Text 37"/>
          <p:cNvSpPr/>
          <p:nvPr/>
        </p:nvSpPr>
        <p:spPr>
          <a:xfrm>
            <a:off x="5806440" y="4215384"/>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41" name="Shape 38"/>
          <p:cNvSpPr/>
          <p:nvPr/>
        </p:nvSpPr>
        <p:spPr>
          <a:xfrm>
            <a:off x="6327648" y="4261104"/>
            <a:ext cx="237744" cy="237744"/>
          </a:xfrm>
          <a:prstGeom prst="ellipse">
            <a:avLst/>
          </a:prstGeom>
          <a:solidFill>
            <a:srgbClr val="F59E0B"/>
          </a:solidFill>
          <a:ln w="19050">
            <a:solidFill>
              <a:srgbClr val="FFFFFF"/>
            </a:solidFill>
            <a:prstDash val="solid"/>
          </a:ln>
        </p:spPr>
      </p:sp>
      <p:sp>
        <p:nvSpPr>
          <p:cNvPr id="42" name="Shape 39"/>
          <p:cNvSpPr/>
          <p:nvPr/>
        </p:nvSpPr>
        <p:spPr>
          <a:xfrm>
            <a:off x="6675120" y="4242816"/>
            <a:ext cx="1005840" cy="274320"/>
          </a:xfrm>
          <a:prstGeom prst="roundRect">
            <a:avLst>
              <a:gd name="adj" fmla="val 40000"/>
            </a:avLst>
          </a:prstGeom>
          <a:solidFill>
            <a:srgbClr val="FFFBEB"/>
          </a:solidFill>
          <a:ln w="9525">
            <a:solidFill>
              <a:srgbClr val="F59E0B"/>
            </a:solidFill>
            <a:prstDash val="solid"/>
          </a:ln>
        </p:spPr>
      </p:sp>
      <p:sp>
        <p:nvSpPr>
          <p:cNvPr id="43" name="Text 40"/>
          <p:cNvSpPr/>
          <p:nvPr/>
        </p:nvSpPr>
        <p:spPr>
          <a:xfrm>
            <a:off x="6675120" y="4242816"/>
            <a:ext cx="1005840" cy="274320"/>
          </a:xfrm>
          <a:prstGeom prst="rect">
            <a:avLst/>
          </a:prstGeom>
          <a:noFill/>
          <a:ln/>
        </p:spPr>
        <p:txBody>
          <a:bodyPr wrap="square" rtlCol="0" anchor="ctr"/>
          <a:lstStyle/>
          <a:p>
            <a:pPr algn="ctr" indent="0" marL="0">
              <a:buNone/>
            </a:pPr>
            <a:r>
              <a:rPr lang="en-US" sz="900" b="1" dirty="0">
                <a:solidFill>
                  <a:srgbClr val="B45309"/>
                </a:solidFill>
                <a:latin typeface="Plus Jakarta Sans" pitchFamily="34" charset="0"/>
                <a:ea typeface="Plus Jakarta Sans" pitchFamily="34" charset="-122"/>
                <a:cs typeface="Plus Jakarta Sans" pitchFamily="34" charset="-120"/>
              </a:rPr>
              <a:t>Needs attention</a:t>
            </a:r>
            <a:endParaRPr lang="en-US" sz="900" dirty="0"/>
          </a:p>
        </p:txBody>
      </p:sp>
      <p:sp>
        <p:nvSpPr>
          <p:cNvPr id="44" name="Shape 41"/>
          <p:cNvSpPr/>
          <p:nvPr/>
        </p:nvSpPr>
        <p:spPr>
          <a:xfrm>
            <a:off x="731520" y="4782312"/>
            <a:ext cx="7040880" cy="566928"/>
          </a:xfrm>
          <a:prstGeom prst="rect">
            <a:avLst>
              <a:gd name="adj" fmla="val 12903"/>
            </a:avLst>
          </a:prstGeom>
          <a:solidFill>
            <a:srgbClr val="F8FAFC"/>
          </a:solidFill>
          <a:ln w="9525">
            <a:solidFill>
              <a:srgbClr val="E2E8F0"/>
            </a:solidFill>
            <a:prstDash val="solid"/>
          </a:ln>
        </p:spPr>
      </p:sp>
      <p:sp>
        <p:nvSpPr>
          <p:cNvPr id="45" name="Shape 42"/>
          <p:cNvSpPr/>
          <p:nvPr/>
        </p:nvSpPr>
        <p:spPr>
          <a:xfrm>
            <a:off x="731520" y="4782312"/>
            <a:ext cx="82296" cy="566928"/>
          </a:xfrm>
          <a:prstGeom prst="rect">
            <a:avLst/>
          </a:prstGeom>
          <a:solidFill>
            <a:srgbClr val="F59E0B"/>
          </a:solidFill>
          <a:ln w="12700">
            <a:solidFill>
              <a:srgbClr val="F59E0B"/>
            </a:solidFill>
            <a:prstDash val="solid"/>
          </a:ln>
        </p:spPr>
      </p:sp>
      <p:sp>
        <p:nvSpPr>
          <p:cNvPr id="46" name="Text 43"/>
          <p:cNvSpPr/>
          <p:nvPr/>
        </p:nvSpPr>
        <p:spPr>
          <a:xfrm>
            <a:off x="960120" y="4818888"/>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Visitor privacy settings</a:t>
            </a:r>
            <a:endParaRPr lang="en-US" sz="1300" dirty="0"/>
          </a:p>
        </p:txBody>
      </p:sp>
      <p:sp>
        <p:nvSpPr>
          <p:cNvPr id="47" name="Text 44"/>
          <p:cNvSpPr/>
          <p:nvPr/>
        </p:nvSpPr>
        <p:spPr>
          <a:xfrm>
            <a:off x="960120" y="5065776"/>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Limits what other websites can see or do</a:t>
            </a:r>
            <a:endParaRPr lang="en-US" sz="1000" dirty="0"/>
          </a:p>
        </p:txBody>
      </p:sp>
      <p:sp>
        <p:nvSpPr>
          <p:cNvPr id="48" name="Shape 45"/>
          <p:cNvSpPr/>
          <p:nvPr/>
        </p:nvSpPr>
        <p:spPr>
          <a:xfrm>
            <a:off x="5504688" y="4919472"/>
            <a:ext cx="237744" cy="237744"/>
          </a:xfrm>
          <a:prstGeom prst="ellipse">
            <a:avLst/>
          </a:prstGeom>
          <a:solidFill>
            <a:srgbClr val="CBD5E1"/>
          </a:solidFill>
          <a:ln w="19050">
            <a:solidFill>
              <a:srgbClr val="FFFFFF"/>
            </a:solidFill>
            <a:prstDash val="solid"/>
          </a:ln>
        </p:spPr>
      </p:sp>
      <p:sp>
        <p:nvSpPr>
          <p:cNvPr id="49" name="Text 46"/>
          <p:cNvSpPr/>
          <p:nvPr/>
        </p:nvSpPr>
        <p:spPr>
          <a:xfrm>
            <a:off x="5806440" y="4873752"/>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50" name="Shape 47"/>
          <p:cNvSpPr/>
          <p:nvPr/>
        </p:nvSpPr>
        <p:spPr>
          <a:xfrm>
            <a:off x="6327648" y="4919472"/>
            <a:ext cx="237744" cy="237744"/>
          </a:xfrm>
          <a:prstGeom prst="ellipse">
            <a:avLst/>
          </a:prstGeom>
          <a:solidFill>
            <a:srgbClr val="F59E0B"/>
          </a:solidFill>
          <a:ln w="19050">
            <a:solidFill>
              <a:srgbClr val="FFFFFF"/>
            </a:solidFill>
            <a:prstDash val="solid"/>
          </a:ln>
        </p:spPr>
      </p:sp>
      <p:sp>
        <p:nvSpPr>
          <p:cNvPr id="51" name="Shape 48"/>
          <p:cNvSpPr/>
          <p:nvPr/>
        </p:nvSpPr>
        <p:spPr>
          <a:xfrm>
            <a:off x="6675120" y="4901184"/>
            <a:ext cx="1005840" cy="274320"/>
          </a:xfrm>
          <a:prstGeom prst="roundRect">
            <a:avLst>
              <a:gd name="adj" fmla="val 40000"/>
            </a:avLst>
          </a:prstGeom>
          <a:solidFill>
            <a:srgbClr val="FFFBEB"/>
          </a:solidFill>
          <a:ln w="9525">
            <a:solidFill>
              <a:srgbClr val="F59E0B"/>
            </a:solidFill>
            <a:prstDash val="solid"/>
          </a:ln>
        </p:spPr>
      </p:sp>
      <p:sp>
        <p:nvSpPr>
          <p:cNvPr id="52" name="Text 49"/>
          <p:cNvSpPr/>
          <p:nvPr/>
        </p:nvSpPr>
        <p:spPr>
          <a:xfrm>
            <a:off x="6675120" y="4901184"/>
            <a:ext cx="1005840" cy="274320"/>
          </a:xfrm>
          <a:prstGeom prst="rect">
            <a:avLst/>
          </a:prstGeom>
          <a:noFill/>
          <a:ln/>
        </p:spPr>
        <p:txBody>
          <a:bodyPr wrap="square" rtlCol="0" anchor="ctr"/>
          <a:lstStyle/>
          <a:p>
            <a:pPr algn="ctr" indent="0" marL="0">
              <a:buNone/>
            </a:pPr>
            <a:r>
              <a:rPr lang="en-US" sz="900" b="1" dirty="0">
                <a:solidFill>
                  <a:srgbClr val="B45309"/>
                </a:solidFill>
                <a:latin typeface="Plus Jakarta Sans" pitchFamily="34" charset="0"/>
                <a:ea typeface="Plus Jakarta Sans" pitchFamily="34" charset="-122"/>
                <a:cs typeface="Plus Jakarta Sans" pitchFamily="34" charset="-120"/>
              </a:rPr>
              <a:t>Needs attention</a:t>
            </a:r>
            <a:endParaRPr lang="en-US" sz="900" dirty="0"/>
          </a:p>
        </p:txBody>
      </p:sp>
      <p:sp>
        <p:nvSpPr>
          <p:cNvPr id="53" name="Shape 50"/>
          <p:cNvSpPr/>
          <p:nvPr/>
        </p:nvSpPr>
        <p:spPr>
          <a:xfrm>
            <a:off x="731520" y="5440680"/>
            <a:ext cx="7040880" cy="566928"/>
          </a:xfrm>
          <a:prstGeom prst="rect">
            <a:avLst>
              <a:gd name="adj" fmla="val 12903"/>
            </a:avLst>
          </a:prstGeom>
          <a:solidFill>
            <a:srgbClr val="FFFFFF"/>
          </a:solidFill>
          <a:ln w="9525">
            <a:solidFill>
              <a:srgbClr val="E2E8F0"/>
            </a:solidFill>
            <a:prstDash val="solid"/>
          </a:ln>
        </p:spPr>
      </p:sp>
      <p:sp>
        <p:nvSpPr>
          <p:cNvPr id="54" name="Shape 51"/>
          <p:cNvSpPr/>
          <p:nvPr/>
        </p:nvSpPr>
        <p:spPr>
          <a:xfrm>
            <a:off x="731520" y="5440680"/>
            <a:ext cx="82296" cy="566928"/>
          </a:xfrm>
          <a:prstGeom prst="rect">
            <a:avLst/>
          </a:prstGeom>
          <a:solidFill>
            <a:srgbClr val="10B981"/>
          </a:solidFill>
          <a:ln w="12700">
            <a:solidFill>
              <a:srgbClr val="10B981"/>
            </a:solidFill>
            <a:prstDash val="solid"/>
          </a:ln>
        </p:spPr>
      </p:sp>
      <p:sp>
        <p:nvSpPr>
          <p:cNvPr id="55" name="Text 52"/>
          <p:cNvSpPr/>
          <p:nvPr/>
        </p:nvSpPr>
        <p:spPr>
          <a:xfrm>
            <a:off x="960120" y="5477256"/>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Up-to-date site components</a:t>
            </a:r>
            <a:endParaRPr lang="en-US" sz="1300" dirty="0"/>
          </a:p>
        </p:txBody>
      </p:sp>
      <p:sp>
        <p:nvSpPr>
          <p:cNvPr id="56" name="Text 53"/>
          <p:cNvSpPr/>
          <p:nvPr/>
        </p:nvSpPr>
        <p:spPr>
          <a:xfrm>
            <a:off x="960120" y="5724144"/>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Closes publicly known weaknesses in old software</a:t>
            </a:r>
            <a:endParaRPr lang="en-US" sz="1000" dirty="0"/>
          </a:p>
        </p:txBody>
      </p:sp>
      <p:sp>
        <p:nvSpPr>
          <p:cNvPr id="57" name="Shape 54"/>
          <p:cNvSpPr/>
          <p:nvPr/>
        </p:nvSpPr>
        <p:spPr>
          <a:xfrm>
            <a:off x="5504688" y="5577840"/>
            <a:ext cx="237744" cy="237744"/>
          </a:xfrm>
          <a:prstGeom prst="ellipse">
            <a:avLst/>
          </a:prstGeom>
          <a:solidFill>
            <a:srgbClr val="CBD5E1"/>
          </a:solidFill>
          <a:ln w="19050">
            <a:solidFill>
              <a:srgbClr val="FFFFFF"/>
            </a:solidFill>
            <a:prstDash val="solid"/>
          </a:ln>
        </p:spPr>
      </p:sp>
      <p:sp>
        <p:nvSpPr>
          <p:cNvPr id="58" name="Text 55"/>
          <p:cNvSpPr/>
          <p:nvPr/>
        </p:nvSpPr>
        <p:spPr>
          <a:xfrm>
            <a:off x="5806440" y="5532120"/>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59" name="Shape 56"/>
          <p:cNvSpPr/>
          <p:nvPr/>
        </p:nvSpPr>
        <p:spPr>
          <a:xfrm>
            <a:off x="6327648" y="5577840"/>
            <a:ext cx="237744" cy="237744"/>
          </a:xfrm>
          <a:prstGeom prst="ellipse">
            <a:avLst/>
          </a:prstGeom>
          <a:solidFill>
            <a:srgbClr val="10B981"/>
          </a:solidFill>
          <a:ln w="19050">
            <a:solidFill>
              <a:srgbClr val="FFFFFF"/>
            </a:solidFill>
            <a:prstDash val="solid"/>
          </a:ln>
        </p:spPr>
      </p:sp>
      <p:sp>
        <p:nvSpPr>
          <p:cNvPr id="60" name="Shape 57"/>
          <p:cNvSpPr/>
          <p:nvPr/>
        </p:nvSpPr>
        <p:spPr>
          <a:xfrm>
            <a:off x="6675120" y="5559552"/>
            <a:ext cx="1005840" cy="274320"/>
          </a:xfrm>
          <a:prstGeom prst="roundRect">
            <a:avLst>
              <a:gd name="adj" fmla="val 40000"/>
            </a:avLst>
          </a:prstGeom>
          <a:solidFill>
            <a:srgbClr val="ECFDF5"/>
          </a:solidFill>
          <a:ln w="9525">
            <a:solidFill>
              <a:srgbClr val="10B981"/>
            </a:solidFill>
            <a:prstDash val="solid"/>
          </a:ln>
        </p:spPr>
      </p:sp>
      <p:sp>
        <p:nvSpPr>
          <p:cNvPr id="61" name="Text 58"/>
          <p:cNvSpPr/>
          <p:nvPr/>
        </p:nvSpPr>
        <p:spPr>
          <a:xfrm>
            <a:off x="6675120" y="5559552"/>
            <a:ext cx="1005840" cy="274320"/>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Protected</a:t>
            </a:r>
            <a:endParaRPr lang="en-US" sz="900" dirty="0"/>
          </a:p>
        </p:txBody>
      </p:sp>
      <p:sp>
        <p:nvSpPr>
          <p:cNvPr id="62" name="Text 59"/>
          <p:cNvSpPr/>
          <p:nvPr/>
        </p:nvSpPr>
        <p:spPr>
          <a:xfrm>
            <a:off x="8229600" y="1783080"/>
            <a:ext cx="3474720" cy="274320"/>
          </a:xfrm>
          <a:prstGeom prst="rect">
            <a:avLst/>
          </a:prstGeom>
          <a:noFill/>
          <a:ln/>
        </p:spPr>
        <p:txBody>
          <a:bodyPr wrap="square" rtlCol="0" anchor="ctr"/>
          <a:lstStyle/>
          <a:p>
            <a:pPr algn="ctr" indent="0" marL="0">
              <a:buNone/>
            </a:pPr>
            <a:r>
              <a:rPr lang="en-US" sz="900" b="1" dirty="0">
                <a:solidFill>
                  <a:srgbClr val="64748B"/>
                </a:solidFill>
                <a:latin typeface="Plus Jakarta Sans" pitchFamily="34" charset="0"/>
                <a:ea typeface="Plus Jakarta Sans" pitchFamily="34" charset="-122"/>
                <a:cs typeface="Plus Jakarta Sans" pitchFamily="34" charset="-120"/>
              </a:rPr>
              <a:t>OPEN ISSUES BY PRIORITY</a:t>
            </a:r>
            <a:endParaRPr lang="en-US" sz="900" dirty="0"/>
          </a:p>
        </p:txBody>
      </p:sp>
      <p:graphicFrame>
        <p:nvGraphicFramePr>
          <p:cNvPr id="63" name="Chart 0" descr=""/>
          <p:cNvGraphicFramePr/>
          <p:nvPr/>
        </p:nvGraphicFramePr>
        <p:xfrm>
          <a:off x="8229600" y="2057400"/>
          <a:ext cx="3474720" cy="2743200"/>
        </p:xfrm>
        <a:graphic xmlns:a="http://schemas.openxmlformats.org/drawingml/2006/main">
          <a:graphicData uri="http://schemas.openxmlformats.org/drawingml/2006/chart">
            <c:chart xmlns:c="http://schemas.openxmlformats.org/drawingml/2006/chart" r:id="rId2"/>
          </a:graphicData>
        </a:graphic>
      </p:graphicFrame>
      <p:sp>
        <p:nvSpPr>
          <p:cNvPr id="64" name="Text 60"/>
          <p:cNvSpPr/>
          <p:nvPr/>
        </p:nvSpPr>
        <p:spPr>
          <a:xfrm>
            <a:off x="8229600" y="2926080"/>
            <a:ext cx="3474720" cy="640080"/>
          </a:xfrm>
          <a:prstGeom prst="rect">
            <a:avLst/>
          </a:prstGeom>
          <a:noFill/>
          <a:ln/>
        </p:spPr>
        <p:txBody>
          <a:bodyPr wrap="square" rtlCol="0" anchor="ctr"/>
          <a:lstStyle/>
          <a:p>
            <a:pPr algn="ctr" indent="0" marL="0">
              <a:buNone/>
            </a:pPr>
            <a:r>
              <a:rPr lang="en-US" sz="4000" b="1" dirty="0">
                <a:solidFill>
                  <a:srgbClr val="0F172A"/>
                </a:solidFill>
                <a:latin typeface="Outfit" pitchFamily="34" charset="0"/>
                <a:ea typeface="Outfit" pitchFamily="34" charset="-122"/>
                <a:cs typeface="Outfit" pitchFamily="34" charset="-120"/>
              </a:rPr>
              <a:t>9</a:t>
            </a:r>
            <a:endParaRPr lang="en-US" sz="4000" dirty="0"/>
          </a:p>
        </p:txBody>
      </p:sp>
      <p:sp>
        <p:nvSpPr>
          <p:cNvPr id="65" name="Text 61"/>
          <p:cNvSpPr/>
          <p:nvPr/>
        </p:nvSpPr>
        <p:spPr>
          <a:xfrm>
            <a:off x="8229600" y="3520440"/>
            <a:ext cx="3474720" cy="274320"/>
          </a:xfrm>
          <a:prstGeom prst="rect">
            <a:avLst/>
          </a:prstGeom>
          <a:noFill/>
          <a:ln/>
        </p:spPr>
        <p:txBody>
          <a:bodyPr wrap="square" rtlCol="0" anchor="ctr"/>
          <a:lstStyle/>
          <a:p>
            <a:pPr algn="ctr" indent="0" marL="0">
              <a:buNone/>
            </a:pPr>
            <a:r>
              <a:rPr lang="en-US" sz="1100" dirty="0">
                <a:solidFill>
                  <a:srgbClr val="64748B"/>
                </a:solidFill>
                <a:latin typeface="Plus Jakarta Sans" pitchFamily="34" charset="0"/>
                <a:ea typeface="Plus Jakarta Sans" pitchFamily="34" charset="-122"/>
                <a:cs typeface="Plus Jakarta Sans" pitchFamily="34" charset="-120"/>
              </a:rPr>
              <a:t>open issues</a:t>
            </a:r>
            <a:endParaRPr lang="en-US" sz="1100" dirty="0"/>
          </a:p>
        </p:txBody>
      </p:sp>
      <p:sp>
        <p:nvSpPr>
          <p:cNvPr id="66" name="Shape 62"/>
          <p:cNvSpPr/>
          <p:nvPr/>
        </p:nvSpPr>
        <p:spPr>
          <a:xfrm>
            <a:off x="8503920" y="4846320"/>
            <a:ext cx="146304" cy="146304"/>
          </a:xfrm>
          <a:prstGeom prst="ellipse">
            <a:avLst/>
          </a:prstGeom>
          <a:solidFill>
            <a:srgbClr val="DC2626"/>
          </a:solidFill>
          <a:ln w="12700">
            <a:solidFill>
              <a:srgbClr val="DC2626"/>
            </a:solidFill>
            <a:prstDash val="solid"/>
          </a:ln>
        </p:spPr>
      </p:sp>
      <p:sp>
        <p:nvSpPr>
          <p:cNvPr id="67" name="Text 63"/>
          <p:cNvSpPr/>
          <p:nvPr/>
        </p:nvSpPr>
        <p:spPr>
          <a:xfrm>
            <a:off x="8686800" y="4773168"/>
            <a:ext cx="914400" cy="274320"/>
          </a:xfrm>
          <a:prstGeom prst="rect">
            <a:avLst/>
          </a:prstGeom>
          <a:noFill/>
          <a:ln/>
        </p:spPr>
        <p:txBody>
          <a:bodyPr wrap="square" rtlCol="0" anchor="ct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Urgent 1</a:t>
            </a:r>
            <a:endParaRPr lang="en-US" sz="1000" dirty="0"/>
          </a:p>
        </p:txBody>
      </p:sp>
      <p:sp>
        <p:nvSpPr>
          <p:cNvPr id="68" name="Shape 64"/>
          <p:cNvSpPr/>
          <p:nvPr/>
        </p:nvSpPr>
        <p:spPr>
          <a:xfrm>
            <a:off x="9601200" y="4846320"/>
            <a:ext cx="146304" cy="146304"/>
          </a:xfrm>
          <a:prstGeom prst="ellipse">
            <a:avLst/>
          </a:prstGeom>
          <a:solidFill>
            <a:srgbClr val="F59E0B"/>
          </a:solidFill>
          <a:ln w="12700">
            <a:solidFill>
              <a:srgbClr val="F59E0B"/>
            </a:solidFill>
            <a:prstDash val="solid"/>
          </a:ln>
        </p:spPr>
      </p:sp>
      <p:sp>
        <p:nvSpPr>
          <p:cNvPr id="69" name="Text 65"/>
          <p:cNvSpPr/>
          <p:nvPr/>
        </p:nvSpPr>
        <p:spPr>
          <a:xfrm>
            <a:off x="9784080" y="4773168"/>
            <a:ext cx="914400" cy="274320"/>
          </a:xfrm>
          <a:prstGeom prst="rect">
            <a:avLst/>
          </a:prstGeom>
          <a:noFill/>
          <a:ln/>
        </p:spPr>
        <p:txBody>
          <a:bodyPr wrap="square" rtlCol="0" anchor="ct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Medium 4</a:t>
            </a:r>
            <a:endParaRPr lang="en-US" sz="1000" dirty="0"/>
          </a:p>
        </p:txBody>
      </p:sp>
      <p:sp>
        <p:nvSpPr>
          <p:cNvPr id="70" name="Shape 66"/>
          <p:cNvSpPr/>
          <p:nvPr/>
        </p:nvSpPr>
        <p:spPr>
          <a:xfrm>
            <a:off x="10698480" y="4846320"/>
            <a:ext cx="146304" cy="146304"/>
          </a:xfrm>
          <a:prstGeom prst="ellipse">
            <a:avLst/>
          </a:prstGeom>
          <a:solidFill>
            <a:srgbClr val="94A3B8"/>
          </a:solidFill>
          <a:ln w="12700">
            <a:solidFill>
              <a:srgbClr val="94A3B8"/>
            </a:solidFill>
            <a:prstDash val="solid"/>
          </a:ln>
        </p:spPr>
      </p:sp>
      <p:sp>
        <p:nvSpPr>
          <p:cNvPr id="71" name="Text 67"/>
          <p:cNvSpPr/>
          <p:nvPr/>
        </p:nvSpPr>
        <p:spPr>
          <a:xfrm>
            <a:off x="10881360" y="4773168"/>
            <a:ext cx="914400" cy="274320"/>
          </a:xfrm>
          <a:prstGeom prst="rect">
            <a:avLst/>
          </a:prstGeom>
          <a:noFill/>
          <a:ln/>
        </p:spPr>
        <p:txBody>
          <a:bodyPr wrap="square" rtlCol="0" anchor="ct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Minor 4</a:t>
            </a:r>
            <a:endParaRPr lang="en-US" sz="1000" dirty="0"/>
          </a:p>
        </p:txBody>
      </p:sp>
      <p:sp>
        <p:nvSpPr>
          <p:cNvPr id="72" name="Shape 68"/>
          <p:cNvSpPr/>
          <p:nvPr/>
        </p:nvSpPr>
        <p:spPr>
          <a:xfrm>
            <a:off x="8229600" y="5257800"/>
            <a:ext cx="3474720" cy="868680"/>
          </a:xfrm>
          <a:prstGeom prst="roundRect">
            <a:avLst>
              <a:gd name="adj" fmla="val 10526"/>
            </a:avLst>
          </a:prstGeom>
          <a:solidFill>
            <a:srgbClr val="FEF2F2"/>
          </a:solidFill>
          <a:ln w="12700">
            <a:solidFill>
              <a:srgbClr val="FCA5A5"/>
            </a:solidFill>
            <a:prstDash val="solid"/>
          </a:ln>
        </p:spPr>
      </p:sp>
      <p:sp>
        <p:nvSpPr>
          <p:cNvPr id="73" name="Text 69"/>
          <p:cNvSpPr/>
          <p:nvPr/>
        </p:nvSpPr>
        <p:spPr>
          <a:xfrm>
            <a:off x="8366760" y="5285232"/>
            <a:ext cx="3200400" cy="822960"/>
          </a:xfrm>
          <a:prstGeom prst="rect">
            <a:avLst/>
          </a:prstGeom>
          <a:noFill/>
          <a:ln/>
        </p:spPr>
        <p:txBody>
          <a:bodyPr wrap="square" rtlCol="0" anchor="ctr"/>
          <a:lstStyle/>
          <a:p>
            <a:pPr indent="0" marL="0">
              <a:lnSpc>
                <a:spcPts val="1400"/>
              </a:lnSpc>
              <a:buNone/>
            </a:pPr>
            <a:r>
              <a:rPr lang="en-US" sz="1100" b="1" dirty="0">
                <a:solidFill>
                  <a:srgbClr val="991B1B"/>
                </a:solidFill>
                <a:latin typeface="Plus Jakarta Sans" pitchFamily="34" charset="0"/>
                <a:ea typeface="Plus Jakarta Sans" pitchFamily="34" charset="-122"/>
                <a:cs typeface="Plus Jakarta Sans" pitchFamily="34" charset="-120"/>
              </a:rPr>
              <a:t>We are tackling the 1 urgent item first: they are the ones that could put customer details at risk.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Infrastructure Security</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DNS Configurations &amp; SSL Certificate Validity</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SSL CERTIFICATE STATUS</a:t>
            </a:r>
            <a:endParaRPr lang="en-US" sz="1100" dirty="0"/>
          </a:p>
        </p:txBody>
      </p:sp>
      <p:sp>
        <p:nvSpPr>
          <p:cNvPr id="7" name="Text 4"/>
          <p:cNvSpPr/>
          <p:nvPr/>
        </p:nvSpPr>
        <p:spPr>
          <a:xfrm>
            <a:off x="1005840" y="2286000"/>
            <a:ext cx="4572000" cy="457200"/>
          </a:xfrm>
          <a:prstGeom prst="rect">
            <a:avLst/>
          </a:prstGeom>
          <a:noFill/>
          <a:ln/>
        </p:spPr>
        <p:txBody>
          <a:bodyPr wrap="square" rtlCol="0" anchor="ctr"/>
          <a:lstStyle/>
          <a:p>
            <a:pPr indent="0" marL="0">
              <a:buNone/>
            </a:pPr>
            <a:r>
              <a:rPr lang="en-US" sz="2200" b="1" dirty="0">
                <a:solidFill>
                  <a:srgbClr val="64748B"/>
                </a:solidFill>
                <a:latin typeface="Outfit" pitchFamily="34" charset="0"/>
                <a:ea typeface="Outfit" pitchFamily="34" charset="-122"/>
                <a:cs typeface="Outfit" pitchFamily="34" charset="-120"/>
              </a:rPr>
              <a:t>Not verified</a:t>
            </a:r>
            <a:endParaRPr lang="en-US" sz="2200" dirty="0"/>
          </a:p>
        </p:txBody>
      </p:sp>
      <p:sp>
        <p:nvSpPr>
          <p:cNvPr id="8" name="Text 5"/>
          <p:cNvSpPr/>
          <p:nvPr/>
        </p:nvSpPr>
        <p:spPr>
          <a:xfrm>
            <a:off x="1005840" y="2834640"/>
            <a:ext cx="4572000" cy="210312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Security certificate issued by: Not available</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Days until it expires: unknown</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Expiration date: Not available</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Website covered: genpet.org</a:t>
            </a:r>
            <a:endParaRPr lang="en-US" sz="1300" dirty="0"/>
          </a:p>
        </p:txBody>
      </p:sp>
      <p:sp>
        <p:nvSpPr>
          <p:cNvPr id="9" name="Shape 6"/>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0" name="Text 7"/>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DNS NAME RECORDS HEALTH</a:t>
            </a:r>
            <a:endParaRPr lang="en-US" sz="1100" dirty="0"/>
          </a:p>
        </p:txBody>
      </p:sp>
      <p:sp>
        <p:nvSpPr>
          <p:cNvPr id="11" name="Text 8"/>
          <p:cNvSpPr/>
          <p:nvPr/>
        </p:nvSpPr>
        <p:spPr>
          <a:xfrm>
            <a:off x="64922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Healthy Records Config</a:t>
            </a:r>
            <a:endParaRPr lang="en-US" sz="2200" dirty="0"/>
          </a:p>
        </p:txBody>
      </p:sp>
      <p:sp>
        <p:nvSpPr>
          <p:cNvPr id="12" name="Text 9"/>
          <p:cNvSpPr/>
          <p:nvPr/>
        </p:nvSpPr>
        <p:spPr>
          <a:xfrm>
            <a:off x="6492240" y="2834640"/>
            <a:ext cx="4572000" cy="210312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Name Servers (NS): ns1.bigcommerce.com, ns3.bigcommerce.com, ns2.bigcommerce.com</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Mail Servers (MX): alt2.aspmx.l.google.com (Priority 30), aspmx3.googlemail.com (Priority 50), alt1.aspmx.l.google.com (Priority 20), aspmx.l.google.com (Priority 10), aspmx2.googlemail.com (Priority 40)</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Email sender protection (SPF): In place</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Website address (A records): Resolving correctly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Sitemap &amp; Navigation Audit</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Sitemap Integrity &amp; Broken Link Audit</a:t>
            </a:r>
            <a:endParaRPr lang="en-US" sz="2600" dirty="0"/>
          </a:p>
        </p:txBody>
      </p:sp>
      <p:sp>
        <p:nvSpPr>
          <p:cNvPr id="5" name="Text 2"/>
          <p:cNvSpPr/>
          <p:nvPr/>
        </p:nvSpPr>
        <p:spPr>
          <a:xfrm>
            <a:off x="731520" y="1463040"/>
            <a:ext cx="10515600" cy="731520"/>
          </a:xfrm>
          <a:prstGeom prst="rect">
            <a:avLst/>
          </a:prstGeom>
          <a:noFill/>
          <a:ln/>
        </p:spPr>
        <p:txBody>
          <a:bodyPr wrap="square" rtlCol="0" anchor="ctr"/>
          <a:lstStyle/>
          <a:p>
            <a:pPr indent="0" marL="0">
              <a:buNone/>
            </a:pPr>
            <a:r>
              <a:rPr lang="en-US" sz="1450" dirty="0">
                <a:solidFill>
                  <a:srgbClr val="0F172A"/>
                </a:solidFill>
                <a:latin typeface="Plus Jakarta Sans" pitchFamily="34" charset="0"/>
                <a:ea typeface="Plus Jakarta Sans" pitchFamily="34" charset="-122"/>
                <a:cs typeface="Plus Jakarta Sans" pitchFamily="34" charset="-120"/>
              </a:rPr>
              <a:t>We performed a site-wide sitemap scan and status check across the store catalog. Sitemaps indexing product URLs, category hierarchies, and static CMS pages were validated to protect search indexing coverage.</a:t>
            </a:r>
            <a:endParaRPr lang="en-US" sz="1450" dirty="0"/>
          </a:p>
        </p:txBody>
      </p:sp>
      <p:sp>
        <p:nvSpPr>
          <p:cNvPr id="6" name="Shape 3"/>
          <p:cNvSpPr/>
          <p:nvPr/>
        </p:nvSpPr>
        <p:spPr>
          <a:xfrm>
            <a:off x="731520" y="2377440"/>
            <a:ext cx="4937760" cy="2560320"/>
          </a:xfrm>
          <a:prstGeom prst="rect">
            <a:avLst>
              <a:gd name="adj" fmla="val 3571"/>
            </a:avLst>
          </a:prstGeom>
          <a:solidFill>
            <a:srgbClr val="F8FAFC"/>
          </a:solidFill>
          <a:ln w="12700">
            <a:solidFill>
              <a:srgbClr val="E2E8F0"/>
            </a:solidFill>
            <a:prstDash val="solid"/>
          </a:ln>
        </p:spPr>
      </p:sp>
      <p:sp>
        <p:nvSpPr>
          <p:cNvPr id="7" name="Text 4"/>
          <p:cNvSpPr/>
          <p:nvPr/>
        </p:nvSpPr>
        <p:spPr>
          <a:xfrm>
            <a:off x="1005840" y="2651760"/>
            <a:ext cx="4389120" cy="365760"/>
          </a:xfrm>
          <a:prstGeom prst="rect">
            <a:avLst/>
          </a:prstGeom>
          <a:noFill/>
          <a:ln/>
        </p:spPr>
        <p:txBody>
          <a:bodyPr wrap="square" rtlCol="0" anchor="ctr"/>
          <a:lstStyle/>
          <a:p>
            <a:pPr indent="0" marL="0">
              <a:buNone/>
            </a:pPr>
            <a:r>
              <a:rPr lang="en-US" sz="1600" b="1" dirty="0">
                <a:solidFill>
                  <a:srgbClr val="075985"/>
                </a:solidFill>
                <a:latin typeface="Outfit" pitchFamily="34" charset="0"/>
                <a:ea typeface="Outfit" pitchFamily="34" charset="-122"/>
                <a:cs typeface="Outfit" pitchFamily="34" charset="-120"/>
              </a:rPr>
              <a:t>Storefront Scope &amp; Indexing</a:t>
            </a:r>
            <a:endParaRPr lang="en-US" sz="1600" dirty="0"/>
          </a:p>
        </p:txBody>
      </p:sp>
      <p:sp>
        <p:nvSpPr>
          <p:cNvPr id="8" name="Text 5"/>
          <p:cNvSpPr/>
          <p:nvPr/>
        </p:nvSpPr>
        <p:spPr>
          <a:xfrm>
            <a:off x="1005840" y="3108960"/>
            <a:ext cx="4389120" cy="731520"/>
          </a:xfrm>
          <a:prstGeom prst="rect">
            <a:avLst/>
          </a:prstGeom>
          <a:noFill/>
          <a:ln/>
        </p:spPr>
        <p:txBody>
          <a:bodyPr wrap="square" rtlCol="0" anchor="ctr"/>
          <a:lstStyle/>
          <a:p>
            <a:pPr indent="0" marL="0">
              <a:buNone/>
            </a:pPr>
            <a:r>
              <a:rPr lang="en-US" sz="4800" b="1" dirty="0">
                <a:solidFill>
                  <a:srgbClr val="0EA5E9"/>
                </a:solidFill>
                <a:latin typeface="Outfit" pitchFamily="34" charset="0"/>
                <a:ea typeface="Outfit" pitchFamily="34" charset="-122"/>
                <a:cs typeface="Outfit" pitchFamily="34" charset="-120"/>
              </a:rPr>
              <a:t>4,699+ URLs</a:t>
            </a:r>
            <a:endParaRPr lang="en-US" sz="4800" dirty="0"/>
          </a:p>
        </p:txBody>
      </p:sp>
      <p:sp>
        <p:nvSpPr>
          <p:cNvPr id="9" name="Text 6"/>
          <p:cNvSpPr/>
          <p:nvPr/>
        </p:nvSpPr>
        <p:spPr>
          <a:xfrm>
            <a:off x="1005840" y="3931920"/>
            <a:ext cx="4389120" cy="731520"/>
          </a:xfrm>
          <a:prstGeom prst="rect">
            <a:avLst/>
          </a:prstGeom>
          <a:noFill/>
          <a:ln/>
        </p:spPr>
        <p:txBody>
          <a:bodyPr wrap="square" rtlCol="0" anchor="ctr"/>
          <a:lstStyle/>
          <a:p>
            <a:pPr indent="0" marL="0">
              <a:buNone/>
            </a:pPr>
            <a:r>
              <a:rPr lang="en-US" sz="1200" dirty="0">
                <a:solidFill>
                  <a:srgbClr val="64748B"/>
                </a:solidFill>
                <a:latin typeface="Plus Jakarta Sans" pitchFamily="34" charset="0"/>
                <a:ea typeface="Plus Jakarta Sans" pitchFamily="34" charset="-122"/>
                <a:cs typeface="Plus Jakarta Sans" pitchFamily="34" charset="-120"/>
              </a:rPr>
              <a:t>Total storefront URLs indexed in sitemaps. A representative sample of 26 core templates &amp; routes (PDP, PLP, CMS, and Home) was audited.</a:t>
            </a:r>
            <a:endParaRPr lang="en-US" sz="1200" dirty="0"/>
          </a:p>
        </p:txBody>
      </p:sp>
      <p:sp>
        <p:nvSpPr>
          <p:cNvPr id="10" name="Shape 7"/>
          <p:cNvSpPr/>
          <p:nvPr/>
        </p:nvSpPr>
        <p:spPr>
          <a:xfrm>
            <a:off x="6400800" y="2377440"/>
            <a:ext cx="4937760" cy="2560320"/>
          </a:xfrm>
          <a:prstGeom prst="rect">
            <a:avLst>
              <a:gd name="adj" fmla="val 3571"/>
            </a:avLst>
          </a:prstGeom>
          <a:solidFill>
            <a:srgbClr val="F8FAFC"/>
          </a:solidFill>
          <a:ln w="12700">
            <a:solidFill>
              <a:srgbClr val="E2E8F0"/>
            </a:solidFill>
            <a:prstDash val="solid"/>
          </a:ln>
        </p:spPr>
      </p:sp>
      <p:sp>
        <p:nvSpPr>
          <p:cNvPr id="11" name="Text 8"/>
          <p:cNvSpPr/>
          <p:nvPr/>
        </p:nvSpPr>
        <p:spPr>
          <a:xfrm>
            <a:off x="6675120" y="2651760"/>
            <a:ext cx="4389120" cy="365760"/>
          </a:xfrm>
          <a:prstGeom prst="rect">
            <a:avLst/>
          </a:prstGeom>
          <a:noFill/>
          <a:ln/>
        </p:spPr>
        <p:txBody>
          <a:bodyPr wrap="square" rtlCol="0" anchor="ctr"/>
          <a:lstStyle/>
          <a:p>
            <a:pPr indent="0" marL="0">
              <a:buNone/>
            </a:pPr>
            <a:r>
              <a:rPr lang="en-US" sz="1600" b="1" dirty="0">
                <a:solidFill>
                  <a:srgbClr val="075985"/>
                </a:solidFill>
                <a:latin typeface="Outfit" pitchFamily="34" charset="0"/>
                <a:ea typeface="Outfit" pitchFamily="34" charset="-122"/>
                <a:cs typeface="Outfit" pitchFamily="34" charset="-120"/>
              </a:rPr>
              <a:t>Broken Links Detected (404 / 500)</a:t>
            </a:r>
            <a:endParaRPr lang="en-US" sz="1600" dirty="0"/>
          </a:p>
        </p:txBody>
      </p:sp>
      <p:sp>
        <p:nvSpPr>
          <p:cNvPr id="12" name="Text 9"/>
          <p:cNvSpPr/>
          <p:nvPr/>
        </p:nvSpPr>
        <p:spPr>
          <a:xfrm>
            <a:off x="6675120" y="3108960"/>
            <a:ext cx="4389120" cy="731520"/>
          </a:xfrm>
          <a:prstGeom prst="rect">
            <a:avLst/>
          </a:prstGeom>
          <a:noFill/>
          <a:ln/>
        </p:spPr>
        <p:txBody>
          <a:bodyPr wrap="square" rtlCol="0" anchor="ctr"/>
          <a:lstStyle/>
          <a:p>
            <a:pPr indent="0" marL="0">
              <a:buNone/>
            </a:pPr>
            <a:r>
              <a:rPr lang="en-US" sz="4800" b="1" dirty="0">
                <a:solidFill>
                  <a:srgbClr val="10B981"/>
                </a:solidFill>
                <a:latin typeface="Outfit" pitchFamily="34" charset="0"/>
                <a:ea typeface="Outfit" pitchFamily="34" charset="-122"/>
                <a:cs typeface="Outfit" pitchFamily="34" charset="-120"/>
              </a:rPr>
              <a:t>0</a:t>
            </a:r>
            <a:endParaRPr lang="en-US" sz="4800" dirty="0"/>
          </a:p>
        </p:txBody>
      </p:sp>
      <p:sp>
        <p:nvSpPr>
          <p:cNvPr id="13" name="Text 10"/>
          <p:cNvSpPr/>
          <p:nvPr/>
        </p:nvSpPr>
        <p:spPr>
          <a:xfrm>
            <a:off x="6675120" y="3931920"/>
            <a:ext cx="4389120" cy="731520"/>
          </a:xfrm>
          <a:prstGeom prst="rect">
            <a:avLst/>
          </a:prstGeom>
          <a:noFill/>
          <a:ln/>
        </p:spPr>
        <p:txBody>
          <a:bodyPr wrap="square" rtlCol="0" anchor="ctr"/>
          <a:lstStyle/>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100% Success Rate. No missing or broken pages were found in the sample checked.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UI/UX Layout Testing</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Multi-Device Layout &amp; Viewport Audit</a:t>
            </a:r>
            <a:endParaRPr lang="en-US" sz="2600" dirty="0"/>
          </a:p>
        </p:txBody>
      </p:sp>
      <p:sp>
        <p:nvSpPr>
          <p:cNvPr id="5" name="Text 2"/>
          <p:cNvSpPr/>
          <p:nvPr/>
        </p:nvSpPr>
        <p:spPr>
          <a:xfrm>
            <a:off x="731520" y="1645920"/>
            <a:ext cx="5029200" cy="365760"/>
          </a:xfrm>
          <a:prstGeom prst="rect">
            <a:avLst/>
          </a:prstGeom>
          <a:noFill/>
          <a:ln/>
        </p:spPr>
        <p:txBody>
          <a:bodyPr wrap="square" rtlCol="0" anchor="ctr"/>
          <a:lstStyle/>
          <a:p>
            <a:pPr indent="0" marL="0">
              <a:buNone/>
            </a:pPr>
            <a:r>
              <a:rPr lang="en-US" sz="1800" b="1" dirty="0">
                <a:solidFill>
                  <a:srgbClr val="075985"/>
                </a:solidFill>
                <a:latin typeface="Outfit" pitchFamily="34" charset="0"/>
                <a:ea typeface="Outfit" pitchFamily="34" charset="-122"/>
                <a:cs typeface="Outfit" pitchFamily="34" charset="-120"/>
              </a:rPr>
              <a:t>Device Viewport Scope</a:t>
            </a:r>
            <a:endParaRPr lang="en-US" sz="1800" dirty="0"/>
          </a:p>
        </p:txBody>
      </p:sp>
      <p:sp>
        <p:nvSpPr>
          <p:cNvPr id="6" name="Text 3"/>
          <p:cNvSpPr/>
          <p:nvPr/>
        </p:nvSpPr>
        <p:spPr>
          <a:xfrm>
            <a:off x="731520" y="2103120"/>
            <a:ext cx="5029200" cy="2011680"/>
          </a:xfrm>
          <a:prstGeom prst="rect">
            <a:avLst/>
          </a:prstGeom>
          <a:noFill/>
          <a:ln/>
        </p:spPr>
        <p:txBody>
          <a:bodyPr wrap="square" rtlCol="0" anchor="ctr"/>
          <a:lstStyle/>
          <a:p>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 </a:t>
            </a:r>
            <a:pPr indent="0" marL="0">
              <a:lnSpc>
                <a:spcPts val="2200"/>
              </a:lnSpc>
              <a:buNone/>
            </a:pPr>
            <a:r>
              <a:rPr lang="en-US" sz="1450" b="1" dirty="0">
                <a:solidFill>
                  <a:srgbClr val="0F172A"/>
                </a:solidFill>
                <a:latin typeface="Plus Jakarta Sans" pitchFamily="34" charset="0"/>
                <a:ea typeface="Plus Jakarta Sans" pitchFamily="34" charset="-122"/>
                <a:cs typeface="Plus Jakarta Sans" pitchFamily="34" charset="-120"/>
              </a:rPr>
              <a:t>Desktop (1280px width):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Audited standard display layouts and hover interactions.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 </a:t>
            </a:r>
            <a:pPr indent="0" marL="0">
              <a:lnSpc>
                <a:spcPts val="2200"/>
              </a:lnSpc>
              <a:buNone/>
            </a:pPr>
            <a:r>
              <a:rPr lang="en-US" sz="1450" b="1" dirty="0">
                <a:solidFill>
                  <a:srgbClr val="0F172A"/>
                </a:solidFill>
                <a:latin typeface="Plus Jakarta Sans" pitchFamily="34" charset="0"/>
                <a:ea typeface="Plus Jakarta Sans" pitchFamily="34" charset="-122"/>
                <a:cs typeface="Plus Jakarta Sans" pitchFamily="34" charset="-120"/>
              </a:rPr>
              <a:t>Tablet (768px width):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Audited grid collapsing and vertical flow alignment.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 </a:t>
            </a:r>
            <a:pPr indent="0" marL="0">
              <a:lnSpc>
                <a:spcPts val="2200"/>
              </a:lnSpc>
              <a:buNone/>
            </a:pPr>
            <a:r>
              <a:rPr lang="en-US" sz="1450" b="1" dirty="0">
                <a:solidFill>
                  <a:srgbClr val="0F172A"/>
                </a:solidFill>
                <a:latin typeface="Plus Jakarta Sans" pitchFamily="34" charset="0"/>
                <a:ea typeface="Plus Jakarta Sans" pitchFamily="34" charset="-122"/>
                <a:cs typeface="Plus Jakarta Sans" pitchFamily="34" charset="-120"/>
              </a:rPr>
              <a:t>Mobile (375px width):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Audited hamburger menu trigger and touch target sizes.</a:t>
            </a:r>
            <a:endParaRPr lang="en-US" sz="1450" dirty="0"/>
          </a:p>
        </p:txBody>
      </p:sp>
      <p:sp>
        <p:nvSpPr>
          <p:cNvPr id="7" name="Shape 4"/>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8" name="Text 5"/>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RESPONSIVE LAYOUT STABILITY</a:t>
            </a:r>
            <a:endParaRPr lang="en-US" sz="1100" dirty="0"/>
          </a:p>
        </p:txBody>
      </p:sp>
      <p:sp>
        <p:nvSpPr>
          <p:cNvPr id="9" name="Text 6"/>
          <p:cNvSpPr/>
          <p:nvPr/>
        </p:nvSpPr>
        <p:spPr>
          <a:xfrm>
            <a:off x="64922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100% Fluid &amp; Compliant</a:t>
            </a:r>
            <a:endParaRPr lang="en-US" sz="2200" dirty="0"/>
          </a:p>
        </p:txBody>
      </p:sp>
      <p:sp>
        <p:nvSpPr>
          <p:cNvPr id="10" name="Text 7"/>
          <p:cNvSpPr/>
          <p:nvPr/>
        </p:nvSpPr>
        <p:spPr>
          <a:xfrm>
            <a:off x="6492240" y="2834640"/>
            <a:ext cx="4572000" cy="210312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We audited active templates (Homepage, Product details, Category grids, and static info pages) for scroll sizing.</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Zero horizontal document overflows (`scrollWidth &gt; innerWidth`)</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No content clipping or overlapping components</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Fluid layout scaling across all viewports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Functional Verification</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Cross-Browser Compatibility &amp; Filter Checks</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424160" cy="2011680"/>
        </p:xfrm>
        <a:graphic>
          <a:graphicData uri="http://schemas.openxmlformats.org/drawingml/2006/table">
            <a:tbl>
              <a:tblPr/>
              <a:tblGrid>
                <a:gridCol w="2606040"/>
                <a:gridCol w="2606040"/>
                <a:gridCol w="2606040"/>
                <a:gridCol w="2606040"/>
              </a:tblGrid>
              <a:tr h="402336">
                <a:tc>
                  <a:txBody>
                    <a:bodyPr/>
                    <a:lstStyle/>
                    <a:p>
                      <a:pPr indent="0" marL="0">
                        <a:buNone/>
                      </a:pPr>
                      <a:r>
                        <a:rPr lang="en-US" sz="1200" b="1" dirty="0">
                          <a:solidFill>
                            <a:srgbClr val="000000"/>
                          </a:solidFill>
                          <a:latin typeface="Plus Jakarta Sans" pitchFamily="34" charset="0"/>
                          <a:ea typeface="Plus Jakarta Sans" pitchFamily="34" charset="-122"/>
                          <a:cs typeface="Plus Jakarta Sans" pitchFamily="34" charset="-120"/>
                        </a:rPr>
                        <a:t>Target Browser</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00000"/>
                          </a:solidFill>
                          <a:latin typeface="Plus Jakarta Sans" pitchFamily="34" charset="0"/>
                          <a:ea typeface="Plus Jakarta Sans" pitchFamily="34" charset="-122"/>
                          <a:cs typeface="Plus Jakarta Sans" pitchFamily="34" charset="-120"/>
                        </a:rPr>
                        <a:t>Feature Checked</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00000"/>
                          </a:solidFill>
                          <a:latin typeface="Plus Jakarta Sans" pitchFamily="34" charset="0"/>
                          <a:ea typeface="Plus Jakarta Sans" pitchFamily="34" charset="-122"/>
                          <a:cs typeface="Plus Jakarta Sans" pitchFamily="34" charset="-120"/>
                        </a:rPr>
                        <a:t>Status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00000"/>
                          </a:solidFill>
                          <a:latin typeface="Plus Jakarta Sans" pitchFamily="34" charset="0"/>
                          <a:ea typeface="Plus Jakarta Sans" pitchFamily="34" charset="-122"/>
                          <a:cs typeface="Plus Jakarta Sans" pitchFamily="34" charset="-120"/>
                        </a:rPr>
                        <a:t>Notes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402336">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Google Chrome</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Catalog, PLP Navigation</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PASS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Renders smoothly without visual clipping.</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2336">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Mozilla Firefox</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Sitemap Links, Media</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PASS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Layout constraints fully respected.</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2336">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Apple Safari</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Catalog Navigation</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PASS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Webkit engines render CSS rules cleanly.</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2336">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Microsoft Edge</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Layered Filter Links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PASS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Navigation &amp; filter links fully functional.</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6" name="Text 2"/>
          <p:cNvSpPr/>
          <p:nvPr/>
        </p:nvSpPr>
        <p:spPr>
          <a:xfrm>
            <a:off x="731520" y="4023360"/>
            <a:ext cx="10424160" cy="914400"/>
          </a:xfrm>
          <a:prstGeom prst="rect">
            <a:avLst/>
          </a:prstGeom>
          <a:noFill/>
          <a:ln/>
        </p:spPr>
        <p:txBody>
          <a:bodyPr wrap="square" rtlCol="0" anchor="ctr"/>
          <a:lstStyle/>
          <a:p>
            <a:pPr indent="0" marL="0">
              <a:lnSpc>
                <a:spcPts val="1800"/>
              </a:lnSpc>
              <a:buNone/>
            </a:pPr>
            <a:r>
              <a:rPr lang="en-US" sz="1300" dirty="0">
                <a:solidFill>
                  <a:srgbClr val="64748B"/>
                </a:solidFill>
                <a:latin typeface="Plus Jakarta Sans" pitchFamily="34" charset="0"/>
                <a:ea typeface="Plus Jakarta Sans" pitchFamily="34" charset="-122"/>
                <a:cs typeface="Plus Jakarta Sans" pitchFamily="34" charset="-120"/>
              </a:rPr>
              <a:t>Layered navigation filters (category sidebar filters) were programmatically triggered. Click interactions on abstract category filter attributes (e.g. 3D White Polygons) update the grid and navigate correctly to corresponding sub-URLs without routing errors.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Diagnostics &amp; Tracking</a:t>
            </a:r>
            <a:endParaRPr lang="en-US" sz="1300" dirty="0"/>
          </a:p>
        </p:txBody>
      </p:sp>
      <p:sp>
        <p:nvSpPr>
          <p:cNvPr id="4" name="Text 1"/>
          <p:cNvSpPr/>
          <p:nvPr/>
        </p:nvSpPr>
        <p:spPr>
          <a:xfrm>
            <a:off x="731520" y="731520"/>
            <a:ext cx="877824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Analytics Tags &amp; Console Health Monitoring</a:t>
            </a:r>
            <a:endParaRPr lang="en-US" sz="2600" dirty="0"/>
          </a:p>
        </p:txBody>
      </p:sp>
      <p:sp>
        <p:nvSpPr>
          <p:cNvPr id="5" name="Text 2"/>
          <p:cNvSpPr/>
          <p:nvPr/>
        </p:nvSpPr>
        <p:spPr>
          <a:xfrm>
            <a:off x="731520" y="1325880"/>
            <a:ext cx="8229600" cy="365760"/>
          </a:xfrm>
          <a:prstGeom prst="rect">
            <a:avLst/>
          </a:prstGeom>
          <a:noFill/>
          <a:ln/>
        </p:spPr>
        <p:txBody>
          <a:bodyPr wrap="square" rtlCol="0" anchor="ctr"/>
          <a:lstStyle/>
          <a:p>
            <a:pPr indent="0" marL="0">
              <a:buNone/>
            </a:pPr>
            <a:r>
              <a:rPr lang="en-US" sz="1500" b="1" dirty="0">
                <a:solidFill>
                  <a:srgbClr val="075985"/>
                </a:solidFill>
                <a:latin typeface="Plus Jakarta Sans" pitchFamily="34" charset="0"/>
                <a:ea typeface="Plus Jakarta Sans" pitchFamily="34" charset="-122"/>
                <a:cs typeface="Plus Jakarta Sans" pitchFamily="34" charset="-120"/>
              </a:rPr>
              <a:t>Most checks passed. Items marked in amber or red need a look.</a:t>
            </a:r>
            <a:endParaRPr lang="en-US" sz="1500" dirty="0"/>
          </a:p>
        </p:txBody>
      </p:sp>
      <p:sp>
        <p:nvSpPr>
          <p:cNvPr id="6" name="Shape 3"/>
          <p:cNvSpPr/>
          <p:nvPr/>
        </p:nvSpPr>
        <p:spPr>
          <a:xfrm>
            <a:off x="731520" y="1874520"/>
            <a:ext cx="6126480" cy="4160520"/>
          </a:xfrm>
          <a:prstGeom prst="roundRect">
            <a:avLst>
              <a:gd name="adj" fmla="val 2198"/>
            </a:avLst>
          </a:prstGeom>
          <a:solidFill>
            <a:srgbClr val="F8FAFC"/>
          </a:solidFill>
          <a:ln w="12700">
            <a:solidFill>
              <a:srgbClr val="E2E8F0"/>
            </a:solidFill>
            <a:prstDash val="solid"/>
          </a:ln>
        </p:spPr>
      </p:sp>
      <p:sp>
        <p:nvSpPr>
          <p:cNvPr id="7" name="Text 4"/>
          <p:cNvSpPr/>
          <p:nvPr/>
        </p:nvSpPr>
        <p:spPr>
          <a:xfrm>
            <a:off x="1005840" y="2011680"/>
            <a:ext cx="3657600" cy="274320"/>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TRACKING TAGS</a:t>
            </a:r>
            <a:endParaRPr lang="en-US" sz="1000" dirty="0"/>
          </a:p>
        </p:txBody>
      </p:sp>
      <p:sp>
        <p:nvSpPr>
          <p:cNvPr id="8" name="Shape 5"/>
          <p:cNvSpPr/>
          <p:nvPr/>
        </p:nvSpPr>
        <p:spPr>
          <a:xfrm>
            <a:off x="1005840" y="2377440"/>
            <a:ext cx="5577840" cy="1554480"/>
          </a:xfrm>
          <a:prstGeom prst="roundRect">
            <a:avLst>
              <a:gd name="adj" fmla="val 4706"/>
            </a:avLst>
          </a:prstGeom>
          <a:solidFill>
            <a:srgbClr val="FFFFFF"/>
          </a:solidFill>
          <a:ln w="12700">
            <a:solidFill>
              <a:srgbClr val="E2E8F0"/>
            </a:solidFill>
            <a:prstDash val="solid"/>
          </a:ln>
        </p:spPr>
      </p:sp>
      <p:sp>
        <p:nvSpPr>
          <p:cNvPr id="9" name="Shape 6"/>
          <p:cNvSpPr/>
          <p:nvPr/>
        </p:nvSpPr>
        <p:spPr>
          <a:xfrm>
            <a:off x="1188720" y="2898648"/>
            <a:ext cx="512064" cy="512064"/>
          </a:xfrm>
          <a:prstGeom prst="ellipse">
            <a:avLst/>
          </a:prstGeom>
          <a:solidFill>
            <a:srgbClr val="F59E0B"/>
          </a:solidFill>
          <a:ln w="12700">
            <a:solidFill>
              <a:srgbClr val="F59E0B"/>
            </a:solidFill>
            <a:prstDash val="solid"/>
          </a:ln>
        </p:spPr>
      </p:sp>
      <p:sp>
        <p:nvSpPr>
          <p:cNvPr id="10" name="Text 7"/>
          <p:cNvSpPr/>
          <p:nvPr/>
        </p:nvSpPr>
        <p:spPr>
          <a:xfrm>
            <a:off x="1188720" y="2898648"/>
            <a:ext cx="512064" cy="512064"/>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a:t>
            </a:r>
            <a:endParaRPr lang="en-US" sz="1800" dirty="0"/>
          </a:p>
        </p:txBody>
      </p:sp>
      <p:sp>
        <p:nvSpPr>
          <p:cNvPr id="11" name="Text 8"/>
          <p:cNvSpPr/>
          <p:nvPr/>
        </p:nvSpPr>
        <p:spPr>
          <a:xfrm>
            <a:off x="1874520" y="2743200"/>
            <a:ext cx="2926080" cy="329184"/>
          </a:xfrm>
          <a:prstGeom prst="rect">
            <a:avLst/>
          </a:prstGeom>
          <a:noFill/>
          <a:ln/>
        </p:spPr>
        <p:txBody>
          <a:bodyPr wrap="square" rtlCol="0" anchor="ctr"/>
          <a:lstStyle/>
          <a:p>
            <a:pPr indent="0" marL="0">
              <a:buNone/>
            </a:pPr>
            <a:r>
              <a:rPr lang="en-US" sz="1500" b="1" dirty="0">
                <a:solidFill>
                  <a:srgbClr val="0F172A"/>
                </a:solidFill>
                <a:latin typeface="Outfit" pitchFamily="34" charset="0"/>
                <a:ea typeface="Outfit" pitchFamily="34" charset="-122"/>
                <a:cs typeface="Outfit" pitchFamily="34" charset="-120"/>
              </a:rPr>
              <a:t>Google Tag Manager</a:t>
            </a:r>
            <a:endParaRPr lang="en-US" sz="1500" dirty="0"/>
          </a:p>
        </p:txBody>
      </p:sp>
      <p:sp>
        <p:nvSpPr>
          <p:cNvPr id="12" name="Text 9"/>
          <p:cNvSpPr/>
          <p:nvPr/>
        </p:nvSpPr>
        <p:spPr>
          <a:xfrm>
            <a:off x="1874520" y="3099816"/>
            <a:ext cx="3017520" cy="457200"/>
          </a:xfrm>
          <a:prstGeom prst="rect">
            <a:avLst/>
          </a:prstGeom>
          <a:noFill/>
          <a:ln/>
        </p:spPr>
        <p:txBody>
          <a:bodyPr wrap="square" rtlCol="0" anchor="t"/>
          <a:lstStyle/>
          <a:p>
            <a:pPr indent="0" marL="0">
              <a:lnSpc>
                <a:spcPct val="110000"/>
              </a:lnSpc>
              <a:buNone/>
            </a:pPr>
            <a:r>
              <a:rPr lang="en-US" sz="1000" dirty="0">
                <a:solidFill>
                  <a:srgbClr val="64748B"/>
                </a:solidFill>
                <a:latin typeface="Plus Jakarta Sans" pitchFamily="34" charset="0"/>
                <a:ea typeface="Plus Jakarta Sans" pitchFamily="34" charset="-122"/>
                <a:cs typeface="Plus Jakarta Sans" pitchFamily="34" charset="-120"/>
              </a:rPr>
              <a:t>Manages your marketing and tracking tags in one place</a:t>
            </a:r>
            <a:endParaRPr lang="en-US" sz="1000" dirty="0"/>
          </a:p>
        </p:txBody>
      </p:sp>
      <p:sp>
        <p:nvSpPr>
          <p:cNvPr id="13" name="Shape 10"/>
          <p:cNvSpPr/>
          <p:nvPr/>
        </p:nvSpPr>
        <p:spPr>
          <a:xfrm>
            <a:off x="5074920" y="2807208"/>
            <a:ext cx="1371600" cy="292608"/>
          </a:xfrm>
          <a:prstGeom prst="roundRect">
            <a:avLst>
              <a:gd name="adj" fmla="val 50000"/>
            </a:avLst>
          </a:prstGeom>
          <a:solidFill>
            <a:srgbClr val="FFFBEB"/>
          </a:solidFill>
          <a:ln w="12700">
            <a:solidFill>
              <a:srgbClr val="F59E0B"/>
            </a:solidFill>
            <a:prstDash val="solid"/>
          </a:ln>
        </p:spPr>
      </p:sp>
      <p:sp>
        <p:nvSpPr>
          <p:cNvPr id="14" name="Text 11"/>
          <p:cNvSpPr/>
          <p:nvPr/>
        </p:nvSpPr>
        <p:spPr>
          <a:xfrm>
            <a:off x="5074920" y="2807208"/>
            <a:ext cx="1371600" cy="292608"/>
          </a:xfrm>
          <a:prstGeom prst="rect">
            <a:avLst/>
          </a:prstGeom>
          <a:noFill/>
          <a:ln/>
        </p:spPr>
        <p:txBody>
          <a:bodyPr wrap="square" rtlCol="0" anchor="ctr"/>
          <a:lstStyle/>
          <a:p>
            <a:pPr algn="ctr" indent="0" marL="0">
              <a:buNone/>
            </a:pPr>
            <a:r>
              <a:rPr lang="en-US" sz="1000" b="1" dirty="0">
                <a:solidFill>
                  <a:srgbClr val="B45309"/>
                </a:solidFill>
                <a:latin typeface="Plus Jakarta Sans" pitchFamily="34" charset="0"/>
                <a:ea typeface="Plus Jakarta Sans" pitchFamily="34" charset="-122"/>
                <a:cs typeface="Plus Jakarta Sans" pitchFamily="34" charset="-120"/>
              </a:rPr>
              <a:t>Not detected</a:t>
            </a:r>
            <a:endParaRPr lang="en-US" sz="1000" dirty="0"/>
          </a:p>
        </p:txBody>
      </p:sp>
      <p:sp>
        <p:nvSpPr>
          <p:cNvPr id="15" name="Shape 12"/>
          <p:cNvSpPr/>
          <p:nvPr/>
        </p:nvSpPr>
        <p:spPr>
          <a:xfrm>
            <a:off x="1005840" y="4114800"/>
            <a:ext cx="5577840" cy="1554480"/>
          </a:xfrm>
          <a:prstGeom prst="roundRect">
            <a:avLst>
              <a:gd name="adj" fmla="val 4706"/>
            </a:avLst>
          </a:prstGeom>
          <a:solidFill>
            <a:srgbClr val="FFFFFF"/>
          </a:solidFill>
          <a:ln w="12700">
            <a:solidFill>
              <a:srgbClr val="E2E8F0"/>
            </a:solidFill>
            <a:prstDash val="solid"/>
          </a:ln>
        </p:spPr>
      </p:sp>
      <p:sp>
        <p:nvSpPr>
          <p:cNvPr id="16" name="Shape 13"/>
          <p:cNvSpPr/>
          <p:nvPr/>
        </p:nvSpPr>
        <p:spPr>
          <a:xfrm>
            <a:off x="1188720" y="4636008"/>
            <a:ext cx="512064" cy="512064"/>
          </a:xfrm>
          <a:prstGeom prst="ellipse">
            <a:avLst/>
          </a:prstGeom>
          <a:solidFill>
            <a:srgbClr val="10B981"/>
          </a:solidFill>
          <a:ln w="12700">
            <a:solidFill>
              <a:srgbClr val="10B981"/>
            </a:solidFill>
            <a:prstDash val="solid"/>
          </a:ln>
        </p:spPr>
      </p:sp>
      <p:sp>
        <p:nvSpPr>
          <p:cNvPr id="17" name="Text 14"/>
          <p:cNvSpPr/>
          <p:nvPr/>
        </p:nvSpPr>
        <p:spPr>
          <a:xfrm>
            <a:off x="1188720" y="4636008"/>
            <a:ext cx="512064" cy="512064"/>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a:t>
            </a:r>
            <a:endParaRPr lang="en-US" sz="1800" dirty="0"/>
          </a:p>
        </p:txBody>
      </p:sp>
      <p:sp>
        <p:nvSpPr>
          <p:cNvPr id="18" name="Text 15"/>
          <p:cNvSpPr/>
          <p:nvPr/>
        </p:nvSpPr>
        <p:spPr>
          <a:xfrm>
            <a:off x="1874520" y="4480560"/>
            <a:ext cx="2926080" cy="329184"/>
          </a:xfrm>
          <a:prstGeom prst="rect">
            <a:avLst/>
          </a:prstGeom>
          <a:noFill/>
          <a:ln/>
        </p:spPr>
        <p:txBody>
          <a:bodyPr wrap="square" rtlCol="0" anchor="ctr"/>
          <a:lstStyle/>
          <a:p>
            <a:pPr indent="0" marL="0">
              <a:buNone/>
            </a:pPr>
            <a:r>
              <a:rPr lang="en-US" sz="1500" b="1" dirty="0">
                <a:solidFill>
                  <a:srgbClr val="0F172A"/>
                </a:solidFill>
                <a:latin typeface="Outfit" pitchFamily="34" charset="0"/>
                <a:ea typeface="Outfit" pitchFamily="34" charset="-122"/>
                <a:cs typeface="Outfit" pitchFamily="34" charset="-120"/>
              </a:rPr>
              <a:t>Google Analytics (GA4)</a:t>
            </a:r>
            <a:endParaRPr lang="en-US" sz="1500" dirty="0"/>
          </a:p>
        </p:txBody>
      </p:sp>
      <p:sp>
        <p:nvSpPr>
          <p:cNvPr id="19" name="Text 16"/>
          <p:cNvSpPr/>
          <p:nvPr/>
        </p:nvSpPr>
        <p:spPr>
          <a:xfrm>
            <a:off x="1874520" y="4837176"/>
            <a:ext cx="3017520" cy="457200"/>
          </a:xfrm>
          <a:prstGeom prst="rect">
            <a:avLst/>
          </a:prstGeom>
          <a:noFill/>
          <a:ln/>
        </p:spPr>
        <p:txBody>
          <a:bodyPr wrap="square" rtlCol="0" anchor="t"/>
          <a:lstStyle/>
          <a:p>
            <a:pPr indent="0" marL="0">
              <a:lnSpc>
                <a:spcPct val="110000"/>
              </a:lnSpc>
              <a:buNone/>
            </a:pPr>
            <a:r>
              <a:rPr lang="en-US" sz="1000" dirty="0">
                <a:solidFill>
                  <a:srgbClr val="64748B"/>
                </a:solidFill>
                <a:latin typeface="Plus Jakarta Sans" pitchFamily="34" charset="0"/>
                <a:ea typeface="Plus Jakarta Sans" pitchFamily="34" charset="-122"/>
                <a:cs typeface="Plus Jakarta Sans" pitchFamily="34" charset="-120"/>
              </a:rPr>
              <a:t>Records visits, sales and customer behaviour</a:t>
            </a:r>
            <a:endParaRPr lang="en-US" sz="1000" dirty="0"/>
          </a:p>
        </p:txBody>
      </p:sp>
      <p:sp>
        <p:nvSpPr>
          <p:cNvPr id="20" name="Shape 17"/>
          <p:cNvSpPr/>
          <p:nvPr/>
        </p:nvSpPr>
        <p:spPr>
          <a:xfrm>
            <a:off x="5074920" y="4544568"/>
            <a:ext cx="1371600" cy="292608"/>
          </a:xfrm>
          <a:prstGeom prst="roundRect">
            <a:avLst>
              <a:gd name="adj" fmla="val 50000"/>
            </a:avLst>
          </a:prstGeom>
          <a:solidFill>
            <a:srgbClr val="ECFDF5"/>
          </a:solidFill>
          <a:ln w="12700">
            <a:solidFill>
              <a:srgbClr val="10B981"/>
            </a:solidFill>
            <a:prstDash val="solid"/>
          </a:ln>
        </p:spPr>
      </p:sp>
      <p:sp>
        <p:nvSpPr>
          <p:cNvPr id="21" name="Text 18"/>
          <p:cNvSpPr/>
          <p:nvPr/>
        </p:nvSpPr>
        <p:spPr>
          <a:xfrm>
            <a:off x="5074920" y="4544568"/>
            <a:ext cx="1371600" cy="292608"/>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Active</a:t>
            </a:r>
            <a:endParaRPr lang="en-US" sz="1000" dirty="0"/>
          </a:p>
        </p:txBody>
      </p:sp>
      <p:sp>
        <p:nvSpPr>
          <p:cNvPr id="22" name="Text 19"/>
          <p:cNvSpPr/>
          <p:nvPr/>
        </p:nvSpPr>
        <p:spPr>
          <a:xfrm>
            <a:off x="5074920" y="4937760"/>
            <a:ext cx="1371600" cy="274320"/>
          </a:xfrm>
          <a:prstGeom prst="rect">
            <a:avLst/>
          </a:prstGeom>
          <a:noFill/>
          <a:ln/>
        </p:spPr>
        <p:txBody>
          <a:bodyPr wrap="square"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g-toggleLink</a:t>
            </a:r>
            <a:endParaRPr lang="en-US" sz="900" dirty="0"/>
          </a:p>
        </p:txBody>
      </p:sp>
      <p:sp>
        <p:nvSpPr>
          <p:cNvPr id="23" name="Shape 20"/>
          <p:cNvSpPr/>
          <p:nvPr/>
        </p:nvSpPr>
        <p:spPr>
          <a:xfrm>
            <a:off x="7178040" y="1874520"/>
            <a:ext cx="4297680" cy="4160520"/>
          </a:xfrm>
          <a:prstGeom prst="roundRect">
            <a:avLst>
              <a:gd name="adj" fmla="val 2198"/>
            </a:avLst>
          </a:prstGeom>
          <a:solidFill>
            <a:srgbClr val="F8FAFC"/>
          </a:solidFill>
          <a:ln w="12700">
            <a:solidFill>
              <a:srgbClr val="E2E8F0"/>
            </a:solidFill>
            <a:prstDash val="solid"/>
          </a:ln>
        </p:spPr>
      </p:sp>
      <p:sp>
        <p:nvSpPr>
          <p:cNvPr id="24" name="Text 21"/>
          <p:cNvSpPr/>
          <p:nvPr/>
        </p:nvSpPr>
        <p:spPr>
          <a:xfrm>
            <a:off x="7452360" y="2011680"/>
            <a:ext cx="3657600" cy="274320"/>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PAGE HEALTH DURING LOAD</a:t>
            </a:r>
            <a:endParaRPr lang="en-US" sz="1000" dirty="0"/>
          </a:p>
        </p:txBody>
      </p:sp>
      <p:sp>
        <p:nvSpPr>
          <p:cNvPr id="25" name="Shape 22"/>
          <p:cNvSpPr/>
          <p:nvPr/>
        </p:nvSpPr>
        <p:spPr>
          <a:xfrm>
            <a:off x="7498080" y="2697480"/>
            <a:ext cx="1600200" cy="1600200"/>
          </a:xfrm>
          <a:prstGeom prst="ellipse">
            <a:avLst/>
          </a:prstGeom>
          <a:solidFill>
            <a:srgbClr val="ECFDF5"/>
          </a:solidFill>
          <a:ln w="88900">
            <a:solidFill>
              <a:srgbClr val="10B981"/>
            </a:solidFill>
            <a:prstDash val="solid"/>
          </a:ln>
        </p:spPr>
      </p:sp>
      <p:sp>
        <p:nvSpPr>
          <p:cNvPr id="26" name="Text 23"/>
          <p:cNvSpPr/>
          <p:nvPr/>
        </p:nvSpPr>
        <p:spPr>
          <a:xfrm>
            <a:off x="7498080" y="2971800"/>
            <a:ext cx="1600200" cy="1005840"/>
          </a:xfrm>
          <a:prstGeom prst="rect">
            <a:avLst/>
          </a:prstGeom>
          <a:noFill/>
          <a:ln/>
        </p:spPr>
        <p:txBody>
          <a:bodyPr wrap="square" rtlCol="0" anchor="ctr"/>
          <a:lstStyle/>
          <a:p>
            <a:pPr algn="ctr" indent="0" marL="0">
              <a:buNone/>
            </a:pPr>
            <a:r>
              <a:rPr lang="en-US" sz="4400" b="1" dirty="0">
                <a:solidFill>
                  <a:srgbClr val="10B981"/>
                </a:solidFill>
                <a:latin typeface="Outfit" pitchFamily="34" charset="0"/>
                <a:ea typeface="Outfit" pitchFamily="34" charset="-122"/>
                <a:cs typeface="Outfit" pitchFamily="34" charset="-120"/>
              </a:rPr>
              <a:t>0</a:t>
            </a:r>
            <a:endParaRPr lang="en-US" sz="4400" dirty="0"/>
          </a:p>
        </p:txBody>
      </p:sp>
      <p:sp>
        <p:nvSpPr>
          <p:cNvPr id="27" name="Text 24"/>
          <p:cNvSpPr/>
          <p:nvPr/>
        </p:nvSpPr>
        <p:spPr>
          <a:xfrm>
            <a:off x="7315200" y="4434840"/>
            <a:ext cx="1965960" cy="292608"/>
          </a:xfrm>
          <a:prstGeom prst="rect">
            <a:avLst/>
          </a:prstGeom>
          <a:noFill/>
          <a:ln/>
        </p:spPr>
        <p:txBody>
          <a:bodyPr wrap="square" rtlCol="0" anchor="ctr"/>
          <a:lstStyle/>
          <a:p>
            <a:pPr algn="ctr" indent="0" marL="0">
              <a:buNone/>
            </a:pPr>
            <a:r>
              <a:rPr lang="en-US" sz="1300" b="1" dirty="0">
                <a:solidFill>
                  <a:srgbClr val="0F172A"/>
                </a:solidFill>
                <a:latin typeface="Outfit" pitchFamily="34" charset="0"/>
                <a:ea typeface="Outfit" pitchFamily="34" charset="-122"/>
                <a:cs typeface="Outfit" pitchFamily="34" charset="-120"/>
              </a:rPr>
              <a:t>Script errors</a:t>
            </a:r>
            <a:endParaRPr lang="en-US" sz="1300" dirty="0"/>
          </a:p>
        </p:txBody>
      </p:sp>
      <p:sp>
        <p:nvSpPr>
          <p:cNvPr id="28" name="Text 25"/>
          <p:cNvSpPr/>
          <p:nvPr/>
        </p:nvSpPr>
        <p:spPr>
          <a:xfrm>
            <a:off x="7315200" y="4727448"/>
            <a:ext cx="1965960" cy="274320"/>
          </a:xfrm>
          <a:prstGeom prst="rect">
            <a:avLst/>
          </a:prstGeom>
          <a:noFill/>
          <a:ln/>
        </p:spPr>
        <p:txBody>
          <a:bodyPr wrap="square" rtlCol="0" anchor="ctr"/>
          <a:lstStyle/>
          <a:p>
            <a:pPr algn="ctr" indent="0" marL="0">
              <a:buNone/>
            </a:pPr>
            <a:r>
              <a:rPr lang="en-US" sz="1000" dirty="0">
                <a:solidFill>
                  <a:srgbClr val="64748B"/>
                </a:solidFill>
                <a:latin typeface="Plus Jakarta Sans" pitchFamily="34" charset="0"/>
                <a:ea typeface="Plus Jakarta Sans" pitchFamily="34" charset="-122"/>
                <a:cs typeface="Plus Jakarta Sans" pitchFamily="34" charset="-120"/>
              </a:rPr>
              <a:t>Code problems on the page</a:t>
            </a:r>
            <a:endParaRPr lang="en-US" sz="1000" dirty="0"/>
          </a:p>
        </p:txBody>
      </p:sp>
      <p:sp>
        <p:nvSpPr>
          <p:cNvPr id="29" name="Shape 26"/>
          <p:cNvSpPr/>
          <p:nvPr/>
        </p:nvSpPr>
        <p:spPr>
          <a:xfrm>
            <a:off x="9464040" y="2697480"/>
            <a:ext cx="1600200" cy="1600200"/>
          </a:xfrm>
          <a:prstGeom prst="ellipse">
            <a:avLst/>
          </a:prstGeom>
          <a:solidFill>
            <a:srgbClr val="ECFDF5"/>
          </a:solidFill>
          <a:ln w="88900">
            <a:solidFill>
              <a:srgbClr val="10B981"/>
            </a:solidFill>
            <a:prstDash val="solid"/>
          </a:ln>
        </p:spPr>
      </p:sp>
      <p:sp>
        <p:nvSpPr>
          <p:cNvPr id="30" name="Text 27"/>
          <p:cNvSpPr/>
          <p:nvPr/>
        </p:nvSpPr>
        <p:spPr>
          <a:xfrm>
            <a:off x="9464040" y="2971800"/>
            <a:ext cx="1600200" cy="1005840"/>
          </a:xfrm>
          <a:prstGeom prst="rect">
            <a:avLst/>
          </a:prstGeom>
          <a:noFill/>
          <a:ln/>
        </p:spPr>
        <p:txBody>
          <a:bodyPr wrap="square" rtlCol="0" anchor="ctr"/>
          <a:lstStyle/>
          <a:p>
            <a:pPr algn="ctr" indent="0" marL="0">
              <a:buNone/>
            </a:pPr>
            <a:r>
              <a:rPr lang="en-US" sz="4400" b="1" dirty="0">
                <a:solidFill>
                  <a:srgbClr val="10B981"/>
                </a:solidFill>
                <a:latin typeface="Outfit" pitchFamily="34" charset="0"/>
                <a:ea typeface="Outfit" pitchFamily="34" charset="-122"/>
                <a:cs typeface="Outfit" pitchFamily="34" charset="-120"/>
              </a:rPr>
              <a:t>0</a:t>
            </a:r>
            <a:endParaRPr lang="en-US" sz="4400" dirty="0"/>
          </a:p>
        </p:txBody>
      </p:sp>
      <p:sp>
        <p:nvSpPr>
          <p:cNvPr id="31" name="Text 28"/>
          <p:cNvSpPr/>
          <p:nvPr/>
        </p:nvSpPr>
        <p:spPr>
          <a:xfrm>
            <a:off x="9281160" y="4434840"/>
            <a:ext cx="1965960" cy="292608"/>
          </a:xfrm>
          <a:prstGeom prst="rect">
            <a:avLst/>
          </a:prstGeom>
          <a:noFill/>
          <a:ln/>
        </p:spPr>
        <p:txBody>
          <a:bodyPr wrap="square" rtlCol="0" anchor="ctr"/>
          <a:lstStyle/>
          <a:p>
            <a:pPr algn="ctr" indent="0" marL="0">
              <a:buNone/>
            </a:pPr>
            <a:r>
              <a:rPr lang="en-US" sz="1300" b="1" dirty="0">
                <a:solidFill>
                  <a:srgbClr val="0F172A"/>
                </a:solidFill>
                <a:latin typeface="Outfit" pitchFamily="34" charset="0"/>
                <a:ea typeface="Outfit" pitchFamily="34" charset="-122"/>
                <a:cs typeface="Outfit" pitchFamily="34" charset="-120"/>
              </a:rPr>
              <a:t>Failed requests</a:t>
            </a:r>
            <a:endParaRPr lang="en-US" sz="1300" dirty="0"/>
          </a:p>
        </p:txBody>
      </p:sp>
      <p:sp>
        <p:nvSpPr>
          <p:cNvPr id="32" name="Text 29"/>
          <p:cNvSpPr/>
          <p:nvPr/>
        </p:nvSpPr>
        <p:spPr>
          <a:xfrm>
            <a:off x="9281160" y="4727448"/>
            <a:ext cx="1965960" cy="274320"/>
          </a:xfrm>
          <a:prstGeom prst="rect">
            <a:avLst/>
          </a:prstGeom>
          <a:noFill/>
          <a:ln/>
        </p:spPr>
        <p:txBody>
          <a:bodyPr wrap="square" rtlCol="0" anchor="ctr"/>
          <a:lstStyle/>
          <a:p>
            <a:pPr algn="ctr" indent="0" marL="0">
              <a:buNone/>
            </a:pPr>
            <a:r>
              <a:rPr lang="en-US" sz="1000" dirty="0">
                <a:solidFill>
                  <a:srgbClr val="64748B"/>
                </a:solidFill>
                <a:latin typeface="Plus Jakarta Sans" pitchFamily="34" charset="0"/>
                <a:ea typeface="Plus Jakarta Sans" pitchFamily="34" charset="-122"/>
                <a:cs typeface="Plus Jakarta Sans" pitchFamily="34" charset="-120"/>
              </a:rPr>
              <a:t>Files that did not load</a:t>
            </a:r>
            <a:endParaRPr lang="en-US" sz="1000" dirty="0"/>
          </a:p>
        </p:txBody>
      </p:sp>
      <p:sp>
        <p:nvSpPr>
          <p:cNvPr id="33" name="Text 30"/>
          <p:cNvSpPr/>
          <p:nvPr/>
        </p:nvSpPr>
        <p:spPr>
          <a:xfrm>
            <a:off x="7452360" y="5394960"/>
            <a:ext cx="3657600" cy="274320"/>
          </a:xfrm>
          <a:prstGeom prst="rect">
            <a:avLst/>
          </a:prstGeom>
          <a:noFill/>
          <a:ln/>
        </p:spPr>
        <p:txBody>
          <a:bodyPr wrap="square" rtlCol="0" anchor="ctr"/>
          <a:lstStyle/>
          <a:p>
            <a:pPr algn="ctr" indent="0" marL="0">
              <a:buNone/>
            </a:pPr>
            <a:r>
              <a:rPr lang="en-US" sz="1000" i="1" dirty="0">
                <a:solidFill>
                  <a:srgbClr val="64748B"/>
                </a:solidFill>
                <a:latin typeface="Plus Jakarta Sans" pitchFamily="34" charset="0"/>
                <a:ea typeface="Plus Jakarta Sans" pitchFamily="34" charset="-122"/>
                <a:cs typeface="Plus Jakarta Sans" pitchFamily="34" charset="-120"/>
              </a:rPr>
              <a:t>Checked automatically every month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1097280"/>
            <a:ext cx="10515600" cy="914400"/>
          </a:xfrm>
          <a:prstGeom prst="rect">
            <a:avLst/>
          </a:prstGeom>
          <a:noFill/>
          <a:ln/>
        </p:spPr>
        <p:txBody>
          <a:bodyPr wrap="square" rtlCol="0" anchor="ctr"/>
          <a:lstStyle/>
          <a:p>
            <a:pPr indent="0" marL="0">
              <a:buNone/>
            </a:pPr>
            <a:r>
              <a:rPr lang="en-US" sz="4400" b="1" dirty="0">
                <a:solidFill>
                  <a:srgbClr val="0F172A"/>
                </a:solidFill>
                <a:latin typeface="Outfit" pitchFamily="34" charset="0"/>
                <a:ea typeface="Outfit" pitchFamily="34" charset="-122"/>
                <a:cs typeface="Outfit" pitchFamily="34" charset="-120"/>
              </a:rPr>
              <a:t>Thank You!</a:t>
            </a:r>
            <a:endParaRPr lang="en-US" sz="4400" dirty="0"/>
          </a:p>
        </p:txBody>
      </p:sp>
      <p:sp>
        <p:nvSpPr>
          <p:cNvPr id="4" name="Text 1"/>
          <p:cNvSpPr/>
          <p:nvPr/>
        </p:nvSpPr>
        <p:spPr>
          <a:xfrm>
            <a:off x="731520" y="2011680"/>
            <a:ext cx="10515600" cy="548640"/>
          </a:xfrm>
          <a:prstGeom prst="rect">
            <a:avLst/>
          </a:prstGeom>
          <a:noFill/>
          <a:ln/>
        </p:spPr>
        <p:txBody>
          <a:bodyPr wrap="square" rtlCol="0" anchor="ctr"/>
          <a:lstStyle/>
          <a:p>
            <a:pPr indent="0" marL="0">
              <a:buNone/>
            </a:pPr>
            <a:r>
              <a:rPr lang="en-US" sz="1600" dirty="0">
                <a:solidFill>
                  <a:srgbClr val="0EA5E9"/>
                </a:solidFill>
                <a:latin typeface="Outfit" pitchFamily="34" charset="0"/>
                <a:ea typeface="Outfit" pitchFamily="34" charset="-122"/>
                <a:cs typeface="Outfit" pitchFamily="34" charset="-120"/>
              </a:rPr>
              <a:t>We are committed to maintaining, future-proofing, and optimizing your web operations.</a:t>
            </a:r>
            <a:endParaRPr lang="en-US" sz="1600" dirty="0"/>
          </a:p>
        </p:txBody>
      </p:sp>
      <p:sp>
        <p:nvSpPr>
          <p:cNvPr id="5" name="Text 2"/>
          <p:cNvSpPr/>
          <p:nvPr/>
        </p:nvSpPr>
        <p:spPr>
          <a:xfrm>
            <a:off x="731520" y="2560320"/>
            <a:ext cx="9144000" cy="548640"/>
          </a:xfrm>
          <a:prstGeom prst="rect">
            <a:avLst/>
          </a:prstGeom>
          <a:noFill/>
          <a:ln/>
        </p:spPr>
        <p:txBody>
          <a:bodyPr wrap="square" rtlCol="0" anchor="ctr"/>
          <a:lstStyle/>
          <a:p>
            <a:pPr indent="0" marL="0">
              <a:lnSpc>
                <a:spcPts val="1800"/>
              </a:lnSpc>
              <a:buNone/>
            </a:pPr>
            <a:r>
              <a:rPr lang="en-US" sz="1350" dirty="0">
                <a:solidFill>
                  <a:srgbClr val="64748B"/>
                </a:solidFill>
                <a:latin typeface="Plus Jakarta Sans" pitchFamily="34" charset="0"/>
                <a:ea typeface="Plus Jakarta Sans" pitchFamily="34" charset="-122"/>
                <a:cs typeface="Plus Jakarta Sans" pitchFamily="34" charset="-120"/>
              </a:rPr>
              <a:t>If you have questions regarding the findings or recommendations in this audit report, please connect with your account engineer.</a:t>
            </a:r>
            <a:endParaRPr lang="en-US" sz="1350" dirty="0"/>
          </a:p>
        </p:txBody>
      </p:sp>
      <p:sp>
        <p:nvSpPr>
          <p:cNvPr id="6" name="Text 3"/>
          <p:cNvSpPr/>
          <p:nvPr/>
        </p:nvSpPr>
        <p:spPr>
          <a:xfrm>
            <a:off x="731520" y="3749040"/>
            <a:ext cx="4572000" cy="914400"/>
          </a:xfrm>
          <a:prstGeom prst="rect">
            <a:avLst/>
          </a:prstGeom>
          <a:noFill/>
          <a:ln/>
        </p:spPr>
        <p:txBody>
          <a:bodyPr wrap="square" rtlCol="0" anchor="ctr"/>
          <a:lstStyle/>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United States Office</a:t>
            </a:r>
            <a:endParaRPr lang="en-US" sz="1300" dirty="0"/>
          </a:p>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98 Cutter Mill Rd, Great Neck, NY 11021, USA</a:t>
            </a:r>
            <a:endParaRPr lang="en-US" sz="1300" dirty="0"/>
          </a:p>
        </p:txBody>
      </p:sp>
      <p:sp>
        <p:nvSpPr>
          <p:cNvPr id="7" name="Text 4"/>
          <p:cNvSpPr/>
          <p:nvPr/>
        </p:nvSpPr>
        <p:spPr>
          <a:xfrm>
            <a:off x="5943600" y="3749040"/>
            <a:ext cx="4572000" cy="914400"/>
          </a:xfrm>
          <a:prstGeom prst="rect">
            <a:avLst/>
          </a:prstGeom>
          <a:noFill/>
          <a:ln/>
        </p:spPr>
        <p:txBody>
          <a:bodyPr wrap="square" rtlCol="0" anchor="ctr"/>
          <a:lstStyle/>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Canada Office</a:t>
            </a:r>
            <a:endParaRPr lang="en-US" sz="1300" dirty="0"/>
          </a:p>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150 King Street W, Toronto, ON M5H 1J9, Canada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2026-10-09T13:52:45Z</dcterms:created>
  <dcterms:modified xsi:type="dcterms:W3CDTF">2026-10-09T13:52:45Z</dcterms:modified>
</cp:coreProperties>
</file>