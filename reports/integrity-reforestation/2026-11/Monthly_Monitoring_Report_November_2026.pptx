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2" Type="http://schemas.openxmlformats.org/officeDocument/2006/relationships/hyperlink" Target="https://dashboard.heroku.com/apps/integrity-app/metrics/web?ending=0-hours-ago&amp;starting=24-hours-ago" TargetMode="External"/><Relationship Id="rId3" Type="http://schemas.openxmlformats.org/officeDocument/2006/relationships/hyperlink" Target="https://dashboard.heroku.com/apps/integrity-dashboard/metrics/web?ending=0-hours-ago&amp;starting=24-hours-ago" TargetMode="External"/><Relationship Id="rId1" Type="http://schemas.openxmlformats.org/officeDocument/2006/relationships/image" Target="../media/image-4-1.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hyperlink" Target="https://app.screencast.com/tngYnmsKRo4Gs" TargetMode="External"/><Relationship Id="rId3" Type="http://schemas.openxmlformats.org/officeDocument/2006/relationships/hyperlink" Target="https://app.screencast.com/APUPtmv9yPKyC" TargetMode="External"/><Relationship Id="rId4" Type="http://schemas.openxmlformats.org/officeDocument/2006/relationships/hyperlink" Target="https://app.screencast.com/CK2NKXTPDgCsQ" TargetMode="External"/><Relationship Id="rId5" Type="http://schemas.openxmlformats.org/officeDocument/2006/relationships/hyperlink" Target="https://app.screencast.com/3bJOAd0UAv3jq" TargetMode="External"/><Relationship Id="rId1" Type="http://schemas.openxmlformats.org/officeDocument/2006/relationships/image" Target="../media/image-6-1.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2" Type="http://schemas.openxmlformats.org/officeDocument/2006/relationships/hyperlink" Target="https://dashboard.heroku.com/apps/integrity-app/metrics/web?ending=0-hours-ago&amp;starting=24-hours-ago" TargetMode="External"/><Relationship Id="rId3" Type="http://schemas.openxmlformats.org/officeDocument/2006/relationships/hyperlink" Target="https://dashboard.heroku.com/apps/integrity-dashboard/metrics/web?ending=0-hours-ago&amp;starting=24-hours-ago" TargetMode="External"/><Relationship Id="rId1" Type="http://schemas.openxmlformats.org/officeDocument/2006/relationships/image" Target="../media/image-7-1.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white-logo.png">    </p:cNvPr>
          <p:cNvPicPr>
            <a:picLocks noChangeAspect="1"/>
          </p:cNvPicPr>
          <p:nvPr/>
        </p:nvPicPr>
        <p:blipFill>
          <a:blip r:embed="rId1"/>
          <a:stretch>
            <a:fillRect/>
          </a:stretch>
        </p:blipFill>
        <p:spPr>
          <a:xfrm>
            <a:off x="731520" y="731520"/>
            <a:ext cx="2011680" cy="1097280"/>
          </a:xfrm>
          <a:prstGeom prst="rect">
            <a:avLst/>
          </a:prstGeom>
        </p:spPr>
      </p:pic>
      <p:sp>
        <p:nvSpPr>
          <p:cNvPr id="3" name="Text 0"/>
          <p:cNvSpPr/>
          <p:nvPr/>
        </p:nvSpPr>
        <p:spPr>
          <a:xfrm>
            <a:off x="731520" y="2011680"/>
            <a:ext cx="10515600" cy="1188720"/>
          </a:xfrm>
          <a:prstGeom prst="rect">
            <a:avLst/>
          </a:prstGeom>
          <a:noFill/>
          <a:ln/>
        </p:spPr>
        <p:txBody>
          <a:bodyPr wrap="square" rtlCol="0" anchor="ctr"/>
          <a:lstStyle/>
          <a:p>
            <a:pPr indent="0" marL="0">
              <a:buNone/>
            </a:pPr>
            <a:r>
              <a:rPr lang="en-US" sz="3400" b="1" dirty="0">
                <a:solidFill>
                  <a:srgbClr val="0F172A"/>
                </a:solidFill>
                <a:latin typeface="Outfit" pitchFamily="34" charset="0"/>
                <a:ea typeface="Outfit" pitchFamily="34" charset="-122"/>
                <a:cs typeface="Outfit" pitchFamily="34" charset="-120"/>
              </a:rPr>
              <a:t>Monthly Storefront Monitoring &amp; Maintenance Report</a:t>
            </a:r>
            <a:endParaRPr lang="en-US" sz="3400" dirty="0"/>
          </a:p>
        </p:txBody>
      </p:sp>
      <p:sp>
        <p:nvSpPr>
          <p:cNvPr id="4" name="Text 1"/>
          <p:cNvSpPr/>
          <p:nvPr/>
        </p:nvSpPr>
        <p:spPr>
          <a:xfrm>
            <a:off x="731520" y="3291840"/>
            <a:ext cx="10515600" cy="457200"/>
          </a:xfrm>
          <a:prstGeom prst="rect">
            <a:avLst/>
          </a:prstGeom>
          <a:noFill/>
          <a:ln/>
        </p:spPr>
        <p:txBody>
          <a:bodyPr wrap="square" rtlCol="0" anchor="ctr"/>
          <a:lstStyle/>
          <a:p>
            <a:pPr indent="0" marL="0">
              <a:buNone/>
            </a:pPr>
            <a:r>
              <a:rPr lang="en-US" sz="1800" dirty="0">
                <a:solidFill>
                  <a:srgbClr val="0EA5E9"/>
                </a:solidFill>
                <a:latin typeface="Outfit" pitchFamily="34" charset="0"/>
                <a:ea typeface="Outfit" pitchFamily="34" charset="-122"/>
                <a:cs typeface="Outfit" pitchFamily="34" charset="-120"/>
              </a:rPr>
              <a:t>Integrity Reforestation — November 2026 Development &amp; Storefront QA Report</a:t>
            </a:r>
            <a:endParaRPr lang="en-US" sz="1800" dirty="0"/>
          </a:p>
        </p:txBody>
      </p:sp>
      <p:sp>
        <p:nvSpPr>
          <p:cNvPr id="5" name="Shape 2"/>
          <p:cNvSpPr/>
          <p:nvPr/>
        </p:nvSpPr>
        <p:spPr>
          <a:xfrm>
            <a:off x="731520" y="4206240"/>
            <a:ext cx="2286000" cy="45720"/>
          </a:xfrm>
          <a:prstGeom prst="rect">
            <a:avLst/>
          </a:prstGeom>
          <a:solidFill>
            <a:srgbClr val="0EA5E9"/>
          </a:solidFill>
          <a:ln/>
        </p:spPr>
      </p:sp>
      <p:sp>
        <p:nvSpPr>
          <p:cNvPr id="6" name="Text 3"/>
          <p:cNvSpPr/>
          <p:nvPr/>
        </p:nvSpPr>
        <p:spPr>
          <a:xfrm>
            <a:off x="731520" y="4572000"/>
            <a:ext cx="7315200" cy="365760"/>
          </a:xfrm>
          <a:prstGeom prst="rect">
            <a:avLst/>
          </a:prstGeom>
          <a:noFill/>
          <a:ln/>
        </p:spPr>
        <p:txBody>
          <a:bodyPr wrap="square" rtlCol="0" anchor="ctr"/>
          <a:lstStyle/>
          <a:p>
            <a:pPr indent="0" marL="0">
              <a:buNone/>
            </a:pPr>
            <a:r>
              <a:rPr lang="en-US" sz="1300" dirty="0">
                <a:solidFill>
                  <a:srgbClr val="64748B"/>
                </a:solidFill>
                <a:latin typeface="Plus Jakarta Sans" pitchFamily="34" charset="0"/>
                <a:ea typeface="Plus Jakarta Sans" pitchFamily="34" charset="-122"/>
                <a:cs typeface="Plus Jakarta Sans" pitchFamily="34" charset="-120"/>
              </a:rPr>
              <a:t>Prepared by WebDesk Solution Maintenance &amp; QA Team</a:t>
            </a:r>
            <a:endParaRPr lang="en-US" sz="1300" dirty="0"/>
          </a:p>
        </p:txBody>
      </p:sp>
      <p:sp>
        <p:nvSpPr>
          <p:cNvPr id="7" name="Text 4"/>
          <p:cNvSpPr/>
          <p:nvPr/>
        </p:nvSpPr>
        <p:spPr>
          <a:xfrm>
            <a:off x="731520" y="4937760"/>
            <a:ext cx="7315200" cy="320040"/>
          </a:xfrm>
          <a:prstGeom prst="rect">
            <a:avLst/>
          </a:prstGeom>
          <a:noFill/>
          <a:ln/>
        </p:spPr>
        <p:txBody>
          <a:bodyPr wrap="square" rtlCol="0" anchor="ctr"/>
          <a:lstStyle/>
          <a:p>
            <a:pPr indent="0" marL="0">
              <a:buNone/>
            </a:pPr>
            <a:r>
              <a:rPr lang="en-US" sz="1200" dirty="0">
                <a:solidFill>
                  <a:srgbClr val="64748B"/>
                </a:solidFill>
                <a:latin typeface="Plus Jakarta Sans" pitchFamily="34" charset="0"/>
                <a:ea typeface="Plus Jakarta Sans" pitchFamily="34" charset="-122"/>
                <a:cs typeface="Plus Jakarta Sans" pitchFamily="34" charset="-120"/>
              </a:rPr>
              <a:t>https://test-demo-store-801srwej.myshopify.com</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white-logo.png">    </p:cNvPr>
          <p:cNvPicPr>
            <a:picLocks noChangeAspect="1"/>
          </p:cNvPicPr>
          <p:nvPr/>
        </p:nvPicPr>
        <p:blipFill>
          <a:blip r:embed="rId1"/>
          <a:stretch>
            <a:fillRect/>
          </a:stretch>
        </p:blipFill>
        <p:spPr>
          <a:xfrm>
            <a:off x="9601200" y="365760"/>
            <a:ext cx="2011680" cy="1097280"/>
          </a:xfrm>
          <a:prstGeom prst="rect">
            <a:avLst/>
          </a:prstGeom>
        </p:spPr>
      </p:pic>
      <p:sp>
        <p:nvSpPr>
          <p:cNvPr id="3" name="Text 0"/>
          <p:cNvSpPr/>
          <p:nvPr/>
        </p:nvSpPr>
        <p:spPr>
          <a:xfrm>
            <a:off x="731520" y="365760"/>
            <a:ext cx="8229600" cy="365760"/>
          </a:xfrm>
          <a:prstGeom prst="rect">
            <a:avLst/>
          </a:prstGeom>
          <a:noFill/>
          <a:ln/>
        </p:spPr>
        <p:txBody>
          <a:bodyPr wrap="square" rtlCol="0" anchor="ctr"/>
          <a:lstStyle/>
          <a:p>
            <a:pPr indent="0" marL="0">
              <a:buNone/>
            </a:pPr>
            <a:r>
              <a:rPr lang="en-US" sz="1300" b="1" dirty="0">
                <a:solidFill>
                  <a:srgbClr val="0EA5E9"/>
                </a:solidFill>
                <a:latin typeface="Outfit" pitchFamily="34" charset="0"/>
                <a:ea typeface="Outfit" pitchFamily="34" charset="-122"/>
                <a:cs typeface="Outfit" pitchFamily="34" charset="-120"/>
              </a:rPr>
              <a:t>Executive Summary</a:t>
            </a:r>
            <a:endParaRPr lang="en-US" sz="1300" dirty="0"/>
          </a:p>
        </p:txBody>
      </p:sp>
      <p:sp>
        <p:nvSpPr>
          <p:cNvPr id="4" name="Text 1"/>
          <p:cNvSpPr/>
          <p:nvPr/>
        </p:nvSpPr>
        <p:spPr>
          <a:xfrm>
            <a:off x="731520" y="731520"/>
            <a:ext cx="9601200" cy="548640"/>
          </a:xfrm>
          <a:prstGeom prst="rect">
            <a:avLst/>
          </a:prstGeom>
          <a:noFill/>
          <a:ln/>
        </p:spPr>
        <p:txBody>
          <a:bodyPr wrap="square" rtlCol="0" anchor="ctr"/>
          <a:lstStyle/>
          <a:p>
            <a:pPr indent="0" marL="0">
              <a:buNone/>
            </a:pPr>
            <a:r>
              <a:rPr lang="en-US" sz="2600" b="1" dirty="0">
                <a:solidFill>
                  <a:srgbClr val="0F172A"/>
                </a:solidFill>
                <a:latin typeface="Outfit" pitchFamily="34" charset="0"/>
                <a:ea typeface="Outfit" pitchFamily="34" charset="-122"/>
                <a:cs typeface="Outfit" pitchFamily="34" charset="-120"/>
              </a:rPr>
              <a:t>November 2026 Monitoring Overview</a:t>
            </a:r>
            <a:endParaRPr lang="en-US" sz="2600" dirty="0"/>
          </a:p>
        </p:txBody>
      </p:sp>
      <p:sp>
        <p:nvSpPr>
          <p:cNvPr id="5" name="Text 2"/>
          <p:cNvSpPr/>
          <p:nvPr/>
        </p:nvSpPr>
        <p:spPr>
          <a:xfrm>
            <a:off x="731520" y="1463040"/>
            <a:ext cx="10515600" cy="1188720"/>
          </a:xfrm>
          <a:prstGeom prst="rect">
            <a:avLst/>
          </a:prstGeom>
          <a:noFill/>
          <a:ln/>
        </p:spPr>
        <p:txBody>
          <a:bodyPr wrap="square" rtlCol="0" anchor="ctr"/>
          <a:lstStyle/>
          <a:p>
            <a:pPr indent="0" marL="0">
              <a:lnSpc>
                <a:spcPts val="2000"/>
              </a:lnSpc>
              <a:buNone/>
            </a:pPr>
            <a:r>
              <a:rPr lang="en-US" sz="1400" dirty="0">
                <a:solidFill>
                  <a:srgbClr val="0F172A"/>
                </a:solidFill>
                <a:latin typeface="Plus Jakarta Sans" pitchFamily="34" charset="0"/>
                <a:ea typeface="Plus Jakarta Sans" pitchFamily="34" charset="-122"/>
                <a:cs typeface="Plus Jakarta Sans" pitchFamily="34" charset="-120"/>
              </a:rPr>
              <a:t>During the November 2026 monthly monitoring cycle, we reviewed App and Dashboard server performance, performed build cache maintenance on both environments, and reviewed operational metrics for the past 30 days. We audited Craft (v16.1.0), which is currently active on this store. We also completed end-to-end read-only testing of the Custom Admin Dashboard. The development team added a Resend Email option for failed emails in the Email Logs module.</a:t>
            </a:r>
            <a:endParaRPr lang="en-US" sz="1400" dirty="0"/>
          </a:p>
        </p:txBody>
      </p:sp>
      <p:sp>
        <p:nvSpPr>
          <p:cNvPr id="6" name="Shape 3"/>
          <p:cNvSpPr/>
          <p:nvPr/>
        </p:nvSpPr>
        <p:spPr>
          <a:xfrm>
            <a:off x="731520" y="2926080"/>
            <a:ext cx="3401568" cy="1371600"/>
          </a:xfrm>
          <a:prstGeom prst="rect">
            <a:avLst>
              <a:gd name="adj" fmla="val 6667"/>
            </a:avLst>
          </a:prstGeom>
          <a:solidFill>
            <a:srgbClr val="F8FAFC"/>
          </a:solidFill>
          <a:ln w="12700">
            <a:solidFill>
              <a:srgbClr val="E2E8F0"/>
            </a:solidFill>
            <a:prstDash val="solid"/>
          </a:ln>
        </p:spPr>
      </p:sp>
      <p:sp>
        <p:nvSpPr>
          <p:cNvPr id="7" name="Text 4"/>
          <p:cNvSpPr/>
          <p:nvPr/>
        </p:nvSpPr>
        <p:spPr>
          <a:xfrm>
            <a:off x="868680" y="3063240"/>
            <a:ext cx="3127248" cy="548640"/>
          </a:xfrm>
          <a:prstGeom prst="rect">
            <a:avLst/>
          </a:prstGeom>
          <a:noFill/>
          <a:ln/>
        </p:spPr>
        <p:txBody>
          <a:bodyPr wrap="square" rtlCol="0" anchor="ctr"/>
          <a:lstStyle/>
          <a:p>
            <a:pPr indent="0" marL="0">
              <a:buNone/>
            </a:pPr>
            <a:r>
              <a:rPr lang="en-US" sz="3000" b="1" dirty="0">
                <a:solidFill>
                  <a:srgbClr val="0EA5E9"/>
                </a:solidFill>
                <a:latin typeface="Outfit" pitchFamily="34" charset="0"/>
                <a:ea typeface="Outfit" pitchFamily="34" charset="-122"/>
                <a:cs typeface="Outfit" pitchFamily="34" charset="-120"/>
              </a:rPr>
              <a:t>9 ms</a:t>
            </a:r>
            <a:endParaRPr lang="en-US" sz="3000" dirty="0"/>
          </a:p>
        </p:txBody>
      </p:sp>
      <p:sp>
        <p:nvSpPr>
          <p:cNvPr id="8" name="Text 5"/>
          <p:cNvSpPr/>
          <p:nvPr/>
        </p:nvSpPr>
        <p:spPr>
          <a:xfrm>
            <a:off x="868680" y="3703320"/>
            <a:ext cx="3127248" cy="457200"/>
          </a:xfrm>
          <a:prstGeom prst="rect">
            <a:avLst/>
          </a:prstGeom>
          <a:noFill/>
          <a:ln/>
        </p:spPr>
        <p:txBody>
          <a:bodyPr wrap="square" rtlCol="0" anchor="ctr"/>
          <a:lstStyle/>
          <a:p>
            <a:pPr indent="0" marL="0">
              <a:buNone/>
            </a:pPr>
            <a:r>
              <a:rPr lang="en-US" sz="1100" dirty="0">
                <a:solidFill>
                  <a:srgbClr val="64748B"/>
                </a:solidFill>
                <a:latin typeface="Plus Jakarta Sans" pitchFamily="34" charset="0"/>
                <a:ea typeface="Plus Jakarta Sans" pitchFamily="34" charset="-122"/>
                <a:cs typeface="Plus Jakarta Sans" pitchFamily="34" charset="-120"/>
              </a:rPr>
              <a:t>App Response Time</a:t>
            </a:r>
            <a:endParaRPr lang="en-US" sz="1100" dirty="0"/>
          </a:p>
        </p:txBody>
      </p:sp>
      <p:sp>
        <p:nvSpPr>
          <p:cNvPr id="9" name="Shape 6"/>
          <p:cNvSpPr/>
          <p:nvPr/>
        </p:nvSpPr>
        <p:spPr>
          <a:xfrm>
            <a:off x="4379976" y="2926080"/>
            <a:ext cx="3401568" cy="1371600"/>
          </a:xfrm>
          <a:prstGeom prst="rect">
            <a:avLst>
              <a:gd name="adj" fmla="val 6667"/>
            </a:avLst>
          </a:prstGeom>
          <a:solidFill>
            <a:srgbClr val="F8FAFC"/>
          </a:solidFill>
          <a:ln w="12700">
            <a:solidFill>
              <a:srgbClr val="E2E8F0"/>
            </a:solidFill>
            <a:prstDash val="solid"/>
          </a:ln>
        </p:spPr>
      </p:sp>
      <p:sp>
        <p:nvSpPr>
          <p:cNvPr id="10" name="Text 7"/>
          <p:cNvSpPr/>
          <p:nvPr/>
        </p:nvSpPr>
        <p:spPr>
          <a:xfrm>
            <a:off x="4517136" y="3063240"/>
            <a:ext cx="3127248" cy="548640"/>
          </a:xfrm>
          <a:prstGeom prst="rect">
            <a:avLst/>
          </a:prstGeom>
          <a:noFill/>
          <a:ln/>
        </p:spPr>
        <p:txBody>
          <a:bodyPr wrap="square" rtlCol="0" anchor="ctr"/>
          <a:lstStyle/>
          <a:p>
            <a:pPr indent="0" marL="0">
              <a:buNone/>
            </a:pPr>
            <a:r>
              <a:rPr lang="en-US" sz="3000" b="1" dirty="0">
                <a:solidFill>
                  <a:srgbClr val="0EA5E9"/>
                </a:solidFill>
                <a:latin typeface="Outfit" pitchFamily="34" charset="0"/>
                <a:ea typeface="Outfit" pitchFamily="34" charset="-122"/>
                <a:cs typeface="Outfit" pitchFamily="34" charset="-120"/>
              </a:rPr>
              <a:t>1 second (1,000 ms)</a:t>
            </a:r>
            <a:endParaRPr lang="en-US" sz="3000" dirty="0"/>
          </a:p>
        </p:txBody>
      </p:sp>
      <p:sp>
        <p:nvSpPr>
          <p:cNvPr id="11" name="Text 8"/>
          <p:cNvSpPr/>
          <p:nvPr/>
        </p:nvSpPr>
        <p:spPr>
          <a:xfrm>
            <a:off x="4517136" y="3703320"/>
            <a:ext cx="3127248" cy="457200"/>
          </a:xfrm>
          <a:prstGeom prst="rect">
            <a:avLst/>
          </a:prstGeom>
          <a:noFill/>
          <a:ln/>
        </p:spPr>
        <p:txBody>
          <a:bodyPr wrap="square" rtlCol="0" anchor="ctr"/>
          <a:lstStyle/>
          <a:p>
            <a:pPr indent="0" marL="0">
              <a:buNone/>
            </a:pPr>
            <a:r>
              <a:rPr lang="en-US" sz="1100" dirty="0">
                <a:solidFill>
                  <a:srgbClr val="64748B"/>
                </a:solidFill>
                <a:latin typeface="Plus Jakarta Sans" pitchFamily="34" charset="0"/>
                <a:ea typeface="Plus Jakarta Sans" pitchFamily="34" charset="-122"/>
                <a:cs typeface="Plus Jakarta Sans" pitchFamily="34" charset="-120"/>
              </a:rPr>
              <a:t>Dashboard Response Time</a:t>
            </a:r>
            <a:endParaRPr lang="en-US" sz="1100" dirty="0"/>
          </a:p>
        </p:txBody>
      </p:sp>
      <p:sp>
        <p:nvSpPr>
          <p:cNvPr id="12" name="Shape 9"/>
          <p:cNvSpPr/>
          <p:nvPr/>
        </p:nvSpPr>
        <p:spPr>
          <a:xfrm>
            <a:off x="8028432" y="2926080"/>
            <a:ext cx="3401568" cy="1371600"/>
          </a:xfrm>
          <a:prstGeom prst="rect">
            <a:avLst>
              <a:gd name="adj" fmla="val 6667"/>
            </a:avLst>
          </a:prstGeom>
          <a:solidFill>
            <a:srgbClr val="F8FAFC"/>
          </a:solidFill>
          <a:ln w="12700">
            <a:solidFill>
              <a:srgbClr val="E2E8F0"/>
            </a:solidFill>
            <a:prstDash val="solid"/>
          </a:ln>
        </p:spPr>
      </p:sp>
      <p:sp>
        <p:nvSpPr>
          <p:cNvPr id="13" name="Text 10"/>
          <p:cNvSpPr/>
          <p:nvPr/>
        </p:nvSpPr>
        <p:spPr>
          <a:xfrm>
            <a:off x="8165592" y="3063240"/>
            <a:ext cx="3127248" cy="548640"/>
          </a:xfrm>
          <a:prstGeom prst="rect">
            <a:avLst/>
          </a:prstGeom>
          <a:noFill/>
          <a:ln/>
        </p:spPr>
        <p:txBody>
          <a:bodyPr wrap="square" rtlCol="0" anchor="ctr"/>
          <a:lstStyle/>
          <a:p>
            <a:pPr indent="0" marL="0">
              <a:buNone/>
            </a:pPr>
            <a:r>
              <a:rPr lang="en-US" sz="3000" b="1" dirty="0">
                <a:solidFill>
                  <a:srgbClr val="0EA5E9"/>
                </a:solidFill>
                <a:latin typeface="Outfit" pitchFamily="34" charset="0"/>
                <a:ea typeface="Outfit" pitchFamily="34" charset="-122"/>
                <a:cs typeface="Outfit" pitchFamily="34" charset="-120"/>
              </a:rPr>
              <a:t>Cleared</a:t>
            </a:r>
            <a:endParaRPr lang="en-US" sz="3000" dirty="0"/>
          </a:p>
        </p:txBody>
      </p:sp>
      <p:sp>
        <p:nvSpPr>
          <p:cNvPr id="14" name="Text 11"/>
          <p:cNvSpPr/>
          <p:nvPr/>
        </p:nvSpPr>
        <p:spPr>
          <a:xfrm>
            <a:off x="8165592" y="3703320"/>
            <a:ext cx="3127248" cy="457200"/>
          </a:xfrm>
          <a:prstGeom prst="rect">
            <a:avLst/>
          </a:prstGeom>
          <a:noFill/>
          <a:ln/>
        </p:spPr>
        <p:txBody>
          <a:bodyPr wrap="square" rtlCol="0" anchor="ctr"/>
          <a:lstStyle/>
          <a:p>
            <a:pPr indent="0" marL="0">
              <a:buNone/>
            </a:pPr>
            <a:r>
              <a:rPr lang="en-US" sz="1100" dirty="0">
                <a:solidFill>
                  <a:srgbClr val="64748B"/>
                </a:solidFill>
                <a:latin typeface="Plus Jakarta Sans" pitchFamily="34" charset="0"/>
                <a:ea typeface="Plus Jakarta Sans" pitchFamily="34" charset="-122"/>
                <a:cs typeface="Plus Jakarta Sans" pitchFamily="34" charset="-120"/>
              </a:rPr>
              <a:t>Build Cache Status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white-logo.png">    </p:cNvPr>
          <p:cNvPicPr>
            <a:picLocks noChangeAspect="1"/>
          </p:cNvPicPr>
          <p:nvPr/>
        </p:nvPicPr>
        <p:blipFill>
          <a:blip r:embed="rId1"/>
          <a:stretch>
            <a:fillRect/>
          </a:stretch>
        </p:blipFill>
        <p:spPr>
          <a:xfrm>
            <a:off x="9601200" y="365760"/>
            <a:ext cx="2011680" cy="1097280"/>
          </a:xfrm>
          <a:prstGeom prst="rect">
            <a:avLst/>
          </a:prstGeom>
        </p:spPr>
      </p:pic>
      <p:sp>
        <p:nvSpPr>
          <p:cNvPr id="3" name="Text 0"/>
          <p:cNvSpPr/>
          <p:nvPr/>
        </p:nvSpPr>
        <p:spPr>
          <a:xfrm>
            <a:off x="731520" y="365760"/>
            <a:ext cx="8229600" cy="365760"/>
          </a:xfrm>
          <a:prstGeom prst="rect">
            <a:avLst/>
          </a:prstGeom>
          <a:noFill/>
          <a:ln/>
        </p:spPr>
        <p:txBody>
          <a:bodyPr wrap="square" rtlCol="0" anchor="ctr"/>
          <a:lstStyle/>
          <a:p>
            <a:pPr indent="0" marL="0">
              <a:buNone/>
            </a:pPr>
            <a:r>
              <a:rPr lang="en-US" sz="1300" b="1" dirty="0">
                <a:solidFill>
                  <a:srgbClr val="0EA5E9"/>
                </a:solidFill>
                <a:latin typeface="Outfit" pitchFamily="34" charset="0"/>
                <a:ea typeface="Outfit" pitchFamily="34" charset="-122"/>
                <a:cs typeface="Outfit" pitchFamily="34" charset="-120"/>
              </a:rPr>
              <a:t>Monthly App &amp; Server Monitoring</a:t>
            </a:r>
            <a:endParaRPr lang="en-US" sz="1300" dirty="0"/>
          </a:p>
        </p:txBody>
      </p:sp>
      <p:sp>
        <p:nvSpPr>
          <p:cNvPr id="4" name="Text 1"/>
          <p:cNvSpPr/>
          <p:nvPr/>
        </p:nvSpPr>
        <p:spPr>
          <a:xfrm>
            <a:off x="731520" y="731520"/>
            <a:ext cx="9601200" cy="548640"/>
          </a:xfrm>
          <a:prstGeom prst="rect">
            <a:avLst/>
          </a:prstGeom>
          <a:noFill/>
          <a:ln/>
        </p:spPr>
        <p:txBody>
          <a:bodyPr wrap="square" rtlCol="0" anchor="ctr"/>
          <a:lstStyle/>
          <a:p>
            <a:pPr indent="0" marL="0">
              <a:buNone/>
            </a:pPr>
            <a:r>
              <a:rPr lang="en-US" sz="2600" b="1" dirty="0">
                <a:solidFill>
                  <a:srgbClr val="0F172A"/>
                </a:solidFill>
                <a:latin typeface="Outfit" pitchFamily="34" charset="0"/>
                <a:ea typeface="Outfit" pitchFamily="34" charset="-122"/>
                <a:cs typeface="Outfit" pitchFamily="34" charset="-120"/>
              </a:rPr>
              <a:t>Overview</a:t>
            </a:r>
            <a:endParaRPr lang="en-US" sz="2600" dirty="0"/>
          </a:p>
        </p:txBody>
      </p:sp>
      <p:sp>
        <p:nvSpPr>
          <p:cNvPr id="5" name="Shape 2"/>
          <p:cNvSpPr/>
          <p:nvPr/>
        </p:nvSpPr>
        <p:spPr>
          <a:xfrm>
            <a:off x="731520" y="1554480"/>
            <a:ext cx="5120640" cy="4480560"/>
          </a:xfrm>
          <a:prstGeom prst="rect">
            <a:avLst>
              <a:gd name="adj" fmla="val 2041"/>
            </a:avLst>
          </a:prstGeom>
          <a:solidFill>
            <a:srgbClr val="F8FAFC"/>
          </a:solidFill>
          <a:ln w="12700">
            <a:solidFill>
              <a:srgbClr val="E2E8F0"/>
            </a:solidFill>
            <a:prstDash val="solid"/>
          </a:ln>
        </p:spPr>
      </p:sp>
      <p:sp>
        <p:nvSpPr>
          <p:cNvPr id="6" name="Text 3"/>
          <p:cNvSpPr/>
          <p:nvPr/>
        </p:nvSpPr>
        <p:spPr>
          <a:xfrm>
            <a:off x="1005840" y="1783080"/>
            <a:ext cx="4572000" cy="274320"/>
          </a:xfrm>
          <a:prstGeom prst="rect">
            <a:avLst/>
          </a:prstGeom>
          <a:noFill/>
          <a:ln/>
        </p:spPr>
        <p:txBody>
          <a:bodyPr wrap="square" rtlCol="0" anchor="ctr"/>
          <a:lstStyle/>
          <a:p>
            <a:pPr indent="0" marL="0">
              <a:buNone/>
            </a:pPr>
            <a:r>
              <a:rPr lang="en-US" sz="1050" b="1" dirty="0">
                <a:solidFill>
                  <a:srgbClr val="64748B"/>
                </a:solidFill>
                <a:latin typeface="Plus Jakarta Sans" pitchFamily="34" charset="0"/>
                <a:ea typeface="Plus Jakarta Sans" pitchFamily="34" charset="-122"/>
                <a:cs typeface="Plus Jakarta Sans" pitchFamily="34" charset="-120"/>
              </a:rPr>
              <a:t>OPTIMIZATIONS &amp; CHECKS REVIEWED</a:t>
            </a:r>
            <a:endParaRPr lang="en-US" sz="1050" dirty="0"/>
          </a:p>
        </p:txBody>
      </p:sp>
      <p:sp>
        <p:nvSpPr>
          <p:cNvPr id="7" name="Shape 4"/>
          <p:cNvSpPr/>
          <p:nvPr/>
        </p:nvSpPr>
        <p:spPr>
          <a:xfrm>
            <a:off x="1005840" y="2313432"/>
            <a:ext cx="310896" cy="310896"/>
          </a:xfrm>
          <a:prstGeom prst="ellipse">
            <a:avLst/>
          </a:prstGeom>
          <a:solidFill>
            <a:srgbClr val="0EA5E9"/>
          </a:solidFill>
          <a:ln w="12700">
            <a:solidFill>
              <a:srgbClr val="0EA5E9"/>
            </a:solidFill>
            <a:prstDash val="solid"/>
          </a:ln>
        </p:spPr>
      </p:sp>
      <p:sp>
        <p:nvSpPr>
          <p:cNvPr id="8" name="Text 5"/>
          <p:cNvSpPr/>
          <p:nvPr/>
        </p:nvSpPr>
        <p:spPr>
          <a:xfrm>
            <a:off x="1005840" y="2313432"/>
            <a:ext cx="310896" cy="310896"/>
          </a:xfrm>
          <a:prstGeom prst="rect">
            <a:avLst/>
          </a:prstGeom>
          <a:noFill/>
          <a:ln/>
        </p:spPr>
        <p:txBody>
          <a:bodyPr wrap="square" rtlCol="0" anchor="ctr"/>
          <a:lstStyle/>
          <a:p>
            <a:pPr algn="ctr" indent="0" marL="0">
              <a:buNone/>
            </a:pPr>
            <a:r>
              <a:rPr lang="en-US" sz="1150" b="1" dirty="0">
                <a:solidFill>
                  <a:srgbClr val="FFFFFF"/>
                </a:solidFill>
                <a:latin typeface="Outfit" pitchFamily="34" charset="0"/>
                <a:ea typeface="Outfit" pitchFamily="34" charset="-122"/>
                <a:cs typeface="Outfit" pitchFamily="34" charset="-120"/>
              </a:rPr>
              <a:t>1</a:t>
            </a:r>
            <a:endParaRPr lang="en-US" sz="1150" dirty="0"/>
          </a:p>
        </p:txBody>
      </p:sp>
      <p:sp>
        <p:nvSpPr>
          <p:cNvPr id="9" name="Text 6"/>
          <p:cNvSpPr/>
          <p:nvPr/>
        </p:nvSpPr>
        <p:spPr>
          <a:xfrm>
            <a:off x="1499616" y="2148840"/>
            <a:ext cx="4078224" cy="640080"/>
          </a:xfrm>
          <a:prstGeom prst="rect">
            <a:avLst/>
          </a:prstGeom>
          <a:noFill/>
          <a:ln/>
        </p:spPr>
        <p:txBody>
          <a:bodyPr wrap="square" rtlCol="0" anchor="ctr"/>
          <a:lstStyle/>
          <a:p>
            <a:pPr indent="0" marL="0">
              <a:lnSpc>
                <a:spcPts val="1500"/>
              </a:lnSpc>
              <a:buNone/>
            </a:pPr>
            <a:r>
              <a:rPr lang="en-US" sz="1200" dirty="0">
                <a:solidFill>
                  <a:srgbClr val="0F172A"/>
                </a:solidFill>
                <a:latin typeface="Plus Jakarta Sans" pitchFamily="34" charset="0"/>
                <a:ea typeface="Plus Jakarta Sans" pitchFamily="34" charset="-122"/>
                <a:cs typeface="Plus Jakarta Sans" pitchFamily="34" charset="-120"/>
              </a:rPr>
              <a:t>Reviewed server performance and resource utilization for the App and Dashboard environments</a:t>
            </a:r>
            <a:endParaRPr lang="en-US" sz="1200" dirty="0"/>
          </a:p>
        </p:txBody>
      </p:sp>
      <p:sp>
        <p:nvSpPr>
          <p:cNvPr id="10" name="Shape 7"/>
          <p:cNvSpPr/>
          <p:nvPr/>
        </p:nvSpPr>
        <p:spPr>
          <a:xfrm>
            <a:off x="1005840" y="3026664"/>
            <a:ext cx="310896" cy="310896"/>
          </a:xfrm>
          <a:prstGeom prst="ellipse">
            <a:avLst/>
          </a:prstGeom>
          <a:solidFill>
            <a:srgbClr val="0EA5E9"/>
          </a:solidFill>
          <a:ln w="12700">
            <a:solidFill>
              <a:srgbClr val="0EA5E9"/>
            </a:solidFill>
            <a:prstDash val="solid"/>
          </a:ln>
        </p:spPr>
      </p:sp>
      <p:sp>
        <p:nvSpPr>
          <p:cNvPr id="11" name="Text 8"/>
          <p:cNvSpPr/>
          <p:nvPr/>
        </p:nvSpPr>
        <p:spPr>
          <a:xfrm>
            <a:off x="1005840" y="3026664"/>
            <a:ext cx="310896" cy="310896"/>
          </a:xfrm>
          <a:prstGeom prst="rect">
            <a:avLst/>
          </a:prstGeom>
          <a:noFill/>
          <a:ln/>
        </p:spPr>
        <p:txBody>
          <a:bodyPr wrap="square" rtlCol="0" anchor="ctr"/>
          <a:lstStyle/>
          <a:p>
            <a:pPr algn="ctr" indent="0" marL="0">
              <a:buNone/>
            </a:pPr>
            <a:r>
              <a:rPr lang="en-US" sz="1150" b="1" dirty="0">
                <a:solidFill>
                  <a:srgbClr val="FFFFFF"/>
                </a:solidFill>
                <a:latin typeface="Outfit" pitchFamily="34" charset="0"/>
                <a:ea typeface="Outfit" pitchFamily="34" charset="-122"/>
                <a:cs typeface="Outfit" pitchFamily="34" charset="-120"/>
              </a:rPr>
              <a:t>2</a:t>
            </a:r>
            <a:endParaRPr lang="en-US" sz="1150" dirty="0"/>
          </a:p>
        </p:txBody>
      </p:sp>
      <p:sp>
        <p:nvSpPr>
          <p:cNvPr id="12" name="Text 9"/>
          <p:cNvSpPr/>
          <p:nvPr/>
        </p:nvSpPr>
        <p:spPr>
          <a:xfrm>
            <a:off x="1499616" y="2862072"/>
            <a:ext cx="4078224" cy="640080"/>
          </a:xfrm>
          <a:prstGeom prst="rect">
            <a:avLst/>
          </a:prstGeom>
          <a:noFill/>
          <a:ln/>
        </p:spPr>
        <p:txBody>
          <a:bodyPr wrap="square" rtlCol="0" anchor="ctr"/>
          <a:lstStyle/>
          <a:p>
            <a:pPr indent="0" marL="0">
              <a:lnSpc>
                <a:spcPts val="1500"/>
              </a:lnSpc>
              <a:buNone/>
            </a:pPr>
            <a:r>
              <a:rPr lang="en-US" sz="1200" dirty="0">
                <a:solidFill>
                  <a:srgbClr val="0F172A"/>
                </a:solidFill>
                <a:latin typeface="Plus Jakarta Sans" pitchFamily="34" charset="0"/>
                <a:ea typeface="Plus Jakarta Sans" pitchFamily="34" charset="-122"/>
                <a:cs typeface="Plus Jakarta Sans" pitchFamily="34" charset="-120"/>
              </a:rPr>
              <a:t>Reviewed and performed build cache maintenance for both environments</a:t>
            </a:r>
            <a:endParaRPr lang="en-US" sz="1200" dirty="0"/>
          </a:p>
        </p:txBody>
      </p:sp>
      <p:sp>
        <p:nvSpPr>
          <p:cNvPr id="13" name="Shape 10"/>
          <p:cNvSpPr/>
          <p:nvPr/>
        </p:nvSpPr>
        <p:spPr>
          <a:xfrm>
            <a:off x="1005840" y="3739896"/>
            <a:ext cx="310896" cy="310896"/>
          </a:xfrm>
          <a:prstGeom prst="ellipse">
            <a:avLst/>
          </a:prstGeom>
          <a:solidFill>
            <a:srgbClr val="0EA5E9"/>
          </a:solidFill>
          <a:ln w="12700">
            <a:solidFill>
              <a:srgbClr val="0EA5E9"/>
            </a:solidFill>
            <a:prstDash val="solid"/>
          </a:ln>
        </p:spPr>
      </p:sp>
      <p:sp>
        <p:nvSpPr>
          <p:cNvPr id="14" name="Text 11"/>
          <p:cNvSpPr/>
          <p:nvPr/>
        </p:nvSpPr>
        <p:spPr>
          <a:xfrm>
            <a:off x="1005840" y="3739896"/>
            <a:ext cx="310896" cy="310896"/>
          </a:xfrm>
          <a:prstGeom prst="rect">
            <a:avLst/>
          </a:prstGeom>
          <a:noFill/>
          <a:ln/>
        </p:spPr>
        <p:txBody>
          <a:bodyPr wrap="square" rtlCol="0" anchor="ctr"/>
          <a:lstStyle/>
          <a:p>
            <a:pPr algn="ctr" indent="0" marL="0">
              <a:buNone/>
            </a:pPr>
            <a:r>
              <a:rPr lang="en-US" sz="1150" b="1" dirty="0">
                <a:solidFill>
                  <a:srgbClr val="FFFFFF"/>
                </a:solidFill>
                <a:latin typeface="Outfit" pitchFamily="34" charset="0"/>
                <a:ea typeface="Outfit" pitchFamily="34" charset="-122"/>
                <a:cs typeface="Outfit" pitchFamily="34" charset="-120"/>
              </a:rPr>
              <a:t>3</a:t>
            </a:r>
            <a:endParaRPr lang="en-US" sz="1150" dirty="0"/>
          </a:p>
        </p:txBody>
      </p:sp>
      <p:sp>
        <p:nvSpPr>
          <p:cNvPr id="15" name="Text 12"/>
          <p:cNvSpPr/>
          <p:nvPr/>
        </p:nvSpPr>
        <p:spPr>
          <a:xfrm>
            <a:off x="1499616" y="3575304"/>
            <a:ext cx="4078224" cy="640080"/>
          </a:xfrm>
          <a:prstGeom prst="rect">
            <a:avLst/>
          </a:prstGeom>
          <a:noFill/>
          <a:ln/>
        </p:spPr>
        <p:txBody>
          <a:bodyPr wrap="square" rtlCol="0" anchor="ctr"/>
          <a:lstStyle/>
          <a:p>
            <a:pPr indent="0" marL="0">
              <a:lnSpc>
                <a:spcPts val="1500"/>
              </a:lnSpc>
              <a:buNone/>
            </a:pPr>
            <a:r>
              <a:rPr lang="en-US" sz="1200" dirty="0">
                <a:solidFill>
                  <a:srgbClr val="0F172A"/>
                </a:solidFill>
                <a:latin typeface="Plus Jakarta Sans" pitchFamily="34" charset="0"/>
                <a:ea typeface="Plus Jakarta Sans" pitchFamily="34" charset="-122"/>
                <a:cs typeface="Plus Jakarta Sans" pitchFamily="34" charset="-120"/>
              </a:rPr>
              <a:t>Monitored application response times, throughput, and memory usage</a:t>
            </a:r>
            <a:endParaRPr lang="en-US" sz="1200" dirty="0"/>
          </a:p>
        </p:txBody>
      </p:sp>
      <p:sp>
        <p:nvSpPr>
          <p:cNvPr id="16" name="Shape 13"/>
          <p:cNvSpPr/>
          <p:nvPr/>
        </p:nvSpPr>
        <p:spPr>
          <a:xfrm>
            <a:off x="1005840" y="4453128"/>
            <a:ext cx="310896" cy="310896"/>
          </a:xfrm>
          <a:prstGeom prst="ellipse">
            <a:avLst/>
          </a:prstGeom>
          <a:solidFill>
            <a:srgbClr val="0EA5E9"/>
          </a:solidFill>
          <a:ln w="12700">
            <a:solidFill>
              <a:srgbClr val="0EA5E9"/>
            </a:solidFill>
            <a:prstDash val="solid"/>
          </a:ln>
        </p:spPr>
      </p:sp>
      <p:sp>
        <p:nvSpPr>
          <p:cNvPr id="17" name="Text 14"/>
          <p:cNvSpPr/>
          <p:nvPr/>
        </p:nvSpPr>
        <p:spPr>
          <a:xfrm>
            <a:off x="1005840" y="4453128"/>
            <a:ext cx="310896" cy="310896"/>
          </a:xfrm>
          <a:prstGeom prst="rect">
            <a:avLst/>
          </a:prstGeom>
          <a:noFill/>
          <a:ln/>
        </p:spPr>
        <p:txBody>
          <a:bodyPr wrap="square" rtlCol="0" anchor="ctr"/>
          <a:lstStyle/>
          <a:p>
            <a:pPr algn="ctr" indent="0" marL="0">
              <a:buNone/>
            </a:pPr>
            <a:r>
              <a:rPr lang="en-US" sz="1150" b="1" dirty="0">
                <a:solidFill>
                  <a:srgbClr val="FFFFFF"/>
                </a:solidFill>
                <a:latin typeface="Outfit" pitchFamily="34" charset="0"/>
                <a:ea typeface="Outfit" pitchFamily="34" charset="-122"/>
                <a:cs typeface="Outfit" pitchFamily="34" charset="-120"/>
              </a:rPr>
              <a:t>4</a:t>
            </a:r>
            <a:endParaRPr lang="en-US" sz="1150" dirty="0"/>
          </a:p>
        </p:txBody>
      </p:sp>
      <p:sp>
        <p:nvSpPr>
          <p:cNvPr id="18" name="Text 15"/>
          <p:cNvSpPr/>
          <p:nvPr/>
        </p:nvSpPr>
        <p:spPr>
          <a:xfrm>
            <a:off x="1499616" y="4288536"/>
            <a:ext cx="4078224" cy="640080"/>
          </a:xfrm>
          <a:prstGeom prst="rect">
            <a:avLst/>
          </a:prstGeom>
          <a:noFill/>
          <a:ln/>
        </p:spPr>
        <p:txBody>
          <a:bodyPr wrap="square" rtlCol="0" anchor="ctr"/>
          <a:lstStyle/>
          <a:p>
            <a:pPr indent="0" marL="0">
              <a:lnSpc>
                <a:spcPts val="1500"/>
              </a:lnSpc>
              <a:buNone/>
            </a:pPr>
            <a:r>
              <a:rPr lang="en-US" sz="1200" dirty="0">
                <a:solidFill>
                  <a:srgbClr val="0F172A"/>
                </a:solidFill>
                <a:latin typeface="Plus Jakarta Sans" pitchFamily="34" charset="0"/>
                <a:ea typeface="Plus Jakarta Sans" pitchFamily="34" charset="-122"/>
                <a:cs typeface="Plus Jakarta Sans" pitchFamily="34" charset="-120"/>
              </a:rPr>
              <a:t>Reviewed application usage and performance data for the past 30 days</a:t>
            </a:r>
            <a:endParaRPr lang="en-US" sz="1200" dirty="0"/>
          </a:p>
        </p:txBody>
      </p:sp>
      <p:sp>
        <p:nvSpPr>
          <p:cNvPr id="19" name="Shape 16"/>
          <p:cNvSpPr/>
          <p:nvPr/>
        </p:nvSpPr>
        <p:spPr>
          <a:xfrm>
            <a:off x="1005840" y="5166360"/>
            <a:ext cx="310896" cy="310896"/>
          </a:xfrm>
          <a:prstGeom prst="ellipse">
            <a:avLst/>
          </a:prstGeom>
          <a:solidFill>
            <a:srgbClr val="0EA5E9"/>
          </a:solidFill>
          <a:ln w="12700">
            <a:solidFill>
              <a:srgbClr val="0EA5E9"/>
            </a:solidFill>
            <a:prstDash val="solid"/>
          </a:ln>
        </p:spPr>
      </p:sp>
      <p:sp>
        <p:nvSpPr>
          <p:cNvPr id="20" name="Text 17"/>
          <p:cNvSpPr/>
          <p:nvPr/>
        </p:nvSpPr>
        <p:spPr>
          <a:xfrm>
            <a:off x="1005840" y="5166360"/>
            <a:ext cx="310896" cy="310896"/>
          </a:xfrm>
          <a:prstGeom prst="rect">
            <a:avLst/>
          </a:prstGeom>
          <a:noFill/>
          <a:ln/>
        </p:spPr>
        <p:txBody>
          <a:bodyPr wrap="square" rtlCol="0" anchor="ctr"/>
          <a:lstStyle/>
          <a:p>
            <a:pPr algn="ctr" indent="0" marL="0">
              <a:buNone/>
            </a:pPr>
            <a:r>
              <a:rPr lang="en-US" sz="1150" b="1" dirty="0">
                <a:solidFill>
                  <a:srgbClr val="FFFFFF"/>
                </a:solidFill>
                <a:latin typeface="Outfit" pitchFamily="34" charset="0"/>
                <a:ea typeface="Outfit" pitchFamily="34" charset="-122"/>
                <a:cs typeface="Outfit" pitchFamily="34" charset="-120"/>
              </a:rPr>
              <a:t>5</a:t>
            </a:r>
            <a:endParaRPr lang="en-US" sz="1150" dirty="0"/>
          </a:p>
        </p:txBody>
      </p:sp>
      <p:sp>
        <p:nvSpPr>
          <p:cNvPr id="21" name="Text 18"/>
          <p:cNvSpPr/>
          <p:nvPr/>
        </p:nvSpPr>
        <p:spPr>
          <a:xfrm>
            <a:off x="1499616" y="5001768"/>
            <a:ext cx="4078224" cy="640080"/>
          </a:xfrm>
          <a:prstGeom prst="rect">
            <a:avLst/>
          </a:prstGeom>
          <a:noFill/>
          <a:ln/>
        </p:spPr>
        <p:txBody>
          <a:bodyPr wrap="square" rtlCol="0" anchor="ctr"/>
          <a:lstStyle/>
          <a:p>
            <a:pPr indent="0" marL="0">
              <a:lnSpc>
                <a:spcPts val="1500"/>
              </a:lnSpc>
              <a:buNone/>
            </a:pPr>
            <a:r>
              <a:rPr lang="en-US" sz="1200" dirty="0">
                <a:solidFill>
                  <a:srgbClr val="0F172A"/>
                </a:solidFill>
                <a:latin typeface="Plus Jakarta Sans" pitchFamily="34" charset="0"/>
                <a:ea typeface="Plus Jakarta Sans" pitchFamily="34" charset="-122"/>
                <a:cs typeface="Plus Jakarta Sans" pitchFamily="34" charset="-120"/>
              </a:rPr>
              <a:t>Checked the overall application stability and operational status</a:t>
            </a:r>
            <a:endParaRPr lang="en-US" sz="1200" dirty="0"/>
          </a:p>
        </p:txBody>
      </p:sp>
      <p:sp>
        <p:nvSpPr>
          <p:cNvPr id="22" name="Shape 19"/>
          <p:cNvSpPr/>
          <p:nvPr/>
        </p:nvSpPr>
        <p:spPr>
          <a:xfrm>
            <a:off x="6126480" y="1554480"/>
            <a:ext cx="5120640" cy="4480560"/>
          </a:xfrm>
          <a:prstGeom prst="rect">
            <a:avLst>
              <a:gd name="adj" fmla="val 2041"/>
            </a:avLst>
          </a:prstGeom>
          <a:solidFill>
            <a:srgbClr val="F8FAFC"/>
          </a:solidFill>
          <a:ln w="12700">
            <a:solidFill>
              <a:srgbClr val="E2E8F0"/>
            </a:solidFill>
            <a:prstDash val="solid"/>
          </a:ln>
        </p:spPr>
      </p:sp>
      <p:sp>
        <p:nvSpPr>
          <p:cNvPr id="23" name="Text 20"/>
          <p:cNvSpPr/>
          <p:nvPr/>
        </p:nvSpPr>
        <p:spPr>
          <a:xfrm>
            <a:off x="6400800" y="1783080"/>
            <a:ext cx="4572000" cy="274320"/>
          </a:xfrm>
          <a:prstGeom prst="rect">
            <a:avLst/>
          </a:prstGeom>
          <a:noFill/>
          <a:ln/>
        </p:spPr>
        <p:txBody>
          <a:bodyPr wrap="square" rtlCol="0" anchor="ctr"/>
          <a:lstStyle/>
          <a:p>
            <a:pPr indent="0" marL="0">
              <a:buNone/>
            </a:pPr>
            <a:r>
              <a:rPr lang="en-US" sz="1050" b="1" dirty="0">
                <a:solidFill>
                  <a:srgbClr val="64748B"/>
                </a:solidFill>
                <a:latin typeface="Plus Jakarta Sans" pitchFamily="34" charset="0"/>
                <a:ea typeface="Plus Jakarta Sans" pitchFamily="34" charset="-122"/>
                <a:cs typeface="Plus Jakarta Sans" pitchFamily="34" charset="-120"/>
              </a:rPr>
              <a:t>OBJECTIVES</a:t>
            </a:r>
            <a:endParaRPr lang="en-US" sz="1050" dirty="0"/>
          </a:p>
        </p:txBody>
      </p:sp>
      <p:sp>
        <p:nvSpPr>
          <p:cNvPr id="24" name="Shape 21"/>
          <p:cNvSpPr/>
          <p:nvPr/>
        </p:nvSpPr>
        <p:spPr>
          <a:xfrm>
            <a:off x="6400800" y="2313432"/>
            <a:ext cx="310896" cy="310896"/>
          </a:xfrm>
          <a:prstGeom prst="ellipse">
            <a:avLst/>
          </a:prstGeom>
          <a:solidFill>
            <a:srgbClr val="10B981"/>
          </a:solidFill>
          <a:ln w="12700">
            <a:solidFill>
              <a:srgbClr val="10B981"/>
            </a:solidFill>
            <a:prstDash val="solid"/>
          </a:ln>
        </p:spPr>
      </p:sp>
      <p:sp>
        <p:nvSpPr>
          <p:cNvPr id="25" name="Text 22"/>
          <p:cNvSpPr/>
          <p:nvPr/>
        </p:nvSpPr>
        <p:spPr>
          <a:xfrm>
            <a:off x="6400800" y="2313432"/>
            <a:ext cx="310896" cy="310896"/>
          </a:xfrm>
          <a:prstGeom prst="rect">
            <a:avLst/>
          </a:prstGeom>
          <a:noFill/>
          <a:ln/>
        </p:spPr>
        <p:txBody>
          <a:bodyPr wrap="square" rtlCol="0" anchor="ctr"/>
          <a:lstStyle/>
          <a:p>
            <a:pPr algn="ctr" indent="0" marL="0">
              <a:buNone/>
            </a:pPr>
            <a:r>
              <a:rPr lang="en-US" sz="1150" b="1" dirty="0">
                <a:solidFill>
                  <a:srgbClr val="FFFFFF"/>
                </a:solidFill>
                <a:latin typeface="Outfit" pitchFamily="34" charset="0"/>
                <a:ea typeface="Outfit" pitchFamily="34" charset="-122"/>
                <a:cs typeface="Outfit" pitchFamily="34" charset="-120"/>
              </a:rPr>
              <a:t>1</a:t>
            </a:r>
            <a:endParaRPr lang="en-US" sz="1150" dirty="0"/>
          </a:p>
        </p:txBody>
      </p:sp>
      <p:sp>
        <p:nvSpPr>
          <p:cNvPr id="26" name="Text 23"/>
          <p:cNvSpPr/>
          <p:nvPr/>
        </p:nvSpPr>
        <p:spPr>
          <a:xfrm>
            <a:off x="6894576" y="2148840"/>
            <a:ext cx="4078224" cy="640080"/>
          </a:xfrm>
          <a:prstGeom prst="rect">
            <a:avLst/>
          </a:prstGeom>
          <a:noFill/>
          <a:ln/>
        </p:spPr>
        <p:txBody>
          <a:bodyPr wrap="square" rtlCol="0" anchor="ctr"/>
          <a:lstStyle/>
          <a:p>
            <a:pPr indent="0" marL="0">
              <a:lnSpc>
                <a:spcPts val="1500"/>
              </a:lnSpc>
              <a:buNone/>
            </a:pPr>
            <a:r>
              <a:rPr lang="en-US" sz="1200" dirty="0">
                <a:solidFill>
                  <a:srgbClr val="0F172A"/>
                </a:solidFill>
                <a:latin typeface="Plus Jakarta Sans" pitchFamily="34" charset="0"/>
                <a:ea typeface="Plus Jakarta Sans" pitchFamily="34" charset="-122"/>
                <a:cs typeface="Plus Jakarta Sans" pitchFamily="34" charset="-120"/>
              </a:rPr>
              <a:t>Maintain application stability and performance</a:t>
            </a:r>
            <a:endParaRPr lang="en-US" sz="1200" dirty="0"/>
          </a:p>
        </p:txBody>
      </p:sp>
      <p:sp>
        <p:nvSpPr>
          <p:cNvPr id="27" name="Shape 24"/>
          <p:cNvSpPr/>
          <p:nvPr/>
        </p:nvSpPr>
        <p:spPr>
          <a:xfrm>
            <a:off x="6400800" y="3026664"/>
            <a:ext cx="310896" cy="310896"/>
          </a:xfrm>
          <a:prstGeom prst="ellipse">
            <a:avLst/>
          </a:prstGeom>
          <a:solidFill>
            <a:srgbClr val="10B981"/>
          </a:solidFill>
          <a:ln w="12700">
            <a:solidFill>
              <a:srgbClr val="10B981"/>
            </a:solidFill>
            <a:prstDash val="solid"/>
          </a:ln>
        </p:spPr>
      </p:sp>
      <p:sp>
        <p:nvSpPr>
          <p:cNvPr id="28" name="Text 25"/>
          <p:cNvSpPr/>
          <p:nvPr/>
        </p:nvSpPr>
        <p:spPr>
          <a:xfrm>
            <a:off x="6400800" y="3026664"/>
            <a:ext cx="310896" cy="310896"/>
          </a:xfrm>
          <a:prstGeom prst="rect">
            <a:avLst/>
          </a:prstGeom>
          <a:noFill/>
          <a:ln/>
        </p:spPr>
        <p:txBody>
          <a:bodyPr wrap="square" rtlCol="0" anchor="ctr"/>
          <a:lstStyle/>
          <a:p>
            <a:pPr algn="ctr" indent="0" marL="0">
              <a:buNone/>
            </a:pPr>
            <a:r>
              <a:rPr lang="en-US" sz="1150" b="1" dirty="0">
                <a:solidFill>
                  <a:srgbClr val="FFFFFF"/>
                </a:solidFill>
                <a:latin typeface="Outfit" pitchFamily="34" charset="0"/>
                <a:ea typeface="Outfit" pitchFamily="34" charset="-122"/>
                <a:cs typeface="Outfit" pitchFamily="34" charset="-120"/>
              </a:rPr>
              <a:t>2</a:t>
            </a:r>
            <a:endParaRPr lang="en-US" sz="1150" dirty="0"/>
          </a:p>
        </p:txBody>
      </p:sp>
      <p:sp>
        <p:nvSpPr>
          <p:cNvPr id="29" name="Text 26"/>
          <p:cNvSpPr/>
          <p:nvPr/>
        </p:nvSpPr>
        <p:spPr>
          <a:xfrm>
            <a:off x="6894576" y="2862072"/>
            <a:ext cx="4078224" cy="640080"/>
          </a:xfrm>
          <a:prstGeom prst="rect">
            <a:avLst/>
          </a:prstGeom>
          <a:noFill/>
          <a:ln/>
        </p:spPr>
        <p:txBody>
          <a:bodyPr wrap="square" rtlCol="0" anchor="ctr"/>
          <a:lstStyle/>
          <a:p>
            <a:pPr indent="0" marL="0">
              <a:lnSpc>
                <a:spcPts val="1500"/>
              </a:lnSpc>
              <a:buNone/>
            </a:pPr>
            <a:r>
              <a:rPr lang="en-US" sz="1200" dirty="0">
                <a:solidFill>
                  <a:srgbClr val="0F172A"/>
                </a:solidFill>
                <a:latin typeface="Plus Jakarta Sans" pitchFamily="34" charset="0"/>
                <a:ea typeface="Plus Jakarta Sans" pitchFamily="34" charset="-122"/>
                <a:cs typeface="Plus Jakarta Sans" pitchFamily="34" charset="-120"/>
              </a:rPr>
              <a:t>Monitor server resource utilization and identify potential performance issues</a:t>
            </a:r>
            <a:endParaRPr lang="en-US" sz="1200" dirty="0"/>
          </a:p>
        </p:txBody>
      </p:sp>
      <p:sp>
        <p:nvSpPr>
          <p:cNvPr id="30" name="Shape 27"/>
          <p:cNvSpPr/>
          <p:nvPr/>
        </p:nvSpPr>
        <p:spPr>
          <a:xfrm>
            <a:off x="6400800" y="3739896"/>
            <a:ext cx="310896" cy="310896"/>
          </a:xfrm>
          <a:prstGeom prst="ellipse">
            <a:avLst/>
          </a:prstGeom>
          <a:solidFill>
            <a:srgbClr val="10B981"/>
          </a:solidFill>
          <a:ln w="12700">
            <a:solidFill>
              <a:srgbClr val="10B981"/>
            </a:solidFill>
            <a:prstDash val="solid"/>
          </a:ln>
        </p:spPr>
      </p:sp>
      <p:sp>
        <p:nvSpPr>
          <p:cNvPr id="31" name="Text 28"/>
          <p:cNvSpPr/>
          <p:nvPr/>
        </p:nvSpPr>
        <p:spPr>
          <a:xfrm>
            <a:off x="6400800" y="3739896"/>
            <a:ext cx="310896" cy="310896"/>
          </a:xfrm>
          <a:prstGeom prst="rect">
            <a:avLst/>
          </a:prstGeom>
          <a:noFill/>
          <a:ln/>
        </p:spPr>
        <p:txBody>
          <a:bodyPr wrap="square" rtlCol="0" anchor="ctr"/>
          <a:lstStyle/>
          <a:p>
            <a:pPr algn="ctr" indent="0" marL="0">
              <a:buNone/>
            </a:pPr>
            <a:r>
              <a:rPr lang="en-US" sz="1150" b="1" dirty="0">
                <a:solidFill>
                  <a:srgbClr val="FFFFFF"/>
                </a:solidFill>
                <a:latin typeface="Outfit" pitchFamily="34" charset="0"/>
                <a:ea typeface="Outfit" pitchFamily="34" charset="-122"/>
                <a:cs typeface="Outfit" pitchFamily="34" charset="-120"/>
              </a:rPr>
              <a:t>3</a:t>
            </a:r>
            <a:endParaRPr lang="en-US" sz="1150" dirty="0"/>
          </a:p>
        </p:txBody>
      </p:sp>
      <p:sp>
        <p:nvSpPr>
          <p:cNvPr id="32" name="Text 29"/>
          <p:cNvSpPr/>
          <p:nvPr/>
        </p:nvSpPr>
        <p:spPr>
          <a:xfrm>
            <a:off x="6894576" y="3575304"/>
            <a:ext cx="4078224" cy="640080"/>
          </a:xfrm>
          <a:prstGeom prst="rect">
            <a:avLst/>
          </a:prstGeom>
          <a:noFill/>
          <a:ln/>
        </p:spPr>
        <p:txBody>
          <a:bodyPr wrap="square" rtlCol="0" anchor="ctr"/>
          <a:lstStyle/>
          <a:p>
            <a:pPr indent="0" marL="0">
              <a:lnSpc>
                <a:spcPts val="1500"/>
              </a:lnSpc>
              <a:buNone/>
            </a:pPr>
            <a:r>
              <a:rPr lang="en-US" sz="1200" dirty="0">
                <a:solidFill>
                  <a:srgbClr val="0F172A"/>
                </a:solidFill>
                <a:latin typeface="Plus Jakarta Sans" pitchFamily="34" charset="0"/>
                <a:ea typeface="Plus Jakarta Sans" pitchFamily="34" charset="-122"/>
                <a:cs typeface="Plus Jakarta Sans" pitchFamily="34" charset="-120"/>
              </a:rPr>
              <a:t>Clear build cache data and verify application behavior after maintenance</a:t>
            </a:r>
            <a:endParaRPr lang="en-US" sz="1200" dirty="0"/>
          </a:p>
        </p:txBody>
      </p:sp>
      <p:sp>
        <p:nvSpPr>
          <p:cNvPr id="33" name="Shape 30"/>
          <p:cNvSpPr/>
          <p:nvPr/>
        </p:nvSpPr>
        <p:spPr>
          <a:xfrm>
            <a:off x="6400800" y="4453128"/>
            <a:ext cx="310896" cy="310896"/>
          </a:xfrm>
          <a:prstGeom prst="ellipse">
            <a:avLst/>
          </a:prstGeom>
          <a:solidFill>
            <a:srgbClr val="10B981"/>
          </a:solidFill>
          <a:ln w="12700">
            <a:solidFill>
              <a:srgbClr val="10B981"/>
            </a:solidFill>
            <a:prstDash val="solid"/>
          </a:ln>
        </p:spPr>
      </p:sp>
      <p:sp>
        <p:nvSpPr>
          <p:cNvPr id="34" name="Text 31"/>
          <p:cNvSpPr/>
          <p:nvPr/>
        </p:nvSpPr>
        <p:spPr>
          <a:xfrm>
            <a:off x="6400800" y="4453128"/>
            <a:ext cx="310896" cy="310896"/>
          </a:xfrm>
          <a:prstGeom prst="rect">
            <a:avLst/>
          </a:prstGeom>
          <a:noFill/>
          <a:ln/>
        </p:spPr>
        <p:txBody>
          <a:bodyPr wrap="square" rtlCol="0" anchor="ctr"/>
          <a:lstStyle/>
          <a:p>
            <a:pPr algn="ctr" indent="0" marL="0">
              <a:buNone/>
            </a:pPr>
            <a:r>
              <a:rPr lang="en-US" sz="1150" b="1" dirty="0">
                <a:solidFill>
                  <a:srgbClr val="FFFFFF"/>
                </a:solidFill>
                <a:latin typeface="Outfit" pitchFamily="34" charset="0"/>
                <a:ea typeface="Outfit" pitchFamily="34" charset="-122"/>
                <a:cs typeface="Outfit" pitchFamily="34" charset="-120"/>
              </a:rPr>
              <a:t>4</a:t>
            </a:r>
            <a:endParaRPr lang="en-US" sz="1150" dirty="0"/>
          </a:p>
        </p:txBody>
      </p:sp>
      <p:sp>
        <p:nvSpPr>
          <p:cNvPr id="35" name="Text 32"/>
          <p:cNvSpPr/>
          <p:nvPr/>
        </p:nvSpPr>
        <p:spPr>
          <a:xfrm>
            <a:off x="6894576" y="4288536"/>
            <a:ext cx="4078224" cy="640080"/>
          </a:xfrm>
          <a:prstGeom prst="rect">
            <a:avLst/>
          </a:prstGeom>
          <a:noFill/>
          <a:ln/>
        </p:spPr>
        <p:txBody>
          <a:bodyPr wrap="square" rtlCol="0" anchor="ctr"/>
          <a:lstStyle/>
          <a:p>
            <a:pPr indent="0" marL="0">
              <a:lnSpc>
                <a:spcPts val="1500"/>
              </a:lnSpc>
              <a:buNone/>
            </a:pPr>
            <a:r>
              <a:rPr lang="en-US" sz="1200" dirty="0">
                <a:solidFill>
                  <a:srgbClr val="0F172A"/>
                </a:solidFill>
                <a:latin typeface="Plus Jakarta Sans" pitchFamily="34" charset="0"/>
                <a:ea typeface="Plus Jakarta Sans" pitchFamily="34" charset="-122"/>
                <a:cs typeface="Plus Jakarta Sans" pitchFamily="34" charset="-120"/>
              </a:rPr>
              <a:t>Identify errors or operational issues requiring follow-up</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white-logo.png">    </p:cNvPr>
          <p:cNvPicPr>
            <a:picLocks noChangeAspect="1"/>
          </p:cNvPicPr>
          <p:nvPr/>
        </p:nvPicPr>
        <p:blipFill>
          <a:blip r:embed="rId1"/>
          <a:stretch>
            <a:fillRect/>
          </a:stretch>
        </p:blipFill>
        <p:spPr>
          <a:xfrm>
            <a:off x="9601200" y="365760"/>
            <a:ext cx="2011680" cy="1097280"/>
          </a:xfrm>
          <a:prstGeom prst="rect">
            <a:avLst/>
          </a:prstGeom>
        </p:spPr>
      </p:pic>
      <p:sp>
        <p:nvSpPr>
          <p:cNvPr id="3" name="Text 0"/>
          <p:cNvSpPr/>
          <p:nvPr/>
        </p:nvSpPr>
        <p:spPr>
          <a:xfrm>
            <a:off x="731520" y="365760"/>
            <a:ext cx="8229600" cy="365760"/>
          </a:xfrm>
          <a:prstGeom prst="rect">
            <a:avLst/>
          </a:prstGeom>
          <a:noFill/>
          <a:ln/>
        </p:spPr>
        <p:txBody>
          <a:bodyPr wrap="square" rtlCol="0" anchor="ctr"/>
          <a:lstStyle/>
          <a:p>
            <a:pPr indent="0" marL="0">
              <a:buNone/>
            </a:pPr>
            <a:r>
              <a:rPr lang="en-US" sz="1300" b="1" dirty="0">
                <a:solidFill>
                  <a:srgbClr val="0EA5E9"/>
                </a:solidFill>
                <a:latin typeface="Outfit" pitchFamily="34" charset="0"/>
                <a:ea typeface="Outfit" pitchFamily="34" charset="-122"/>
                <a:cs typeface="Outfit" pitchFamily="34" charset="-120"/>
              </a:rPr>
              <a:t>Monthly App &amp; Server Monitoring</a:t>
            </a:r>
            <a:endParaRPr lang="en-US" sz="1300" dirty="0"/>
          </a:p>
        </p:txBody>
      </p:sp>
      <p:sp>
        <p:nvSpPr>
          <p:cNvPr id="4" name="Text 1"/>
          <p:cNvSpPr/>
          <p:nvPr/>
        </p:nvSpPr>
        <p:spPr>
          <a:xfrm>
            <a:off x="731520" y="731520"/>
            <a:ext cx="9601200" cy="548640"/>
          </a:xfrm>
          <a:prstGeom prst="rect">
            <a:avLst/>
          </a:prstGeom>
          <a:noFill/>
          <a:ln/>
        </p:spPr>
        <p:txBody>
          <a:bodyPr wrap="square" rtlCol="0" anchor="ctr"/>
          <a:lstStyle/>
          <a:p>
            <a:pPr indent="0" marL="0">
              <a:buNone/>
            </a:pPr>
            <a:r>
              <a:rPr lang="en-US" sz="2600" b="1" dirty="0">
                <a:solidFill>
                  <a:srgbClr val="0F172A"/>
                </a:solidFill>
                <a:latin typeface="Outfit" pitchFamily="34" charset="0"/>
                <a:ea typeface="Outfit" pitchFamily="34" charset="-122"/>
                <a:cs typeface="Outfit" pitchFamily="34" charset="-120"/>
              </a:rPr>
              <a:t>Performance Metrics</a:t>
            </a:r>
            <a:endParaRPr lang="en-US" sz="2600" dirty="0"/>
          </a:p>
        </p:txBody>
      </p:sp>
      <p:sp>
        <p:nvSpPr>
          <p:cNvPr id="5" name="Shape 2"/>
          <p:cNvSpPr/>
          <p:nvPr/>
        </p:nvSpPr>
        <p:spPr>
          <a:xfrm>
            <a:off x="731520" y="1554480"/>
            <a:ext cx="5120640" cy="4023360"/>
          </a:xfrm>
          <a:prstGeom prst="rect">
            <a:avLst>
              <a:gd name="adj" fmla="val 2273"/>
            </a:avLst>
          </a:prstGeom>
          <a:solidFill>
            <a:srgbClr val="F8FAFC"/>
          </a:solidFill>
          <a:ln w="12700">
            <a:solidFill>
              <a:srgbClr val="E2E8F0"/>
            </a:solidFill>
            <a:prstDash val="solid"/>
          </a:ln>
        </p:spPr>
      </p:sp>
      <p:sp>
        <p:nvSpPr>
          <p:cNvPr id="6" name="Text 3"/>
          <p:cNvSpPr/>
          <p:nvPr/>
        </p:nvSpPr>
        <p:spPr>
          <a:xfrm>
            <a:off x="1005840" y="1783080"/>
            <a:ext cx="2834640" cy="274320"/>
          </a:xfrm>
          <a:prstGeom prst="rect">
            <a:avLst/>
          </a:prstGeom>
          <a:noFill/>
          <a:ln/>
        </p:spPr>
        <p:txBody>
          <a:bodyPr wrap="square" rtlCol="0" anchor="ctr"/>
          <a:lstStyle/>
          <a:p>
            <a:pPr indent="0" marL="0">
              <a:buNone/>
            </a:pPr>
            <a:r>
              <a:rPr lang="en-US" sz="1050" b="1" dirty="0">
                <a:solidFill>
                  <a:srgbClr val="64748B"/>
                </a:solidFill>
                <a:latin typeface="Plus Jakarta Sans" pitchFamily="34" charset="0"/>
                <a:ea typeface="Plus Jakarta Sans" pitchFamily="34" charset="-122"/>
                <a:cs typeface="Plus Jakarta Sans" pitchFamily="34" charset="-120"/>
              </a:rPr>
              <a:t>APP SERVER</a:t>
            </a:r>
            <a:endParaRPr lang="en-US" sz="1050" dirty="0"/>
          </a:p>
        </p:txBody>
      </p:sp>
      <p:sp>
        <p:nvSpPr>
          <p:cNvPr id="7" name="Text 4">
            <a:hlinkClick r:id="rId2" tooltip=""/>
          </p:cNvPr>
          <p:cNvSpPr/>
          <p:nvPr/>
        </p:nvSpPr>
        <p:spPr>
          <a:xfrm>
            <a:off x="3566160" y="1783080"/>
            <a:ext cx="2011680" cy="274320"/>
          </a:xfrm>
          <a:prstGeom prst="rect">
            <a:avLst/>
          </a:prstGeom>
          <a:noFill/>
          <a:ln/>
        </p:spPr>
        <p:txBody>
          <a:bodyPr wrap="square" rtlCol="0" anchor="ctr"/>
          <a:lstStyle/>
          <a:p>
            <a:pPr algn="r" indent="0" marL="0">
              <a:buNone/>
            </a:pPr>
            <a:r>
              <a:rPr lang="en-US" sz="1000" b="1" u="sng" dirty="0">
                <a:solidFill>
                  <a:srgbClr val="0EA5E9"/>
                </a:solidFill>
                <a:latin typeface="Plus Jakarta Sans" pitchFamily="34" charset="0"/>
                <a:ea typeface="Plus Jakarta Sans" pitchFamily="34" charset="-122"/>
                <a:cs typeface="Plus Jakarta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View Heroku Metrics ↗</a:t>
            </a:r>
            <a:endParaRPr lang="en-US" sz="1000" dirty="0"/>
          </a:p>
        </p:txBody>
      </p:sp>
      <p:sp>
        <p:nvSpPr>
          <p:cNvPr id="8" name="Text 5"/>
          <p:cNvSpPr/>
          <p:nvPr/>
        </p:nvSpPr>
        <p:spPr>
          <a:xfrm>
            <a:off x="1005840" y="2148840"/>
            <a:ext cx="2926080" cy="365760"/>
          </a:xfrm>
          <a:prstGeom prst="rect">
            <a:avLst/>
          </a:prstGeom>
          <a:noFill/>
          <a:ln/>
        </p:spPr>
        <p:txBody>
          <a:bodyPr wrap="square" rtlCol="0" anchor="ctr"/>
          <a:lstStyle/>
          <a:p>
            <a:pPr indent="0" marL="0">
              <a:buNone/>
            </a:pPr>
            <a:r>
              <a:rPr lang="en-US" sz="1250" dirty="0">
                <a:solidFill>
                  <a:srgbClr val="0F172A"/>
                </a:solidFill>
                <a:latin typeface="Plus Jakarta Sans" pitchFamily="34" charset="0"/>
                <a:ea typeface="Plus Jakarta Sans" pitchFamily="34" charset="-122"/>
                <a:cs typeface="Plus Jakarta Sans" pitchFamily="34" charset="-120"/>
              </a:rPr>
              <a:t>Response Time</a:t>
            </a:r>
            <a:endParaRPr lang="en-US" sz="1250" dirty="0"/>
          </a:p>
        </p:txBody>
      </p:sp>
      <p:sp>
        <p:nvSpPr>
          <p:cNvPr id="9" name="Text 6"/>
          <p:cNvSpPr/>
          <p:nvPr/>
        </p:nvSpPr>
        <p:spPr>
          <a:xfrm>
            <a:off x="3931920" y="2148840"/>
            <a:ext cx="1645920" cy="365760"/>
          </a:xfrm>
          <a:prstGeom prst="rect">
            <a:avLst/>
          </a:prstGeom>
          <a:noFill/>
          <a:ln/>
        </p:spPr>
        <p:txBody>
          <a:bodyPr wrap="square" rtlCol="0" anchor="ctr"/>
          <a:lstStyle/>
          <a:p>
            <a:pPr algn="r" indent="0" marL="0">
              <a:buNone/>
            </a:pPr>
            <a:r>
              <a:rPr lang="en-US" sz="1400" b="1" dirty="0">
                <a:solidFill>
                  <a:srgbClr val="0EA5E9"/>
                </a:solidFill>
                <a:latin typeface="Outfit" pitchFamily="34" charset="0"/>
                <a:ea typeface="Outfit" pitchFamily="34" charset="-122"/>
                <a:cs typeface="Outfit" pitchFamily="34" charset="-120"/>
              </a:rPr>
              <a:t>9 ms</a:t>
            </a:r>
            <a:endParaRPr lang="en-US" sz="1400" dirty="0"/>
          </a:p>
        </p:txBody>
      </p:sp>
      <p:sp>
        <p:nvSpPr>
          <p:cNvPr id="10" name="Text 7"/>
          <p:cNvSpPr/>
          <p:nvPr/>
        </p:nvSpPr>
        <p:spPr>
          <a:xfrm>
            <a:off x="1005840" y="2651760"/>
            <a:ext cx="2926080" cy="365760"/>
          </a:xfrm>
          <a:prstGeom prst="rect">
            <a:avLst/>
          </a:prstGeom>
          <a:noFill/>
          <a:ln/>
        </p:spPr>
        <p:txBody>
          <a:bodyPr wrap="square" rtlCol="0" anchor="ctr"/>
          <a:lstStyle/>
          <a:p>
            <a:pPr indent="0" marL="0">
              <a:buNone/>
            </a:pPr>
            <a:r>
              <a:rPr lang="en-US" sz="1250" dirty="0">
                <a:solidFill>
                  <a:srgbClr val="0F172A"/>
                </a:solidFill>
                <a:latin typeface="Plus Jakarta Sans" pitchFamily="34" charset="0"/>
                <a:ea typeface="Plus Jakarta Sans" pitchFamily="34" charset="-122"/>
                <a:cs typeface="Plus Jakarta Sans" pitchFamily="34" charset="-120"/>
              </a:rPr>
              <a:t>Throughput</a:t>
            </a:r>
            <a:endParaRPr lang="en-US" sz="1250" dirty="0"/>
          </a:p>
        </p:txBody>
      </p:sp>
      <p:sp>
        <p:nvSpPr>
          <p:cNvPr id="11" name="Text 8"/>
          <p:cNvSpPr/>
          <p:nvPr/>
        </p:nvSpPr>
        <p:spPr>
          <a:xfrm>
            <a:off x="3931920" y="2651760"/>
            <a:ext cx="1645920" cy="365760"/>
          </a:xfrm>
          <a:prstGeom prst="rect">
            <a:avLst/>
          </a:prstGeom>
          <a:noFill/>
          <a:ln/>
        </p:spPr>
        <p:txBody>
          <a:bodyPr wrap="square" rtlCol="0" anchor="ctr"/>
          <a:lstStyle/>
          <a:p>
            <a:pPr algn="r" indent="0" marL="0">
              <a:buNone/>
            </a:pPr>
            <a:r>
              <a:rPr lang="en-US" sz="1400" b="1" dirty="0">
                <a:solidFill>
                  <a:srgbClr val="0EA5E9"/>
                </a:solidFill>
                <a:latin typeface="Outfit" pitchFamily="34" charset="0"/>
                <a:ea typeface="Outfit" pitchFamily="34" charset="-122"/>
                <a:cs typeface="Outfit" pitchFamily="34" charset="-120"/>
              </a:rPr>
              <a:t>&lt; 1 RPS</a:t>
            </a:r>
            <a:endParaRPr lang="en-US" sz="1400" dirty="0"/>
          </a:p>
        </p:txBody>
      </p:sp>
      <p:sp>
        <p:nvSpPr>
          <p:cNvPr id="12" name="Text 9"/>
          <p:cNvSpPr/>
          <p:nvPr/>
        </p:nvSpPr>
        <p:spPr>
          <a:xfrm>
            <a:off x="1005840" y="3154680"/>
            <a:ext cx="2926080" cy="365760"/>
          </a:xfrm>
          <a:prstGeom prst="rect">
            <a:avLst/>
          </a:prstGeom>
          <a:noFill/>
          <a:ln/>
        </p:spPr>
        <p:txBody>
          <a:bodyPr wrap="square" rtlCol="0" anchor="ctr"/>
          <a:lstStyle/>
          <a:p>
            <a:pPr indent="0" marL="0">
              <a:buNone/>
            </a:pPr>
            <a:r>
              <a:rPr lang="en-US" sz="1250" dirty="0">
                <a:solidFill>
                  <a:srgbClr val="0F172A"/>
                </a:solidFill>
                <a:latin typeface="Plus Jakarta Sans" pitchFamily="34" charset="0"/>
                <a:ea typeface="Plus Jakarta Sans" pitchFamily="34" charset="-122"/>
                <a:cs typeface="Plus Jakarta Sans" pitchFamily="34" charset="-120"/>
              </a:rPr>
              <a:t>Memory Usage</a:t>
            </a:r>
            <a:endParaRPr lang="en-US" sz="1250" dirty="0"/>
          </a:p>
        </p:txBody>
      </p:sp>
      <p:sp>
        <p:nvSpPr>
          <p:cNvPr id="13" name="Text 10"/>
          <p:cNvSpPr/>
          <p:nvPr/>
        </p:nvSpPr>
        <p:spPr>
          <a:xfrm>
            <a:off x="3931920" y="3154680"/>
            <a:ext cx="1645920" cy="365760"/>
          </a:xfrm>
          <a:prstGeom prst="rect">
            <a:avLst/>
          </a:prstGeom>
          <a:noFill/>
          <a:ln/>
        </p:spPr>
        <p:txBody>
          <a:bodyPr wrap="square" rtlCol="0" anchor="ctr"/>
          <a:lstStyle/>
          <a:p>
            <a:pPr algn="r" indent="0" marL="0">
              <a:buNone/>
            </a:pPr>
            <a:r>
              <a:rPr lang="en-US" sz="1400" b="1" dirty="0">
                <a:solidFill>
                  <a:srgbClr val="0EA5E9"/>
                </a:solidFill>
                <a:latin typeface="Outfit" pitchFamily="34" charset="0"/>
                <a:ea typeface="Outfit" pitchFamily="34" charset="-122"/>
                <a:cs typeface="Outfit" pitchFamily="34" charset="-120"/>
              </a:rPr>
              <a:t>17%</a:t>
            </a:r>
            <a:endParaRPr lang="en-US" sz="1400" dirty="0"/>
          </a:p>
        </p:txBody>
      </p:sp>
      <p:sp>
        <p:nvSpPr>
          <p:cNvPr id="14" name="Text 11"/>
          <p:cNvSpPr/>
          <p:nvPr/>
        </p:nvSpPr>
        <p:spPr>
          <a:xfrm>
            <a:off x="1005840" y="3794760"/>
            <a:ext cx="274320" cy="365760"/>
          </a:xfrm>
          <a:prstGeom prst="rect">
            <a:avLst/>
          </a:prstGeom>
          <a:noFill/>
          <a:ln/>
        </p:spPr>
        <p:txBody>
          <a:bodyPr wrap="square" rtlCol="0" anchor="ctr"/>
          <a:lstStyle/>
          <a:p>
            <a:pPr indent="0" marL="0">
              <a:buNone/>
            </a:pPr>
            <a:r>
              <a:rPr lang="en-US" sz="1100" b="1" dirty="0">
                <a:solidFill>
                  <a:srgbClr val="10B981"/>
                </a:solidFill>
                <a:latin typeface="Plus Jakarta Sans" pitchFamily="34" charset="0"/>
                <a:ea typeface="Plus Jakarta Sans" pitchFamily="34" charset="-122"/>
                <a:cs typeface="Plus Jakarta Sans" pitchFamily="34" charset="-120"/>
              </a:rPr>
              <a:t>✔</a:t>
            </a:r>
            <a:endParaRPr lang="en-US" sz="1100" dirty="0"/>
          </a:p>
        </p:txBody>
      </p:sp>
      <p:sp>
        <p:nvSpPr>
          <p:cNvPr id="15" name="Text 12"/>
          <p:cNvSpPr/>
          <p:nvPr/>
        </p:nvSpPr>
        <p:spPr>
          <a:xfrm>
            <a:off x="1325880" y="3767328"/>
            <a:ext cx="4206240" cy="411480"/>
          </a:xfrm>
          <a:prstGeom prst="rect">
            <a:avLst/>
          </a:prstGeom>
          <a:noFill/>
          <a:ln/>
        </p:spPr>
        <p:txBody>
          <a:bodyPr wrap="square" rtlCol="0" anchor="t"/>
          <a:lstStyle/>
          <a:p>
            <a:pPr indent="0" marL="0">
              <a:lnSpc>
                <a:spcPts val="1200"/>
              </a:lnSpc>
              <a:buNone/>
            </a:pPr>
            <a:r>
              <a:rPr lang="en-US" sz="1000" dirty="0">
                <a:solidFill>
                  <a:srgbClr val="64748B"/>
                </a:solidFill>
                <a:latin typeface="Plus Jakarta Sans" pitchFamily="34" charset="0"/>
                <a:ea typeface="Plus Jakarta Sans" pitchFamily="34" charset="-122"/>
                <a:cs typeface="Plus Jakarta Sans" pitchFamily="34" charset="-120"/>
              </a:rPr>
              <a:t>The App server recorded a response time of 9 ms in the provided monitoring data.</a:t>
            </a:r>
            <a:endParaRPr lang="en-US" sz="1000" dirty="0"/>
          </a:p>
        </p:txBody>
      </p:sp>
      <p:sp>
        <p:nvSpPr>
          <p:cNvPr id="16" name="Text 13"/>
          <p:cNvSpPr/>
          <p:nvPr/>
        </p:nvSpPr>
        <p:spPr>
          <a:xfrm>
            <a:off x="1005840" y="4224528"/>
            <a:ext cx="274320" cy="365760"/>
          </a:xfrm>
          <a:prstGeom prst="rect">
            <a:avLst/>
          </a:prstGeom>
          <a:noFill/>
          <a:ln/>
        </p:spPr>
        <p:txBody>
          <a:bodyPr wrap="square" rtlCol="0" anchor="ctr"/>
          <a:lstStyle/>
          <a:p>
            <a:pPr indent="0" marL="0">
              <a:buNone/>
            </a:pPr>
            <a:r>
              <a:rPr lang="en-US" sz="1100" b="1" dirty="0">
                <a:solidFill>
                  <a:srgbClr val="10B981"/>
                </a:solidFill>
                <a:latin typeface="Plus Jakarta Sans" pitchFamily="34" charset="0"/>
                <a:ea typeface="Plus Jakarta Sans" pitchFamily="34" charset="-122"/>
                <a:cs typeface="Plus Jakarta Sans" pitchFamily="34" charset="-120"/>
              </a:rPr>
              <a:t>✔</a:t>
            </a:r>
            <a:endParaRPr lang="en-US" sz="1100" dirty="0"/>
          </a:p>
        </p:txBody>
      </p:sp>
      <p:sp>
        <p:nvSpPr>
          <p:cNvPr id="17" name="Text 14"/>
          <p:cNvSpPr/>
          <p:nvPr/>
        </p:nvSpPr>
        <p:spPr>
          <a:xfrm>
            <a:off x="1325880" y="4197096"/>
            <a:ext cx="4206240" cy="411480"/>
          </a:xfrm>
          <a:prstGeom prst="rect">
            <a:avLst/>
          </a:prstGeom>
          <a:noFill/>
          <a:ln/>
        </p:spPr>
        <p:txBody>
          <a:bodyPr wrap="square" rtlCol="0" anchor="t"/>
          <a:lstStyle/>
          <a:p>
            <a:pPr indent="0" marL="0">
              <a:lnSpc>
                <a:spcPts val="1200"/>
              </a:lnSpc>
              <a:buNone/>
            </a:pPr>
            <a:r>
              <a:rPr lang="en-US" sz="1000" dirty="0">
                <a:solidFill>
                  <a:srgbClr val="64748B"/>
                </a:solidFill>
                <a:latin typeface="Plus Jakarta Sans" pitchFamily="34" charset="0"/>
                <a:ea typeface="Plus Jakarta Sans" pitchFamily="34" charset="-122"/>
                <a:cs typeface="Plus Jakarta Sans" pitchFamily="34" charset="-120"/>
              </a:rPr>
              <a:t>Throughput remained below 1 RPS.</a:t>
            </a:r>
            <a:endParaRPr lang="en-US" sz="1000" dirty="0"/>
          </a:p>
        </p:txBody>
      </p:sp>
      <p:sp>
        <p:nvSpPr>
          <p:cNvPr id="18" name="Text 15"/>
          <p:cNvSpPr/>
          <p:nvPr/>
        </p:nvSpPr>
        <p:spPr>
          <a:xfrm>
            <a:off x="1005840" y="4654296"/>
            <a:ext cx="274320" cy="365760"/>
          </a:xfrm>
          <a:prstGeom prst="rect">
            <a:avLst/>
          </a:prstGeom>
          <a:noFill/>
          <a:ln/>
        </p:spPr>
        <p:txBody>
          <a:bodyPr wrap="square" rtlCol="0" anchor="ctr"/>
          <a:lstStyle/>
          <a:p>
            <a:pPr indent="0" marL="0">
              <a:buNone/>
            </a:pPr>
            <a:r>
              <a:rPr lang="en-US" sz="1100" b="1" dirty="0">
                <a:solidFill>
                  <a:srgbClr val="10B981"/>
                </a:solidFill>
                <a:latin typeface="Plus Jakarta Sans" pitchFamily="34" charset="0"/>
                <a:ea typeface="Plus Jakarta Sans" pitchFamily="34" charset="-122"/>
                <a:cs typeface="Plus Jakarta Sans" pitchFamily="34" charset="-120"/>
              </a:rPr>
              <a:t>✔</a:t>
            </a:r>
            <a:endParaRPr lang="en-US" sz="1100" dirty="0"/>
          </a:p>
        </p:txBody>
      </p:sp>
      <p:sp>
        <p:nvSpPr>
          <p:cNvPr id="19" name="Text 16"/>
          <p:cNvSpPr/>
          <p:nvPr/>
        </p:nvSpPr>
        <p:spPr>
          <a:xfrm>
            <a:off x="1325880" y="4626864"/>
            <a:ext cx="4206240" cy="411480"/>
          </a:xfrm>
          <a:prstGeom prst="rect">
            <a:avLst/>
          </a:prstGeom>
          <a:noFill/>
          <a:ln/>
        </p:spPr>
        <p:txBody>
          <a:bodyPr wrap="square" rtlCol="0" anchor="t"/>
          <a:lstStyle/>
          <a:p>
            <a:pPr indent="0" marL="0">
              <a:lnSpc>
                <a:spcPts val="1200"/>
              </a:lnSpc>
              <a:buNone/>
            </a:pPr>
            <a:r>
              <a:rPr lang="en-US" sz="1000" dirty="0">
                <a:solidFill>
                  <a:srgbClr val="64748B"/>
                </a:solidFill>
                <a:latin typeface="Plus Jakarta Sans" pitchFamily="34" charset="0"/>
                <a:ea typeface="Plus Jakarta Sans" pitchFamily="34" charset="-122"/>
                <a:cs typeface="Plus Jakarta Sans" pitchFamily="34" charset="-120"/>
              </a:rPr>
              <a:t>Memory utilization was 17%.</a:t>
            </a:r>
            <a:endParaRPr lang="en-US" sz="1000" dirty="0"/>
          </a:p>
        </p:txBody>
      </p:sp>
      <p:sp>
        <p:nvSpPr>
          <p:cNvPr id="20" name="Text 17"/>
          <p:cNvSpPr/>
          <p:nvPr/>
        </p:nvSpPr>
        <p:spPr>
          <a:xfrm>
            <a:off x="1005840" y="5084064"/>
            <a:ext cx="274320" cy="365760"/>
          </a:xfrm>
          <a:prstGeom prst="rect">
            <a:avLst/>
          </a:prstGeom>
          <a:noFill/>
          <a:ln/>
        </p:spPr>
        <p:txBody>
          <a:bodyPr wrap="square" rtlCol="0" anchor="ctr"/>
          <a:lstStyle/>
          <a:p>
            <a:pPr indent="0" marL="0">
              <a:buNone/>
            </a:pPr>
            <a:r>
              <a:rPr lang="en-US" sz="1100" b="1" dirty="0">
                <a:solidFill>
                  <a:srgbClr val="10B981"/>
                </a:solidFill>
                <a:latin typeface="Plus Jakarta Sans" pitchFamily="34" charset="0"/>
                <a:ea typeface="Plus Jakarta Sans" pitchFamily="34" charset="-122"/>
                <a:cs typeface="Plus Jakarta Sans" pitchFamily="34" charset="-120"/>
              </a:rPr>
              <a:t>✔</a:t>
            </a:r>
            <a:endParaRPr lang="en-US" sz="1100" dirty="0"/>
          </a:p>
        </p:txBody>
      </p:sp>
      <p:sp>
        <p:nvSpPr>
          <p:cNvPr id="21" name="Text 18"/>
          <p:cNvSpPr/>
          <p:nvPr/>
        </p:nvSpPr>
        <p:spPr>
          <a:xfrm>
            <a:off x="1325880" y="5056632"/>
            <a:ext cx="4206240" cy="411480"/>
          </a:xfrm>
          <a:prstGeom prst="rect">
            <a:avLst/>
          </a:prstGeom>
          <a:noFill/>
          <a:ln/>
        </p:spPr>
        <p:txBody>
          <a:bodyPr wrap="square" rtlCol="0" anchor="t"/>
          <a:lstStyle/>
          <a:p>
            <a:pPr indent="0" marL="0">
              <a:lnSpc>
                <a:spcPts val="1200"/>
              </a:lnSpc>
              <a:buNone/>
            </a:pPr>
            <a:r>
              <a:rPr lang="en-US" sz="1000" dirty="0">
                <a:solidFill>
                  <a:srgbClr val="64748B"/>
                </a:solidFill>
                <a:latin typeface="Plus Jakarta Sans" pitchFamily="34" charset="0"/>
                <a:ea typeface="Plus Jakarta Sans" pitchFamily="34" charset="-122"/>
                <a:cs typeface="Plus Jakarta Sans" pitchFamily="34" charset="-120"/>
              </a:rPr>
              <a:t>No application errors were reported in the provided monitoring findings.</a:t>
            </a:r>
            <a:endParaRPr lang="en-US" sz="1000" dirty="0"/>
          </a:p>
        </p:txBody>
      </p:sp>
      <p:sp>
        <p:nvSpPr>
          <p:cNvPr id="22" name="Shape 19"/>
          <p:cNvSpPr/>
          <p:nvPr/>
        </p:nvSpPr>
        <p:spPr>
          <a:xfrm>
            <a:off x="6126480" y="1554480"/>
            <a:ext cx="5120640" cy="4023360"/>
          </a:xfrm>
          <a:prstGeom prst="rect">
            <a:avLst>
              <a:gd name="adj" fmla="val 2273"/>
            </a:avLst>
          </a:prstGeom>
          <a:solidFill>
            <a:srgbClr val="F8FAFC"/>
          </a:solidFill>
          <a:ln w="12700">
            <a:solidFill>
              <a:srgbClr val="E2E8F0"/>
            </a:solidFill>
            <a:prstDash val="solid"/>
          </a:ln>
        </p:spPr>
      </p:sp>
      <p:sp>
        <p:nvSpPr>
          <p:cNvPr id="23" name="Text 20"/>
          <p:cNvSpPr/>
          <p:nvPr/>
        </p:nvSpPr>
        <p:spPr>
          <a:xfrm>
            <a:off x="6400800" y="1783080"/>
            <a:ext cx="2834640" cy="274320"/>
          </a:xfrm>
          <a:prstGeom prst="rect">
            <a:avLst/>
          </a:prstGeom>
          <a:noFill/>
          <a:ln/>
        </p:spPr>
        <p:txBody>
          <a:bodyPr wrap="square" rtlCol="0" anchor="ctr"/>
          <a:lstStyle/>
          <a:p>
            <a:pPr indent="0" marL="0">
              <a:buNone/>
            </a:pPr>
            <a:r>
              <a:rPr lang="en-US" sz="1050" b="1" dirty="0">
                <a:solidFill>
                  <a:srgbClr val="64748B"/>
                </a:solidFill>
                <a:latin typeface="Plus Jakarta Sans" pitchFamily="34" charset="0"/>
                <a:ea typeface="Plus Jakarta Sans" pitchFamily="34" charset="-122"/>
                <a:cs typeface="Plus Jakarta Sans" pitchFamily="34" charset="-120"/>
              </a:rPr>
              <a:t>DASHBOARD SERVER</a:t>
            </a:r>
            <a:endParaRPr lang="en-US" sz="1050" dirty="0"/>
          </a:p>
        </p:txBody>
      </p:sp>
      <p:sp>
        <p:nvSpPr>
          <p:cNvPr id="24" name="Text 21">
            <a:hlinkClick r:id="rId3" tooltip=""/>
          </p:cNvPr>
          <p:cNvSpPr/>
          <p:nvPr/>
        </p:nvSpPr>
        <p:spPr>
          <a:xfrm>
            <a:off x="8961120" y="1783080"/>
            <a:ext cx="2011680" cy="274320"/>
          </a:xfrm>
          <a:prstGeom prst="rect">
            <a:avLst/>
          </a:prstGeom>
          <a:noFill/>
          <a:ln/>
        </p:spPr>
        <p:txBody>
          <a:bodyPr wrap="square" rtlCol="0" anchor="ctr"/>
          <a:lstStyle/>
          <a:p>
            <a:pPr algn="r" indent="0" marL="0">
              <a:buNone/>
            </a:pPr>
            <a:r>
              <a:rPr lang="en-US" sz="1000" b="1" u="sng" dirty="0">
                <a:solidFill>
                  <a:srgbClr val="0EA5E9"/>
                </a:solidFill>
                <a:latin typeface="Plus Jakarta Sans" pitchFamily="34" charset="0"/>
                <a:ea typeface="Plus Jakarta Sans" pitchFamily="34" charset="-122"/>
                <a:cs typeface="Plus Jakarta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View Heroku Metrics ↗</a:t>
            </a:r>
            <a:endParaRPr lang="en-US" sz="1000" dirty="0"/>
          </a:p>
        </p:txBody>
      </p:sp>
      <p:sp>
        <p:nvSpPr>
          <p:cNvPr id="25" name="Text 22"/>
          <p:cNvSpPr/>
          <p:nvPr/>
        </p:nvSpPr>
        <p:spPr>
          <a:xfrm>
            <a:off x="6400800" y="2148840"/>
            <a:ext cx="2926080" cy="365760"/>
          </a:xfrm>
          <a:prstGeom prst="rect">
            <a:avLst/>
          </a:prstGeom>
          <a:noFill/>
          <a:ln/>
        </p:spPr>
        <p:txBody>
          <a:bodyPr wrap="square" rtlCol="0" anchor="ctr"/>
          <a:lstStyle/>
          <a:p>
            <a:pPr indent="0" marL="0">
              <a:buNone/>
            </a:pPr>
            <a:r>
              <a:rPr lang="en-US" sz="1250" dirty="0">
                <a:solidFill>
                  <a:srgbClr val="0F172A"/>
                </a:solidFill>
                <a:latin typeface="Plus Jakarta Sans" pitchFamily="34" charset="0"/>
                <a:ea typeface="Plus Jakarta Sans" pitchFamily="34" charset="-122"/>
                <a:cs typeface="Plus Jakarta Sans" pitchFamily="34" charset="-120"/>
              </a:rPr>
              <a:t>Response Time</a:t>
            </a:r>
            <a:endParaRPr lang="en-US" sz="1250" dirty="0"/>
          </a:p>
        </p:txBody>
      </p:sp>
      <p:sp>
        <p:nvSpPr>
          <p:cNvPr id="26" name="Text 23"/>
          <p:cNvSpPr/>
          <p:nvPr/>
        </p:nvSpPr>
        <p:spPr>
          <a:xfrm>
            <a:off x="9326880" y="2148840"/>
            <a:ext cx="1645920" cy="365760"/>
          </a:xfrm>
          <a:prstGeom prst="rect">
            <a:avLst/>
          </a:prstGeom>
          <a:noFill/>
          <a:ln/>
        </p:spPr>
        <p:txBody>
          <a:bodyPr wrap="square" rtlCol="0" anchor="ctr"/>
          <a:lstStyle/>
          <a:p>
            <a:pPr algn="r" indent="0" marL="0">
              <a:buNone/>
            </a:pPr>
            <a:r>
              <a:rPr lang="en-US" sz="1400" b="1" dirty="0">
                <a:solidFill>
                  <a:srgbClr val="0EA5E9"/>
                </a:solidFill>
                <a:latin typeface="Outfit" pitchFamily="34" charset="0"/>
                <a:ea typeface="Outfit" pitchFamily="34" charset="-122"/>
                <a:cs typeface="Outfit" pitchFamily="34" charset="-120"/>
              </a:rPr>
              <a:t>1 second (1,000 ms)</a:t>
            </a:r>
            <a:endParaRPr lang="en-US" sz="1400" dirty="0"/>
          </a:p>
        </p:txBody>
      </p:sp>
      <p:sp>
        <p:nvSpPr>
          <p:cNvPr id="27" name="Text 24"/>
          <p:cNvSpPr/>
          <p:nvPr/>
        </p:nvSpPr>
        <p:spPr>
          <a:xfrm>
            <a:off x="6400800" y="2651760"/>
            <a:ext cx="2926080" cy="365760"/>
          </a:xfrm>
          <a:prstGeom prst="rect">
            <a:avLst/>
          </a:prstGeom>
          <a:noFill/>
          <a:ln/>
        </p:spPr>
        <p:txBody>
          <a:bodyPr wrap="square" rtlCol="0" anchor="ctr"/>
          <a:lstStyle/>
          <a:p>
            <a:pPr indent="0" marL="0">
              <a:buNone/>
            </a:pPr>
            <a:r>
              <a:rPr lang="en-US" sz="1250" dirty="0">
                <a:solidFill>
                  <a:srgbClr val="0F172A"/>
                </a:solidFill>
                <a:latin typeface="Plus Jakarta Sans" pitchFamily="34" charset="0"/>
                <a:ea typeface="Plus Jakarta Sans" pitchFamily="34" charset="-122"/>
                <a:cs typeface="Plus Jakarta Sans" pitchFamily="34" charset="-120"/>
              </a:rPr>
              <a:t>Throughput</a:t>
            </a:r>
            <a:endParaRPr lang="en-US" sz="1250" dirty="0"/>
          </a:p>
        </p:txBody>
      </p:sp>
      <p:sp>
        <p:nvSpPr>
          <p:cNvPr id="28" name="Text 25"/>
          <p:cNvSpPr/>
          <p:nvPr/>
        </p:nvSpPr>
        <p:spPr>
          <a:xfrm>
            <a:off x="9326880" y="2651760"/>
            <a:ext cx="1645920" cy="365760"/>
          </a:xfrm>
          <a:prstGeom prst="rect">
            <a:avLst/>
          </a:prstGeom>
          <a:noFill/>
          <a:ln/>
        </p:spPr>
        <p:txBody>
          <a:bodyPr wrap="square" rtlCol="0" anchor="ctr"/>
          <a:lstStyle/>
          <a:p>
            <a:pPr algn="r" indent="0" marL="0">
              <a:buNone/>
            </a:pPr>
            <a:r>
              <a:rPr lang="en-US" sz="1400" b="1" dirty="0">
                <a:solidFill>
                  <a:srgbClr val="0EA5E9"/>
                </a:solidFill>
                <a:latin typeface="Outfit" pitchFamily="34" charset="0"/>
                <a:ea typeface="Outfit" pitchFamily="34" charset="-122"/>
                <a:cs typeface="Outfit" pitchFamily="34" charset="-120"/>
              </a:rPr>
              <a:t>&lt; 1 RPS</a:t>
            </a:r>
            <a:endParaRPr lang="en-US" sz="1400" dirty="0"/>
          </a:p>
        </p:txBody>
      </p:sp>
      <p:sp>
        <p:nvSpPr>
          <p:cNvPr id="29" name="Text 26"/>
          <p:cNvSpPr/>
          <p:nvPr/>
        </p:nvSpPr>
        <p:spPr>
          <a:xfrm>
            <a:off x="6400800" y="3154680"/>
            <a:ext cx="2926080" cy="365760"/>
          </a:xfrm>
          <a:prstGeom prst="rect">
            <a:avLst/>
          </a:prstGeom>
          <a:noFill/>
          <a:ln/>
        </p:spPr>
        <p:txBody>
          <a:bodyPr wrap="square" rtlCol="0" anchor="ctr"/>
          <a:lstStyle/>
          <a:p>
            <a:pPr indent="0" marL="0">
              <a:buNone/>
            </a:pPr>
            <a:r>
              <a:rPr lang="en-US" sz="1250" dirty="0">
                <a:solidFill>
                  <a:srgbClr val="0F172A"/>
                </a:solidFill>
                <a:latin typeface="Plus Jakarta Sans" pitchFamily="34" charset="0"/>
                <a:ea typeface="Plus Jakarta Sans" pitchFamily="34" charset="-122"/>
                <a:cs typeface="Plus Jakarta Sans" pitchFamily="34" charset="-120"/>
              </a:rPr>
              <a:t>Memory Usage</a:t>
            </a:r>
            <a:endParaRPr lang="en-US" sz="1250" dirty="0"/>
          </a:p>
        </p:txBody>
      </p:sp>
      <p:sp>
        <p:nvSpPr>
          <p:cNvPr id="30" name="Text 27"/>
          <p:cNvSpPr/>
          <p:nvPr/>
        </p:nvSpPr>
        <p:spPr>
          <a:xfrm>
            <a:off x="9326880" y="3154680"/>
            <a:ext cx="1645920" cy="365760"/>
          </a:xfrm>
          <a:prstGeom prst="rect">
            <a:avLst/>
          </a:prstGeom>
          <a:noFill/>
          <a:ln/>
        </p:spPr>
        <p:txBody>
          <a:bodyPr wrap="square" rtlCol="0" anchor="ctr"/>
          <a:lstStyle/>
          <a:p>
            <a:pPr algn="r" indent="0" marL="0">
              <a:buNone/>
            </a:pPr>
            <a:r>
              <a:rPr lang="en-US" sz="1400" b="1" dirty="0">
                <a:solidFill>
                  <a:srgbClr val="0EA5E9"/>
                </a:solidFill>
                <a:latin typeface="Outfit" pitchFamily="34" charset="0"/>
                <a:ea typeface="Outfit" pitchFamily="34" charset="-122"/>
                <a:cs typeface="Outfit" pitchFamily="34" charset="-120"/>
              </a:rPr>
              <a:t>15%</a:t>
            </a:r>
            <a:endParaRPr lang="en-US" sz="1400" dirty="0"/>
          </a:p>
        </p:txBody>
      </p:sp>
      <p:sp>
        <p:nvSpPr>
          <p:cNvPr id="31" name="Text 28"/>
          <p:cNvSpPr/>
          <p:nvPr/>
        </p:nvSpPr>
        <p:spPr>
          <a:xfrm>
            <a:off x="6400800" y="3794760"/>
            <a:ext cx="274320" cy="365760"/>
          </a:xfrm>
          <a:prstGeom prst="rect">
            <a:avLst/>
          </a:prstGeom>
          <a:noFill/>
          <a:ln/>
        </p:spPr>
        <p:txBody>
          <a:bodyPr wrap="square" rtlCol="0" anchor="ctr"/>
          <a:lstStyle/>
          <a:p>
            <a:pPr indent="0" marL="0">
              <a:buNone/>
            </a:pPr>
            <a:r>
              <a:rPr lang="en-US" sz="1100" b="1" dirty="0">
                <a:solidFill>
                  <a:srgbClr val="10B981"/>
                </a:solidFill>
                <a:latin typeface="Plus Jakarta Sans" pitchFamily="34" charset="0"/>
                <a:ea typeface="Plus Jakarta Sans" pitchFamily="34" charset="-122"/>
                <a:cs typeface="Plus Jakarta Sans" pitchFamily="34" charset="-120"/>
              </a:rPr>
              <a:t>✔</a:t>
            </a:r>
            <a:endParaRPr lang="en-US" sz="1100" dirty="0"/>
          </a:p>
        </p:txBody>
      </p:sp>
      <p:sp>
        <p:nvSpPr>
          <p:cNvPr id="32" name="Text 29"/>
          <p:cNvSpPr/>
          <p:nvPr/>
        </p:nvSpPr>
        <p:spPr>
          <a:xfrm>
            <a:off x="6720840" y="3767328"/>
            <a:ext cx="4206240" cy="411480"/>
          </a:xfrm>
          <a:prstGeom prst="rect">
            <a:avLst/>
          </a:prstGeom>
          <a:noFill/>
          <a:ln/>
        </p:spPr>
        <p:txBody>
          <a:bodyPr wrap="square" rtlCol="0" anchor="t"/>
          <a:lstStyle/>
          <a:p>
            <a:pPr indent="0" marL="0">
              <a:lnSpc>
                <a:spcPts val="1200"/>
              </a:lnSpc>
              <a:buNone/>
            </a:pPr>
            <a:r>
              <a:rPr lang="en-US" sz="1000" dirty="0">
                <a:solidFill>
                  <a:srgbClr val="64748B"/>
                </a:solidFill>
                <a:latin typeface="Plus Jakarta Sans" pitchFamily="34" charset="0"/>
                <a:ea typeface="Plus Jakarta Sans" pitchFamily="34" charset="-122"/>
                <a:cs typeface="Plus Jakarta Sans" pitchFamily="34" charset="-120"/>
              </a:rPr>
              <a:t>The Dashboard server recorded a response time of 1 second in the provided monitoring data.</a:t>
            </a:r>
            <a:endParaRPr lang="en-US" sz="1000" dirty="0"/>
          </a:p>
        </p:txBody>
      </p:sp>
      <p:sp>
        <p:nvSpPr>
          <p:cNvPr id="33" name="Text 30"/>
          <p:cNvSpPr/>
          <p:nvPr/>
        </p:nvSpPr>
        <p:spPr>
          <a:xfrm>
            <a:off x="6400800" y="4224528"/>
            <a:ext cx="274320" cy="365760"/>
          </a:xfrm>
          <a:prstGeom prst="rect">
            <a:avLst/>
          </a:prstGeom>
          <a:noFill/>
          <a:ln/>
        </p:spPr>
        <p:txBody>
          <a:bodyPr wrap="square" rtlCol="0" anchor="ctr"/>
          <a:lstStyle/>
          <a:p>
            <a:pPr indent="0" marL="0">
              <a:buNone/>
            </a:pPr>
            <a:r>
              <a:rPr lang="en-US" sz="1100" b="1" dirty="0">
                <a:solidFill>
                  <a:srgbClr val="10B981"/>
                </a:solidFill>
                <a:latin typeface="Plus Jakarta Sans" pitchFamily="34" charset="0"/>
                <a:ea typeface="Plus Jakarta Sans" pitchFamily="34" charset="-122"/>
                <a:cs typeface="Plus Jakarta Sans" pitchFamily="34" charset="-120"/>
              </a:rPr>
              <a:t>✔</a:t>
            </a:r>
            <a:endParaRPr lang="en-US" sz="1100" dirty="0"/>
          </a:p>
        </p:txBody>
      </p:sp>
      <p:sp>
        <p:nvSpPr>
          <p:cNvPr id="34" name="Text 31"/>
          <p:cNvSpPr/>
          <p:nvPr/>
        </p:nvSpPr>
        <p:spPr>
          <a:xfrm>
            <a:off x="6720840" y="4197096"/>
            <a:ext cx="4206240" cy="411480"/>
          </a:xfrm>
          <a:prstGeom prst="rect">
            <a:avLst/>
          </a:prstGeom>
          <a:noFill/>
          <a:ln/>
        </p:spPr>
        <p:txBody>
          <a:bodyPr wrap="square" rtlCol="0" anchor="t"/>
          <a:lstStyle/>
          <a:p>
            <a:pPr indent="0" marL="0">
              <a:lnSpc>
                <a:spcPts val="1200"/>
              </a:lnSpc>
              <a:buNone/>
            </a:pPr>
            <a:r>
              <a:rPr lang="en-US" sz="1000" dirty="0">
                <a:solidFill>
                  <a:srgbClr val="64748B"/>
                </a:solidFill>
                <a:latin typeface="Plus Jakarta Sans" pitchFamily="34" charset="0"/>
                <a:ea typeface="Plus Jakarta Sans" pitchFamily="34" charset="-122"/>
                <a:cs typeface="Plus Jakarta Sans" pitchFamily="34" charset="-120"/>
              </a:rPr>
              <a:t>Throughput remained below 1 RPS.</a:t>
            </a:r>
            <a:endParaRPr lang="en-US" sz="1000" dirty="0"/>
          </a:p>
        </p:txBody>
      </p:sp>
      <p:sp>
        <p:nvSpPr>
          <p:cNvPr id="35" name="Text 32"/>
          <p:cNvSpPr/>
          <p:nvPr/>
        </p:nvSpPr>
        <p:spPr>
          <a:xfrm>
            <a:off x="6400800" y="4654296"/>
            <a:ext cx="274320" cy="365760"/>
          </a:xfrm>
          <a:prstGeom prst="rect">
            <a:avLst/>
          </a:prstGeom>
          <a:noFill/>
          <a:ln/>
        </p:spPr>
        <p:txBody>
          <a:bodyPr wrap="square" rtlCol="0" anchor="ctr"/>
          <a:lstStyle/>
          <a:p>
            <a:pPr indent="0" marL="0">
              <a:buNone/>
            </a:pPr>
            <a:r>
              <a:rPr lang="en-US" sz="1100" b="1" dirty="0">
                <a:solidFill>
                  <a:srgbClr val="10B981"/>
                </a:solidFill>
                <a:latin typeface="Plus Jakarta Sans" pitchFamily="34" charset="0"/>
                <a:ea typeface="Plus Jakarta Sans" pitchFamily="34" charset="-122"/>
                <a:cs typeface="Plus Jakarta Sans" pitchFamily="34" charset="-120"/>
              </a:rPr>
              <a:t>✔</a:t>
            </a:r>
            <a:endParaRPr lang="en-US" sz="1100" dirty="0"/>
          </a:p>
        </p:txBody>
      </p:sp>
      <p:sp>
        <p:nvSpPr>
          <p:cNvPr id="36" name="Text 33"/>
          <p:cNvSpPr/>
          <p:nvPr/>
        </p:nvSpPr>
        <p:spPr>
          <a:xfrm>
            <a:off x="6720840" y="4626864"/>
            <a:ext cx="4206240" cy="411480"/>
          </a:xfrm>
          <a:prstGeom prst="rect">
            <a:avLst/>
          </a:prstGeom>
          <a:noFill/>
          <a:ln/>
        </p:spPr>
        <p:txBody>
          <a:bodyPr wrap="square" rtlCol="0" anchor="t"/>
          <a:lstStyle/>
          <a:p>
            <a:pPr indent="0" marL="0">
              <a:lnSpc>
                <a:spcPts val="1200"/>
              </a:lnSpc>
              <a:buNone/>
            </a:pPr>
            <a:r>
              <a:rPr lang="en-US" sz="1000" dirty="0">
                <a:solidFill>
                  <a:srgbClr val="64748B"/>
                </a:solidFill>
                <a:latin typeface="Plus Jakarta Sans" pitchFamily="34" charset="0"/>
                <a:ea typeface="Plus Jakarta Sans" pitchFamily="34" charset="-122"/>
                <a:cs typeface="Plus Jakarta Sans" pitchFamily="34" charset="-120"/>
              </a:rPr>
              <a:t>Memory utilization was 15%.</a:t>
            </a:r>
            <a:endParaRPr lang="en-US" sz="1000" dirty="0"/>
          </a:p>
        </p:txBody>
      </p:sp>
      <p:sp>
        <p:nvSpPr>
          <p:cNvPr id="37" name="Text 34"/>
          <p:cNvSpPr/>
          <p:nvPr/>
        </p:nvSpPr>
        <p:spPr>
          <a:xfrm>
            <a:off x="6400800" y="5084064"/>
            <a:ext cx="274320" cy="365760"/>
          </a:xfrm>
          <a:prstGeom prst="rect">
            <a:avLst/>
          </a:prstGeom>
          <a:noFill/>
          <a:ln/>
        </p:spPr>
        <p:txBody>
          <a:bodyPr wrap="square" rtlCol="0" anchor="ctr"/>
          <a:lstStyle/>
          <a:p>
            <a:pPr indent="0" marL="0">
              <a:buNone/>
            </a:pPr>
            <a:r>
              <a:rPr lang="en-US" sz="1100" b="1" dirty="0">
                <a:solidFill>
                  <a:srgbClr val="10B981"/>
                </a:solidFill>
                <a:latin typeface="Plus Jakarta Sans" pitchFamily="34" charset="0"/>
                <a:ea typeface="Plus Jakarta Sans" pitchFamily="34" charset="-122"/>
                <a:cs typeface="Plus Jakarta Sans" pitchFamily="34" charset="-120"/>
              </a:rPr>
              <a:t>✔</a:t>
            </a:r>
            <a:endParaRPr lang="en-US" sz="1100" dirty="0"/>
          </a:p>
        </p:txBody>
      </p:sp>
      <p:sp>
        <p:nvSpPr>
          <p:cNvPr id="38" name="Text 35"/>
          <p:cNvSpPr/>
          <p:nvPr/>
        </p:nvSpPr>
        <p:spPr>
          <a:xfrm>
            <a:off x="6720840" y="5056632"/>
            <a:ext cx="4206240" cy="411480"/>
          </a:xfrm>
          <a:prstGeom prst="rect">
            <a:avLst/>
          </a:prstGeom>
          <a:noFill/>
          <a:ln/>
        </p:spPr>
        <p:txBody>
          <a:bodyPr wrap="square" rtlCol="0" anchor="t"/>
          <a:lstStyle/>
          <a:p>
            <a:pPr indent="0" marL="0">
              <a:lnSpc>
                <a:spcPts val="1200"/>
              </a:lnSpc>
              <a:buNone/>
            </a:pPr>
            <a:r>
              <a:rPr lang="en-US" sz="1000" dirty="0">
                <a:solidFill>
                  <a:srgbClr val="64748B"/>
                </a:solidFill>
                <a:latin typeface="Plus Jakarta Sans" pitchFamily="34" charset="0"/>
                <a:ea typeface="Plus Jakarta Sans" pitchFamily="34" charset="-122"/>
                <a:cs typeface="Plus Jakarta Sans" pitchFamily="34" charset="-120"/>
              </a:rPr>
              <a:t>No application errors were reported in the provided monitoring findings.</a:t>
            </a:r>
            <a:endParaRPr lang="en-US" sz="1000" dirty="0"/>
          </a:p>
        </p:txBody>
      </p:sp>
      <p:sp>
        <p:nvSpPr>
          <p:cNvPr id="39" name="Shape 36"/>
          <p:cNvSpPr/>
          <p:nvPr/>
        </p:nvSpPr>
        <p:spPr>
          <a:xfrm>
            <a:off x="731520" y="5715000"/>
            <a:ext cx="10515600" cy="685800"/>
          </a:xfrm>
          <a:prstGeom prst="roundRect">
            <a:avLst>
              <a:gd name="adj" fmla="val 13333"/>
            </a:avLst>
          </a:prstGeom>
          <a:solidFill>
            <a:srgbClr val="ECFDF5"/>
          </a:solidFill>
          <a:ln w="12700">
            <a:solidFill>
              <a:srgbClr val="86EFAC"/>
            </a:solidFill>
            <a:prstDash val="solid"/>
          </a:ln>
        </p:spPr>
      </p:sp>
      <p:sp>
        <p:nvSpPr>
          <p:cNvPr id="40" name="Text 37"/>
          <p:cNvSpPr/>
          <p:nvPr/>
        </p:nvSpPr>
        <p:spPr>
          <a:xfrm>
            <a:off x="960120" y="5715000"/>
            <a:ext cx="10058400" cy="685800"/>
          </a:xfrm>
          <a:prstGeom prst="rect">
            <a:avLst/>
          </a:prstGeom>
          <a:noFill/>
          <a:ln/>
        </p:spPr>
        <p:txBody>
          <a:bodyPr wrap="square" rtlCol="0" anchor="ctr"/>
          <a:lstStyle/>
          <a:p>
            <a:pPr indent="0" marL="0">
              <a:lnSpc>
                <a:spcPts val="1400"/>
              </a:lnSpc>
              <a:buNone/>
            </a:pPr>
            <a:r>
              <a:rPr lang="en-US" sz="1150" b="1" dirty="0">
                <a:solidFill>
                  <a:srgbClr val="047857"/>
                </a:solidFill>
                <a:latin typeface="Plus Jakarta Sans" pitchFamily="34" charset="0"/>
                <a:ea typeface="Plus Jakarta Sans" pitchFamily="34" charset="-122"/>
                <a:cs typeface="Plus Jakarta Sans" pitchFamily="34" charset="-120"/>
              </a:rPr>
              <a:t>✔  </a:t>
            </a:r>
            <a:pPr indent="0" marL="0">
              <a:lnSpc>
                <a:spcPts val="1400"/>
              </a:lnSpc>
              <a:buNone/>
            </a:pPr>
            <a:r>
              <a:rPr lang="en-US" sz="1150" b="1" dirty="0">
                <a:solidFill>
                  <a:srgbClr val="166534"/>
                </a:solidFill>
                <a:latin typeface="Plus Jakarta Sans" pitchFamily="34" charset="0"/>
                <a:ea typeface="Plus Jakarta Sans" pitchFamily="34" charset="-122"/>
                <a:cs typeface="Plus Jakarta Sans" pitchFamily="34" charset="-120"/>
              </a:rPr>
              <a:t>Both environments showed low memory utilization and throughput below 1 RPS. The App server response time was 9 ms, while the Dashboard server response time was 1 second. Dashboard response time should continue to be monitored during future checks.</a:t>
            </a:r>
            <a:endParaRPr lang="en-US" sz="11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pic>
        <p:nvPicPr>
          <p:cNvPr id="2" name="Image 0" descr="white-logo.png">    </p:cNvPr>
          <p:cNvPicPr>
            <a:picLocks noChangeAspect="1"/>
          </p:cNvPicPr>
          <p:nvPr/>
        </p:nvPicPr>
        <p:blipFill>
          <a:blip r:embed="rId1"/>
          <a:stretch>
            <a:fillRect/>
          </a:stretch>
        </p:blipFill>
        <p:spPr>
          <a:xfrm>
            <a:off x="9601200" y="365760"/>
            <a:ext cx="2011680" cy="1097280"/>
          </a:xfrm>
          <a:prstGeom prst="rect">
            <a:avLst/>
          </a:prstGeom>
        </p:spPr>
      </p:pic>
      <p:sp>
        <p:nvSpPr>
          <p:cNvPr id="3" name="Text 0"/>
          <p:cNvSpPr/>
          <p:nvPr/>
        </p:nvSpPr>
        <p:spPr>
          <a:xfrm>
            <a:off x="731520" y="365760"/>
            <a:ext cx="8229600" cy="365760"/>
          </a:xfrm>
          <a:prstGeom prst="rect">
            <a:avLst/>
          </a:prstGeom>
          <a:noFill/>
          <a:ln/>
        </p:spPr>
        <p:txBody>
          <a:bodyPr wrap="square" rtlCol="0" anchor="ctr"/>
          <a:lstStyle/>
          <a:p>
            <a:pPr indent="0" marL="0">
              <a:buNone/>
            </a:pPr>
            <a:r>
              <a:rPr lang="en-US" sz="1300" b="1" dirty="0">
                <a:solidFill>
                  <a:srgbClr val="0EA5E9"/>
                </a:solidFill>
                <a:latin typeface="Outfit" pitchFamily="34" charset="0"/>
                <a:ea typeface="Outfit" pitchFamily="34" charset="-122"/>
                <a:cs typeface="Outfit" pitchFamily="34" charset="-120"/>
              </a:rPr>
              <a:t>Infrastructure Security</a:t>
            </a:r>
            <a:endParaRPr lang="en-US" sz="1300" dirty="0"/>
          </a:p>
        </p:txBody>
      </p:sp>
      <p:sp>
        <p:nvSpPr>
          <p:cNvPr id="4" name="Text 1"/>
          <p:cNvSpPr/>
          <p:nvPr/>
        </p:nvSpPr>
        <p:spPr>
          <a:xfrm>
            <a:off x="731520" y="731520"/>
            <a:ext cx="9601200" cy="548640"/>
          </a:xfrm>
          <a:prstGeom prst="rect">
            <a:avLst/>
          </a:prstGeom>
          <a:noFill/>
          <a:ln/>
        </p:spPr>
        <p:txBody>
          <a:bodyPr wrap="square" rtlCol="0" anchor="ctr"/>
          <a:lstStyle/>
          <a:p>
            <a:pPr indent="0" marL="0">
              <a:buNone/>
            </a:pPr>
            <a:r>
              <a:rPr lang="en-US" sz="2600" b="1" dirty="0">
                <a:solidFill>
                  <a:srgbClr val="0F172A"/>
                </a:solidFill>
                <a:latin typeface="Outfit" pitchFamily="34" charset="0"/>
                <a:ea typeface="Outfit" pitchFamily="34" charset="-122"/>
                <a:cs typeface="Outfit" pitchFamily="34" charset="-120"/>
              </a:rPr>
              <a:t>SSL Certificate &amp; Domain Security</a:t>
            </a:r>
            <a:endParaRPr lang="en-US" sz="2600" dirty="0"/>
          </a:p>
        </p:txBody>
      </p:sp>
      <p:sp>
        <p:nvSpPr>
          <p:cNvPr id="5" name="Shape 2"/>
          <p:cNvSpPr/>
          <p:nvPr/>
        </p:nvSpPr>
        <p:spPr>
          <a:xfrm>
            <a:off x="731520" y="1645920"/>
            <a:ext cx="4937760" cy="4206240"/>
          </a:xfrm>
          <a:prstGeom prst="rect">
            <a:avLst>
              <a:gd name="adj" fmla="val 2174"/>
            </a:avLst>
          </a:prstGeom>
          <a:solidFill>
            <a:srgbClr val="F8FAFC"/>
          </a:solidFill>
          <a:ln w="12700">
            <a:solidFill>
              <a:srgbClr val="E2E8F0"/>
            </a:solidFill>
            <a:prstDash val="solid"/>
          </a:ln>
        </p:spPr>
      </p:sp>
      <p:sp>
        <p:nvSpPr>
          <p:cNvPr id="6" name="Text 3"/>
          <p:cNvSpPr/>
          <p:nvPr/>
        </p:nvSpPr>
        <p:spPr>
          <a:xfrm>
            <a:off x="1005840" y="1920240"/>
            <a:ext cx="4389120" cy="274320"/>
          </a:xfrm>
          <a:prstGeom prst="rect">
            <a:avLst/>
          </a:prstGeom>
          <a:noFill/>
          <a:ln/>
        </p:spPr>
        <p:txBody>
          <a:bodyPr wrap="square" rtlCol="0" anchor="ctr"/>
          <a:lstStyle/>
          <a:p>
            <a:pPr indent="0" marL="0">
              <a:buNone/>
            </a:pPr>
            <a:r>
              <a:rPr lang="en-US" sz="1100" b="1" dirty="0">
                <a:solidFill>
                  <a:srgbClr val="64748B"/>
                </a:solidFill>
                <a:latin typeface="Plus Jakarta Sans" pitchFamily="34" charset="0"/>
                <a:ea typeface="Plus Jakarta Sans" pitchFamily="34" charset="-122"/>
                <a:cs typeface="Plus Jakarta Sans" pitchFamily="34" charset="-120"/>
              </a:rPr>
              <a:t>SSL CERTIFICATE STATUS</a:t>
            </a:r>
            <a:endParaRPr lang="en-US" sz="1100" dirty="0"/>
          </a:p>
        </p:txBody>
      </p:sp>
      <p:sp>
        <p:nvSpPr>
          <p:cNvPr id="7" name="Text 4"/>
          <p:cNvSpPr/>
          <p:nvPr/>
        </p:nvSpPr>
        <p:spPr>
          <a:xfrm>
            <a:off x="1005840" y="2240280"/>
            <a:ext cx="4389120" cy="457200"/>
          </a:xfrm>
          <a:prstGeom prst="rect">
            <a:avLst/>
          </a:prstGeom>
          <a:noFill/>
          <a:ln/>
        </p:spPr>
        <p:txBody>
          <a:bodyPr wrap="square" rtlCol="0" anchor="ctr"/>
          <a:lstStyle/>
          <a:p>
            <a:pPr indent="0" marL="0">
              <a:buNone/>
            </a:pPr>
            <a:r>
              <a:rPr lang="en-US" sz="2200" b="1" dirty="0">
                <a:solidFill>
                  <a:srgbClr val="10B981"/>
                </a:solidFill>
                <a:latin typeface="Outfit" pitchFamily="34" charset="0"/>
                <a:ea typeface="Outfit" pitchFamily="34" charset="-122"/>
                <a:cs typeface="Outfit" pitchFamily="34" charset="-120"/>
              </a:rPr>
              <a:t>Active &amp; Secure</a:t>
            </a:r>
            <a:endParaRPr lang="en-US" sz="2200" dirty="0"/>
          </a:p>
        </p:txBody>
      </p:sp>
      <p:sp>
        <p:nvSpPr>
          <p:cNvPr id="8" name="Text 5"/>
          <p:cNvSpPr/>
          <p:nvPr/>
        </p:nvSpPr>
        <p:spPr>
          <a:xfrm>
            <a:off x="1005840" y="2880360"/>
            <a:ext cx="4389120" cy="2011680"/>
          </a:xfrm>
          <a:prstGeom prst="rect">
            <a:avLst/>
          </a:prstGeom>
          <a:noFill/>
          <a:ln/>
        </p:spPr>
        <p:txBody>
          <a:bodyPr wrap="square" rtlCol="0" anchor="ctr"/>
          <a:lstStyle/>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Certificate covers: *.herokuapp.com</a:t>
            </a:r>
            <a:endParaRPr lang="en-US" sz="1300" dirty="0"/>
          </a:p>
          <a:p>
            <a:pPr indent="0" marL="0">
              <a:lnSpc>
                <a:spcPts val="1800"/>
              </a:lnSpc>
              <a:buNone/>
            </a:pP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Issued by: Amazon RSA 2048 M01</a:t>
            </a:r>
            <a:endParaRPr lang="en-US" sz="1300" dirty="0"/>
          </a:p>
          <a:p>
            <a:pPr indent="0" marL="0">
              <a:lnSpc>
                <a:spcPts val="1800"/>
              </a:lnSpc>
              <a:buNone/>
            </a:pP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Issued on: October 26, 2026</a:t>
            </a:r>
            <a:endParaRPr lang="en-US" sz="1300" dirty="0"/>
          </a:p>
          <a:p>
            <a:pPr indent="0" marL="0">
              <a:lnSpc>
                <a:spcPts val="1800"/>
              </a:lnSpc>
              <a:buNone/>
            </a:pPr>
            <a:endParaRPr lang="en-US" sz="1300" dirty="0"/>
          </a:p>
          <a:p>
            <a:pPr indent="0" marL="0">
              <a:lnSpc>
                <a:spcPts val="1800"/>
              </a:lnSpc>
              <a:buNone/>
            </a:pPr>
            <a:r>
              <a:rPr lang="en-US" sz="1300" dirty="0">
                <a:solidFill>
                  <a:srgbClr val="0F172A"/>
                </a:solidFill>
                <a:latin typeface="Plus Jakarta Sans" pitchFamily="34" charset="0"/>
                <a:ea typeface="Plus Jakarta Sans" pitchFamily="34" charset="-122"/>
                <a:cs typeface="Plus Jakarta Sans" pitchFamily="34" charset="-120"/>
              </a:rPr>
              <a:t>• Expires on: May 11, 2027 (195 days from today)</a:t>
            </a:r>
            <a:endParaRPr lang="en-US" sz="1300" dirty="0"/>
          </a:p>
        </p:txBody>
      </p:sp>
      <p:sp>
        <p:nvSpPr>
          <p:cNvPr id="9" name="Text 6"/>
          <p:cNvSpPr/>
          <p:nvPr/>
        </p:nvSpPr>
        <p:spPr>
          <a:xfrm>
            <a:off x="1005840" y="5166360"/>
            <a:ext cx="4389120" cy="594360"/>
          </a:xfrm>
          <a:prstGeom prst="rect">
            <a:avLst/>
          </a:prstGeom>
          <a:noFill/>
          <a:ln/>
        </p:spPr>
        <p:txBody>
          <a:bodyPr wrap="square" rtlCol="0" anchor="t"/>
          <a:lstStyle/>
          <a:p>
            <a:pPr indent="0" marL="0">
              <a:lnSpc>
                <a:spcPts val="1300"/>
              </a:lnSpc>
              <a:buNone/>
            </a:pPr>
            <a:r>
              <a:rPr lang="en-US" sz="1050" i="1" dirty="0">
                <a:solidFill>
                  <a:srgbClr val="64748B"/>
                </a:solidFill>
                <a:latin typeface="Plus Jakarta Sans" pitchFamily="34" charset="0"/>
                <a:ea typeface="Plus Jakarta Sans" pitchFamily="34" charset="-122"/>
                <a:cs typeface="Plus Jakarta Sans" pitchFamily="34" charset="-120"/>
              </a:rPr>
              <a:t>Read live from the dashboard host during this audit run (not from the dev team text). The wildcard certificate covers the herokuapp.com domain.</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white-logo.png">    </p:cNvPr>
          <p:cNvPicPr>
            <a:picLocks noChangeAspect="1"/>
          </p:cNvPicPr>
          <p:nvPr/>
        </p:nvPicPr>
        <p:blipFill>
          <a:blip r:embed="rId1"/>
          <a:stretch>
            <a:fillRect/>
          </a:stretch>
        </p:blipFill>
        <p:spPr>
          <a:xfrm>
            <a:off x="9601200" y="365760"/>
            <a:ext cx="2011680" cy="1097280"/>
          </a:xfrm>
          <a:prstGeom prst="rect">
            <a:avLst/>
          </a:prstGeom>
        </p:spPr>
      </p:pic>
      <p:sp>
        <p:nvSpPr>
          <p:cNvPr id="3" name="Text 0"/>
          <p:cNvSpPr/>
          <p:nvPr/>
        </p:nvSpPr>
        <p:spPr>
          <a:xfrm>
            <a:off x="731520" y="365760"/>
            <a:ext cx="8229600" cy="365760"/>
          </a:xfrm>
          <a:prstGeom prst="rect">
            <a:avLst/>
          </a:prstGeom>
          <a:noFill/>
          <a:ln/>
        </p:spPr>
        <p:txBody>
          <a:bodyPr wrap="square" rtlCol="0" anchor="ctr"/>
          <a:lstStyle/>
          <a:p>
            <a:pPr indent="0" marL="0">
              <a:buNone/>
            </a:pPr>
            <a:r>
              <a:rPr lang="en-US" sz="1300" b="1" dirty="0">
                <a:solidFill>
                  <a:srgbClr val="0EA5E9"/>
                </a:solidFill>
                <a:latin typeface="Outfit" pitchFamily="34" charset="0"/>
                <a:ea typeface="Outfit" pitchFamily="34" charset="-122"/>
                <a:cs typeface="Outfit" pitchFamily="34" charset="-120"/>
              </a:rPr>
              <a:t>Monthly App &amp; Server Monitoring</a:t>
            </a:r>
            <a:endParaRPr lang="en-US" sz="1300" dirty="0"/>
          </a:p>
        </p:txBody>
      </p:sp>
      <p:sp>
        <p:nvSpPr>
          <p:cNvPr id="4" name="Text 1"/>
          <p:cNvSpPr/>
          <p:nvPr/>
        </p:nvSpPr>
        <p:spPr>
          <a:xfrm>
            <a:off x="731520" y="731520"/>
            <a:ext cx="9601200" cy="548640"/>
          </a:xfrm>
          <a:prstGeom prst="rect">
            <a:avLst/>
          </a:prstGeom>
          <a:noFill/>
          <a:ln/>
        </p:spPr>
        <p:txBody>
          <a:bodyPr wrap="square" rtlCol="0" anchor="ctr"/>
          <a:lstStyle/>
          <a:p>
            <a:pPr indent="0" marL="0">
              <a:buNone/>
            </a:pPr>
            <a:r>
              <a:rPr lang="en-US" sz="2600" b="1" dirty="0">
                <a:solidFill>
                  <a:srgbClr val="0F172A"/>
                </a:solidFill>
                <a:latin typeface="Outfit" pitchFamily="34" charset="0"/>
                <a:ea typeface="Outfit" pitchFamily="34" charset="-122"/>
                <a:cs typeface="Outfit" pitchFamily="34" charset="-120"/>
              </a:rPr>
              <a:t>Build Cache Analysis</a:t>
            </a:r>
            <a:endParaRPr lang="en-US" sz="2600" dirty="0"/>
          </a:p>
        </p:txBody>
      </p:sp>
      <p:sp>
        <p:nvSpPr>
          <p:cNvPr id="5" name="Shape 2"/>
          <p:cNvSpPr/>
          <p:nvPr/>
        </p:nvSpPr>
        <p:spPr>
          <a:xfrm>
            <a:off x="731520" y="1554480"/>
            <a:ext cx="5120640" cy="1554480"/>
          </a:xfrm>
          <a:prstGeom prst="rect">
            <a:avLst>
              <a:gd name="adj" fmla="val 5882"/>
            </a:avLst>
          </a:prstGeom>
          <a:solidFill>
            <a:srgbClr val="F8FAFC"/>
          </a:solidFill>
          <a:ln w="12700">
            <a:solidFill>
              <a:srgbClr val="E2E8F0"/>
            </a:solidFill>
            <a:prstDash val="solid"/>
          </a:ln>
        </p:spPr>
      </p:sp>
      <p:sp>
        <p:nvSpPr>
          <p:cNvPr id="6" name="Text 3"/>
          <p:cNvSpPr/>
          <p:nvPr/>
        </p:nvSpPr>
        <p:spPr>
          <a:xfrm>
            <a:off x="1005840" y="1737360"/>
            <a:ext cx="4572000" cy="274320"/>
          </a:xfrm>
          <a:prstGeom prst="rect">
            <a:avLst/>
          </a:prstGeom>
          <a:noFill/>
          <a:ln/>
        </p:spPr>
        <p:txBody>
          <a:bodyPr wrap="square" rtlCol="0" anchor="ctr"/>
          <a:lstStyle/>
          <a:p>
            <a:pPr indent="0" marL="0">
              <a:buNone/>
            </a:pPr>
            <a:r>
              <a:rPr lang="en-US" sz="1050" b="1" dirty="0">
                <a:solidFill>
                  <a:srgbClr val="64748B"/>
                </a:solidFill>
                <a:latin typeface="Plus Jakarta Sans" pitchFamily="34" charset="0"/>
                <a:ea typeface="Plus Jakarta Sans" pitchFamily="34" charset="-122"/>
                <a:cs typeface="Plus Jakarta Sans" pitchFamily="34" charset="-120"/>
              </a:rPr>
              <a:t>APP SERVER</a:t>
            </a:r>
            <a:endParaRPr lang="en-US" sz="1050" dirty="0"/>
          </a:p>
        </p:txBody>
      </p:sp>
      <p:sp>
        <p:nvSpPr>
          <p:cNvPr id="7" name="Shape 4"/>
          <p:cNvSpPr/>
          <p:nvPr/>
        </p:nvSpPr>
        <p:spPr>
          <a:xfrm>
            <a:off x="1005840" y="2148840"/>
            <a:ext cx="2148840" cy="640080"/>
          </a:xfrm>
          <a:prstGeom prst="roundRect">
            <a:avLst>
              <a:gd name="adj" fmla="val 14286"/>
            </a:avLst>
          </a:prstGeom>
          <a:solidFill>
            <a:srgbClr val="F0F9FF"/>
          </a:solidFill>
          <a:ln w="12700">
            <a:solidFill>
              <a:srgbClr val="7DD3FC"/>
            </a:solidFill>
            <a:prstDash val="solid"/>
          </a:ln>
        </p:spPr>
      </p:sp>
      <p:sp>
        <p:nvSpPr>
          <p:cNvPr id="8" name="Text 5"/>
          <p:cNvSpPr/>
          <p:nvPr/>
        </p:nvSpPr>
        <p:spPr>
          <a:xfrm>
            <a:off x="1143000" y="2212848"/>
            <a:ext cx="1874520" cy="256032"/>
          </a:xfrm>
          <a:prstGeom prst="rect">
            <a:avLst/>
          </a:prstGeom>
          <a:noFill/>
          <a:ln/>
        </p:spPr>
        <p:txBody>
          <a:bodyPr wrap="square" rtlCol="0" anchor="ctr"/>
          <a:lstStyle/>
          <a:p>
            <a:pPr indent="0" marL="0">
              <a:buNone/>
            </a:pPr>
            <a:r>
              <a:rPr lang="en-US" sz="1000" b="1" dirty="0">
                <a:solidFill>
                  <a:srgbClr val="64748B"/>
                </a:solidFill>
                <a:latin typeface="Plus Jakarta Sans" pitchFamily="34" charset="0"/>
                <a:ea typeface="Plus Jakarta Sans" pitchFamily="34" charset="-122"/>
                <a:cs typeface="Plus Jakarta Sans" pitchFamily="34" charset="-120"/>
              </a:rPr>
              <a:t>BEFORE</a:t>
            </a:r>
            <a:endParaRPr lang="en-US" sz="1000" dirty="0"/>
          </a:p>
        </p:txBody>
      </p:sp>
      <p:sp>
        <p:nvSpPr>
          <p:cNvPr id="9" name="Text 6">
            <a:hlinkClick r:id="rId2" tooltip=""/>
          </p:cNvPr>
          <p:cNvSpPr/>
          <p:nvPr/>
        </p:nvSpPr>
        <p:spPr>
          <a:xfrm>
            <a:off x="1143000" y="2450592"/>
            <a:ext cx="1874520" cy="292608"/>
          </a:xfrm>
          <a:prstGeom prst="rect">
            <a:avLst/>
          </a:prstGeom>
          <a:noFill/>
          <a:ln/>
        </p:spPr>
        <p:txBody>
          <a:bodyPr wrap="square" rtlCol="0" anchor="ctr"/>
          <a:lstStyle/>
          <a:p>
            <a:pPr indent="0" marL="0">
              <a:buNone/>
            </a:pPr>
            <a:r>
              <a:rPr lang="en-US" sz="1200" b="1" u="sng" dirty="0">
                <a:solidFill>
                  <a:srgbClr val="0EA5E9"/>
                </a:solidFill>
                <a:latin typeface="Plus Jakarta Sans" pitchFamily="34" charset="0"/>
                <a:ea typeface="Plus Jakarta Sans" pitchFamily="34" charset="-122"/>
                <a:cs typeface="Plus Jakarta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View evidence</a:t>
            </a:r>
            <a:endParaRPr lang="en-US" sz="1200" dirty="0"/>
          </a:p>
        </p:txBody>
      </p:sp>
      <p:sp>
        <p:nvSpPr>
          <p:cNvPr id="10" name="Shape 7"/>
          <p:cNvSpPr/>
          <p:nvPr/>
        </p:nvSpPr>
        <p:spPr>
          <a:xfrm>
            <a:off x="3429000" y="2148840"/>
            <a:ext cx="2148840" cy="640080"/>
          </a:xfrm>
          <a:prstGeom prst="roundRect">
            <a:avLst>
              <a:gd name="adj" fmla="val 14286"/>
            </a:avLst>
          </a:prstGeom>
          <a:solidFill>
            <a:srgbClr val="F0F9FF"/>
          </a:solidFill>
          <a:ln w="12700">
            <a:solidFill>
              <a:srgbClr val="7DD3FC"/>
            </a:solidFill>
            <a:prstDash val="solid"/>
          </a:ln>
        </p:spPr>
      </p:sp>
      <p:sp>
        <p:nvSpPr>
          <p:cNvPr id="11" name="Text 8"/>
          <p:cNvSpPr/>
          <p:nvPr/>
        </p:nvSpPr>
        <p:spPr>
          <a:xfrm>
            <a:off x="3566160" y="2212848"/>
            <a:ext cx="1874520" cy="256032"/>
          </a:xfrm>
          <a:prstGeom prst="rect">
            <a:avLst/>
          </a:prstGeom>
          <a:noFill/>
          <a:ln/>
        </p:spPr>
        <p:txBody>
          <a:bodyPr wrap="square" rtlCol="0" anchor="ctr"/>
          <a:lstStyle/>
          <a:p>
            <a:pPr indent="0" marL="0">
              <a:buNone/>
            </a:pPr>
            <a:r>
              <a:rPr lang="en-US" sz="1000" b="1" dirty="0">
                <a:solidFill>
                  <a:srgbClr val="64748B"/>
                </a:solidFill>
                <a:latin typeface="Plus Jakarta Sans" pitchFamily="34" charset="0"/>
                <a:ea typeface="Plus Jakarta Sans" pitchFamily="34" charset="-122"/>
                <a:cs typeface="Plus Jakarta Sans" pitchFamily="34" charset="-120"/>
              </a:rPr>
              <a:t>AFTER</a:t>
            </a:r>
            <a:endParaRPr lang="en-US" sz="1000" dirty="0"/>
          </a:p>
        </p:txBody>
      </p:sp>
      <p:sp>
        <p:nvSpPr>
          <p:cNvPr id="12" name="Text 9">
            <a:hlinkClick r:id="rId3" tooltip=""/>
          </p:cNvPr>
          <p:cNvSpPr/>
          <p:nvPr/>
        </p:nvSpPr>
        <p:spPr>
          <a:xfrm>
            <a:off x="3566160" y="2450592"/>
            <a:ext cx="1874520" cy="292608"/>
          </a:xfrm>
          <a:prstGeom prst="rect">
            <a:avLst/>
          </a:prstGeom>
          <a:noFill/>
          <a:ln/>
        </p:spPr>
        <p:txBody>
          <a:bodyPr wrap="square" rtlCol="0" anchor="ctr"/>
          <a:lstStyle/>
          <a:p>
            <a:pPr indent="0" marL="0">
              <a:buNone/>
            </a:pPr>
            <a:r>
              <a:rPr lang="en-US" sz="1200" b="1" u="sng" dirty="0">
                <a:solidFill>
                  <a:srgbClr val="0EA5E9"/>
                </a:solidFill>
                <a:latin typeface="Plus Jakarta Sans" pitchFamily="34" charset="0"/>
                <a:ea typeface="Plus Jakarta Sans" pitchFamily="34" charset="-122"/>
                <a:cs typeface="Plus Jakarta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View evidence</a:t>
            </a:r>
            <a:endParaRPr lang="en-US" sz="1200" dirty="0"/>
          </a:p>
        </p:txBody>
      </p:sp>
      <p:sp>
        <p:nvSpPr>
          <p:cNvPr id="13" name="Shape 10"/>
          <p:cNvSpPr/>
          <p:nvPr/>
        </p:nvSpPr>
        <p:spPr>
          <a:xfrm>
            <a:off x="6126480" y="1554480"/>
            <a:ext cx="5120640" cy="1554480"/>
          </a:xfrm>
          <a:prstGeom prst="rect">
            <a:avLst>
              <a:gd name="adj" fmla="val 5882"/>
            </a:avLst>
          </a:prstGeom>
          <a:solidFill>
            <a:srgbClr val="F8FAFC"/>
          </a:solidFill>
          <a:ln w="12700">
            <a:solidFill>
              <a:srgbClr val="E2E8F0"/>
            </a:solidFill>
            <a:prstDash val="solid"/>
          </a:ln>
        </p:spPr>
      </p:sp>
      <p:sp>
        <p:nvSpPr>
          <p:cNvPr id="14" name="Text 11"/>
          <p:cNvSpPr/>
          <p:nvPr/>
        </p:nvSpPr>
        <p:spPr>
          <a:xfrm>
            <a:off x="6400800" y="1737360"/>
            <a:ext cx="4572000" cy="274320"/>
          </a:xfrm>
          <a:prstGeom prst="rect">
            <a:avLst/>
          </a:prstGeom>
          <a:noFill/>
          <a:ln/>
        </p:spPr>
        <p:txBody>
          <a:bodyPr wrap="square" rtlCol="0" anchor="ctr"/>
          <a:lstStyle/>
          <a:p>
            <a:pPr indent="0" marL="0">
              <a:buNone/>
            </a:pPr>
            <a:r>
              <a:rPr lang="en-US" sz="1050" b="1" dirty="0">
                <a:solidFill>
                  <a:srgbClr val="64748B"/>
                </a:solidFill>
                <a:latin typeface="Plus Jakarta Sans" pitchFamily="34" charset="0"/>
                <a:ea typeface="Plus Jakarta Sans" pitchFamily="34" charset="-122"/>
                <a:cs typeface="Plus Jakarta Sans" pitchFamily="34" charset="-120"/>
              </a:rPr>
              <a:t>DASHBOARD SERVER</a:t>
            </a:r>
            <a:endParaRPr lang="en-US" sz="1050" dirty="0"/>
          </a:p>
        </p:txBody>
      </p:sp>
      <p:sp>
        <p:nvSpPr>
          <p:cNvPr id="15" name="Shape 12"/>
          <p:cNvSpPr/>
          <p:nvPr/>
        </p:nvSpPr>
        <p:spPr>
          <a:xfrm>
            <a:off x="6400800" y="2148840"/>
            <a:ext cx="2148840" cy="640080"/>
          </a:xfrm>
          <a:prstGeom prst="roundRect">
            <a:avLst>
              <a:gd name="adj" fmla="val 14286"/>
            </a:avLst>
          </a:prstGeom>
          <a:solidFill>
            <a:srgbClr val="F0F9FF"/>
          </a:solidFill>
          <a:ln w="12700">
            <a:solidFill>
              <a:srgbClr val="7DD3FC"/>
            </a:solidFill>
            <a:prstDash val="solid"/>
          </a:ln>
        </p:spPr>
      </p:sp>
      <p:sp>
        <p:nvSpPr>
          <p:cNvPr id="16" name="Text 13"/>
          <p:cNvSpPr/>
          <p:nvPr/>
        </p:nvSpPr>
        <p:spPr>
          <a:xfrm>
            <a:off x="6537960" y="2212848"/>
            <a:ext cx="1874520" cy="256032"/>
          </a:xfrm>
          <a:prstGeom prst="rect">
            <a:avLst/>
          </a:prstGeom>
          <a:noFill/>
          <a:ln/>
        </p:spPr>
        <p:txBody>
          <a:bodyPr wrap="square" rtlCol="0" anchor="ctr"/>
          <a:lstStyle/>
          <a:p>
            <a:pPr indent="0" marL="0">
              <a:buNone/>
            </a:pPr>
            <a:r>
              <a:rPr lang="en-US" sz="1000" b="1" dirty="0">
                <a:solidFill>
                  <a:srgbClr val="64748B"/>
                </a:solidFill>
                <a:latin typeface="Plus Jakarta Sans" pitchFamily="34" charset="0"/>
                <a:ea typeface="Plus Jakarta Sans" pitchFamily="34" charset="-122"/>
                <a:cs typeface="Plus Jakarta Sans" pitchFamily="34" charset="-120"/>
              </a:rPr>
              <a:t>BEFORE</a:t>
            </a:r>
            <a:endParaRPr lang="en-US" sz="1000" dirty="0"/>
          </a:p>
        </p:txBody>
      </p:sp>
      <p:sp>
        <p:nvSpPr>
          <p:cNvPr id="17" name="Text 14">
            <a:hlinkClick r:id="rId4" tooltip=""/>
          </p:cNvPr>
          <p:cNvSpPr/>
          <p:nvPr/>
        </p:nvSpPr>
        <p:spPr>
          <a:xfrm>
            <a:off x="6537960" y="2450592"/>
            <a:ext cx="1874520" cy="292608"/>
          </a:xfrm>
          <a:prstGeom prst="rect">
            <a:avLst/>
          </a:prstGeom>
          <a:noFill/>
          <a:ln/>
        </p:spPr>
        <p:txBody>
          <a:bodyPr wrap="square" rtlCol="0" anchor="ctr"/>
          <a:lstStyle/>
          <a:p>
            <a:pPr indent="0" marL="0">
              <a:buNone/>
            </a:pPr>
            <a:r>
              <a:rPr lang="en-US" sz="1200" b="1" u="sng" dirty="0">
                <a:solidFill>
                  <a:srgbClr val="0EA5E9"/>
                </a:solidFill>
                <a:latin typeface="Plus Jakarta Sans" pitchFamily="34" charset="0"/>
                <a:ea typeface="Plus Jakarta Sans" pitchFamily="34" charset="-122"/>
                <a:cs typeface="Plus Jakarta Sans" pitchFamily="34" charset="-120"/>
                <a:hlinkClick r:id="rId4" invalidUrl="" action="" tgtFrame="" tooltip="" history="1" highlightClick="0" endSnd="0">
                  <a:extLst>
                    <a:ext uri="{A12FA001-AC4F-418D-AE19-62706E023703}">
                      <ahyp:hlinkClr xmlns:ahyp="http://schemas.microsoft.com/office/drawing/2018/hyperlinkcolor" val="tx"/>
                    </a:ext>
                  </a:extLst>
                </a:hlinkClick>
              </a:rPr>
              <a:t>View evidence</a:t>
            </a:r>
            <a:endParaRPr lang="en-US" sz="1200" dirty="0"/>
          </a:p>
        </p:txBody>
      </p:sp>
      <p:sp>
        <p:nvSpPr>
          <p:cNvPr id="18" name="Shape 15"/>
          <p:cNvSpPr/>
          <p:nvPr/>
        </p:nvSpPr>
        <p:spPr>
          <a:xfrm>
            <a:off x="8823960" y="2148840"/>
            <a:ext cx="2148840" cy="640080"/>
          </a:xfrm>
          <a:prstGeom prst="roundRect">
            <a:avLst>
              <a:gd name="adj" fmla="val 14286"/>
            </a:avLst>
          </a:prstGeom>
          <a:solidFill>
            <a:srgbClr val="F0F9FF"/>
          </a:solidFill>
          <a:ln w="12700">
            <a:solidFill>
              <a:srgbClr val="7DD3FC"/>
            </a:solidFill>
            <a:prstDash val="solid"/>
          </a:ln>
        </p:spPr>
      </p:sp>
      <p:sp>
        <p:nvSpPr>
          <p:cNvPr id="19" name="Text 16"/>
          <p:cNvSpPr/>
          <p:nvPr/>
        </p:nvSpPr>
        <p:spPr>
          <a:xfrm>
            <a:off x="8961120" y="2212848"/>
            <a:ext cx="1874520" cy="256032"/>
          </a:xfrm>
          <a:prstGeom prst="rect">
            <a:avLst/>
          </a:prstGeom>
          <a:noFill/>
          <a:ln/>
        </p:spPr>
        <p:txBody>
          <a:bodyPr wrap="square" rtlCol="0" anchor="ctr"/>
          <a:lstStyle/>
          <a:p>
            <a:pPr indent="0" marL="0">
              <a:buNone/>
            </a:pPr>
            <a:r>
              <a:rPr lang="en-US" sz="1000" b="1" dirty="0">
                <a:solidFill>
                  <a:srgbClr val="64748B"/>
                </a:solidFill>
                <a:latin typeface="Plus Jakarta Sans" pitchFamily="34" charset="0"/>
                <a:ea typeface="Plus Jakarta Sans" pitchFamily="34" charset="-122"/>
                <a:cs typeface="Plus Jakarta Sans" pitchFamily="34" charset="-120"/>
              </a:rPr>
              <a:t>AFTER</a:t>
            </a:r>
            <a:endParaRPr lang="en-US" sz="1000" dirty="0"/>
          </a:p>
        </p:txBody>
      </p:sp>
      <p:sp>
        <p:nvSpPr>
          <p:cNvPr id="20" name="Text 17">
            <a:hlinkClick r:id="rId5" tooltip=""/>
          </p:cNvPr>
          <p:cNvSpPr/>
          <p:nvPr/>
        </p:nvSpPr>
        <p:spPr>
          <a:xfrm>
            <a:off x="8961120" y="2450592"/>
            <a:ext cx="1874520" cy="292608"/>
          </a:xfrm>
          <a:prstGeom prst="rect">
            <a:avLst/>
          </a:prstGeom>
          <a:noFill/>
          <a:ln/>
        </p:spPr>
        <p:txBody>
          <a:bodyPr wrap="square" rtlCol="0" anchor="ctr"/>
          <a:lstStyle/>
          <a:p>
            <a:pPr indent="0" marL="0">
              <a:buNone/>
            </a:pPr>
            <a:r>
              <a:rPr lang="en-US" sz="1200" b="1" u="sng" dirty="0">
                <a:solidFill>
                  <a:srgbClr val="0EA5E9"/>
                </a:solidFill>
                <a:latin typeface="Plus Jakarta Sans" pitchFamily="34" charset="0"/>
                <a:ea typeface="Plus Jakarta Sans" pitchFamily="34" charset="-122"/>
                <a:cs typeface="Plus Jakarta Sans" pitchFamily="34" charset="-120"/>
                <a:hlinkClick r:id="rId5" invalidUrl="" action="" tgtFrame="" tooltip="" history="1" highlightClick="0" endSnd="0">
                  <a:extLst>
                    <a:ext uri="{A12FA001-AC4F-418D-AE19-62706E023703}">
                      <ahyp:hlinkClr xmlns:ahyp="http://schemas.microsoft.com/office/drawing/2018/hyperlinkcolor" val="tx"/>
                    </a:ext>
                  </a:extLst>
                </a:hlinkClick>
              </a:rPr>
              <a:t>View evidence</a:t>
            </a:r>
            <a:endParaRPr lang="en-US" sz="1200" dirty="0"/>
          </a:p>
        </p:txBody>
      </p:sp>
      <p:sp>
        <p:nvSpPr>
          <p:cNvPr id="21" name="Shape 18"/>
          <p:cNvSpPr/>
          <p:nvPr/>
        </p:nvSpPr>
        <p:spPr>
          <a:xfrm>
            <a:off x="731520" y="3337560"/>
            <a:ext cx="10515600" cy="2377440"/>
          </a:xfrm>
          <a:prstGeom prst="rect">
            <a:avLst>
              <a:gd name="adj" fmla="val 3846"/>
            </a:avLst>
          </a:prstGeom>
          <a:solidFill>
            <a:srgbClr val="F8FAFC"/>
          </a:solidFill>
          <a:ln w="12700">
            <a:solidFill>
              <a:srgbClr val="E2E8F0"/>
            </a:solidFill>
            <a:prstDash val="solid"/>
          </a:ln>
        </p:spPr>
      </p:sp>
      <p:sp>
        <p:nvSpPr>
          <p:cNvPr id="22" name="Text 19"/>
          <p:cNvSpPr/>
          <p:nvPr/>
        </p:nvSpPr>
        <p:spPr>
          <a:xfrm>
            <a:off x="1005840" y="3520440"/>
            <a:ext cx="4572000" cy="274320"/>
          </a:xfrm>
          <a:prstGeom prst="rect">
            <a:avLst/>
          </a:prstGeom>
          <a:noFill/>
          <a:ln/>
        </p:spPr>
        <p:txBody>
          <a:bodyPr wrap="square" rtlCol="0" anchor="ctr"/>
          <a:lstStyle/>
          <a:p>
            <a:pPr indent="0" marL="0">
              <a:buNone/>
            </a:pPr>
            <a:r>
              <a:rPr lang="en-US" sz="1050" b="1" dirty="0">
                <a:solidFill>
                  <a:srgbClr val="64748B"/>
                </a:solidFill>
                <a:latin typeface="Plus Jakarta Sans" pitchFamily="34" charset="0"/>
                <a:ea typeface="Plus Jakarta Sans" pitchFamily="34" charset="-122"/>
                <a:cs typeface="Plus Jakarta Sans" pitchFamily="34" charset="-120"/>
              </a:rPr>
              <a:t>FINDINGS</a:t>
            </a:r>
            <a:endParaRPr lang="en-US" sz="1050" dirty="0"/>
          </a:p>
        </p:txBody>
      </p:sp>
      <p:sp>
        <p:nvSpPr>
          <p:cNvPr id="23" name="Text 20"/>
          <p:cNvSpPr/>
          <p:nvPr/>
        </p:nvSpPr>
        <p:spPr>
          <a:xfrm>
            <a:off x="1005840" y="3840480"/>
            <a:ext cx="182880" cy="365760"/>
          </a:xfrm>
          <a:prstGeom prst="rect">
            <a:avLst/>
          </a:prstGeom>
          <a:noFill/>
          <a:ln/>
        </p:spPr>
        <p:txBody>
          <a:bodyPr wrap="square" rtlCol="0" anchor="ctr"/>
          <a:lstStyle/>
          <a:p>
            <a:pPr indent="0" marL="0">
              <a:buNone/>
            </a:pPr>
            <a:r>
              <a:rPr lang="en-US" sz="1300" b="1" dirty="0">
                <a:solidFill>
                  <a:srgbClr val="0EA5E9"/>
                </a:solidFill>
                <a:latin typeface="Plus Jakarta Sans" pitchFamily="34" charset="0"/>
                <a:ea typeface="Plus Jakarta Sans" pitchFamily="34" charset="-122"/>
                <a:cs typeface="Plus Jakarta Sans" pitchFamily="34" charset="-120"/>
              </a:rPr>
              <a:t>•</a:t>
            </a:r>
            <a:endParaRPr lang="en-US" sz="1300" dirty="0"/>
          </a:p>
        </p:txBody>
      </p:sp>
      <p:sp>
        <p:nvSpPr>
          <p:cNvPr id="24" name="Text 21"/>
          <p:cNvSpPr/>
          <p:nvPr/>
        </p:nvSpPr>
        <p:spPr>
          <a:xfrm>
            <a:off x="1234440" y="3822192"/>
            <a:ext cx="9418320" cy="365760"/>
          </a:xfrm>
          <a:prstGeom prst="rect">
            <a:avLst/>
          </a:prstGeom>
          <a:noFill/>
          <a:ln/>
        </p:spPr>
        <p:txBody>
          <a:bodyPr wrap="square" rtlCol="0" anchor="ctr"/>
          <a:lstStyle/>
          <a:p>
            <a:pPr indent="0" marL="0">
              <a:buNone/>
            </a:pPr>
            <a:r>
              <a:rPr lang="en-US" sz="1150" dirty="0">
                <a:solidFill>
                  <a:srgbClr val="0F172A"/>
                </a:solidFill>
                <a:latin typeface="Plus Jakarta Sans" pitchFamily="34" charset="0"/>
                <a:ea typeface="Plus Jakarta Sans" pitchFamily="34" charset="-122"/>
                <a:cs typeface="Plus Jakarta Sans" pitchFamily="34" charset="-120"/>
              </a:rPr>
              <a:t>Reviewed the build cache status for both App and Dashboard environments.</a:t>
            </a:r>
            <a:endParaRPr lang="en-US" sz="1150" dirty="0"/>
          </a:p>
        </p:txBody>
      </p:sp>
      <p:sp>
        <p:nvSpPr>
          <p:cNvPr id="25" name="Text 22"/>
          <p:cNvSpPr/>
          <p:nvPr/>
        </p:nvSpPr>
        <p:spPr>
          <a:xfrm>
            <a:off x="1005840" y="4224528"/>
            <a:ext cx="182880" cy="365760"/>
          </a:xfrm>
          <a:prstGeom prst="rect">
            <a:avLst/>
          </a:prstGeom>
          <a:noFill/>
          <a:ln/>
        </p:spPr>
        <p:txBody>
          <a:bodyPr wrap="square" rtlCol="0" anchor="ctr"/>
          <a:lstStyle/>
          <a:p>
            <a:pPr indent="0" marL="0">
              <a:buNone/>
            </a:pPr>
            <a:r>
              <a:rPr lang="en-US" sz="1300" b="1" dirty="0">
                <a:solidFill>
                  <a:srgbClr val="0EA5E9"/>
                </a:solidFill>
                <a:latin typeface="Plus Jakarta Sans" pitchFamily="34" charset="0"/>
                <a:ea typeface="Plus Jakarta Sans" pitchFamily="34" charset="-122"/>
                <a:cs typeface="Plus Jakarta Sans" pitchFamily="34" charset="-120"/>
              </a:rPr>
              <a:t>•</a:t>
            </a:r>
            <a:endParaRPr lang="en-US" sz="1300" dirty="0"/>
          </a:p>
        </p:txBody>
      </p:sp>
      <p:sp>
        <p:nvSpPr>
          <p:cNvPr id="26" name="Text 23"/>
          <p:cNvSpPr/>
          <p:nvPr/>
        </p:nvSpPr>
        <p:spPr>
          <a:xfrm>
            <a:off x="1234440" y="4206240"/>
            <a:ext cx="9418320" cy="365760"/>
          </a:xfrm>
          <a:prstGeom prst="rect">
            <a:avLst/>
          </a:prstGeom>
          <a:noFill/>
          <a:ln/>
        </p:spPr>
        <p:txBody>
          <a:bodyPr wrap="square" rtlCol="0" anchor="ctr"/>
          <a:lstStyle/>
          <a:p>
            <a:pPr indent="0" marL="0">
              <a:buNone/>
            </a:pPr>
            <a:r>
              <a:rPr lang="en-US" sz="1150" dirty="0">
                <a:solidFill>
                  <a:srgbClr val="0F172A"/>
                </a:solidFill>
                <a:latin typeface="Plus Jakarta Sans" pitchFamily="34" charset="0"/>
                <a:ea typeface="Plus Jakarta Sans" pitchFamily="34" charset="-122"/>
                <a:cs typeface="Plus Jakarta Sans" pitchFamily="34" charset="-120"/>
              </a:rPr>
              <a:t>Performed cache maintenance and reviewed the results using the before-and-after screenshots.</a:t>
            </a:r>
            <a:endParaRPr lang="en-US" sz="1150" dirty="0"/>
          </a:p>
        </p:txBody>
      </p:sp>
      <p:sp>
        <p:nvSpPr>
          <p:cNvPr id="27" name="Text 24"/>
          <p:cNvSpPr/>
          <p:nvPr/>
        </p:nvSpPr>
        <p:spPr>
          <a:xfrm>
            <a:off x="1005840" y="4608576"/>
            <a:ext cx="182880" cy="365760"/>
          </a:xfrm>
          <a:prstGeom prst="rect">
            <a:avLst/>
          </a:prstGeom>
          <a:noFill/>
          <a:ln/>
        </p:spPr>
        <p:txBody>
          <a:bodyPr wrap="square" rtlCol="0" anchor="ctr"/>
          <a:lstStyle/>
          <a:p>
            <a:pPr indent="0" marL="0">
              <a:buNone/>
            </a:pPr>
            <a:r>
              <a:rPr lang="en-US" sz="1300" b="1" dirty="0">
                <a:solidFill>
                  <a:srgbClr val="0EA5E9"/>
                </a:solidFill>
                <a:latin typeface="Plus Jakarta Sans" pitchFamily="34" charset="0"/>
                <a:ea typeface="Plus Jakarta Sans" pitchFamily="34" charset="-122"/>
                <a:cs typeface="Plus Jakarta Sans" pitchFamily="34" charset="-120"/>
              </a:rPr>
              <a:t>•</a:t>
            </a:r>
            <a:endParaRPr lang="en-US" sz="1300" dirty="0"/>
          </a:p>
        </p:txBody>
      </p:sp>
      <p:sp>
        <p:nvSpPr>
          <p:cNvPr id="28" name="Text 25"/>
          <p:cNvSpPr/>
          <p:nvPr/>
        </p:nvSpPr>
        <p:spPr>
          <a:xfrm>
            <a:off x="1234440" y="4590288"/>
            <a:ext cx="9418320" cy="365760"/>
          </a:xfrm>
          <a:prstGeom prst="rect">
            <a:avLst/>
          </a:prstGeom>
          <a:noFill/>
          <a:ln/>
        </p:spPr>
        <p:txBody>
          <a:bodyPr wrap="square" rtlCol="0" anchor="ctr"/>
          <a:lstStyle/>
          <a:p>
            <a:pPr indent="0" marL="0">
              <a:buNone/>
            </a:pPr>
            <a:r>
              <a:rPr lang="en-US" sz="1150" dirty="0">
                <a:solidFill>
                  <a:srgbClr val="0F172A"/>
                </a:solidFill>
                <a:latin typeface="Plus Jakarta Sans" pitchFamily="34" charset="0"/>
                <a:ea typeface="Plus Jakarta Sans" pitchFamily="34" charset="-122"/>
                <a:cs typeface="Plus Jakarta Sans" pitchFamily="34" charset="-120"/>
              </a:rPr>
              <a:t>No cache-related issues were reported during the current review.</a:t>
            </a:r>
            <a:endParaRPr lang="en-US" sz="1150" dirty="0"/>
          </a:p>
        </p:txBody>
      </p:sp>
      <p:sp>
        <p:nvSpPr>
          <p:cNvPr id="29" name="Text 26"/>
          <p:cNvSpPr/>
          <p:nvPr/>
        </p:nvSpPr>
        <p:spPr>
          <a:xfrm>
            <a:off x="1005840" y="4992624"/>
            <a:ext cx="182880" cy="365760"/>
          </a:xfrm>
          <a:prstGeom prst="rect">
            <a:avLst/>
          </a:prstGeom>
          <a:noFill/>
          <a:ln/>
        </p:spPr>
        <p:txBody>
          <a:bodyPr wrap="square" rtlCol="0" anchor="ctr"/>
          <a:lstStyle/>
          <a:p>
            <a:pPr indent="0" marL="0">
              <a:buNone/>
            </a:pPr>
            <a:r>
              <a:rPr lang="en-US" sz="1300" b="1" dirty="0">
                <a:solidFill>
                  <a:srgbClr val="0EA5E9"/>
                </a:solidFill>
                <a:latin typeface="Plus Jakarta Sans" pitchFamily="34" charset="0"/>
                <a:ea typeface="Plus Jakarta Sans" pitchFamily="34" charset="-122"/>
                <a:cs typeface="Plus Jakarta Sans" pitchFamily="34" charset="-120"/>
              </a:rPr>
              <a:t>•</a:t>
            </a:r>
            <a:endParaRPr lang="en-US" sz="1300" dirty="0"/>
          </a:p>
        </p:txBody>
      </p:sp>
      <p:sp>
        <p:nvSpPr>
          <p:cNvPr id="30" name="Text 27"/>
          <p:cNvSpPr/>
          <p:nvPr/>
        </p:nvSpPr>
        <p:spPr>
          <a:xfrm>
            <a:off x="1234440" y="4974336"/>
            <a:ext cx="9418320" cy="365760"/>
          </a:xfrm>
          <a:prstGeom prst="rect">
            <a:avLst/>
          </a:prstGeom>
          <a:noFill/>
          <a:ln/>
        </p:spPr>
        <p:txBody>
          <a:bodyPr wrap="square" rtlCol="0" anchor="ctr"/>
          <a:lstStyle/>
          <a:p>
            <a:pPr indent="0" marL="0">
              <a:buNone/>
            </a:pPr>
            <a:r>
              <a:rPr lang="en-US" sz="1150" dirty="0">
                <a:solidFill>
                  <a:srgbClr val="0F172A"/>
                </a:solidFill>
                <a:latin typeface="Plus Jakarta Sans" pitchFamily="34" charset="0"/>
                <a:ea typeface="Plus Jakarta Sans" pitchFamily="34" charset="-122"/>
                <a:cs typeface="Plus Jakarta Sans" pitchFamily="34" charset="-120"/>
              </a:rPr>
              <a:t>Application behavior after cache maintenance should continue to be monitored during subsequent deployments.</a:t>
            </a:r>
            <a:endParaRPr lang="en-US" sz="1150" dirty="0"/>
          </a:p>
        </p:txBody>
      </p:sp>
      <p:sp>
        <p:nvSpPr>
          <p:cNvPr id="31" name="Text 28"/>
          <p:cNvSpPr/>
          <p:nvPr/>
        </p:nvSpPr>
        <p:spPr>
          <a:xfrm>
            <a:off x="1005840" y="5349240"/>
            <a:ext cx="9692640" cy="320040"/>
          </a:xfrm>
          <a:prstGeom prst="rect">
            <a:avLst/>
          </a:prstGeom>
          <a:noFill/>
          <a:ln/>
        </p:spPr>
        <p:txBody>
          <a:bodyPr wrap="square" rtlCol="0" anchor="ctr"/>
          <a:lstStyle/>
          <a:p>
            <a:pPr indent="0" marL="0">
              <a:buNone/>
            </a:pPr>
            <a:r>
              <a:rPr lang="en-US" sz="1100" b="1" dirty="0">
                <a:solidFill>
                  <a:srgbClr val="10B981"/>
                </a:solidFill>
                <a:latin typeface="Plus Jakarta Sans" pitchFamily="34" charset="0"/>
                <a:ea typeface="Plus Jakarta Sans" pitchFamily="34" charset="-122"/>
                <a:cs typeface="Plus Jakarta Sans" pitchFamily="34" charset="-120"/>
              </a:rPr>
              <a:t>✔  </a:t>
            </a:r>
            <a:pPr indent="0" marL="0">
              <a:buNone/>
            </a:pPr>
            <a:r>
              <a:rPr lang="en-US" sz="1100" b="1" dirty="0">
                <a:solidFill>
                  <a:srgbClr val="166534"/>
                </a:solidFill>
                <a:latin typeface="Plus Jakarta Sans" pitchFamily="34" charset="0"/>
                <a:ea typeface="Plus Jakarta Sans" pitchFamily="34" charset="-122"/>
                <a:cs typeface="Plus Jakarta Sans" pitchFamily="34" charset="-120"/>
              </a:rPr>
              <a:t>Build cache maintenance was performed for both environments, with no issues reported during verification.</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pic>
        <p:nvPicPr>
          <p:cNvPr id="2" name="Image 0" descr="white-logo.png">    </p:cNvPr>
          <p:cNvPicPr>
            <a:picLocks noChangeAspect="1"/>
          </p:cNvPicPr>
          <p:nvPr/>
        </p:nvPicPr>
        <p:blipFill>
          <a:blip r:embed="rId1"/>
          <a:stretch>
            <a:fillRect/>
          </a:stretch>
        </p:blipFill>
        <p:spPr>
          <a:xfrm>
            <a:off x="9601200" y="365760"/>
            <a:ext cx="2011680" cy="1097280"/>
          </a:xfrm>
          <a:prstGeom prst="rect">
            <a:avLst/>
          </a:prstGeom>
        </p:spPr>
      </p:pic>
      <p:sp>
        <p:nvSpPr>
          <p:cNvPr id="3" name="Text 0"/>
          <p:cNvSpPr/>
          <p:nvPr/>
        </p:nvSpPr>
        <p:spPr>
          <a:xfrm>
            <a:off x="731520" y="365760"/>
            <a:ext cx="8229600" cy="365760"/>
          </a:xfrm>
          <a:prstGeom prst="rect">
            <a:avLst/>
          </a:prstGeom>
          <a:noFill/>
          <a:ln/>
        </p:spPr>
        <p:txBody>
          <a:bodyPr wrap="square" rtlCol="0" anchor="ctr"/>
          <a:lstStyle/>
          <a:p>
            <a:pPr indent="0" marL="0">
              <a:buNone/>
            </a:pPr>
            <a:r>
              <a:rPr lang="en-US" sz="1300" b="1" dirty="0">
                <a:solidFill>
                  <a:srgbClr val="0EA5E9"/>
                </a:solidFill>
                <a:latin typeface="Outfit" pitchFamily="34" charset="0"/>
                <a:ea typeface="Outfit" pitchFamily="34" charset="-122"/>
                <a:cs typeface="Outfit" pitchFamily="34" charset="-120"/>
              </a:rPr>
              <a:t>Monthly App &amp; Server Monitoring</a:t>
            </a:r>
            <a:endParaRPr lang="en-US" sz="1300" dirty="0"/>
          </a:p>
        </p:txBody>
      </p:sp>
      <p:sp>
        <p:nvSpPr>
          <p:cNvPr id="4" name="Text 1"/>
          <p:cNvSpPr/>
          <p:nvPr/>
        </p:nvSpPr>
        <p:spPr>
          <a:xfrm>
            <a:off x="731520" y="731520"/>
            <a:ext cx="9601200" cy="548640"/>
          </a:xfrm>
          <a:prstGeom prst="rect">
            <a:avLst/>
          </a:prstGeom>
          <a:noFill/>
          <a:ln/>
        </p:spPr>
        <p:txBody>
          <a:bodyPr wrap="square" rtlCol="0" anchor="ctr"/>
          <a:lstStyle/>
          <a:p>
            <a:pPr indent="0" marL="0">
              <a:buNone/>
            </a:pPr>
            <a:r>
              <a:rPr lang="en-US" sz="2600" b="1" dirty="0">
                <a:solidFill>
                  <a:srgbClr val="0F172A"/>
                </a:solidFill>
                <a:latin typeface="Outfit" pitchFamily="34" charset="0"/>
                <a:ea typeface="Outfit" pitchFamily="34" charset="-122"/>
                <a:cs typeface="Outfit" pitchFamily="34" charset="-120"/>
              </a:rPr>
              <a:t>Last 30 Days Usage</a:t>
            </a:r>
            <a:endParaRPr lang="en-US" sz="2600" dirty="0"/>
          </a:p>
        </p:txBody>
      </p:sp>
      <p:sp>
        <p:nvSpPr>
          <p:cNvPr id="5" name="Shape 2"/>
          <p:cNvSpPr/>
          <p:nvPr/>
        </p:nvSpPr>
        <p:spPr>
          <a:xfrm>
            <a:off x="731520" y="1554480"/>
            <a:ext cx="5120640" cy="914400"/>
          </a:xfrm>
          <a:prstGeom prst="rect">
            <a:avLst>
              <a:gd name="adj" fmla="val 10000"/>
            </a:avLst>
          </a:prstGeom>
          <a:solidFill>
            <a:srgbClr val="F8FAFC"/>
          </a:solidFill>
          <a:ln w="12700">
            <a:solidFill>
              <a:srgbClr val="E2E8F0"/>
            </a:solidFill>
            <a:prstDash val="solid"/>
          </a:ln>
        </p:spPr>
      </p:sp>
      <p:sp>
        <p:nvSpPr>
          <p:cNvPr id="6" name="Text 3"/>
          <p:cNvSpPr/>
          <p:nvPr/>
        </p:nvSpPr>
        <p:spPr>
          <a:xfrm>
            <a:off x="1005840" y="1691640"/>
            <a:ext cx="4572000" cy="274320"/>
          </a:xfrm>
          <a:prstGeom prst="rect">
            <a:avLst/>
          </a:prstGeom>
          <a:noFill/>
          <a:ln/>
        </p:spPr>
        <p:txBody>
          <a:bodyPr wrap="square" rtlCol="0" anchor="ctr"/>
          <a:lstStyle/>
          <a:p>
            <a:pPr indent="0" marL="0">
              <a:buNone/>
            </a:pPr>
            <a:r>
              <a:rPr lang="en-US" sz="1050" b="1" dirty="0">
                <a:solidFill>
                  <a:srgbClr val="64748B"/>
                </a:solidFill>
                <a:latin typeface="Plus Jakarta Sans" pitchFamily="34" charset="0"/>
                <a:ea typeface="Plus Jakarta Sans" pitchFamily="34" charset="-122"/>
                <a:cs typeface="Plus Jakarta Sans" pitchFamily="34" charset="-120"/>
              </a:rPr>
              <a:t>APP SERVER</a:t>
            </a:r>
            <a:endParaRPr lang="en-US" sz="1050" dirty="0"/>
          </a:p>
        </p:txBody>
      </p:sp>
      <p:sp>
        <p:nvSpPr>
          <p:cNvPr id="7" name="Text 4">
            <a:hlinkClick r:id="rId2" tooltip=""/>
          </p:cNvPr>
          <p:cNvSpPr/>
          <p:nvPr/>
        </p:nvSpPr>
        <p:spPr>
          <a:xfrm>
            <a:off x="1005840" y="1965960"/>
            <a:ext cx="4572000" cy="365760"/>
          </a:xfrm>
          <a:prstGeom prst="rect">
            <a:avLst/>
          </a:prstGeom>
          <a:noFill/>
          <a:ln/>
        </p:spPr>
        <p:txBody>
          <a:bodyPr wrap="square" rtlCol="0" anchor="ctr"/>
          <a:lstStyle/>
          <a:p>
            <a:pPr indent="0" marL="0">
              <a:buNone/>
            </a:pPr>
            <a:r>
              <a:rPr lang="en-US" sz="1300" b="1" u="sng" dirty="0">
                <a:solidFill>
                  <a:srgbClr val="0EA5E9"/>
                </a:solidFill>
                <a:latin typeface="Plus Jakarta Sans" pitchFamily="34" charset="0"/>
                <a:ea typeface="Plus Jakarta Sans" pitchFamily="34" charset="-122"/>
                <a:cs typeface="Plus Jakarta Sans" pitchFamily="34" charset="-120"/>
                <a:hlinkClick r:id="rId2" invalidUrl="" action="" tgtFrame="" tooltip="" history="1" highlightClick="0" endSnd="0">
                  <a:extLst>
                    <a:ext uri="{A12FA001-AC4F-418D-AE19-62706E023703}">
                      <ahyp:hlinkClr xmlns:ahyp="http://schemas.microsoft.com/office/drawing/2018/hyperlinkcolor" val="tx"/>
                    </a:ext>
                  </a:extLst>
                </a:hlinkClick>
              </a:rPr>
              <a:t>View usage evidence →</a:t>
            </a:r>
            <a:endParaRPr lang="en-US" sz="1300" dirty="0"/>
          </a:p>
        </p:txBody>
      </p:sp>
      <p:sp>
        <p:nvSpPr>
          <p:cNvPr id="8" name="Shape 5"/>
          <p:cNvSpPr/>
          <p:nvPr/>
        </p:nvSpPr>
        <p:spPr>
          <a:xfrm>
            <a:off x="6126480" y="1554480"/>
            <a:ext cx="5120640" cy="914400"/>
          </a:xfrm>
          <a:prstGeom prst="rect">
            <a:avLst>
              <a:gd name="adj" fmla="val 10000"/>
            </a:avLst>
          </a:prstGeom>
          <a:solidFill>
            <a:srgbClr val="F8FAFC"/>
          </a:solidFill>
          <a:ln w="12700">
            <a:solidFill>
              <a:srgbClr val="E2E8F0"/>
            </a:solidFill>
            <a:prstDash val="solid"/>
          </a:ln>
        </p:spPr>
      </p:sp>
      <p:sp>
        <p:nvSpPr>
          <p:cNvPr id="9" name="Text 6"/>
          <p:cNvSpPr/>
          <p:nvPr/>
        </p:nvSpPr>
        <p:spPr>
          <a:xfrm>
            <a:off x="6400800" y="1691640"/>
            <a:ext cx="4572000" cy="274320"/>
          </a:xfrm>
          <a:prstGeom prst="rect">
            <a:avLst/>
          </a:prstGeom>
          <a:noFill/>
          <a:ln/>
        </p:spPr>
        <p:txBody>
          <a:bodyPr wrap="square" rtlCol="0" anchor="ctr"/>
          <a:lstStyle/>
          <a:p>
            <a:pPr indent="0" marL="0">
              <a:buNone/>
            </a:pPr>
            <a:r>
              <a:rPr lang="en-US" sz="1050" b="1" dirty="0">
                <a:solidFill>
                  <a:srgbClr val="64748B"/>
                </a:solidFill>
                <a:latin typeface="Plus Jakarta Sans" pitchFamily="34" charset="0"/>
                <a:ea typeface="Plus Jakarta Sans" pitchFamily="34" charset="-122"/>
                <a:cs typeface="Plus Jakarta Sans" pitchFamily="34" charset="-120"/>
              </a:rPr>
              <a:t>DASHBOARD SERVER</a:t>
            </a:r>
            <a:endParaRPr lang="en-US" sz="1050" dirty="0"/>
          </a:p>
        </p:txBody>
      </p:sp>
      <p:sp>
        <p:nvSpPr>
          <p:cNvPr id="10" name="Text 7">
            <a:hlinkClick r:id="rId3" tooltip=""/>
          </p:cNvPr>
          <p:cNvSpPr/>
          <p:nvPr/>
        </p:nvSpPr>
        <p:spPr>
          <a:xfrm>
            <a:off x="6400800" y="1965960"/>
            <a:ext cx="4572000" cy="365760"/>
          </a:xfrm>
          <a:prstGeom prst="rect">
            <a:avLst/>
          </a:prstGeom>
          <a:noFill/>
          <a:ln/>
        </p:spPr>
        <p:txBody>
          <a:bodyPr wrap="square" rtlCol="0" anchor="ctr"/>
          <a:lstStyle/>
          <a:p>
            <a:pPr indent="0" marL="0">
              <a:buNone/>
            </a:pPr>
            <a:r>
              <a:rPr lang="en-US" sz="1300" b="1" u="sng" dirty="0">
                <a:solidFill>
                  <a:srgbClr val="0EA5E9"/>
                </a:solidFill>
                <a:latin typeface="Plus Jakarta Sans" pitchFamily="34" charset="0"/>
                <a:ea typeface="Plus Jakarta Sans" pitchFamily="34" charset="-122"/>
                <a:cs typeface="Plus Jakarta Sans" pitchFamily="34" charset="-120"/>
                <a:hlinkClick r:id="rId3" invalidUrl="" action="" tgtFrame="" tooltip="" history="1" highlightClick="0" endSnd="0">
                  <a:extLst>
                    <a:ext uri="{A12FA001-AC4F-418D-AE19-62706E023703}">
                      <ahyp:hlinkClr xmlns:ahyp="http://schemas.microsoft.com/office/drawing/2018/hyperlinkcolor" val="tx"/>
                    </a:ext>
                  </a:extLst>
                </a:hlinkClick>
              </a:rPr>
              <a:t>View usage evidence →</a:t>
            </a:r>
            <a:endParaRPr lang="en-US" sz="1300" dirty="0"/>
          </a:p>
        </p:txBody>
      </p:sp>
      <p:sp>
        <p:nvSpPr>
          <p:cNvPr id="11" name="Shape 8"/>
          <p:cNvSpPr/>
          <p:nvPr/>
        </p:nvSpPr>
        <p:spPr>
          <a:xfrm>
            <a:off x="731520" y="2651760"/>
            <a:ext cx="10515600" cy="3108960"/>
          </a:xfrm>
          <a:prstGeom prst="rect">
            <a:avLst>
              <a:gd name="adj" fmla="val 2941"/>
            </a:avLst>
          </a:prstGeom>
          <a:solidFill>
            <a:srgbClr val="F8FAFC"/>
          </a:solidFill>
          <a:ln w="12700">
            <a:solidFill>
              <a:srgbClr val="E2E8F0"/>
            </a:solidFill>
            <a:prstDash val="solid"/>
          </a:ln>
        </p:spPr>
      </p:sp>
      <p:sp>
        <p:nvSpPr>
          <p:cNvPr id="12" name="Text 9"/>
          <p:cNvSpPr/>
          <p:nvPr/>
        </p:nvSpPr>
        <p:spPr>
          <a:xfrm>
            <a:off x="1005840" y="2834640"/>
            <a:ext cx="4572000" cy="274320"/>
          </a:xfrm>
          <a:prstGeom prst="rect">
            <a:avLst/>
          </a:prstGeom>
          <a:noFill/>
          <a:ln/>
        </p:spPr>
        <p:txBody>
          <a:bodyPr wrap="square" rtlCol="0" anchor="ctr"/>
          <a:lstStyle/>
          <a:p>
            <a:pPr indent="0" marL="0">
              <a:buNone/>
            </a:pPr>
            <a:r>
              <a:rPr lang="en-US" sz="1050" b="1" dirty="0">
                <a:solidFill>
                  <a:srgbClr val="64748B"/>
                </a:solidFill>
                <a:latin typeface="Plus Jakarta Sans" pitchFamily="34" charset="0"/>
                <a:ea typeface="Plus Jakarta Sans" pitchFamily="34" charset="-122"/>
                <a:cs typeface="Plus Jakarta Sans" pitchFamily="34" charset="-120"/>
              </a:rPr>
              <a:t>FINDINGS</a:t>
            </a:r>
            <a:endParaRPr lang="en-US" sz="1050" dirty="0"/>
          </a:p>
        </p:txBody>
      </p:sp>
      <p:sp>
        <p:nvSpPr>
          <p:cNvPr id="13" name="Text 10"/>
          <p:cNvSpPr/>
          <p:nvPr/>
        </p:nvSpPr>
        <p:spPr>
          <a:xfrm>
            <a:off x="1005840" y="3154680"/>
            <a:ext cx="182880" cy="365760"/>
          </a:xfrm>
          <a:prstGeom prst="rect">
            <a:avLst/>
          </a:prstGeom>
          <a:noFill/>
          <a:ln/>
        </p:spPr>
        <p:txBody>
          <a:bodyPr wrap="square" rtlCol="0" anchor="ctr"/>
          <a:lstStyle/>
          <a:p>
            <a:pPr indent="0" marL="0">
              <a:buNone/>
            </a:pPr>
            <a:r>
              <a:rPr lang="en-US" sz="1300" b="1" dirty="0">
                <a:solidFill>
                  <a:srgbClr val="0EA5E9"/>
                </a:solidFill>
                <a:latin typeface="Plus Jakarta Sans" pitchFamily="34" charset="0"/>
                <a:ea typeface="Plus Jakarta Sans" pitchFamily="34" charset="-122"/>
                <a:cs typeface="Plus Jakarta Sans" pitchFamily="34" charset="-120"/>
              </a:rPr>
              <a:t>•</a:t>
            </a:r>
            <a:endParaRPr lang="en-US" sz="1300" dirty="0"/>
          </a:p>
        </p:txBody>
      </p:sp>
      <p:sp>
        <p:nvSpPr>
          <p:cNvPr id="14" name="Text 11"/>
          <p:cNvSpPr/>
          <p:nvPr/>
        </p:nvSpPr>
        <p:spPr>
          <a:xfrm>
            <a:off x="1234440" y="3136392"/>
            <a:ext cx="9418320" cy="365760"/>
          </a:xfrm>
          <a:prstGeom prst="rect">
            <a:avLst/>
          </a:prstGeom>
          <a:noFill/>
          <a:ln/>
        </p:spPr>
        <p:txBody>
          <a:bodyPr wrap="square" rtlCol="0" anchor="ctr"/>
          <a:lstStyle/>
          <a:p>
            <a:pPr indent="0" marL="0">
              <a:buNone/>
            </a:pPr>
            <a:r>
              <a:rPr lang="en-US" sz="1150" dirty="0">
                <a:solidFill>
                  <a:srgbClr val="0F172A"/>
                </a:solidFill>
                <a:latin typeface="Plus Jakarta Sans" pitchFamily="34" charset="0"/>
                <a:ea typeface="Plus Jakarta Sans" pitchFamily="34" charset="-122"/>
                <a:cs typeface="Plus Jakarta Sans" pitchFamily="34" charset="-120"/>
              </a:rPr>
              <a:t>Reviewed the provided App and Dashboard performance screenshots covering the past 30 days.</a:t>
            </a:r>
            <a:endParaRPr lang="en-US" sz="1150" dirty="0"/>
          </a:p>
        </p:txBody>
      </p:sp>
      <p:sp>
        <p:nvSpPr>
          <p:cNvPr id="15" name="Text 12"/>
          <p:cNvSpPr/>
          <p:nvPr/>
        </p:nvSpPr>
        <p:spPr>
          <a:xfrm>
            <a:off x="1005840" y="3538728"/>
            <a:ext cx="182880" cy="365760"/>
          </a:xfrm>
          <a:prstGeom prst="rect">
            <a:avLst/>
          </a:prstGeom>
          <a:noFill/>
          <a:ln/>
        </p:spPr>
        <p:txBody>
          <a:bodyPr wrap="square" rtlCol="0" anchor="ctr"/>
          <a:lstStyle/>
          <a:p>
            <a:pPr indent="0" marL="0">
              <a:buNone/>
            </a:pPr>
            <a:r>
              <a:rPr lang="en-US" sz="1300" b="1" dirty="0">
                <a:solidFill>
                  <a:srgbClr val="0EA5E9"/>
                </a:solidFill>
                <a:latin typeface="Plus Jakarta Sans" pitchFamily="34" charset="0"/>
                <a:ea typeface="Plus Jakarta Sans" pitchFamily="34" charset="-122"/>
                <a:cs typeface="Plus Jakarta Sans" pitchFamily="34" charset="-120"/>
              </a:rPr>
              <a:t>•</a:t>
            </a:r>
            <a:endParaRPr lang="en-US" sz="1300" dirty="0"/>
          </a:p>
        </p:txBody>
      </p:sp>
      <p:sp>
        <p:nvSpPr>
          <p:cNvPr id="16" name="Text 13"/>
          <p:cNvSpPr/>
          <p:nvPr/>
        </p:nvSpPr>
        <p:spPr>
          <a:xfrm>
            <a:off x="1234440" y="3520440"/>
            <a:ext cx="9418320" cy="365760"/>
          </a:xfrm>
          <a:prstGeom prst="rect">
            <a:avLst/>
          </a:prstGeom>
          <a:noFill/>
          <a:ln/>
        </p:spPr>
        <p:txBody>
          <a:bodyPr wrap="square" rtlCol="0" anchor="ctr"/>
          <a:lstStyle/>
          <a:p>
            <a:pPr indent="0" marL="0">
              <a:buNone/>
            </a:pPr>
            <a:r>
              <a:rPr lang="en-US" sz="1150" dirty="0">
                <a:solidFill>
                  <a:srgbClr val="0F172A"/>
                </a:solidFill>
                <a:latin typeface="Plus Jakarta Sans" pitchFamily="34" charset="0"/>
                <a:ea typeface="Plus Jakarta Sans" pitchFamily="34" charset="-122"/>
                <a:cs typeface="Plus Jakarta Sans" pitchFamily="34" charset="-120"/>
              </a:rPr>
              <a:t>The App server recorded a response time of 9 ms.</a:t>
            </a:r>
            <a:endParaRPr lang="en-US" sz="1150" dirty="0"/>
          </a:p>
        </p:txBody>
      </p:sp>
      <p:sp>
        <p:nvSpPr>
          <p:cNvPr id="17" name="Text 14"/>
          <p:cNvSpPr/>
          <p:nvPr/>
        </p:nvSpPr>
        <p:spPr>
          <a:xfrm>
            <a:off x="1005840" y="3922776"/>
            <a:ext cx="182880" cy="365760"/>
          </a:xfrm>
          <a:prstGeom prst="rect">
            <a:avLst/>
          </a:prstGeom>
          <a:noFill/>
          <a:ln/>
        </p:spPr>
        <p:txBody>
          <a:bodyPr wrap="square" rtlCol="0" anchor="ctr"/>
          <a:lstStyle/>
          <a:p>
            <a:pPr indent="0" marL="0">
              <a:buNone/>
            </a:pPr>
            <a:r>
              <a:rPr lang="en-US" sz="1300" b="1" dirty="0">
                <a:solidFill>
                  <a:srgbClr val="0EA5E9"/>
                </a:solidFill>
                <a:latin typeface="Plus Jakarta Sans" pitchFamily="34" charset="0"/>
                <a:ea typeface="Plus Jakarta Sans" pitchFamily="34" charset="-122"/>
                <a:cs typeface="Plus Jakarta Sans" pitchFamily="34" charset="-120"/>
              </a:rPr>
              <a:t>•</a:t>
            </a:r>
            <a:endParaRPr lang="en-US" sz="1300" dirty="0"/>
          </a:p>
        </p:txBody>
      </p:sp>
      <p:sp>
        <p:nvSpPr>
          <p:cNvPr id="18" name="Text 15"/>
          <p:cNvSpPr/>
          <p:nvPr/>
        </p:nvSpPr>
        <p:spPr>
          <a:xfrm>
            <a:off x="1234440" y="3904488"/>
            <a:ext cx="9418320" cy="365760"/>
          </a:xfrm>
          <a:prstGeom prst="rect">
            <a:avLst/>
          </a:prstGeom>
          <a:noFill/>
          <a:ln/>
        </p:spPr>
        <p:txBody>
          <a:bodyPr wrap="square" rtlCol="0" anchor="ctr"/>
          <a:lstStyle/>
          <a:p>
            <a:pPr indent="0" marL="0">
              <a:buNone/>
            </a:pPr>
            <a:r>
              <a:rPr lang="en-US" sz="1150" dirty="0">
                <a:solidFill>
                  <a:srgbClr val="0F172A"/>
                </a:solidFill>
                <a:latin typeface="Plus Jakarta Sans" pitchFamily="34" charset="0"/>
                <a:ea typeface="Plus Jakarta Sans" pitchFamily="34" charset="-122"/>
                <a:cs typeface="Plus Jakarta Sans" pitchFamily="34" charset="-120"/>
              </a:rPr>
              <a:t>The Dashboard server recorded a response time of 1 second.</a:t>
            </a:r>
            <a:endParaRPr lang="en-US" sz="1150" dirty="0"/>
          </a:p>
        </p:txBody>
      </p:sp>
      <p:sp>
        <p:nvSpPr>
          <p:cNvPr id="19" name="Text 16"/>
          <p:cNvSpPr/>
          <p:nvPr/>
        </p:nvSpPr>
        <p:spPr>
          <a:xfrm>
            <a:off x="1005840" y="4306824"/>
            <a:ext cx="182880" cy="365760"/>
          </a:xfrm>
          <a:prstGeom prst="rect">
            <a:avLst/>
          </a:prstGeom>
          <a:noFill/>
          <a:ln/>
        </p:spPr>
        <p:txBody>
          <a:bodyPr wrap="square" rtlCol="0" anchor="ctr"/>
          <a:lstStyle/>
          <a:p>
            <a:pPr indent="0" marL="0">
              <a:buNone/>
            </a:pPr>
            <a:r>
              <a:rPr lang="en-US" sz="1300" b="1" dirty="0">
                <a:solidFill>
                  <a:srgbClr val="0EA5E9"/>
                </a:solidFill>
                <a:latin typeface="Plus Jakarta Sans" pitchFamily="34" charset="0"/>
                <a:ea typeface="Plus Jakarta Sans" pitchFamily="34" charset="-122"/>
                <a:cs typeface="Plus Jakarta Sans" pitchFamily="34" charset="-120"/>
              </a:rPr>
              <a:t>•</a:t>
            </a:r>
            <a:endParaRPr lang="en-US" sz="1300" dirty="0"/>
          </a:p>
        </p:txBody>
      </p:sp>
      <p:sp>
        <p:nvSpPr>
          <p:cNvPr id="20" name="Text 17"/>
          <p:cNvSpPr/>
          <p:nvPr/>
        </p:nvSpPr>
        <p:spPr>
          <a:xfrm>
            <a:off x="1234440" y="4288536"/>
            <a:ext cx="9418320" cy="365760"/>
          </a:xfrm>
          <a:prstGeom prst="rect">
            <a:avLst/>
          </a:prstGeom>
          <a:noFill/>
          <a:ln/>
        </p:spPr>
        <p:txBody>
          <a:bodyPr wrap="square" rtlCol="0" anchor="ctr"/>
          <a:lstStyle/>
          <a:p>
            <a:pPr indent="0" marL="0">
              <a:buNone/>
            </a:pPr>
            <a:r>
              <a:rPr lang="en-US" sz="1150" dirty="0">
                <a:solidFill>
                  <a:srgbClr val="0F172A"/>
                </a:solidFill>
                <a:latin typeface="Plus Jakarta Sans" pitchFamily="34" charset="0"/>
                <a:ea typeface="Plus Jakarta Sans" pitchFamily="34" charset="-122"/>
                <a:cs typeface="Plus Jakarta Sans" pitchFamily="34" charset="-120"/>
              </a:rPr>
              <a:t>Throughput was below 1 RPS for both environments.</a:t>
            </a:r>
            <a:endParaRPr lang="en-US" sz="1150" dirty="0"/>
          </a:p>
        </p:txBody>
      </p:sp>
      <p:sp>
        <p:nvSpPr>
          <p:cNvPr id="21" name="Text 18"/>
          <p:cNvSpPr/>
          <p:nvPr/>
        </p:nvSpPr>
        <p:spPr>
          <a:xfrm>
            <a:off x="1005840" y="4690872"/>
            <a:ext cx="182880" cy="365760"/>
          </a:xfrm>
          <a:prstGeom prst="rect">
            <a:avLst/>
          </a:prstGeom>
          <a:noFill/>
          <a:ln/>
        </p:spPr>
        <p:txBody>
          <a:bodyPr wrap="square" rtlCol="0" anchor="ctr"/>
          <a:lstStyle/>
          <a:p>
            <a:pPr indent="0" marL="0">
              <a:buNone/>
            </a:pPr>
            <a:r>
              <a:rPr lang="en-US" sz="1300" b="1" dirty="0">
                <a:solidFill>
                  <a:srgbClr val="0EA5E9"/>
                </a:solidFill>
                <a:latin typeface="Plus Jakarta Sans" pitchFamily="34" charset="0"/>
                <a:ea typeface="Plus Jakarta Sans" pitchFamily="34" charset="-122"/>
                <a:cs typeface="Plus Jakarta Sans" pitchFamily="34" charset="-120"/>
              </a:rPr>
              <a:t>•</a:t>
            </a:r>
            <a:endParaRPr lang="en-US" sz="1300" dirty="0"/>
          </a:p>
        </p:txBody>
      </p:sp>
      <p:sp>
        <p:nvSpPr>
          <p:cNvPr id="22" name="Text 19"/>
          <p:cNvSpPr/>
          <p:nvPr/>
        </p:nvSpPr>
        <p:spPr>
          <a:xfrm>
            <a:off x="1234440" y="4672584"/>
            <a:ext cx="9418320" cy="365760"/>
          </a:xfrm>
          <a:prstGeom prst="rect">
            <a:avLst/>
          </a:prstGeom>
          <a:noFill/>
          <a:ln/>
        </p:spPr>
        <p:txBody>
          <a:bodyPr wrap="square" rtlCol="0" anchor="ctr"/>
          <a:lstStyle/>
          <a:p>
            <a:pPr indent="0" marL="0">
              <a:buNone/>
            </a:pPr>
            <a:r>
              <a:rPr lang="en-US" sz="1150" dirty="0">
                <a:solidFill>
                  <a:srgbClr val="0F172A"/>
                </a:solidFill>
                <a:latin typeface="Plus Jakarta Sans" pitchFamily="34" charset="0"/>
                <a:ea typeface="Plus Jakarta Sans" pitchFamily="34" charset="-122"/>
                <a:cs typeface="Plus Jakarta Sans" pitchFamily="34" charset="-120"/>
              </a:rPr>
              <a:t>App memory utilization was 17%, while Dashboard memory utilization was 15%.</a:t>
            </a:r>
            <a:endParaRPr lang="en-US" sz="1150" dirty="0"/>
          </a:p>
        </p:txBody>
      </p:sp>
      <p:sp>
        <p:nvSpPr>
          <p:cNvPr id="23" name="Text 20"/>
          <p:cNvSpPr/>
          <p:nvPr/>
        </p:nvSpPr>
        <p:spPr>
          <a:xfrm>
            <a:off x="1005840" y="5074920"/>
            <a:ext cx="182880" cy="365760"/>
          </a:xfrm>
          <a:prstGeom prst="rect">
            <a:avLst/>
          </a:prstGeom>
          <a:noFill/>
          <a:ln/>
        </p:spPr>
        <p:txBody>
          <a:bodyPr wrap="square" rtlCol="0" anchor="ctr"/>
          <a:lstStyle/>
          <a:p>
            <a:pPr indent="0" marL="0">
              <a:buNone/>
            </a:pPr>
            <a:r>
              <a:rPr lang="en-US" sz="1300" b="1" dirty="0">
                <a:solidFill>
                  <a:srgbClr val="0EA5E9"/>
                </a:solidFill>
                <a:latin typeface="Plus Jakarta Sans" pitchFamily="34" charset="0"/>
                <a:ea typeface="Plus Jakarta Sans" pitchFamily="34" charset="-122"/>
                <a:cs typeface="Plus Jakarta Sans" pitchFamily="34" charset="-120"/>
              </a:rPr>
              <a:t>•</a:t>
            </a:r>
            <a:endParaRPr lang="en-US" sz="1300" dirty="0"/>
          </a:p>
        </p:txBody>
      </p:sp>
      <p:sp>
        <p:nvSpPr>
          <p:cNvPr id="24" name="Text 21"/>
          <p:cNvSpPr/>
          <p:nvPr/>
        </p:nvSpPr>
        <p:spPr>
          <a:xfrm>
            <a:off x="1234440" y="5056632"/>
            <a:ext cx="9418320" cy="365760"/>
          </a:xfrm>
          <a:prstGeom prst="rect">
            <a:avLst/>
          </a:prstGeom>
          <a:noFill/>
          <a:ln/>
        </p:spPr>
        <p:txBody>
          <a:bodyPr wrap="square" rtlCol="0" anchor="ctr"/>
          <a:lstStyle/>
          <a:p>
            <a:pPr indent="0" marL="0">
              <a:buNone/>
            </a:pPr>
            <a:r>
              <a:rPr lang="en-US" sz="1150" dirty="0">
                <a:solidFill>
                  <a:srgbClr val="0F172A"/>
                </a:solidFill>
                <a:latin typeface="Plus Jakarta Sans" pitchFamily="34" charset="0"/>
                <a:ea typeface="Plus Jakarta Sans" pitchFamily="34" charset="-122"/>
                <a:cs typeface="Plus Jakarta Sans" pitchFamily="34" charset="-120"/>
              </a:rPr>
              <a:t>No errors were reported in the provided monitoring findings.</a:t>
            </a:r>
            <a:endParaRPr lang="en-US" sz="1150" dirty="0"/>
          </a:p>
        </p:txBody>
      </p:sp>
      <p:sp>
        <p:nvSpPr>
          <p:cNvPr id="25" name="Text 22"/>
          <p:cNvSpPr/>
          <p:nvPr/>
        </p:nvSpPr>
        <p:spPr>
          <a:xfrm>
            <a:off x="1005840" y="5532120"/>
            <a:ext cx="9692640" cy="320040"/>
          </a:xfrm>
          <a:prstGeom prst="rect">
            <a:avLst/>
          </a:prstGeom>
          <a:noFill/>
          <a:ln/>
        </p:spPr>
        <p:txBody>
          <a:bodyPr wrap="square" rtlCol="0" anchor="ctr"/>
          <a:lstStyle/>
          <a:p>
            <a:pPr indent="0" marL="0">
              <a:buNone/>
            </a:pPr>
            <a:r>
              <a:rPr lang="en-US" sz="1100" b="1" dirty="0">
                <a:solidFill>
                  <a:srgbClr val="10B981"/>
                </a:solidFill>
                <a:latin typeface="Plus Jakarta Sans" pitchFamily="34" charset="0"/>
                <a:ea typeface="Plus Jakarta Sans" pitchFamily="34" charset="-122"/>
                <a:cs typeface="Plus Jakarta Sans" pitchFamily="34" charset="-120"/>
              </a:rPr>
              <a:t>✔  </a:t>
            </a:r>
            <a:pPr indent="0" marL="0">
              <a:buNone/>
            </a:pPr>
            <a:r>
              <a:rPr lang="en-US" sz="1100" b="1" dirty="0">
                <a:solidFill>
                  <a:srgbClr val="166534"/>
                </a:solidFill>
                <a:latin typeface="Plus Jakarta Sans" pitchFamily="34" charset="0"/>
                <a:ea typeface="Plus Jakarta Sans" pitchFamily="34" charset="-122"/>
                <a:cs typeface="Plus Jakarta Sans" pitchFamily="34" charset="-120"/>
              </a:rPr>
              <a:t>The 30-day monitoring review showed low memory utilization and throughput below 1 RPS in both environments. Continue monitoring Dashboard response time and overall application performance.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pic>
        <p:nvPicPr>
          <p:cNvPr id="2" name="Image 0" descr="white-logo.png">    </p:cNvPr>
          <p:cNvPicPr>
            <a:picLocks noChangeAspect="1"/>
          </p:cNvPicPr>
          <p:nvPr/>
        </p:nvPicPr>
        <p:blipFill>
          <a:blip r:embed="rId1"/>
          <a:stretch>
            <a:fillRect/>
          </a:stretch>
        </p:blipFill>
        <p:spPr>
          <a:xfrm>
            <a:off x="9601200" y="365760"/>
            <a:ext cx="2011680" cy="1097280"/>
          </a:xfrm>
          <a:prstGeom prst="rect">
            <a:avLst/>
          </a:prstGeom>
        </p:spPr>
      </p:pic>
      <p:sp>
        <p:nvSpPr>
          <p:cNvPr id="3" name="Text 0"/>
          <p:cNvSpPr/>
          <p:nvPr/>
        </p:nvSpPr>
        <p:spPr>
          <a:xfrm>
            <a:off x="731520" y="365760"/>
            <a:ext cx="8229600" cy="365760"/>
          </a:xfrm>
          <a:prstGeom prst="rect">
            <a:avLst/>
          </a:prstGeom>
          <a:noFill/>
          <a:ln/>
        </p:spPr>
        <p:txBody>
          <a:bodyPr wrap="square" rtlCol="0" anchor="ctr"/>
          <a:lstStyle/>
          <a:p>
            <a:pPr indent="0" marL="0">
              <a:buNone/>
            </a:pPr>
            <a:r>
              <a:rPr lang="en-US" sz="1300" b="1" dirty="0">
                <a:solidFill>
                  <a:srgbClr val="0EA5E9"/>
                </a:solidFill>
                <a:latin typeface="Outfit" pitchFamily="34" charset="0"/>
                <a:ea typeface="Outfit" pitchFamily="34" charset="-122"/>
                <a:cs typeface="Outfit" pitchFamily="34" charset="-120"/>
              </a:rPr>
              <a:t>Monthly App &amp; Server Monitoring</a:t>
            </a:r>
            <a:endParaRPr lang="en-US" sz="1300" dirty="0"/>
          </a:p>
        </p:txBody>
      </p:sp>
      <p:sp>
        <p:nvSpPr>
          <p:cNvPr id="4" name="Text 1"/>
          <p:cNvSpPr/>
          <p:nvPr/>
        </p:nvSpPr>
        <p:spPr>
          <a:xfrm>
            <a:off x="731520" y="731520"/>
            <a:ext cx="9601200" cy="548640"/>
          </a:xfrm>
          <a:prstGeom prst="rect">
            <a:avLst/>
          </a:prstGeom>
          <a:noFill/>
          <a:ln/>
        </p:spPr>
        <p:txBody>
          <a:bodyPr wrap="square" rtlCol="0" anchor="ctr"/>
          <a:lstStyle/>
          <a:p>
            <a:pPr indent="0" marL="0">
              <a:buNone/>
            </a:pPr>
            <a:r>
              <a:rPr lang="en-US" sz="2600" b="1" dirty="0">
                <a:solidFill>
                  <a:srgbClr val="0F172A"/>
                </a:solidFill>
                <a:latin typeface="Outfit" pitchFamily="34" charset="0"/>
                <a:ea typeface="Outfit" pitchFamily="34" charset="-122"/>
                <a:cs typeface="Outfit" pitchFamily="34" charset="-120"/>
              </a:rPr>
              <a:t>Overall Summary</a:t>
            </a:r>
            <a:endParaRPr lang="en-US" sz="26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731520" y="1554480"/>
          <a:ext cx="10698480" cy="4572000"/>
        </p:xfrm>
        <a:graphic>
          <a:graphicData uri="http://schemas.openxmlformats.org/drawingml/2006/table">
            <a:tbl>
              <a:tblPr/>
              <a:tblGrid>
                <a:gridCol w="4114800"/>
                <a:gridCol w="2011680"/>
                <a:gridCol w="4572000"/>
              </a:tblGrid>
              <a:tr h="415636">
                <a:tc>
                  <a:txBody>
                    <a:bodyPr/>
                    <a:lstStyle/>
                    <a:p>
                      <a:pPr indent="0" marL="0">
                        <a:buNone/>
                      </a:pPr>
                      <a:r>
                        <a:rPr lang="en-US" sz="1100" b="1" dirty="0">
                          <a:solidFill>
                            <a:srgbClr val="000000"/>
                          </a:solidFill>
                          <a:latin typeface="Plus Jakarta Sans" pitchFamily="34" charset="0"/>
                          <a:ea typeface="Plus Jakarta Sans" pitchFamily="34" charset="-122"/>
                          <a:cs typeface="Plus Jakarta Sans" pitchFamily="34" charset="-120"/>
                        </a:rPr>
                        <a:t>Area</a:t>
                      </a:r>
                      <a:endParaRPr lang="en-US" sz="11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100" b="1" dirty="0">
                          <a:solidFill>
                            <a:srgbClr val="000000"/>
                          </a:solidFill>
                          <a:latin typeface="Plus Jakarta Sans" pitchFamily="34" charset="0"/>
                          <a:ea typeface="Plus Jakarta Sans" pitchFamily="34" charset="-122"/>
                          <a:cs typeface="Plus Jakarta Sans" pitchFamily="34" charset="-120"/>
                        </a:rPr>
                        <a:t>Status</a:t>
                      </a:r>
                      <a:endParaRPr lang="en-US" sz="11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c>
                  <a:txBody>
                    <a:bodyPr/>
                    <a:lstStyle/>
                    <a:p>
                      <a:pPr indent="0" marL="0">
                        <a:buNone/>
                      </a:pPr>
                      <a:r>
                        <a:rPr lang="en-US" sz="1100" b="1" dirty="0">
                          <a:solidFill>
                            <a:srgbClr val="000000"/>
                          </a:solidFill>
                          <a:latin typeface="Plus Jakarta Sans" pitchFamily="34" charset="0"/>
                          <a:ea typeface="Plus Jakarta Sans" pitchFamily="34" charset="-122"/>
                          <a:cs typeface="Plus Jakarta Sans" pitchFamily="34" charset="-120"/>
                        </a:rPr>
                        <a:t>Remarks</a:t>
                      </a:r>
                      <a:endParaRPr lang="en-US" sz="11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1F5F9"/>
                    </a:solidFill>
                  </a:tcPr>
                </a:tc>
              </a:tr>
              <a:tr h="415636">
                <a:tc>
                  <a:txBody>
                    <a:bodyPr/>
                    <a:lstStyle/>
                    <a:p>
                      <a:pPr indent="0" marL="0">
                        <a:buNone/>
                      </a:pPr>
                      <a:r>
                        <a:rPr lang="en-US" sz="1100" b="1" dirty="0">
                          <a:solidFill>
                            <a:srgbClr val="000000"/>
                          </a:solidFill>
                          <a:latin typeface="Plus Jakarta Sans" pitchFamily="34" charset="0"/>
                          <a:ea typeface="Plus Jakarta Sans" pitchFamily="34" charset="-122"/>
                          <a:cs typeface="Plus Jakarta Sans" pitchFamily="34" charset="-120"/>
                        </a:rPr>
                        <a:t>App Server Response Time</a:t>
                      </a:r>
                      <a:endParaRPr lang="en-US" sz="11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00" b="1" dirty="0">
                          <a:solidFill>
                            <a:srgbClr val="DC2626"/>
                          </a:solidFill>
                          <a:latin typeface="Plus Jakarta Sans" pitchFamily="34" charset="0"/>
                          <a:ea typeface="Plus Jakarta Sans" pitchFamily="34" charset="-122"/>
                          <a:cs typeface="Plus Jakarta Sans" pitchFamily="34" charset="-120"/>
                        </a:rPr>
                        <a:t>✔ Monitored</a:t>
                      </a:r>
                      <a:endParaRPr lang="en-US" sz="11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64748B"/>
                          </a:solidFill>
                          <a:latin typeface="Plus Jakarta Sans" pitchFamily="34" charset="0"/>
                          <a:ea typeface="Plus Jakarta Sans" pitchFamily="34" charset="-122"/>
                          <a:cs typeface="Plus Jakarta Sans" pitchFamily="34" charset="-120"/>
                        </a:rPr>
                        <a:t>9 ms</a:t>
                      </a:r>
                      <a:endParaRPr lang="en-US" sz="105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15636">
                <a:tc>
                  <a:txBody>
                    <a:bodyPr/>
                    <a:lstStyle/>
                    <a:p>
                      <a:pPr indent="0" marL="0">
                        <a:buNone/>
                      </a:pPr>
                      <a:r>
                        <a:rPr lang="en-US" sz="1100" b="1" dirty="0">
                          <a:solidFill>
                            <a:srgbClr val="000000"/>
                          </a:solidFill>
                          <a:latin typeface="Plus Jakarta Sans" pitchFamily="34" charset="0"/>
                          <a:ea typeface="Plus Jakarta Sans" pitchFamily="34" charset="-122"/>
                          <a:cs typeface="Plus Jakarta Sans" pitchFamily="34" charset="-120"/>
                        </a:rPr>
                        <a:t>Dashboard Response Time</a:t>
                      </a:r>
                      <a:endParaRPr lang="en-US" sz="11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00" b="1" dirty="0">
                          <a:solidFill>
                            <a:srgbClr val="DC2626"/>
                          </a:solidFill>
                          <a:latin typeface="Plus Jakarta Sans" pitchFamily="34" charset="0"/>
                          <a:ea typeface="Plus Jakarta Sans" pitchFamily="34" charset="-122"/>
                          <a:cs typeface="Plus Jakarta Sans" pitchFamily="34" charset="-120"/>
                        </a:rPr>
                        <a:t>✔ Monitored</a:t>
                      </a:r>
                      <a:endParaRPr lang="en-US" sz="11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64748B"/>
                          </a:solidFill>
                          <a:latin typeface="Plus Jakarta Sans" pitchFamily="34" charset="0"/>
                          <a:ea typeface="Plus Jakarta Sans" pitchFamily="34" charset="-122"/>
                          <a:cs typeface="Plus Jakarta Sans" pitchFamily="34" charset="-120"/>
                        </a:rPr>
                        <a:t>1 second</a:t>
                      </a:r>
                      <a:endParaRPr lang="en-US" sz="105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15636">
                <a:tc>
                  <a:txBody>
                    <a:bodyPr/>
                    <a:lstStyle/>
                    <a:p>
                      <a:pPr indent="0" marL="0">
                        <a:buNone/>
                      </a:pPr>
                      <a:r>
                        <a:rPr lang="en-US" sz="1100" b="1" dirty="0">
                          <a:solidFill>
                            <a:srgbClr val="000000"/>
                          </a:solidFill>
                          <a:latin typeface="Plus Jakarta Sans" pitchFamily="34" charset="0"/>
                          <a:ea typeface="Plus Jakarta Sans" pitchFamily="34" charset="-122"/>
                          <a:cs typeface="Plus Jakarta Sans" pitchFamily="34" charset="-120"/>
                        </a:rPr>
                        <a:t>App Memory Usage</a:t>
                      </a:r>
                      <a:endParaRPr lang="en-US" sz="11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00" b="1" dirty="0">
                          <a:solidFill>
                            <a:srgbClr val="DC2626"/>
                          </a:solidFill>
                          <a:latin typeface="Plus Jakarta Sans" pitchFamily="34" charset="0"/>
                          <a:ea typeface="Plus Jakarta Sans" pitchFamily="34" charset="-122"/>
                          <a:cs typeface="Plus Jakarta Sans" pitchFamily="34" charset="-120"/>
                        </a:rPr>
                        <a:t>✔ Monitored</a:t>
                      </a:r>
                      <a:endParaRPr lang="en-US" sz="11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64748B"/>
                          </a:solidFill>
                          <a:latin typeface="Plus Jakarta Sans" pitchFamily="34" charset="0"/>
                          <a:ea typeface="Plus Jakarta Sans" pitchFamily="34" charset="-122"/>
                          <a:cs typeface="Plus Jakarta Sans" pitchFamily="34" charset="-120"/>
                        </a:rPr>
                        <a:t>17%</a:t>
                      </a:r>
                      <a:endParaRPr lang="en-US" sz="105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15636">
                <a:tc>
                  <a:txBody>
                    <a:bodyPr/>
                    <a:lstStyle/>
                    <a:p>
                      <a:pPr indent="0" marL="0">
                        <a:buNone/>
                      </a:pPr>
                      <a:r>
                        <a:rPr lang="en-US" sz="1100" b="1" dirty="0">
                          <a:solidFill>
                            <a:srgbClr val="000000"/>
                          </a:solidFill>
                          <a:latin typeface="Plus Jakarta Sans" pitchFamily="34" charset="0"/>
                          <a:ea typeface="Plus Jakarta Sans" pitchFamily="34" charset="-122"/>
                          <a:cs typeface="Plus Jakarta Sans" pitchFamily="34" charset="-120"/>
                        </a:rPr>
                        <a:t>Dashboard Memory Usage</a:t>
                      </a:r>
                      <a:endParaRPr lang="en-US" sz="11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00" b="1" dirty="0">
                          <a:solidFill>
                            <a:srgbClr val="DC2626"/>
                          </a:solidFill>
                          <a:latin typeface="Plus Jakarta Sans" pitchFamily="34" charset="0"/>
                          <a:ea typeface="Plus Jakarta Sans" pitchFamily="34" charset="-122"/>
                          <a:cs typeface="Plus Jakarta Sans" pitchFamily="34" charset="-120"/>
                        </a:rPr>
                        <a:t>✔ Monitored</a:t>
                      </a:r>
                      <a:endParaRPr lang="en-US" sz="11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64748B"/>
                          </a:solidFill>
                          <a:latin typeface="Plus Jakarta Sans" pitchFamily="34" charset="0"/>
                          <a:ea typeface="Plus Jakarta Sans" pitchFamily="34" charset="-122"/>
                          <a:cs typeface="Plus Jakarta Sans" pitchFamily="34" charset="-120"/>
                        </a:rPr>
                        <a:t>15%</a:t>
                      </a:r>
                      <a:endParaRPr lang="en-US" sz="105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15636">
                <a:tc>
                  <a:txBody>
                    <a:bodyPr/>
                    <a:lstStyle/>
                    <a:p>
                      <a:pPr indent="0" marL="0">
                        <a:buNone/>
                      </a:pPr>
                      <a:r>
                        <a:rPr lang="en-US" sz="1100" b="1" dirty="0">
                          <a:solidFill>
                            <a:srgbClr val="000000"/>
                          </a:solidFill>
                          <a:latin typeface="Plus Jakarta Sans" pitchFamily="34" charset="0"/>
                          <a:ea typeface="Plus Jakarta Sans" pitchFamily="34" charset="-122"/>
                          <a:cs typeface="Plus Jakarta Sans" pitchFamily="34" charset="-120"/>
                        </a:rPr>
                        <a:t>App Throughput</a:t>
                      </a:r>
                      <a:endParaRPr lang="en-US" sz="11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00" b="1" dirty="0">
                          <a:solidFill>
                            <a:srgbClr val="DC2626"/>
                          </a:solidFill>
                          <a:latin typeface="Plus Jakarta Sans" pitchFamily="34" charset="0"/>
                          <a:ea typeface="Plus Jakarta Sans" pitchFamily="34" charset="-122"/>
                          <a:cs typeface="Plus Jakarta Sans" pitchFamily="34" charset="-120"/>
                        </a:rPr>
                        <a:t>✔ Monitored</a:t>
                      </a:r>
                      <a:endParaRPr lang="en-US" sz="11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64748B"/>
                          </a:solidFill>
                          <a:latin typeface="Plus Jakarta Sans" pitchFamily="34" charset="0"/>
                          <a:ea typeface="Plus Jakarta Sans" pitchFamily="34" charset="-122"/>
                          <a:cs typeface="Plus Jakarta Sans" pitchFamily="34" charset="-120"/>
                        </a:rPr>
                        <a:t>&lt; 1 RPS</a:t>
                      </a:r>
                      <a:endParaRPr lang="en-US" sz="105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15636">
                <a:tc>
                  <a:txBody>
                    <a:bodyPr/>
                    <a:lstStyle/>
                    <a:p>
                      <a:pPr indent="0" marL="0">
                        <a:buNone/>
                      </a:pPr>
                      <a:r>
                        <a:rPr lang="en-US" sz="1100" b="1" dirty="0">
                          <a:solidFill>
                            <a:srgbClr val="000000"/>
                          </a:solidFill>
                          <a:latin typeface="Plus Jakarta Sans" pitchFamily="34" charset="0"/>
                          <a:ea typeface="Plus Jakarta Sans" pitchFamily="34" charset="-122"/>
                          <a:cs typeface="Plus Jakarta Sans" pitchFamily="34" charset="-120"/>
                        </a:rPr>
                        <a:t>Dashboard Throughput</a:t>
                      </a:r>
                      <a:endParaRPr lang="en-US" sz="11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00" b="1" dirty="0">
                          <a:solidFill>
                            <a:srgbClr val="DC2626"/>
                          </a:solidFill>
                          <a:latin typeface="Plus Jakarta Sans" pitchFamily="34" charset="0"/>
                          <a:ea typeface="Plus Jakarta Sans" pitchFamily="34" charset="-122"/>
                          <a:cs typeface="Plus Jakarta Sans" pitchFamily="34" charset="-120"/>
                        </a:rPr>
                        <a:t>✔ Monitored</a:t>
                      </a:r>
                      <a:endParaRPr lang="en-US" sz="11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64748B"/>
                          </a:solidFill>
                          <a:latin typeface="Plus Jakarta Sans" pitchFamily="34" charset="0"/>
                          <a:ea typeface="Plus Jakarta Sans" pitchFamily="34" charset="-122"/>
                          <a:cs typeface="Plus Jakarta Sans" pitchFamily="34" charset="-120"/>
                        </a:rPr>
                        <a:t>&lt; 1 RPS</a:t>
                      </a:r>
                      <a:endParaRPr lang="en-US" sz="105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15636">
                <a:tc>
                  <a:txBody>
                    <a:bodyPr/>
                    <a:lstStyle/>
                    <a:p>
                      <a:pPr indent="0" marL="0">
                        <a:buNone/>
                      </a:pPr>
                      <a:r>
                        <a:rPr lang="en-US" sz="1100" b="1" dirty="0">
                          <a:solidFill>
                            <a:srgbClr val="000000"/>
                          </a:solidFill>
                          <a:latin typeface="Plus Jakarta Sans" pitchFamily="34" charset="0"/>
                          <a:ea typeface="Plus Jakarta Sans" pitchFamily="34" charset="-122"/>
                          <a:cs typeface="Plus Jakarta Sans" pitchFamily="34" charset="-120"/>
                        </a:rPr>
                        <a:t>App Build Cache</a:t>
                      </a:r>
                      <a:endParaRPr lang="en-US" sz="11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00" b="1" dirty="0">
                          <a:solidFill>
                            <a:srgbClr val="DC2626"/>
                          </a:solidFill>
                          <a:latin typeface="Plus Jakarta Sans" pitchFamily="34" charset="0"/>
                          <a:ea typeface="Plus Jakarta Sans" pitchFamily="34" charset="-122"/>
                          <a:cs typeface="Plus Jakarta Sans" pitchFamily="34" charset="-120"/>
                        </a:rPr>
                        <a:t>✔ Reviewed</a:t>
                      </a:r>
                      <a:endParaRPr lang="en-US" sz="11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64748B"/>
                          </a:solidFill>
                          <a:latin typeface="Plus Jakarta Sans" pitchFamily="34" charset="0"/>
                          <a:ea typeface="Plus Jakarta Sans" pitchFamily="34" charset="-122"/>
                          <a:cs typeface="Plus Jakarta Sans" pitchFamily="34" charset="-120"/>
                        </a:rPr>
                        <a:t>Maintenance performed; no issues reported</a:t>
                      </a:r>
                      <a:endParaRPr lang="en-US" sz="105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15636">
                <a:tc>
                  <a:txBody>
                    <a:bodyPr/>
                    <a:lstStyle/>
                    <a:p>
                      <a:pPr indent="0" marL="0">
                        <a:buNone/>
                      </a:pPr>
                      <a:r>
                        <a:rPr lang="en-US" sz="1100" b="1" dirty="0">
                          <a:solidFill>
                            <a:srgbClr val="000000"/>
                          </a:solidFill>
                          <a:latin typeface="Plus Jakarta Sans" pitchFamily="34" charset="0"/>
                          <a:ea typeface="Plus Jakarta Sans" pitchFamily="34" charset="-122"/>
                          <a:cs typeface="Plus Jakarta Sans" pitchFamily="34" charset="-120"/>
                        </a:rPr>
                        <a:t>Dashboard Build Cache</a:t>
                      </a:r>
                      <a:endParaRPr lang="en-US" sz="11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00" b="1" dirty="0">
                          <a:solidFill>
                            <a:srgbClr val="DC2626"/>
                          </a:solidFill>
                          <a:latin typeface="Plus Jakarta Sans" pitchFamily="34" charset="0"/>
                          <a:ea typeface="Plus Jakarta Sans" pitchFamily="34" charset="-122"/>
                          <a:cs typeface="Plus Jakarta Sans" pitchFamily="34" charset="-120"/>
                        </a:rPr>
                        <a:t>✔ Reviewed</a:t>
                      </a:r>
                      <a:endParaRPr lang="en-US" sz="11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64748B"/>
                          </a:solidFill>
                          <a:latin typeface="Plus Jakarta Sans" pitchFamily="34" charset="0"/>
                          <a:ea typeface="Plus Jakarta Sans" pitchFamily="34" charset="-122"/>
                          <a:cs typeface="Plus Jakarta Sans" pitchFamily="34" charset="-120"/>
                        </a:rPr>
                        <a:t>Maintenance performed; no issues reported</a:t>
                      </a:r>
                      <a:endParaRPr lang="en-US" sz="105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15636">
                <a:tc>
                  <a:txBody>
                    <a:bodyPr/>
                    <a:lstStyle/>
                    <a:p>
                      <a:pPr indent="0" marL="0">
                        <a:buNone/>
                      </a:pPr>
                      <a:r>
                        <a:rPr lang="en-US" sz="1100" b="1" dirty="0">
                          <a:solidFill>
                            <a:srgbClr val="000000"/>
                          </a:solidFill>
                          <a:latin typeface="Plus Jakarta Sans" pitchFamily="34" charset="0"/>
                          <a:ea typeface="Plus Jakarta Sans" pitchFamily="34" charset="-122"/>
                          <a:cs typeface="Plus Jakarta Sans" pitchFamily="34" charset="-120"/>
                        </a:rPr>
                        <a:t>Application Errors</a:t>
                      </a:r>
                      <a:endParaRPr lang="en-US" sz="11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00" b="1" dirty="0">
                          <a:solidFill>
                            <a:srgbClr val="DC2626"/>
                          </a:solidFill>
                          <a:latin typeface="Plus Jakarta Sans" pitchFamily="34" charset="0"/>
                          <a:ea typeface="Plus Jakarta Sans" pitchFamily="34" charset="-122"/>
                          <a:cs typeface="Plus Jakarta Sans" pitchFamily="34" charset="-120"/>
                        </a:rPr>
                        <a:t>✔ No Errors Reported</a:t>
                      </a:r>
                      <a:endParaRPr lang="en-US" sz="11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64748B"/>
                          </a:solidFill>
                          <a:latin typeface="Plus Jakarta Sans" pitchFamily="34" charset="0"/>
                          <a:ea typeface="Plus Jakarta Sans" pitchFamily="34" charset="-122"/>
                          <a:cs typeface="Plus Jakarta Sans" pitchFamily="34" charset="-120"/>
                        </a:rPr>
                        <a:t>Based on the provided monitoring findings</a:t>
                      </a:r>
                      <a:endParaRPr lang="en-US" sz="105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r h="415636">
                <a:tc>
                  <a:txBody>
                    <a:bodyPr/>
                    <a:lstStyle/>
                    <a:p>
                      <a:pPr indent="0" marL="0">
                        <a:buNone/>
                      </a:pPr>
                      <a:r>
                        <a:rPr lang="en-US" sz="1100" b="1" dirty="0">
                          <a:solidFill>
                            <a:srgbClr val="000000"/>
                          </a:solidFill>
                          <a:latin typeface="Plus Jakarta Sans" pitchFamily="34" charset="0"/>
                          <a:ea typeface="Plus Jakarta Sans" pitchFamily="34" charset="-122"/>
                          <a:cs typeface="Plus Jakarta Sans" pitchFamily="34" charset="-120"/>
                        </a:rPr>
                        <a:t>Monitoring Period</a:t>
                      </a:r>
                      <a:endParaRPr lang="en-US" sz="11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100" b="1" dirty="0">
                          <a:solidFill>
                            <a:srgbClr val="DC2626"/>
                          </a:solidFill>
                          <a:latin typeface="Plus Jakarta Sans" pitchFamily="34" charset="0"/>
                          <a:ea typeface="Plus Jakarta Sans" pitchFamily="34" charset="-122"/>
                          <a:cs typeface="Plus Jakarta Sans" pitchFamily="34" charset="-120"/>
                        </a:rPr>
                        <a:t>✔ Reviewed</a:t>
                      </a:r>
                      <a:endParaRPr lang="en-US" sz="110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c>
                  <a:txBody>
                    <a:bodyPr/>
                    <a:lstStyle/>
                    <a:p>
                      <a:pPr indent="0" marL="0">
                        <a:buNone/>
                      </a:pPr>
                      <a:r>
                        <a:rPr lang="en-US" sz="1050" dirty="0">
                          <a:solidFill>
                            <a:srgbClr val="64748B"/>
                          </a:solidFill>
                          <a:latin typeface="Plus Jakarta Sans" pitchFamily="34" charset="0"/>
                          <a:ea typeface="Plus Jakarta Sans" pitchFamily="34" charset="-122"/>
                          <a:cs typeface="Plus Jakarta Sans" pitchFamily="34" charset="-120"/>
                        </a:rPr>
                        <a:t>Past 30 days</a:t>
                      </a:r>
                      <a:endParaRPr lang="en-US" sz="1050" dirty="0">
                        <a:latin typeface="Plus Jakarta Sans" charset="0"/>
                        <a:ea typeface="Plus Jakarta Sans" charset="0"/>
                        <a:cs typeface="Plus Jakarta Sans" charset="0"/>
                      </a:endParaRPr>
                    </a:p>
                  </a:txBody>
                  <a:tcPr marL="91440" marR="91440" marT="45720" marB="45720">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tcPr>
                </a:tc>
              </a:tr>
            </a:tbl>
          </a:graphicData>
        </a:graphic>
      </p:graphicFrame>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white-logo.png">    </p:cNvPr>
          <p:cNvPicPr>
            <a:picLocks noChangeAspect="1"/>
          </p:cNvPicPr>
          <p:nvPr/>
        </p:nvPicPr>
        <p:blipFill>
          <a:blip r:embed="rId1"/>
          <a:stretch>
            <a:fillRect/>
          </a:stretch>
        </p:blipFill>
        <p:spPr>
          <a:xfrm>
            <a:off x="9601200" y="365760"/>
            <a:ext cx="2011680" cy="1097280"/>
          </a:xfrm>
          <a:prstGeom prst="rect">
            <a:avLst/>
          </a:prstGeom>
        </p:spPr>
      </p:pic>
      <p:sp>
        <p:nvSpPr>
          <p:cNvPr id="3" name="Text 0"/>
          <p:cNvSpPr/>
          <p:nvPr/>
        </p:nvSpPr>
        <p:spPr>
          <a:xfrm>
            <a:off x="731520" y="365760"/>
            <a:ext cx="8229600" cy="365760"/>
          </a:xfrm>
          <a:prstGeom prst="rect">
            <a:avLst/>
          </a:prstGeom>
          <a:noFill/>
          <a:ln/>
        </p:spPr>
        <p:txBody>
          <a:bodyPr wrap="square" rtlCol="0" anchor="ctr"/>
          <a:lstStyle/>
          <a:p>
            <a:pPr indent="0" marL="0">
              <a:buNone/>
            </a:pPr>
            <a:r>
              <a:rPr lang="en-US" sz="1300" b="1" dirty="0">
                <a:solidFill>
                  <a:srgbClr val="0EA5E9"/>
                </a:solidFill>
                <a:latin typeface="Outfit" pitchFamily="34" charset="0"/>
                <a:ea typeface="Outfit" pitchFamily="34" charset="-122"/>
                <a:cs typeface="Outfit" pitchFamily="34" charset="-120"/>
              </a:rPr>
              <a:t>Monthly App &amp; Server Monitoring</a:t>
            </a:r>
            <a:endParaRPr lang="en-US" sz="1300" dirty="0"/>
          </a:p>
        </p:txBody>
      </p:sp>
      <p:sp>
        <p:nvSpPr>
          <p:cNvPr id="4" name="Text 1"/>
          <p:cNvSpPr/>
          <p:nvPr/>
        </p:nvSpPr>
        <p:spPr>
          <a:xfrm>
            <a:off x="731520" y="731520"/>
            <a:ext cx="9601200" cy="548640"/>
          </a:xfrm>
          <a:prstGeom prst="rect">
            <a:avLst/>
          </a:prstGeom>
          <a:noFill/>
          <a:ln/>
        </p:spPr>
        <p:txBody>
          <a:bodyPr wrap="square" rtlCol="0" anchor="ctr"/>
          <a:lstStyle/>
          <a:p>
            <a:pPr indent="0" marL="0">
              <a:buNone/>
            </a:pPr>
            <a:r>
              <a:rPr lang="en-US" sz="2600" b="1" dirty="0">
                <a:solidFill>
                  <a:srgbClr val="0F172A"/>
                </a:solidFill>
                <a:latin typeface="Outfit" pitchFamily="34" charset="0"/>
                <a:ea typeface="Outfit" pitchFamily="34" charset="-122"/>
                <a:cs typeface="Outfit" pitchFamily="34" charset="-120"/>
              </a:rPr>
              <a:t>Final Assessment</a:t>
            </a:r>
            <a:endParaRPr lang="en-US" sz="2600" dirty="0"/>
          </a:p>
        </p:txBody>
      </p:sp>
      <p:sp>
        <p:nvSpPr>
          <p:cNvPr id="5" name="Shape 2"/>
          <p:cNvSpPr/>
          <p:nvPr/>
        </p:nvSpPr>
        <p:spPr>
          <a:xfrm>
            <a:off x="731520" y="1554480"/>
            <a:ext cx="5120640" cy="4480560"/>
          </a:xfrm>
          <a:prstGeom prst="rect">
            <a:avLst>
              <a:gd name="adj" fmla="val 2041"/>
            </a:avLst>
          </a:prstGeom>
          <a:solidFill>
            <a:srgbClr val="F8FAFC"/>
          </a:solidFill>
          <a:ln w="12700">
            <a:solidFill>
              <a:srgbClr val="E2E8F0"/>
            </a:solidFill>
            <a:prstDash val="solid"/>
          </a:ln>
        </p:spPr>
      </p:sp>
      <p:sp>
        <p:nvSpPr>
          <p:cNvPr id="6" name="Text 3"/>
          <p:cNvSpPr/>
          <p:nvPr/>
        </p:nvSpPr>
        <p:spPr>
          <a:xfrm>
            <a:off x="1005840" y="1783080"/>
            <a:ext cx="4572000" cy="274320"/>
          </a:xfrm>
          <a:prstGeom prst="rect">
            <a:avLst/>
          </a:prstGeom>
          <a:noFill/>
          <a:ln/>
        </p:spPr>
        <p:txBody>
          <a:bodyPr wrap="square" rtlCol="0" anchor="ctr"/>
          <a:lstStyle/>
          <a:p>
            <a:pPr indent="0" marL="0">
              <a:buNone/>
            </a:pPr>
            <a:r>
              <a:rPr lang="en-US" sz="1050" b="1" dirty="0">
                <a:solidFill>
                  <a:srgbClr val="10B981"/>
                </a:solidFill>
                <a:latin typeface="Plus Jakarta Sans" pitchFamily="34" charset="0"/>
                <a:ea typeface="Plus Jakarta Sans" pitchFamily="34" charset="-122"/>
                <a:cs typeface="Plus Jakarta Sans" pitchFamily="34" charset="-120"/>
              </a:rPr>
              <a:t>SUCCESSFUL OUTCOMES</a:t>
            </a:r>
            <a:endParaRPr lang="en-US" sz="1050" dirty="0"/>
          </a:p>
        </p:txBody>
      </p:sp>
      <p:sp>
        <p:nvSpPr>
          <p:cNvPr id="7" name="Text 4"/>
          <p:cNvSpPr/>
          <p:nvPr/>
        </p:nvSpPr>
        <p:spPr>
          <a:xfrm>
            <a:off x="1005840" y="2148840"/>
            <a:ext cx="228600" cy="365760"/>
          </a:xfrm>
          <a:prstGeom prst="rect">
            <a:avLst/>
          </a:prstGeom>
          <a:noFill/>
          <a:ln/>
        </p:spPr>
        <p:txBody>
          <a:bodyPr wrap="square" rtlCol="0" anchor="ctr"/>
          <a:lstStyle/>
          <a:p>
            <a:pPr indent="0" marL="0">
              <a:buNone/>
            </a:pPr>
            <a:r>
              <a:rPr lang="en-US" sz="1200" b="1" dirty="0">
                <a:solidFill>
                  <a:srgbClr val="10B981"/>
                </a:solidFill>
                <a:latin typeface="Plus Jakarta Sans" pitchFamily="34" charset="0"/>
                <a:ea typeface="Plus Jakarta Sans" pitchFamily="34" charset="-122"/>
                <a:cs typeface="Plus Jakarta Sans" pitchFamily="34" charset="-120"/>
              </a:rPr>
              <a:t>✔</a:t>
            </a:r>
            <a:endParaRPr lang="en-US" sz="1200" dirty="0"/>
          </a:p>
        </p:txBody>
      </p:sp>
      <p:sp>
        <p:nvSpPr>
          <p:cNvPr id="8" name="Text 5"/>
          <p:cNvSpPr/>
          <p:nvPr/>
        </p:nvSpPr>
        <p:spPr>
          <a:xfrm>
            <a:off x="1280160" y="2121408"/>
            <a:ext cx="4297680" cy="502920"/>
          </a:xfrm>
          <a:prstGeom prst="rect">
            <a:avLst/>
          </a:prstGeom>
          <a:noFill/>
          <a:ln/>
        </p:spPr>
        <p:txBody>
          <a:bodyPr wrap="square" rtlCol="0" anchor="t"/>
          <a:lstStyle/>
          <a:p>
            <a:pPr indent="0" marL="0">
              <a:lnSpc>
                <a:spcPts val="1300"/>
              </a:lnSpc>
              <a:buNone/>
            </a:pPr>
            <a:r>
              <a:rPr lang="en-US" sz="1050" dirty="0">
                <a:solidFill>
                  <a:srgbClr val="0F172A"/>
                </a:solidFill>
                <a:latin typeface="Plus Jakarta Sans" pitchFamily="34" charset="0"/>
                <a:ea typeface="Plus Jakarta Sans" pitchFamily="34" charset="-122"/>
                <a:cs typeface="Plus Jakarta Sans" pitchFamily="34" charset="-120"/>
              </a:rPr>
              <a:t>Reviewed performance metrics for both App and Dashboard environments.</a:t>
            </a:r>
            <a:endParaRPr lang="en-US" sz="1050" dirty="0"/>
          </a:p>
        </p:txBody>
      </p:sp>
      <p:sp>
        <p:nvSpPr>
          <p:cNvPr id="9" name="Text 6"/>
          <p:cNvSpPr/>
          <p:nvPr/>
        </p:nvSpPr>
        <p:spPr>
          <a:xfrm>
            <a:off x="1005840" y="2697480"/>
            <a:ext cx="228600" cy="365760"/>
          </a:xfrm>
          <a:prstGeom prst="rect">
            <a:avLst/>
          </a:prstGeom>
          <a:noFill/>
          <a:ln/>
        </p:spPr>
        <p:txBody>
          <a:bodyPr wrap="square" rtlCol="0" anchor="ctr"/>
          <a:lstStyle/>
          <a:p>
            <a:pPr indent="0" marL="0">
              <a:buNone/>
            </a:pPr>
            <a:r>
              <a:rPr lang="en-US" sz="1200" b="1" dirty="0">
                <a:solidFill>
                  <a:srgbClr val="10B981"/>
                </a:solidFill>
                <a:latin typeface="Plus Jakarta Sans" pitchFamily="34" charset="0"/>
                <a:ea typeface="Plus Jakarta Sans" pitchFamily="34" charset="-122"/>
                <a:cs typeface="Plus Jakarta Sans" pitchFamily="34" charset="-120"/>
              </a:rPr>
              <a:t>✔</a:t>
            </a:r>
            <a:endParaRPr lang="en-US" sz="1200" dirty="0"/>
          </a:p>
        </p:txBody>
      </p:sp>
      <p:sp>
        <p:nvSpPr>
          <p:cNvPr id="10" name="Text 7"/>
          <p:cNvSpPr/>
          <p:nvPr/>
        </p:nvSpPr>
        <p:spPr>
          <a:xfrm>
            <a:off x="1280160" y="2670048"/>
            <a:ext cx="4297680" cy="502920"/>
          </a:xfrm>
          <a:prstGeom prst="rect">
            <a:avLst/>
          </a:prstGeom>
          <a:noFill/>
          <a:ln/>
        </p:spPr>
        <p:txBody>
          <a:bodyPr wrap="square" rtlCol="0" anchor="t"/>
          <a:lstStyle/>
          <a:p>
            <a:pPr indent="0" marL="0">
              <a:lnSpc>
                <a:spcPts val="1300"/>
              </a:lnSpc>
              <a:buNone/>
            </a:pPr>
            <a:r>
              <a:rPr lang="en-US" sz="1050" dirty="0">
                <a:solidFill>
                  <a:srgbClr val="0F172A"/>
                </a:solidFill>
                <a:latin typeface="Plus Jakarta Sans" pitchFamily="34" charset="0"/>
                <a:ea typeface="Plus Jakarta Sans" pitchFamily="34" charset="-122"/>
                <a:cs typeface="Plus Jakarta Sans" pitchFamily="34" charset="-120"/>
              </a:rPr>
              <a:t>Reviewed the available 30-day monitoring data.</a:t>
            </a:r>
            <a:endParaRPr lang="en-US" sz="1050" dirty="0"/>
          </a:p>
        </p:txBody>
      </p:sp>
      <p:sp>
        <p:nvSpPr>
          <p:cNvPr id="11" name="Text 8"/>
          <p:cNvSpPr/>
          <p:nvPr/>
        </p:nvSpPr>
        <p:spPr>
          <a:xfrm>
            <a:off x="1005840" y="3246120"/>
            <a:ext cx="228600" cy="365760"/>
          </a:xfrm>
          <a:prstGeom prst="rect">
            <a:avLst/>
          </a:prstGeom>
          <a:noFill/>
          <a:ln/>
        </p:spPr>
        <p:txBody>
          <a:bodyPr wrap="square" rtlCol="0" anchor="ctr"/>
          <a:lstStyle/>
          <a:p>
            <a:pPr indent="0" marL="0">
              <a:buNone/>
            </a:pPr>
            <a:r>
              <a:rPr lang="en-US" sz="1200" b="1" dirty="0">
                <a:solidFill>
                  <a:srgbClr val="10B981"/>
                </a:solidFill>
                <a:latin typeface="Plus Jakarta Sans" pitchFamily="34" charset="0"/>
                <a:ea typeface="Plus Jakarta Sans" pitchFamily="34" charset="-122"/>
                <a:cs typeface="Plus Jakarta Sans" pitchFamily="34" charset="-120"/>
              </a:rPr>
              <a:t>✔</a:t>
            </a:r>
            <a:endParaRPr lang="en-US" sz="1200" dirty="0"/>
          </a:p>
        </p:txBody>
      </p:sp>
      <p:sp>
        <p:nvSpPr>
          <p:cNvPr id="12" name="Text 9"/>
          <p:cNvSpPr/>
          <p:nvPr/>
        </p:nvSpPr>
        <p:spPr>
          <a:xfrm>
            <a:off x="1280160" y="3218688"/>
            <a:ext cx="4297680" cy="502920"/>
          </a:xfrm>
          <a:prstGeom prst="rect">
            <a:avLst/>
          </a:prstGeom>
          <a:noFill/>
          <a:ln/>
        </p:spPr>
        <p:txBody>
          <a:bodyPr wrap="square" rtlCol="0" anchor="t"/>
          <a:lstStyle/>
          <a:p>
            <a:pPr indent="0" marL="0">
              <a:lnSpc>
                <a:spcPts val="1300"/>
              </a:lnSpc>
              <a:buNone/>
            </a:pPr>
            <a:r>
              <a:rPr lang="en-US" sz="1050" dirty="0">
                <a:solidFill>
                  <a:srgbClr val="0F172A"/>
                </a:solidFill>
                <a:latin typeface="Plus Jakarta Sans" pitchFamily="34" charset="0"/>
                <a:ea typeface="Plus Jakarta Sans" pitchFamily="34" charset="-122"/>
                <a:cs typeface="Plus Jakarta Sans" pitchFamily="34" charset="-120"/>
              </a:rPr>
              <a:t>Recorded App response time of 9 ms and Dashboard response time of 1 second.</a:t>
            </a:r>
            <a:endParaRPr lang="en-US" sz="1050" dirty="0"/>
          </a:p>
        </p:txBody>
      </p:sp>
      <p:sp>
        <p:nvSpPr>
          <p:cNvPr id="13" name="Text 10"/>
          <p:cNvSpPr/>
          <p:nvPr/>
        </p:nvSpPr>
        <p:spPr>
          <a:xfrm>
            <a:off x="1005840" y="3794760"/>
            <a:ext cx="228600" cy="365760"/>
          </a:xfrm>
          <a:prstGeom prst="rect">
            <a:avLst/>
          </a:prstGeom>
          <a:noFill/>
          <a:ln/>
        </p:spPr>
        <p:txBody>
          <a:bodyPr wrap="square" rtlCol="0" anchor="ctr"/>
          <a:lstStyle/>
          <a:p>
            <a:pPr indent="0" marL="0">
              <a:buNone/>
            </a:pPr>
            <a:r>
              <a:rPr lang="en-US" sz="1200" b="1" dirty="0">
                <a:solidFill>
                  <a:srgbClr val="10B981"/>
                </a:solidFill>
                <a:latin typeface="Plus Jakarta Sans" pitchFamily="34" charset="0"/>
                <a:ea typeface="Plus Jakarta Sans" pitchFamily="34" charset="-122"/>
                <a:cs typeface="Plus Jakarta Sans" pitchFamily="34" charset="-120"/>
              </a:rPr>
              <a:t>✔</a:t>
            </a:r>
            <a:endParaRPr lang="en-US" sz="1200" dirty="0"/>
          </a:p>
        </p:txBody>
      </p:sp>
      <p:sp>
        <p:nvSpPr>
          <p:cNvPr id="14" name="Text 11"/>
          <p:cNvSpPr/>
          <p:nvPr/>
        </p:nvSpPr>
        <p:spPr>
          <a:xfrm>
            <a:off x="1280160" y="3767328"/>
            <a:ext cx="4297680" cy="502920"/>
          </a:xfrm>
          <a:prstGeom prst="rect">
            <a:avLst/>
          </a:prstGeom>
          <a:noFill/>
          <a:ln/>
        </p:spPr>
        <p:txBody>
          <a:bodyPr wrap="square" rtlCol="0" anchor="t"/>
          <a:lstStyle/>
          <a:p>
            <a:pPr indent="0" marL="0">
              <a:lnSpc>
                <a:spcPts val="1300"/>
              </a:lnSpc>
              <a:buNone/>
            </a:pPr>
            <a:r>
              <a:rPr lang="en-US" sz="1050" dirty="0">
                <a:solidFill>
                  <a:srgbClr val="0F172A"/>
                </a:solidFill>
                <a:latin typeface="Plus Jakarta Sans" pitchFamily="34" charset="0"/>
                <a:ea typeface="Plus Jakarta Sans" pitchFamily="34" charset="-122"/>
                <a:cs typeface="Plus Jakarta Sans" pitchFamily="34" charset="-120"/>
              </a:rPr>
              <a:t>Observed memory utilization of 17% for the App and 15% for the Dashboard.</a:t>
            </a:r>
            <a:endParaRPr lang="en-US" sz="1050" dirty="0"/>
          </a:p>
        </p:txBody>
      </p:sp>
      <p:sp>
        <p:nvSpPr>
          <p:cNvPr id="15" name="Text 12"/>
          <p:cNvSpPr/>
          <p:nvPr/>
        </p:nvSpPr>
        <p:spPr>
          <a:xfrm>
            <a:off x="1005840" y="4343400"/>
            <a:ext cx="228600" cy="365760"/>
          </a:xfrm>
          <a:prstGeom prst="rect">
            <a:avLst/>
          </a:prstGeom>
          <a:noFill/>
          <a:ln/>
        </p:spPr>
        <p:txBody>
          <a:bodyPr wrap="square" rtlCol="0" anchor="ctr"/>
          <a:lstStyle/>
          <a:p>
            <a:pPr indent="0" marL="0">
              <a:buNone/>
            </a:pPr>
            <a:r>
              <a:rPr lang="en-US" sz="1200" b="1" dirty="0">
                <a:solidFill>
                  <a:srgbClr val="10B981"/>
                </a:solidFill>
                <a:latin typeface="Plus Jakarta Sans" pitchFamily="34" charset="0"/>
                <a:ea typeface="Plus Jakarta Sans" pitchFamily="34" charset="-122"/>
                <a:cs typeface="Plus Jakarta Sans" pitchFamily="34" charset="-120"/>
              </a:rPr>
              <a:t>✔</a:t>
            </a:r>
            <a:endParaRPr lang="en-US" sz="1200" dirty="0"/>
          </a:p>
        </p:txBody>
      </p:sp>
      <p:sp>
        <p:nvSpPr>
          <p:cNvPr id="16" name="Text 13"/>
          <p:cNvSpPr/>
          <p:nvPr/>
        </p:nvSpPr>
        <p:spPr>
          <a:xfrm>
            <a:off x="1280160" y="4315968"/>
            <a:ext cx="4297680" cy="502920"/>
          </a:xfrm>
          <a:prstGeom prst="rect">
            <a:avLst/>
          </a:prstGeom>
          <a:noFill/>
          <a:ln/>
        </p:spPr>
        <p:txBody>
          <a:bodyPr wrap="square" rtlCol="0" anchor="t"/>
          <a:lstStyle/>
          <a:p>
            <a:pPr indent="0" marL="0">
              <a:lnSpc>
                <a:spcPts val="1300"/>
              </a:lnSpc>
              <a:buNone/>
            </a:pPr>
            <a:r>
              <a:rPr lang="en-US" sz="1050" dirty="0">
                <a:solidFill>
                  <a:srgbClr val="0F172A"/>
                </a:solidFill>
                <a:latin typeface="Plus Jakarta Sans" pitchFamily="34" charset="0"/>
                <a:ea typeface="Plus Jakarta Sans" pitchFamily="34" charset="-122"/>
                <a:cs typeface="Plus Jakarta Sans" pitchFamily="34" charset="-120"/>
              </a:rPr>
              <a:t>Reviewed build cache maintenance for both environments, with no issues reported.</a:t>
            </a:r>
            <a:endParaRPr lang="en-US" sz="1050" dirty="0"/>
          </a:p>
        </p:txBody>
      </p:sp>
      <p:sp>
        <p:nvSpPr>
          <p:cNvPr id="17" name="Text 14"/>
          <p:cNvSpPr/>
          <p:nvPr/>
        </p:nvSpPr>
        <p:spPr>
          <a:xfrm>
            <a:off x="1005840" y="4892040"/>
            <a:ext cx="228600" cy="365760"/>
          </a:xfrm>
          <a:prstGeom prst="rect">
            <a:avLst/>
          </a:prstGeom>
          <a:noFill/>
          <a:ln/>
        </p:spPr>
        <p:txBody>
          <a:bodyPr wrap="square" rtlCol="0" anchor="ctr"/>
          <a:lstStyle/>
          <a:p>
            <a:pPr indent="0" marL="0">
              <a:buNone/>
            </a:pPr>
            <a:r>
              <a:rPr lang="en-US" sz="1200" b="1" dirty="0">
                <a:solidFill>
                  <a:srgbClr val="10B981"/>
                </a:solidFill>
                <a:latin typeface="Plus Jakarta Sans" pitchFamily="34" charset="0"/>
                <a:ea typeface="Plus Jakarta Sans" pitchFamily="34" charset="-122"/>
                <a:cs typeface="Plus Jakarta Sans" pitchFamily="34" charset="-120"/>
              </a:rPr>
              <a:t>✔</a:t>
            </a:r>
            <a:endParaRPr lang="en-US" sz="1200" dirty="0"/>
          </a:p>
        </p:txBody>
      </p:sp>
      <p:sp>
        <p:nvSpPr>
          <p:cNvPr id="18" name="Text 15"/>
          <p:cNvSpPr/>
          <p:nvPr/>
        </p:nvSpPr>
        <p:spPr>
          <a:xfrm>
            <a:off x="1280160" y="4864608"/>
            <a:ext cx="4297680" cy="502920"/>
          </a:xfrm>
          <a:prstGeom prst="rect">
            <a:avLst/>
          </a:prstGeom>
          <a:noFill/>
          <a:ln/>
        </p:spPr>
        <p:txBody>
          <a:bodyPr wrap="square" rtlCol="0" anchor="t"/>
          <a:lstStyle/>
          <a:p>
            <a:pPr indent="0" marL="0">
              <a:lnSpc>
                <a:spcPts val="1300"/>
              </a:lnSpc>
              <a:buNone/>
            </a:pPr>
            <a:r>
              <a:rPr lang="en-US" sz="1050" dirty="0">
                <a:solidFill>
                  <a:srgbClr val="0F172A"/>
                </a:solidFill>
                <a:latin typeface="Plus Jakarta Sans" pitchFamily="34" charset="0"/>
                <a:ea typeface="Plus Jakarta Sans" pitchFamily="34" charset="-122"/>
                <a:cs typeface="Plus Jakarta Sans" pitchFamily="34" charset="-120"/>
              </a:rPr>
              <a:t>No application errors were reported in the provided findings.</a:t>
            </a:r>
            <a:endParaRPr lang="en-US" sz="1050" dirty="0"/>
          </a:p>
        </p:txBody>
      </p:sp>
      <p:sp>
        <p:nvSpPr>
          <p:cNvPr id="19" name="Shape 16"/>
          <p:cNvSpPr/>
          <p:nvPr/>
        </p:nvSpPr>
        <p:spPr>
          <a:xfrm>
            <a:off x="6126480" y="1554480"/>
            <a:ext cx="5120640" cy="4480560"/>
          </a:xfrm>
          <a:prstGeom prst="rect">
            <a:avLst>
              <a:gd name="adj" fmla="val 2041"/>
            </a:avLst>
          </a:prstGeom>
          <a:solidFill>
            <a:srgbClr val="F8FAFC"/>
          </a:solidFill>
          <a:ln w="12700">
            <a:solidFill>
              <a:srgbClr val="E2E8F0"/>
            </a:solidFill>
            <a:prstDash val="solid"/>
          </a:ln>
        </p:spPr>
      </p:sp>
      <p:sp>
        <p:nvSpPr>
          <p:cNvPr id="20" name="Text 17"/>
          <p:cNvSpPr/>
          <p:nvPr/>
        </p:nvSpPr>
        <p:spPr>
          <a:xfrm>
            <a:off x="6400800" y="1783080"/>
            <a:ext cx="4572000" cy="274320"/>
          </a:xfrm>
          <a:prstGeom prst="rect">
            <a:avLst/>
          </a:prstGeom>
          <a:noFill/>
          <a:ln/>
        </p:spPr>
        <p:txBody>
          <a:bodyPr wrap="square" rtlCol="0" anchor="ctr"/>
          <a:lstStyle/>
          <a:p>
            <a:pPr indent="0" marL="0">
              <a:buNone/>
            </a:pPr>
            <a:r>
              <a:rPr lang="en-US" sz="1050" b="1" dirty="0">
                <a:solidFill>
                  <a:srgbClr val="075985"/>
                </a:solidFill>
                <a:latin typeface="Plus Jakarta Sans" pitchFamily="34" charset="0"/>
                <a:ea typeface="Plus Jakarta Sans" pitchFamily="34" charset="-122"/>
                <a:cs typeface="Plus Jakarta Sans" pitchFamily="34" charset="-120"/>
              </a:rPr>
              <a:t>AREAS FOR CONTINUED MONITORING</a:t>
            </a:r>
            <a:endParaRPr lang="en-US" sz="1050" dirty="0"/>
          </a:p>
        </p:txBody>
      </p:sp>
      <p:sp>
        <p:nvSpPr>
          <p:cNvPr id="21" name="Shape 18"/>
          <p:cNvSpPr/>
          <p:nvPr/>
        </p:nvSpPr>
        <p:spPr>
          <a:xfrm>
            <a:off x="6400800" y="2148840"/>
            <a:ext cx="219456" cy="219456"/>
          </a:xfrm>
          <a:prstGeom prst="ellipse">
            <a:avLst/>
          </a:prstGeom>
          <a:solidFill>
            <a:srgbClr val="0EA5E9"/>
          </a:solidFill>
          <a:ln w="12700">
            <a:solidFill>
              <a:srgbClr val="0EA5E9"/>
            </a:solidFill>
            <a:prstDash val="solid"/>
          </a:ln>
        </p:spPr>
      </p:sp>
      <p:sp>
        <p:nvSpPr>
          <p:cNvPr id="22" name="Text 19"/>
          <p:cNvSpPr/>
          <p:nvPr/>
        </p:nvSpPr>
        <p:spPr>
          <a:xfrm>
            <a:off x="6766560" y="2075688"/>
            <a:ext cx="4114800" cy="777240"/>
          </a:xfrm>
          <a:prstGeom prst="rect">
            <a:avLst/>
          </a:prstGeom>
          <a:noFill/>
          <a:ln/>
        </p:spPr>
        <p:txBody>
          <a:bodyPr wrap="square" rtlCol="0" anchor="t"/>
          <a:lstStyle/>
          <a:p>
            <a:pPr indent="0" marL="0">
              <a:lnSpc>
                <a:spcPts val="1500"/>
              </a:lnSpc>
              <a:buNone/>
            </a:pPr>
            <a:r>
              <a:rPr lang="en-US" sz="1150" dirty="0">
                <a:solidFill>
                  <a:srgbClr val="0F172A"/>
                </a:solidFill>
                <a:latin typeface="Plus Jakarta Sans" pitchFamily="34" charset="0"/>
                <a:ea typeface="Plus Jakarta Sans" pitchFamily="34" charset="-122"/>
                <a:cs typeface="Plus Jakarta Sans" pitchFamily="34" charset="-120"/>
              </a:rPr>
              <a:t>Continue monitoring response times, particularly for the Dashboard server.</a:t>
            </a:r>
            <a:endParaRPr lang="en-US" sz="1150" dirty="0"/>
          </a:p>
        </p:txBody>
      </p:sp>
      <p:sp>
        <p:nvSpPr>
          <p:cNvPr id="23" name="Shape 20"/>
          <p:cNvSpPr/>
          <p:nvPr/>
        </p:nvSpPr>
        <p:spPr>
          <a:xfrm>
            <a:off x="6400800" y="2971800"/>
            <a:ext cx="219456" cy="219456"/>
          </a:xfrm>
          <a:prstGeom prst="ellipse">
            <a:avLst/>
          </a:prstGeom>
          <a:solidFill>
            <a:srgbClr val="0EA5E9"/>
          </a:solidFill>
          <a:ln w="12700">
            <a:solidFill>
              <a:srgbClr val="0EA5E9"/>
            </a:solidFill>
            <a:prstDash val="solid"/>
          </a:ln>
        </p:spPr>
      </p:sp>
      <p:sp>
        <p:nvSpPr>
          <p:cNvPr id="24" name="Text 21"/>
          <p:cNvSpPr/>
          <p:nvPr/>
        </p:nvSpPr>
        <p:spPr>
          <a:xfrm>
            <a:off x="6766560" y="2898648"/>
            <a:ext cx="4114800" cy="777240"/>
          </a:xfrm>
          <a:prstGeom prst="rect">
            <a:avLst/>
          </a:prstGeom>
          <a:noFill/>
          <a:ln/>
        </p:spPr>
        <p:txBody>
          <a:bodyPr wrap="square" rtlCol="0" anchor="t"/>
          <a:lstStyle/>
          <a:p>
            <a:pPr indent="0" marL="0">
              <a:lnSpc>
                <a:spcPts val="1500"/>
              </a:lnSpc>
              <a:buNone/>
            </a:pPr>
            <a:r>
              <a:rPr lang="en-US" sz="1150" dirty="0">
                <a:solidFill>
                  <a:srgbClr val="0F172A"/>
                </a:solidFill>
                <a:latin typeface="Plus Jakarta Sans" pitchFamily="34" charset="0"/>
                <a:ea typeface="Plus Jakarta Sans" pitchFamily="34" charset="-122"/>
                <a:cs typeface="Plus Jakarta Sans" pitchFamily="34" charset="-120"/>
              </a:rPr>
              <a:t>Review application performance and resource utilization during future monthly cycles.</a:t>
            </a:r>
            <a:endParaRPr lang="en-US" sz="1150" dirty="0"/>
          </a:p>
        </p:txBody>
      </p:sp>
      <p:sp>
        <p:nvSpPr>
          <p:cNvPr id="25" name="Shape 22"/>
          <p:cNvSpPr/>
          <p:nvPr/>
        </p:nvSpPr>
        <p:spPr>
          <a:xfrm>
            <a:off x="6400800" y="3794760"/>
            <a:ext cx="219456" cy="219456"/>
          </a:xfrm>
          <a:prstGeom prst="ellipse">
            <a:avLst/>
          </a:prstGeom>
          <a:solidFill>
            <a:srgbClr val="0EA5E9"/>
          </a:solidFill>
          <a:ln w="12700">
            <a:solidFill>
              <a:srgbClr val="0EA5E9"/>
            </a:solidFill>
            <a:prstDash val="solid"/>
          </a:ln>
        </p:spPr>
      </p:sp>
      <p:sp>
        <p:nvSpPr>
          <p:cNvPr id="26" name="Text 23"/>
          <p:cNvSpPr/>
          <p:nvPr/>
        </p:nvSpPr>
        <p:spPr>
          <a:xfrm>
            <a:off x="6766560" y="3721608"/>
            <a:ext cx="4114800" cy="777240"/>
          </a:xfrm>
          <a:prstGeom prst="rect">
            <a:avLst/>
          </a:prstGeom>
          <a:noFill/>
          <a:ln/>
        </p:spPr>
        <p:txBody>
          <a:bodyPr wrap="square" rtlCol="0" anchor="t"/>
          <a:lstStyle/>
          <a:p>
            <a:pPr indent="0" marL="0">
              <a:lnSpc>
                <a:spcPts val="1500"/>
              </a:lnSpc>
              <a:buNone/>
            </a:pPr>
            <a:r>
              <a:rPr lang="en-US" sz="1150" dirty="0">
                <a:solidFill>
                  <a:srgbClr val="0F172A"/>
                </a:solidFill>
                <a:latin typeface="Plus Jakarta Sans" pitchFamily="34" charset="0"/>
                <a:ea typeface="Plus Jakarta Sans" pitchFamily="34" charset="-122"/>
                <a:cs typeface="Plus Jakarta Sans" pitchFamily="34" charset="-120"/>
              </a:rPr>
              <a:t>Continue monitoring build cache behavior after deployments.</a:t>
            </a:r>
            <a:endParaRPr lang="en-US" sz="1150" dirty="0"/>
          </a:p>
        </p:txBody>
      </p:sp>
      <p:sp>
        <p:nvSpPr>
          <p:cNvPr id="27" name="Shape 24"/>
          <p:cNvSpPr/>
          <p:nvPr/>
        </p:nvSpPr>
        <p:spPr>
          <a:xfrm>
            <a:off x="6400800" y="4617720"/>
            <a:ext cx="219456" cy="219456"/>
          </a:xfrm>
          <a:prstGeom prst="ellipse">
            <a:avLst/>
          </a:prstGeom>
          <a:solidFill>
            <a:srgbClr val="0EA5E9"/>
          </a:solidFill>
          <a:ln w="12700">
            <a:solidFill>
              <a:srgbClr val="0EA5E9"/>
            </a:solidFill>
            <a:prstDash val="solid"/>
          </a:ln>
        </p:spPr>
      </p:sp>
      <p:sp>
        <p:nvSpPr>
          <p:cNvPr id="28" name="Text 25"/>
          <p:cNvSpPr/>
          <p:nvPr/>
        </p:nvSpPr>
        <p:spPr>
          <a:xfrm>
            <a:off x="6766560" y="4544568"/>
            <a:ext cx="4114800" cy="777240"/>
          </a:xfrm>
          <a:prstGeom prst="rect">
            <a:avLst/>
          </a:prstGeom>
          <a:noFill/>
          <a:ln/>
        </p:spPr>
        <p:txBody>
          <a:bodyPr wrap="square" rtlCol="0" anchor="t"/>
          <a:lstStyle/>
          <a:p>
            <a:pPr indent="0" marL="0">
              <a:lnSpc>
                <a:spcPts val="1500"/>
              </a:lnSpc>
              <a:buNone/>
            </a:pPr>
            <a:r>
              <a:rPr lang="en-US" sz="1150" dirty="0">
                <a:solidFill>
                  <a:srgbClr val="0F172A"/>
                </a:solidFill>
                <a:latin typeface="Plus Jakarta Sans" pitchFamily="34" charset="0"/>
                <a:ea typeface="Plus Jakarta Sans" pitchFamily="34" charset="-122"/>
                <a:cs typeface="Plus Jakarta Sans" pitchFamily="34" charset="-120"/>
              </a:rPr>
              <a:t>Investigate any errors or unusual performance changes if they arise.</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pic>
        <p:nvPicPr>
          <p:cNvPr id="2" name="Image 0" descr="white-logo.png">    </p:cNvPr>
          <p:cNvPicPr>
            <a:picLocks noChangeAspect="1"/>
          </p:cNvPicPr>
          <p:nvPr/>
        </p:nvPicPr>
        <p:blipFill>
          <a:blip r:embed="rId1"/>
          <a:stretch>
            <a:fillRect/>
          </a:stretch>
        </p:blipFill>
        <p:spPr>
          <a:xfrm>
            <a:off x="9601200" y="365760"/>
            <a:ext cx="2011680" cy="1097280"/>
          </a:xfrm>
          <a:prstGeom prst="rect">
            <a:avLst/>
          </a:prstGeom>
        </p:spPr>
      </p:pic>
      <p:sp>
        <p:nvSpPr>
          <p:cNvPr id="3" name="Text 0"/>
          <p:cNvSpPr/>
          <p:nvPr/>
        </p:nvSpPr>
        <p:spPr>
          <a:xfrm>
            <a:off x="731520" y="365760"/>
            <a:ext cx="8229600" cy="365760"/>
          </a:xfrm>
          <a:prstGeom prst="rect">
            <a:avLst/>
          </a:prstGeom>
          <a:noFill/>
          <a:ln/>
        </p:spPr>
        <p:txBody>
          <a:bodyPr wrap="square" rtlCol="0" anchor="ctr"/>
          <a:lstStyle/>
          <a:p>
            <a:pPr indent="0" marL="0">
              <a:buNone/>
            </a:pPr>
            <a:r>
              <a:rPr lang="en-US" sz="1300" b="1" dirty="0">
                <a:solidFill>
                  <a:srgbClr val="0EA5E9"/>
                </a:solidFill>
                <a:latin typeface="Outfit" pitchFamily="34" charset="0"/>
                <a:ea typeface="Outfit" pitchFamily="34" charset="-122"/>
                <a:cs typeface="Outfit" pitchFamily="34" charset="-120"/>
              </a:rPr>
              <a:t>Development &amp; Storefront Maintenance Updates</a:t>
            </a:r>
            <a:endParaRPr lang="en-US" sz="1300" dirty="0"/>
          </a:p>
        </p:txBody>
      </p:sp>
      <p:sp>
        <p:nvSpPr>
          <p:cNvPr id="4" name="Text 1"/>
          <p:cNvSpPr/>
          <p:nvPr/>
        </p:nvSpPr>
        <p:spPr>
          <a:xfrm>
            <a:off x="731520" y="731520"/>
            <a:ext cx="9601200" cy="548640"/>
          </a:xfrm>
          <a:prstGeom prst="rect">
            <a:avLst/>
          </a:prstGeom>
          <a:noFill/>
          <a:ln/>
        </p:spPr>
        <p:txBody>
          <a:bodyPr wrap="square" rtlCol="0" anchor="ctr"/>
          <a:lstStyle/>
          <a:p>
            <a:pPr indent="0" marL="0">
              <a:buNone/>
            </a:pPr>
            <a:r>
              <a:rPr lang="en-US" sz="2600" b="1" dirty="0">
                <a:solidFill>
                  <a:srgbClr val="0F172A"/>
                </a:solidFill>
                <a:latin typeface="Outfit" pitchFamily="34" charset="0"/>
                <a:ea typeface="Outfit" pitchFamily="34" charset="-122"/>
                <a:cs typeface="Outfit" pitchFamily="34" charset="-120"/>
              </a:rPr>
              <a:t>Monthly Development Work Completed</a:t>
            </a:r>
            <a:endParaRPr lang="en-US" sz="2600" dirty="0"/>
          </a:p>
        </p:txBody>
      </p:sp>
      <p:sp>
        <p:nvSpPr>
          <p:cNvPr id="5" name="Text 2"/>
          <p:cNvSpPr/>
          <p:nvPr/>
        </p:nvSpPr>
        <p:spPr>
          <a:xfrm>
            <a:off x="731520" y="1371600"/>
            <a:ext cx="10515600" cy="457200"/>
          </a:xfrm>
          <a:prstGeom prst="rect">
            <a:avLst/>
          </a:prstGeom>
          <a:noFill/>
          <a:ln/>
        </p:spPr>
        <p:txBody>
          <a:bodyPr wrap="square" rtlCol="0" anchor="ctr"/>
          <a:lstStyle/>
          <a:p>
            <a:pPr indent="0" marL="0">
              <a:buNone/>
            </a:pPr>
            <a:r>
              <a:rPr lang="en-US" sz="1300" dirty="0">
                <a:solidFill>
                  <a:srgbClr val="64748B"/>
                </a:solidFill>
                <a:latin typeface="Plus Jakarta Sans" pitchFamily="34" charset="0"/>
                <a:ea typeface="Plus Jakarta Sans" pitchFamily="34" charset="-122"/>
                <a:cs typeface="Plus Jakarta Sans" pitchFamily="34" charset="-120"/>
              </a:rPr>
              <a:t>Development work completed this month, as reported by the development team.</a:t>
            </a:r>
            <a:endParaRPr lang="en-US" sz="1300" dirty="0"/>
          </a:p>
        </p:txBody>
      </p:sp>
      <p:sp>
        <p:nvSpPr>
          <p:cNvPr id="6" name="Shape 3"/>
          <p:cNvSpPr/>
          <p:nvPr/>
        </p:nvSpPr>
        <p:spPr>
          <a:xfrm>
            <a:off x="731520" y="1965960"/>
            <a:ext cx="10698480" cy="4206240"/>
          </a:xfrm>
          <a:prstGeom prst="rect">
            <a:avLst>
              <a:gd name="adj" fmla="val 2174"/>
            </a:avLst>
          </a:prstGeom>
          <a:solidFill>
            <a:srgbClr val="F8FAFC"/>
          </a:solidFill>
          <a:ln w="12700">
            <a:solidFill>
              <a:srgbClr val="E2E8F0"/>
            </a:solidFill>
            <a:prstDash val="solid"/>
          </a:ln>
        </p:spPr>
      </p:sp>
      <p:sp>
        <p:nvSpPr>
          <p:cNvPr id="7" name="Shape 4"/>
          <p:cNvSpPr/>
          <p:nvPr/>
        </p:nvSpPr>
        <p:spPr>
          <a:xfrm>
            <a:off x="731520" y="1965960"/>
            <a:ext cx="73152" cy="4206240"/>
          </a:xfrm>
          <a:prstGeom prst="rect">
            <a:avLst/>
          </a:prstGeom>
          <a:solidFill>
            <a:srgbClr val="0EA5E9"/>
          </a:solidFill>
          <a:ln w="12700">
            <a:solidFill>
              <a:srgbClr val="0EA5E9"/>
            </a:solidFill>
            <a:prstDash val="solid"/>
          </a:ln>
        </p:spPr>
      </p:sp>
      <p:sp>
        <p:nvSpPr>
          <p:cNvPr id="8" name="Text 5"/>
          <p:cNvSpPr/>
          <p:nvPr/>
        </p:nvSpPr>
        <p:spPr>
          <a:xfrm>
            <a:off x="960120" y="2057400"/>
            <a:ext cx="3657600" cy="228600"/>
          </a:xfrm>
          <a:prstGeom prst="rect">
            <a:avLst/>
          </a:prstGeom>
          <a:noFill/>
          <a:ln/>
        </p:spPr>
        <p:txBody>
          <a:bodyPr wrap="square" rtlCol="0" anchor="ctr"/>
          <a:lstStyle/>
          <a:p>
            <a:pPr indent="0" marL="0">
              <a:buNone/>
            </a:pPr>
            <a:r>
              <a:rPr lang="en-US" sz="950" b="1" dirty="0">
                <a:solidFill>
                  <a:srgbClr val="64748B"/>
                </a:solidFill>
                <a:latin typeface="Plus Jakarta Sans" pitchFamily="34" charset="0"/>
                <a:ea typeface="Plus Jakarta Sans" pitchFamily="34" charset="-122"/>
                <a:cs typeface="Plus Jakarta Sans" pitchFamily="34" charset="-120"/>
              </a:rPr>
              <a:t>Custom App Dashboard</a:t>
            </a:r>
            <a:endParaRPr lang="en-US" sz="950" dirty="0"/>
          </a:p>
        </p:txBody>
      </p:sp>
      <p:sp>
        <p:nvSpPr>
          <p:cNvPr id="9" name="Text 6"/>
          <p:cNvSpPr/>
          <p:nvPr/>
        </p:nvSpPr>
        <p:spPr>
          <a:xfrm>
            <a:off x="960120" y="2258568"/>
            <a:ext cx="9966960" cy="292608"/>
          </a:xfrm>
          <a:prstGeom prst="rect">
            <a:avLst/>
          </a:prstGeom>
          <a:noFill/>
          <a:ln/>
        </p:spPr>
        <p:txBody>
          <a:bodyPr wrap="square" rtlCol="0" anchor="ctr"/>
          <a:lstStyle/>
          <a:p>
            <a:pPr indent="0" marL="0">
              <a:buNone/>
            </a:pPr>
            <a:r>
              <a:rPr lang="en-US" sz="1500" b="1" dirty="0">
                <a:solidFill>
                  <a:srgbClr val="0F172A"/>
                </a:solidFill>
                <a:latin typeface="Outfit" pitchFamily="34" charset="0"/>
                <a:ea typeface="Outfit" pitchFamily="34" charset="-122"/>
                <a:cs typeface="Outfit" pitchFamily="34" charset="-120"/>
              </a:rPr>
              <a:t>Resend Email option for failed emails</a:t>
            </a:r>
            <a:endParaRPr lang="en-US" sz="1500" dirty="0"/>
          </a:p>
        </p:txBody>
      </p:sp>
      <p:sp>
        <p:nvSpPr>
          <p:cNvPr id="10" name="Text 7"/>
          <p:cNvSpPr/>
          <p:nvPr/>
        </p:nvSpPr>
        <p:spPr>
          <a:xfrm>
            <a:off x="960120" y="2569464"/>
            <a:ext cx="9966960" cy="457200"/>
          </a:xfrm>
          <a:prstGeom prst="rect">
            <a:avLst/>
          </a:prstGeom>
          <a:noFill/>
          <a:ln/>
        </p:spPr>
        <p:txBody>
          <a:bodyPr wrap="square" rtlCol="0" anchor="ctr"/>
          <a:lstStyle/>
          <a:p>
            <a:pPr indent="0" marL="0">
              <a:lnSpc>
                <a:spcPts val="1500"/>
              </a:lnSpc>
              <a:buNone/>
            </a:pPr>
            <a:r>
              <a:rPr lang="en-US" sz="1150" dirty="0">
                <a:solidFill>
                  <a:srgbClr val="0F172A"/>
                </a:solidFill>
                <a:latin typeface="Plus Jakarta Sans" pitchFamily="34" charset="0"/>
                <a:ea typeface="Plus Jakarta Sans" pitchFamily="34" charset="-122"/>
                <a:cs typeface="Plus Jakarta Sans" pitchFamily="34" charset="-120"/>
              </a:rPr>
              <a:t>Added a Resend Email option for failed emails in the Email Logs module. The resending was implemented and verified, and a test email confirmed it works as expected.</a:t>
            </a:r>
            <a:endParaRPr lang="en-US" sz="1150" dirty="0"/>
          </a:p>
        </p:txBody>
      </p:sp>
      <p:sp>
        <p:nvSpPr>
          <p:cNvPr id="11" name="Text 8"/>
          <p:cNvSpPr/>
          <p:nvPr/>
        </p:nvSpPr>
        <p:spPr>
          <a:xfrm>
            <a:off x="960120" y="5806440"/>
            <a:ext cx="9966960" cy="365760"/>
          </a:xfrm>
          <a:prstGeom prst="rect">
            <a:avLst/>
          </a:prstGeom>
          <a:noFill/>
          <a:ln/>
        </p:spPr>
        <p:txBody>
          <a:bodyPr wrap="square" rtlCol="0" anchor="ctr"/>
          <a:lstStyle/>
          <a:p>
            <a:pPr indent="0" marL="0">
              <a:lnSpc>
                <a:spcPts val="1400"/>
              </a:lnSpc>
              <a:buNone/>
            </a:pPr>
            <a:r>
              <a:rPr lang="en-US" sz="1100" b="1" dirty="0">
                <a:solidFill>
                  <a:srgbClr val="10B981"/>
                </a:solidFill>
                <a:latin typeface="Plus Jakarta Sans" pitchFamily="34" charset="0"/>
                <a:ea typeface="Plus Jakarta Sans" pitchFamily="34" charset="-122"/>
                <a:cs typeface="Plus Jakarta Sans" pitchFamily="34" charset="-120"/>
              </a:rPr>
              <a:t>Client impact: </a:t>
            </a:r>
            <a:pPr indent="0" marL="0">
              <a:lnSpc>
                <a:spcPts val="1400"/>
              </a:lnSpc>
              <a:buNone/>
            </a:pPr>
            <a:r>
              <a:rPr lang="en-US" sz="1100" dirty="0">
                <a:solidFill>
                  <a:srgbClr val="0F172A"/>
                </a:solidFill>
                <a:latin typeface="Plus Jakarta Sans" pitchFamily="34" charset="0"/>
                <a:ea typeface="Plus Jakarta Sans" pitchFamily="34" charset="-122"/>
                <a:cs typeface="Plus Jakarta Sans" pitchFamily="34" charset="-120"/>
              </a:rPr>
              <a:t>Failed notification emails can be sent again from the dashboard.</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pic>
        <p:nvPicPr>
          <p:cNvPr id="2" name="Image 0" descr="white-logo.png">    </p:cNvPr>
          <p:cNvPicPr>
            <a:picLocks noChangeAspect="1"/>
          </p:cNvPicPr>
          <p:nvPr/>
        </p:nvPicPr>
        <p:blipFill>
          <a:blip r:embed="rId1"/>
          <a:stretch>
            <a:fillRect/>
          </a:stretch>
        </p:blipFill>
        <p:spPr>
          <a:xfrm>
            <a:off x="9601200" y="365760"/>
            <a:ext cx="2011680" cy="1097280"/>
          </a:xfrm>
          <a:prstGeom prst="rect">
            <a:avLst/>
          </a:prstGeom>
        </p:spPr>
      </p:pic>
      <p:sp>
        <p:nvSpPr>
          <p:cNvPr id="3" name="Text 0"/>
          <p:cNvSpPr/>
          <p:nvPr/>
        </p:nvSpPr>
        <p:spPr>
          <a:xfrm>
            <a:off x="731520" y="1097280"/>
            <a:ext cx="10515600" cy="914400"/>
          </a:xfrm>
          <a:prstGeom prst="rect">
            <a:avLst/>
          </a:prstGeom>
          <a:noFill/>
          <a:ln/>
        </p:spPr>
        <p:txBody>
          <a:bodyPr wrap="square" rtlCol="0" anchor="ctr"/>
          <a:lstStyle/>
          <a:p>
            <a:pPr indent="0" marL="0">
              <a:buNone/>
            </a:pPr>
            <a:r>
              <a:rPr lang="en-US" sz="4400" b="1" dirty="0">
                <a:solidFill>
                  <a:srgbClr val="0F172A"/>
                </a:solidFill>
                <a:latin typeface="Outfit" pitchFamily="34" charset="0"/>
                <a:ea typeface="Outfit" pitchFamily="34" charset="-122"/>
                <a:cs typeface="Outfit" pitchFamily="34" charset="-120"/>
              </a:rPr>
              <a:t>Thank You!</a:t>
            </a:r>
            <a:endParaRPr lang="en-US" sz="4400" dirty="0"/>
          </a:p>
        </p:txBody>
      </p:sp>
      <p:sp>
        <p:nvSpPr>
          <p:cNvPr id="4" name="Text 1"/>
          <p:cNvSpPr/>
          <p:nvPr/>
        </p:nvSpPr>
        <p:spPr>
          <a:xfrm>
            <a:off x="731520" y="2011680"/>
            <a:ext cx="10515600" cy="548640"/>
          </a:xfrm>
          <a:prstGeom prst="rect">
            <a:avLst/>
          </a:prstGeom>
          <a:noFill/>
          <a:ln/>
        </p:spPr>
        <p:txBody>
          <a:bodyPr wrap="square" rtlCol="0" anchor="ctr"/>
          <a:lstStyle/>
          <a:p>
            <a:pPr indent="0" marL="0">
              <a:buNone/>
            </a:pPr>
            <a:r>
              <a:rPr lang="en-US" sz="1600" dirty="0">
                <a:solidFill>
                  <a:srgbClr val="0EA5E9"/>
                </a:solidFill>
                <a:latin typeface="Outfit" pitchFamily="34" charset="0"/>
                <a:ea typeface="Outfit" pitchFamily="34" charset="-122"/>
                <a:cs typeface="Outfit" pitchFamily="34" charset="-120"/>
              </a:rPr>
              <a:t>We are committed to maintaining, future-proofing, and optimizing your storefront.</a:t>
            </a:r>
            <a:endParaRPr lang="en-US" sz="1600" dirty="0"/>
          </a:p>
        </p:txBody>
      </p:sp>
      <p:sp>
        <p:nvSpPr>
          <p:cNvPr id="5" name="Text 2"/>
          <p:cNvSpPr/>
          <p:nvPr/>
        </p:nvSpPr>
        <p:spPr>
          <a:xfrm>
            <a:off x="731520" y="2560320"/>
            <a:ext cx="9144000" cy="548640"/>
          </a:xfrm>
          <a:prstGeom prst="rect">
            <a:avLst/>
          </a:prstGeom>
          <a:noFill/>
          <a:ln/>
        </p:spPr>
        <p:txBody>
          <a:bodyPr wrap="square" rtlCol="0" anchor="ctr"/>
          <a:lstStyle/>
          <a:p>
            <a:pPr indent="0" marL="0">
              <a:buNone/>
            </a:pPr>
            <a:r>
              <a:rPr lang="en-US" sz="1350" dirty="0">
                <a:solidFill>
                  <a:srgbClr val="64748B"/>
                </a:solidFill>
                <a:latin typeface="Plus Jakarta Sans" pitchFamily="34" charset="0"/>
                <a:ea typeface="Plus Jakarta Sans" pitchFamily="34" charset="-122"/>
                <a:cs typeface="Plus Jakarta Sans" pitchFamily="34" charset="-120"/>
              </a:rPr>
              <a:t>If you have questions regarding this report, please connect with your account engineer.</a:t>
            </a:r>
            <a:endParaRPr lang="en-US" sz="1350" dirty="0"/>
          </a:p>
        </p:txBody>
      </p:sp>
      <p:sp>
        <p:nvSpPr>
          <p:cNvPr id="6" name="Text 3"/>
          <p:cNvSpPr/>
          <p:nvPr/>
        </p:nvSpPr>
        <p:spPr>
          <a:xfrm>
            <a:off x="731520" y="3749040"/>
            <a:ext cx="4572000" cy="914400"/>
          </a:xfrm>
          <a:prstGeom prst="rect">
            <a:avLst/>
          </a:prstGeom>
          <a:noFill/>
          <a:ln/>
        </p:spPr>
        <p:txBody>
          <a:bodyPr wrap="square" rtlCol="0" anchor="ctr"/>
          <a:lstStyle/>
          <a:p>
            <a:pPr indent="0" marL="0">
              <a:buNone/>
            </a:pPr>
            <a:r>
              <a:rPr lang="en-US" sz="1300" dirty="0">
                <a:solidFill>
                  <a:srgbClr val="0F172A"/>
                </a:solidFill>
                <a:latin typeface="Plus Jakarta Sans" pitchFamily="34" charset="0"/>
                <a:ea typeface="Plus Jakarta Sans" pitchFamily="34" charset="-122"/>
                <a:cs typeface="Plus Jakarta Sans" pitchFamily="34" charset="-120"/>
              </a:rPr>
              <a:t>United States Office</a:t>
            </a:r>
            <a:endParaRPr lang="en-US" sz="1300" dirty="0"/>
          </a:p>
          <a:p>
            <a:pPr indent="0" marL="0">
              <a:buNone/>
            </a:pPr>
            <a:r>
              <a:rPr lang="en-US" sz="1300" dirty="0">
                <a:solidFill>
                  <a:srgbClr val="0F172A"/>
                </a:solidFill>
                <a:latin typeface="Plus Jakarta Sans" pitchFamily="34" charset="0"/>
                <a:ea typeface="Plus Jakarta Sans" pitchFamily="34" charset="-122"/>
                <a:cs typeface="Plus Jakarta Sans" pitchFamily="34" charset="-120"/>
              </a:rPr>
              <a:t>98 Cutter Mill Rd, Great Neck, NY 11021, USA</a:t>
            </a:r>
            <a:endParaRPr lang="en-US" sz="1300" dirty="0"/>
          </a:p>
        </p:txBody>
      </p:sp>
      <p:sp>
        <p:nvSpPr>
          <p:cNvPr id="7" name="Text 4"/>
          <p:cNvSpPr/>
          <p:nvPr/>
        </p:nvSpPr>
        <p:spPr>
          <a:xfrm>
            <a:off x="5943600" y="3749040"/>
            <a:ext cx="4572000" cy="914400"/>
          </a:xfrm>
          <a:prstGeom prst="rect">
            <a:avLst/>
          </a:prstGeom>
          <a:noFill/>
          <a:ln/>
        </p:spPr>
        <p:txBody>
          <a:bodyPr wrap="square" rtlCol="0" anchor="ctr"/>
          <a:lstStyle/>
          <a:p>
            <a:pPr indent="0" marL="0">
              <a:buNone/>
            </a:pPr>
            <a:r>
              <a:rPr lang="en-US" sz="1300" dirty="0">
                <a:solidFill>
                  <a:srgbClr val="0F172A"/>
                </a:solidFill>
                <a:latin typeface="Plus Jakarta Sans" pitchFamily="34" charset="0"/>
                <a:ea typeface="Plus Jakarta Sans" pitchFamily="34" charset="-122"/>
                <a:cs typeface="Plus Jakarta Sans" pitchFamily="34" charset="-120"/>
              </a:rPr>
              <a:t>Canada Office</a:t>
            </a:r>
            <a:endParaRPr lang="en-US" sz="1300" dirty="0"/>
          </a:p>
          <a:p>
            <a:pPr indent="0" marL="0">
              <a:buNone/>
            </a:pPr>
            <a:r>
              <a:rPr lang="en-US" sz="1300" dirty="0">
                <a:solidFill>
                  <a:srgbClr val="0F172A"/>
                </a:solidFill>
                <a:latin typeface="Plus Jakarta Sans" pitchFamily="34" charset="0"/>
                <a:ea typeface="Plus Jakarta Sans" pitchFamily="34" charset="-122"/>
                <a:cs typeface="Plus Jakarta Sans" pitchFamily="34" charset="-120"/>
              </a:rPr>
              <a:t>150 King Street W, Toronto, ON M5H 1J9, Canada</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2026-10-28T10:13:51Z</dcterms:created>
  <dcterms:modified xsi:type="dcterms:W3CDTF">2026-10-28T10:13:51Z</dcterms:modified>
</cp:coreProperties>
</file>