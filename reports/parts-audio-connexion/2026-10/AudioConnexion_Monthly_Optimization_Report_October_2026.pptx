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731520" y="731520"/>
            <a:ext cx="2011680" cy="1097280"/>
          </a:xfrm>
          <a:prstGeom prst="rect">
            <a:avLst/>
          </a:prstGeom>
        </p:spPr>
      </p:pic>
      <p:sp>
        <p:nvSpPr>
          <p:cNvPr id="3" name="Text 0"/>
          <p:cNvSpPr/>
          <p:nvPr/>
        </p:nvSpPr>
        <p:spPr>
          <a:xfrm>
            <a:off x="731520" y="2011680"/>
            <a:ext cx="10515600" cy="1188720"/>
          </a:xfrm>
          <a:prstGeom prst="rect">
            <a:avLst/>
          </a:prstGeom>
          <a:noFill/>
          <a:ln/>
        </p:spPr>
        <p:txBody>
          <a:bodyPr wrap="square" rtlCol="0" anchor="ctr"/>
          <a:lstStyle/>
          <a:p>
            <a:pPr indent="0" marL="0">
              <a:buNone/>
            </a:pPr>
            <a:r>
              <a:rPr lang="en-US" sz="3600" b="1" dirty="0">
                <a:solidFill>
                  <a:srgbClr val="0F172A"/>
                </a:solidFill>
                <a:latin typeface="Outfit" pitchFamily="34" charset="0"/>
                <a:ea typeface="Outfit" pitchFamily="34" charset="-122"/>
                <a:cs typeface="Outfit" pitchFamily="34" charset="-120"/>
              </a:rPr>
              <a:t>Monthly Optimization &amp; Operations Report</a:t>
            </a:r>
            <a:endParaRPr lang="en-US" sz="3600" dirty="0"/>
          </a:p>
        </p:txBody>
      </p:sp>
      <p:sp>
        <p:nvSpPr>
          <p:cNvPr id="4" name="Text 1"/>
          <p:cNvSpPr/>
          <p:nvPr/>
        </p:nvSpPr>
        <p:spPr>
          <a:xfrm>
            <a:off x="731520" y="3291840"/>
            <a:ext cx="10515600" cy="457200"/>
          </a:xfrm>
          <a:prstGeom prst="rect">
            <a:avLst/>
          </a:prstGeom>
          <a:noFill/>
          <a:ln/>
        </p:spPr>
        <p:txBody>
          <a:bodyPr wrap="square" rtlCol="0" anchor="ctr"/>
          <a:lstStyle/>
          <a:p>
            <a:pPr indent="0" marL="0">
              <a:buNone/>
            </a:pPr>
            <a:r>
              <a:rPr lang="en-US" sz="1800" dirty="0">
                <a:solidFill>
                  <a:srgbClr val="0EA5E9"/>
                </a:solidFill>
                <a:latin typeface="Outfit" pitchFamily="34" charset="0"/>
                <a:ea typeface="Outfit" pitchFamily="34" charset="-122"/>
                <a:cs typeface="Outfit" pitchFamily="34" charset="-120"/>
              </a:rPr>
              <a:t>audio-connexion.com — 2026-10 Comprehensive Audit &amp; Executive Deck</a:t>
            </a:r>
            <a:endParaRPr lang="en-US" sz="1800" dirty="0"/>
          </a:p>
        </p:txBody>
      </p:sp>
      <p:sp>
        <p:nvSpPr>
          <p:cNvPr id="5" name="Shape 2"/>
          <p:cNvSpPr/>
          <p:nvPr/>
        </p:nvSpPr>
        <p:spPr>
          <a:xfrm>
            <a:off x="731520" y="4206240"/>
            <a:ext cx="2286000" cy="45720"/>
          </a:xfrm>
          <a:prstGeom prst="rect">
            <a:avLst/>
          </a:prstGeom>
          <a:solidFill>
            <a:srgbClr val="0EA5E9"/>
          </a:solidFill>
          <a:ln/>
        </p:spPr>
      </p:sp>
      <p:sp>
        <p:nvSpPr>
          <p:cNvPr id="6" name="Text 3"/>
          <p:cNvSpPr/>
          <p:nvPr/>
        </p:nvSpPr>
        <p:spPr>
          <a:xfrm>
            <a:off x="731520" y="4572000"/>
            <a:ext cx="7315200" cy="365760"/>
          </a:xfrm>
          <a:prstGeom prst="rect">
            <a:avLst/>
          </a:prstGeom>
          <a:noFill/>
          <a:ln/>
        </p:spPr>
        <p:txBody>
          <a:bodyPr wrap="square" rtlCol="0" anchor="ctr"/>
          <a:lstStyle/>
          <a:p>
            <a:pPr indent="0" marL="0">
              <a:buNone/>
            </a:pPr>
            <a:r>
              <a:rPr lang="en-US" sz="1300" dirty="0">
                <a:solidFill>
                  <a:srgbClr val="64748B"/>
                </a:solidFill>
                <a:latin typeface="Plus Jakarta Sans" pitchFamily="34" charset="0"/>
                <a:ea typeface="Plus Jakarta Sans" pitchFamily="34" charset="-122"/>
                <a:cs typeface="Plus Jakarta Sans" pitchFamily="34" charset="-120"/>
              </a:rPr>
              <a:t>Prepared by WebDesk Solution Maintenance &amp; QA Engineering Team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Monthly Maintenance Statement</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Proactive Data Protection &amp; Backup Operations</a:t>
            </a:r>
            <a:endParaRPr lang="en-US" sz="2600" dirty="0"/>
          </a:p>
        </p:txBody>
      </p:sp>
      <p:sp>
        <p:nvSpPr>
          <p:cNvPr id="5" name="Text 2"/>
          <p:cNvSpPr/>
          <p:nvPr/>
        </p:nvSpPr>
        <p:spPr>
          <a:xfrm>
            <a:off x="731520" y="1645920"/>
            <a:ext cx="5486400" cy="3200400"/>
          </a:xfrm>
          <a:prstGeom prst="rect">
            <a:avLst/>
          </a:prstGeom>
          <a:noFill/>
          <a:ln/>
        </p:spPr>
        <p:txBody>
          <a:bodyPr wrap="square" rtlCol="0" anchor="ctr"/>
          <a:lstStyle/>
          <a:p>
            <a:pPr indent="0" marL="0">
              <a:lnSpc>
                <a:spcPts val="2200"/>
              </a:lnSpc>
              <a:buNone/>
            </a:pPr>
            <a:r>
              <a:rPr lang="en-US" sz="1400" dirty="0">
                <a:solidFill>
                  <a:srgbClr val="0F172A"/>
                </a:solidFill>
                <a:latin typeface="Plus Jakarta Sans" pitchFamily="34" charset="0"/>
                <a:ea typeface="Plus Jakarta Sans" pitchFamily="34" charset="-122"/>
                <a:cs typeface="Plus Jakarta Sans" pitchFamily="34" charset="-120"/>
              </a:rPr>
              <a:t>Every month we look after your store's security, speed and reliability, so you can focus on running the business. Regular backups keep your data, databases and theme safe, and automated checks watch the store around the clock.</a:t>
            </a:r>
            <a:endParaRPr lang="en-US" sz="1400" dirty="0"/>
          </a:p>
          <a:p>
            <a:pPr indent="0" marL="0">
              <a:lnSpc>
                <a:spcPts val="2200"/>
              </a:lnSpc>
              <a:buNone/>
            </a:pPr>
            <a:endParaRPr lang="en-US" sz="1400" dirty="0"/>
          </a:p>
          <a:p>
            <a:pPr indent="0" marL="0">
              <a:lnSpc>
                <a:spcPts val="2200"/>
              </a:lnSpc>
              <a:buNone/>
            </a:pPr>
            <a:r>
              <a:rPr lang="en-US" sz="1400" dirty="0">
                <a:solidFill>
                  <a:srgbClr val="0F172A"/>
                </a:solidFill>
                <a:latin typeface="Plus Jakarta Sans" pitchFamily="34" charset="0"/>
                <a:ea typeface="Plus Jakarta Sans" pitchFamily="34" charset="-122"/>
                <a:cs typeface="Plus Jakarta Sans" pitchFamily="34" charset="-120"/>
              </a:rPr>
              <a:t>This month's focus: security. We added a digital seal to an outside tool on your store, so a tampered script can't run on your pages or near your checkout. The pages that follow show what we caught, what we fixed and what comes next.</a:t>
            </a:r>
            <a:endParaRPr lang="en-US" sz="1400" dirty="0"/>
          </a:p>
        </p:txBody>
      </p:sp>
      <p:sp>
        <p:nvSpPr>
          <p:cNvPr id="6" name="Shape 3"/>
          <p:cNvSpPr/>
          <p:nvPr/>
        </p:nvSpPr>
        <p:spPr>
          <a:xfrm>
            <a:off x="6766560" y="1645920"/>
            <a:ext cx="4572000" cy="3200400"/>
          </a:xfrm>
          <a:prstGeom prst="rect">
            <a:avLst>
              <a:gd name="adj" fmla="val 2857"/>
            </a:avLst>
          </a:prstGeom>
          <a:solidFill>
            <a:srgbClr val="F8FAFC"/>
          </a:solidFill>
          <a:ln w="12700">
            <a:solidFill>
              <a:srgbClr val="E2E8F0"/>
            </a:solidFill>
            <a:prstDash val="solid"/>
          </a:ln>
        </p:spPr>
      </p:sp>
      <p:sp>
        <p:nvSpPr>
          <p:cNvPr id="7" name="Text 4"/>
          <p:cNvSpPr/>
          <p:nvPr/>
        </p:nvSpPr>
        <p:spPr>
          <a:xfrm>
            <a:off x="7040880" y="1920240"/>
            <a:ext cx="402336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BACKUP VERIFICATION LOG</a:t>
            </a:r>
            <a:endParaRPr lang="en-US" sz="1100" dirty="0"/>
          </a:p>
        </p:txBody>
      </p:sp>
      <p:sp>
        <p:nvSpPr>
          <p:cNvPr id="8" name="Text 5"/>
          <p:cNvSpPr/>
          <p:nvPr/>
        </p:nvSpPr>
        <p:spPr>
          <a:xfrm>
            <a:off x="7040880" y="2286000"/>
            <a:ext cx="4023360" cy="457200"/>
          </a:xfrm>
          <a:prstGeom prst="rect">
            <a:avLst/>
          </a:prstGeom>
          <a:noFill/>
          <a:ln/>
        </p:spPr>
        <p:txBody>
          <a:bodyPr wrap="square" rtlCol="0" anchor="ctr"/>
          <a:lstStyle/>
          <a:p>
            <a:pPr indent="0" marL="0">
              <a:buNone/>
            </a:pPr>
            <a:r>
              <a:rPr lang="en-US" sz="2000" b="1" dirty="0">
                <a:solidFill>
                  <a:srgbClr val="10B981"/>
                </a:solidFill>
                <a:latin typeface="Outfit" pitchFamily="34" charset="0"/>
                <a:ea typeface="Outfit" pitchFamily="34" charset="-122"/>
                <a:cs typeface="Outfit" pitchFamily="34" charset="-120"/>
              </a:rPr>
              <a:t>Backup Status: SECURED</a:t>
            </a:r>
            <a:endParaRPr lang="en-US" sz="2000" dirty="0"/>
          </a:p>
        </p:txBody>
      </p:sp>
      <p:sp>
        <p:nvSpPr>
          <p:cNvPr id="9" name="Text 6"/>
          <p:cNvSpPr/>
          <p:nvPr/>
        </p:nvSpPr>
        <p:spPr>
          <a:xfrm>
            <a:off x="7040880" y="2926080"/>
            <a:ext cx="4023360" cy="182880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Database Backup:</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 Compressed SQL database tables archived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 Customer accounts &amp; order records secured</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Source Code &amp; Theme Backup:</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 Active storefront theme &amp; code cloned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 Product catalog media &amp; config assets cached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Availability &amp; Latency</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Uptime &amp; Initial Response Time (TTFB)</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30-DAY STOREFRONT AVAILABILITY</a:t>
            </a:r>
            <a:endParaRPr lang="en-US" sz="1100" dirty="0"/>
          </a:p>
        </p:txBody>
      </p:sp>
      <p:sp>
        <p:nvSpPr>
          <p:cNvPr id="7" name="Text 4"/>
          <p:cNvSpPr/>
          <p:nvPr/>
        </p:nvSpPr>
        <p:spPr>
          <a:xfrm>
            <a:off x="1005840" y="2286000"/>
            <a:ext cx="4572000" cy="731520"/>
          </a:xfrm>
          <a:prstGeom prst="rect">
            <a:avLst/>
          </a:prstGeom>
          <a:noFill/>
          <a:ln/>
        </p:spPr>
        <p:txBody>
          <a:bodyPr wrap="square" rtlCol="0" anchor="ctr"/>
          <a:lstStyle/>
          <a:p>
            <a:pPr indent="0" marL="0">
              <a:buNone/>
            </a:pPr>
            <a:r>
              <a:rPr lang="en-US" sz="4800" b="1" dirty="0">
                <a:solidFill>
                  <a:srgbClr val="10B981"/>
                </a:solidFill>
                <a:latin typeface="Outfit" pitchFamily="34" charset="0"/>
                <a:ea typeface="Outfit" pitchFamily="34" charset="-122"/>
                <a:cs typeface="Outfit" pitchFamily="34" charset="-120"/>
              </a:rPr>
              <a:t>100% Uptime</a:t>
            </a:r>
            <a:endParaRPr lang="en-US" sz="4800" dirty="0"/>
          </a:p>
        </p:txBody>
      </p:sp>
      <p:sp>
        <p:nvSpPr>
          <p:cNvPr id="8" name="Text 5"/>
          <p:cNvSpPr/>
          <p:nvPr/>
        </p:nvSpPr>
        <p:spPr>
          <a:xfrm>
            <a:off x="1005840" y="3291840"/>
            <a:ext cx="4572000" cy="1463040"/>
          </a:xfrm>
          <a:prstGeom prst="rect">
            <a:avLst/>
          </a:prstGeom>
          <a:noFill/>
          <a:ln/>
        </p:spPr>
        <p:txBody>
          <a:bodyPr wrap="square" rtlCol="0" anchor="ctr"/>
          <a:lstStyle/>
          <a:p>
            <a:pPr indent="0" marL="0">
              <a:lnSpc>
                <a:spcPts val="1800"/>
              </a:lnSpc>
              <a:buNone/>
            </a:pPr>
            <a:r>
              <a:rPr lang="en-US" sz="1300" dirty="0">
                <a:solidFill>
                  <a:srgbClr val="64748B"/>
                </a:solidFill>
                <a:latin typeface="Plus Jakarta Sans" pitchFamily="34" charset="0"/>
                <a:ea typeface="Plus Jakarta Sans" pitchFamily="34" charset="-122"/>
                <a:cs typeface="Plus Jakarta Sans" pitchFamily="34" charset="-120"/>
              </a:rPr>
              <a:t>Continuous health monitoring measured 100% availability over the last 30 days.</a:t>
            </a:r>
            <a:endParaRPr lang="en-US" sz="1300" dirty="0"/>
          </a:p>
        </p:txBody>
      </p:sp>
      <p:sp>
        <p:nvSpPr>
          <p:cNvPr id="9" name="Shape 6"/>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0" name="Text 7"/>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SERVER LATENCY &amp; HEALTH PROBES</a:t>
            </a:r>
            <a:endParaRPr lang="en-US" sz="1100" dirty="0"/>
          </a:p>
        </p:txBody>
      </p:sp>
      <p:sp>
        <p:nvSpPr>
          <p:cNvPr id="11" name="Text 8"/>
          <p:cNvSpPr/>
          <p:nvPr/>
        </p:nvSpPr>
        <p:spPr>
          <a:xfrm>
            <a:off x="6492240" y="2286000"/>
            <a:ext cx="4572000" cy="731520"/>
          </a:xfrm>
          <a:prstGeom prst="rect">
            <a:avLst/>
          </a:prstGeom>
          <a:noFill/>
          <a:ln/>
        </p:spPr>
        <p:txBody>
          <a:bodyPr wrap="square" rtlCol="0" anchor="ctr"/>
          <a:lstStyle/>
          <a:p>
            <a:pPr indent="0" marL="0">
              <a:buNone/>
            </a:pPr>
            <a:r>
              <a:rPr lang="en-US" sz="4800" b="1" dirty="0">
                <a:solidFill>
                  <a:srgbClr val="0EA5E9"/>
                </a:solidFill>
                <a:latin typeface="Outfit" pitchFamily="34" charset="0"/>
                <a:ea typeface="Outfit" pitchFamily="34" charset="-122"/>
                <a:cs typeface="Outfit" pitchFamily="34" charset="-120"/>
              </a:rPr>
              <a:t>404 ms</a:t>
            </a:r>
            <a:endParaRPr lang="en-US" sz="4800" dirty="0"/>
          </a:p>
        </p:txBody>
      </p:sp>
      <p:sp>
        <p:nvSpPr>
          <p:cNvPr id="12" name="Text 9"/>
          <p:cNvSpPr/>
          <p:nvPr/>
        </p:nvSpPr>
        <p:spPr>
          <a:xfrm>
            <a:off x="6492240" y="3200400"/>
            <a:ext cx="4572000" cy="1645920"/>
          </a:xfrm>
          <a:prstGeom prst="rect">
            <a:avLst/>
          </a:prstGeom>
          <a:noFill/>
          <a:ln/>
        </p:spPr>
        <p:txBody>
          <a:bodyPr wrap="square" rtlCol="0" anchor="ctr"/>
          <a:lstStyle/>
          <a:p>
            <a:pPr indent="0" marL="0">
              <a:lnSpc>
                <a:spcPts val="1600"/>
              </a:lnSpc>
              <a:buNone/>
            </a:pPr>
            <a:r>
              <a:rPr lang="en-US" sz="1300" dirty="0">
                <a:solidFill>
                  <a:srgbClr val="0F172A"/>
                </a:solidFill>
                <a:latin typeface="Plus Jakarta Sans" pitchFamily="34" charset="0"/>
                <a:ea typeface="Plus Jakarta Sans" pitchFamily="34" charset="-122"/>
                <a:cs typeface="Plus Jakarta Sans" pitchFamily="34" charset="-120"/>
              </a:rPr>
              <a:t>• Server response time: 404 ms (fast)</a:t>
            </a:r>
            <a:endParaRPr lang="en-US" sz="1300" dirty="0"/>
          </a:p>
          <a:p>
            <a:pPr indent="0" marL="0">
              <a:lnSpc>
                <a:spcPts val="1600"/>
              </a:lnSpc>
              <a:buNone/>
            </a:pPr>
            <a:endParaRPr lang="en-US" sz="1300" dirty="0"/>
          </a:p>
          <a:p>
            <a:pPr indent="0" marL="0">
              <a:lnSpc>
                <a:spcPts val="1600"/>
              </a:lnSpc>
              <a:buNone/>
            </a:pPr>
            <a:r>
              <a:rPr lang="en-US" sz="1300" dirty="0">
                <a:solidFill>
                  <a:srgbClr val="0F172A"/>
                </a:solidFill>
                <a:latin typeface="Plus Jakarta Sans" pitchFamily="34" charset="0"/>
                <a:ea typeface="Plus Jakarta Sans" pitchFamily="34" charset="-122"/>
                <a:cs typeface="Plus Jakarta Sans" pitchFamily="34" charset="-120"/>
              </a:rPr>
              <a:t>• Storefront status: Online, responding normally</a:t>
            </a:r>
            <a:endParaRPr lang="en-US" sz="1300" dirty="0"/>
          </a:p>
          <a:p>
            <a:pPr indent="0" marL="0">
              <a:lnSpc>
                <a:spcPts val="1600"/>
              </a:lnSpc>
              <a:buNone/>
            </a:pPr>
            <a:endParaRPr lang="en-US" sz="1300" dirty="0"/>
          </a:p>
          <a:p>
            <a:pPr indent="0" marL="0">
              <a:lnSpc>
                <a:spcPts val="1600"/>
              </a:lnSpc>
              <a:buNone/>
            </a:pPr>
            <a:r>
              <a:rPr lang="en-US" sz="1300" dirty="0">
                <a:solidFill>
                  <a:srgbClr val="0F172A"/>
                </a:solidFill>
                <a:latin typeface="Plus Jakarta Sans" pitchFamily="34" charset="0"/>
                <a:ea typeface="Plus Jakarta Sans" pitchFamily="34" charset="-122"/>
                <a:cs typeface="Plus Jakarta Sans" pitchFamily="34" charset="-120"/>
              </a:rPr>
              <a:t>• Redirects before the page loads: 0</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Page Loading Experience (Core Web Vitals)</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Core Web Vitals Assessment: PASSED</a:t>
            </a:r>
            <a:endParaRPr lang="en-US" sz="2600" dirty="0"/>
          </a:p>
        </p:txBody>
      </p:sp>
      <p:sp>
        <p:nvSpPr>
          <p:cNvPr id="5" name="Text 2"/>
          <p:cNvSpPr/>
          <p:nvPr/>
        </p:nvSpPr>
        <p:spPr>
          <a:xfrm>
            <a:off x="731520" y="1463040"/>
            <a:ext cx="10515600" cy="731520"/>
          </a:xfrm>
          <a:prstGeom prst="rect">
            <a:avLst/>
          </a:prstGeom>
          <a:noFill/>
          <a:ln/>
        </p:spPr>
        <p:txBody>
          <a:bodyPr wrap="square" rtlCol="0" anchor="ctr"/>
          <a:lstStyle/>
          <a:p>
            <a:pPr indent="0" marL="0">
              <a:buNone/>
            </a:pPr>
            <a:r>
              <a:rPr lang="en-US" sz="1400" dirty="0">
                <a:solidFill>
                  <a:srgbClr val="64748B"/>
                </a:solidFill>
                <a:latin typeface="Plus Jakarta Sans" pitchFamily="34" charset="0"/>
                <a:ea typeface="Plus Jakarta Sans" pitchFamily="34" charset="-122"/>
                <a:cs typeface="Plus Jakarta Sans" pitchFamily="34" charset="-120"/>
              </a:rPr>
              <a:t>Core Web Vitals are Google's measures of how quickly a page shows its main content and how stable it looks while loading. These figures come from this month's desktop speed test of your homepage.</a:t>
            </a:r>
            <a:endParaRPr lang="en-US" sz="1400" dirty="0"/>
          </a:p>
        </p:txBody>
      </p:sp>
      <p:sp>
        <p:nvSpPr>
          <p:cNvPr id="6" name="Shape 3"/>
          <p:cNvSpPr/>
          <p:nvPr/>
        </p:nvSpPr>
        <p:spPr>
          <a:xfrm>
            <a:off x="731520" y="2377440"/>
            <a:ext cx="4937760" cy="2560320"/>
          </a:xfrm>
          <a:prstGeom prst="rect">
            <a:avLst>
              <a:gd name="adj" fmla="val 3571"/>
            </a:avLst>
          </a:prstGeom>
          <a:solidFill>
            <a:srgbClr val="F8FAFC"/>
          </a:solidFill>
          <a:ln w="12700">
            <a:solidFill>
              <a:srgbClr val="E2E8F0"/>
            </a:solidFill>
            <a:prstDash val="solid"/>
          </a:ln>
        </p:spPr>
      </p:sp>
      <p:sp>
        <p:nvSpPr>
          <p:cNvPr id="7" name="Text 4"/>
          <p:cNvSpPr/>
          <p:nvPr/>
        </p:nvSpPr>
        <p:spPr>
          <a:xfrm>
            <a:off x="1005840" y="2651760"/>
            <a:ext cx="4389120" cy="365760"/>
          </a:xfrm>
          <a:prstGeom prst="rect">
            <a:avLst/>
          </a:prstGeom>
          <a:noFill/>
          <a:ln/>
        </p:spPr>
        <p:txBody>
          <a:bodyPr wrap="square" rtlCol="0" anchor="ctr"/>
          <a:lstStyle/>
          <a:p>
            <a:pPr indent="0" marL="0">
              <a:buNone/>
            </a:pPr>
            <a:r>
              <a:rPr lang="en-US" sz="1600" b="1" dirty="0">
                <a:solidFill>
                  <a:srgbClr val="075985"/>
                </a:solidFill>
                <a:latin typeface="Outfit" pitchFamily="34" charset="0"/>
                <a:ea typeface="Outfit" pitchFamily="34" charset="-122"/>
                <a:cs typeface="Outfit" pitchFamily="34" charset="-120"/>
              </a:rPr>
              <a:t>Largest Contentful Paint (LCP) - Desktop</a:t>
            </a:r>
            <a:endParaRPr lang="en-US" sz="1600" dirty="0"/>
          </a:p>
        </p:txBody>
      </p:sp>
      <p:sp>
        <p:nvSpPr>
          <p:cNvPr id="8" name="Text 5"/>
          <p:cNvSpPr/>
          <p:nvPr/>
        </p:nvSpPr>
        <p:spPr>
          <a:xfrm>
            <a:off x="1005840" y="3108960"/>
            <a:ext cx="4389120" cy="731520"/>
          </a:xfrm>
          <a:prstGeom prst="rect">
            <a:avLst/>
          </a:prstGeom>
          <a:noFill/>
          <a:ln/>
        </p:spPr>
        <p:txBody>
          <a:bodyPr wrap="square" rtlCol="0" anchor="ctr"/>
          <a:lstStyle/>
          <a:p>
            <a:pPr indent="0" marL="0">
              <a:buNone/>
            </a:pPr>
            <a:r>
              <a:rPr lang="en-US" sz="4800" b="1" dirty="0">
                <a:solidFill>
                  <a:srgbClr val="10B981"/>
                </a:solidFill>
                <a:latin typeface="Outfit" pitchFamily="34" charset="0"/>
                <a:ea typeface="Outfit" pitchFamily="34" charset="-122"/>
                <a:cs typeface="Outfit" pitchFamily="34" charset="-120"/>
              </a:rPr>
              <a:t>1.5 s</a:t>
            </a:r>
            <a:endParaRPr lang="en-US" sz="4800" dirty="0"/>
          </a:p>
        </p:txBody>
      </p:sp>
      <p:sp>
        <p:nvSpPr>
          <p:cNvPr id="9" name="Text 6"/>
          <p:cNvSpPr/>
          <p:nvPr/>
        </p:nvSpPr>
        <p:spPr>
          <a:xfrm>
            <a:off x="1005840" y="3931920"/>
            <a:ext cx="4389120" cy="731520"/>
          </a:xfrm>
          <a:prstGeom prst="rect">
            <a:avLst/>
          </a:prstGeom>
          <a:noFill/>
          <a:ln/>
        </p:spPr>
        <p:txBody>
          <a:bodyPr wrap="square" rtlCol="0" anchor="ctr"/>
          <a:lstStyle/>
          <a:p>
            <a:pPr indent="0" marL="0">
              <a:buNone/>
            </a:pPr>
            <a:r>
              <a:rPr lang="en-US" sz="1250" dirty="0">
                <a:solidFill>
                  <a:srgbClr val="64748B"/>
                </a:solidFill>
                <a:latin typeface="Plus Jakarta Sans" pitchFamily="34" charset="0"/>
                <a:ea typeface="Plus Jakarta Sans" pitchFamily="34" charset="-122"/>
                <a:cs typeface="Plus Jakarta Sans" pitchFamily="34" charset="-120"/>
              </a:rPr>
              <a:t>Status: HEALTHY (Passed) — Target: under 2.5s</a:t>
            </a:r>
            <a:endParaRPr lang="en-US" sz="1250" dirty="0"/>
          </a:p>
          <a:p>
            <a:pPr indent="0" marL="0">
              <a:buNone/>
            </a:pPr>
            <a:r>
              <a:rPr lang="en-US" sz="1250" dirty="0">
                <a:solidFill>
                  <a:srgbClr val="64748B"/>
                </a:solidFill>
                <a:latin typeface="Plus Jakarta Sans" pitchFamily="34" charset="0"/>
                <a:ea typeface="Plus Jakarta Sans" pitchFamily="34" charset="-122"/>
                <a:cs typeface="Plus Jakarta Sans" pitchFamily="34" charset="-120"/>
              </a:rPr>
              <a:t>Measures when the main content of the page has finished showing.</a:t>
            </a:r>
            <a:endParaRPr lang="en-US" sz="1250" dirty="0"/>
          </a:p>
        </p:txBody>
      </p:sp>
      <p:sp>
        <p:nvSpPr>
          <p:cNvPr id="10" name="Shape 7"/>
          <p:cNvSpPr/>
          <p:nvPr/>
        </p:nvSpPr>
        <p:spPr>
          <a:xfrm>
            <a:off x="6400800" y="2377440"/>
            <a:ext cx="4937760" cy="2560320"/>
          </a:xfrm>
          <a:prstGeom prst="rect">
            <a:avLst>
              <a:gd name="adj" fmla="val 3571"/>
            </a:avLst>
          </a:prstGeom>
          <a:solidFill>
            <a:srgbClr val="F8FAFC"/>
          </a:solidFill>
          <a:ln w="12700">
            <a:solidFill>
              <a:srgbClr val="E2E8F0"/>
            </a:solidFill>
            <a:prstDash val="solid"/>
          </a:ln>
        </p:spPr>
      </p:sp>
      <p:sp>
        <p:nvSpPr>
          <p:cNvPr id="11" name="Text 8"/>
          <p:cNvSpPr/>
          <p:nvPr/>
        </p:nvSpPr>
        <p:spPr>
          <a:xfrm>
            <a:off x="6675120" y="2651760"/>
            <a:ext cx="4389120" cy="365760"/>
          </a:xfrm>
          <a:prstGeom prst="rect">
            <a:avLst/>
          </a:prstGeom>
          <a:noFill/>
          <a:ln/>
        </p:spPr>
        <p:txBody>
          <a:bodyPr wrap="square" rtlCol="0" anchor="ctr"/>
          <a:lstStyle/>
          <a:p>
            <a:pPr indent="0" marL="0">
              <a:buNone/>
            </a:pPr>
            <a:r>
              <a:rPr lang="en-US" sz="1600" b="1" dirty="0">
                <a:solidFill>
                  <a:srgbClr val="075985"/>
                </a:solidFill>
                <a:latin typeface="Outfit" pitchFamily="34" charset="0"/>
                <a:ea typeface="Outfit" pitchFamily="34" charset="-122"/>
                <a:cs typeface="Outfit" pitchFamily="34" charset="-120"/>
              </a:rPr>
              <a:t>Cumulative Layout Shift (CLS) - Desktop</a:t>
            </a:r>
            <a:endParaRPr lang="en-US" sz="1600" dirty="0"/>
          </a:p>
        </p:txBody>
      </p:sp>
      <p:sp>
        <p:nvSpPr>
          <p:cNvPr id="12" name="Text 9"/>
          <p:cNvSpPr/>
          <p:nvPr/>
        </p:nvSpPr>
        <p:spPr>
          <a:xfrm>
            <a:off x="6675120" y="3108960"/>
            <a:ext cx="4389120" cy="731520"/>
          </a:xfrm>
          <a:prstGeom prst="rect">
            <a:avLst/>
          </a:prstGeom>
          <a:noFill/>
          <a:ln/>
        </p:spPr>
        <p:txBody>
          <a:bodyPr wrap="square" rtlCol="0" anchor="ctr"/>
          <a:lstStyle/>
          <a:p>
            <a:pPr indent="0" marL="0">
              <a:buNone/>
            </a:pPr>
            <a:r>
              <a:rPr lang="en-US" sz="4800" b="1" dirty="0">
                <a:solidFill>
                  <a:srgbClr val="10B981"/>
                </a:solidFill>
                <a:latin typeface="Outfit" pitchFamily="34" charset="0"/>
                <a:ea typeface="Outfit" pitchFamily="34" charset="-122"/>
                <a:cs typeface="Outfit" pitchFamily="34" charset="-120"/>
              </a:rPr>
              <a:t>0</a:t>
            </a:r>
            <a:endParaRPr lang="en-US" sz="4800" dirty="0"/>
          </a:p>
        </p:txBody>
      </p:sp>
      <p:sp>
        <p:nvSpPr>
          <p:cNvPr id="13" name="Text 10"/>
          <p:cNvSpPr/>
          <p:nvPr/>
        </p:nvSpPr>
        <p:spPr>
          <a:xfrm>
            <a:off x="6675120" y="3931920"/>
            <a:ext cx="4389120" cy="731520"/>
          </a:xfrm>
          <a:prstGeom prst="rect">
            <a:avLst/>
          </a:prstGeom>
          <a:noFill/>
          <a:ln/>
        </p:spPr>
        <p:txBody>
          <a:bodyPr wrap="square" rtlCol="0" anchor="ctr"/>
          <a:lstStyle/>
          <a:p>
            <a:pPr indent="0" marL="0">
              <a:buNone/>
            </a:pPr>
            <a:r>
              <a:rPr lang="en-US" sz="1250" dirty="0">
                <a:solidFill>
                  <a:srgbClr val="64748B"/>
                </a:solidFill>
                <a:latin typeface="Plus Jakarta Sans" pitchFamily="34" charset="0"/>
                <a:ea typeface="Plus Jakarta Sans" pitchFamily="34" charset="-122"/>
                <a:cs typeface="Plus Jakarta Sans" pitchFamily="34" charset="-120"/>
              </a:rPr>
              <a:t>Status: HEALTHY (Passed) — Target: under 0.1</a:t>
            </a:r>
            <a:endParaRPr lang="en-US" sz="1250" dirty="0"/>
          </a:p>
          <a:p>
            <a:pPr indent="0" marL="0">
              <a:buNone/>
            </a:pPr>
            <a:r>
              <a:rPr lang="en-US" sz="1250" dirty="0">
                <a:solidFill>
                  <a:srgbClr val="64748B"/>
                </a:solidFill>
                <a:latin typeface="Plus Jakarta Sans" pitchFamily="34" charset="0"/>
                <a:ea typeface="Plus Jakarta Sans" pitchFamily="34" charset="-122"/>
                <a:cs typeface="Plus Jakarta Sans" pitchFamily="34" charset="-120"/>
              </a:rPr>
              <a:t>Measures whether things jump around while the page loads.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PageSpeed Insights</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Desktop Performance Optimization (Before vs After)</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DESKTOP PERFORMANCE SCORE (BEFORE → AFTER)</a:t>
            </a:r>
            <a:endParaRPr lang="en-US" sz="1100" dirty="0"/>
          </a:p>
        </p:txBody>
      </p:sp>
      <p:sp>
        <p:nvSpPr>
          <p:cNvPr id="7" name="Text 4"/>
          <p:cNvSpPr/>
          <p:nvPr/>
        </p:nvSpPr>
        <p:spPr>
          <a:xfrm>
            <a:off x="1005840" y="2286000"/>
            <a:ext cx="4572000" cy="914400"/>
          </a:xfrm>
          <a:prstGeom prst="rect">
            <a:avLst/>
          </a:prstGeom>
          <a:noFill/>
          <a:ln/>
        </p:spPr>
        <p:txBody>
          <a:bodyPr wrap="square" rtlCol="0" anchor="ctr"/>
          <a:lstStyle/>
          <a:p>
            <a:pPr indent="0" marL="0">
              <a:buNone/>
            </a:pPr>
            <a:r>
              <a:rPr lang="en-US" sz="6000" b="1" dirty="0">
                <a:solidFill>
                  <a:srgbClr val="10B981"/>
                </a:solidFill>
                <a:latin typeface="Outfit" pitchFamily="34" charset="0"/>
                <a:ea typeface="Outfit" pitchFamily="34" charset="-122"/>
                <a:cs typeface="Outfit" pitchFamily="34" charset="-120"/>
              </a:rPr>
              <a:t>61  →  83</a:t>
            </a:r>
            <a:endParaRPr lang="en-US" sz="6000" dirty="0"/>
          </a:p>
        </p:txBody>
      </p:sp>
      <p:sp>
        <p:nvSpPr>
          <p:cNvPr id="8" name="Text 5"/>
          <p:cNvSpPr/>
          <p:nvPr/>
        </p:nvSpPr>
        <p:spPr>
          <a:xfrm>
            <a:off x="1005840" y="3200400"/>
            <a:ext cx="4572000" cy="365760"/>
          </a:xfrm>
          <a:prstGeom prst="rect">
            <a:avLst/>
          </a:prstGeom>
          <a:noFill/>
          <a:ln/>
        </p:spPr>
        <p:txBody>
          <a:bodyPr wrap="square" rtlCol="0" anchor="ctr"/>
          <a:lstStyle/>
          <a:p>
            <a:pPr indent="0" marL="0">
              <a:buNone/>
            </a:pPr>
            <a:r>
              <a:rPr lang="en-US" sz="1600" b="1" dirty="0">
                <a:solidFill>
                  <a:srgbClr val="0F172A"/>
                </a:solidFill>
                <a:latin typeface="Outfit" pitchFamily="34" charset="0"/>
                <a:ea typeface="Outfit" pitchFamily="34" charset="-122"/>
                <a:cs typeface="Outfit" pitchFamily="34" charset="-120"/>
              </a:rPr>
              <a:t>+22 Points Performance Optimization</a:t>
            </a:r>
            <a:endParaRPr lang="en-US" sz="1600" dirty="0"/>
          </a:p>
        </p:txBody>
      </p:sp>
      <p:sp>
        <p:nvSpPr>
          <p:cNvPr id="9" name="Text 6"/>
          <p:cNvSpPr/>
          <p:nvPr/>
        </p:nvSpPr>
        <p:spPr>
          <a:xfrm>
            <a:off x="1005840" y="3657600"/>
            <a:ext cx="4572000" cy="1097280"/>
          </a:xfrm>
          <a:prstGeom prst="rect">
            <a:avLst/>
          </a:prstGeom>
          <a:noFill/>
          <a:ln/>
        </p:spPr>
        <p:txBody>
          <a:bodyPr wrap="square" rtlCol="0" anchor="ctr"/>
          <a:lstStyle/>
          <a:p>
            <a:pPr indent="0" marL="0">
              <a:buNone/>
            </a:pPr>
            <a:r>
              <a:rPr lang="en-US" sz="1300" dirty="0">
                <a:solidFill>
                  <a:srgbClr val="64748B"/>
                </a:solidFill>
                <a:latin typeface="Plus Jakarta Sans" pitchFamily="34" charset="0"/>
                <a:ea typeface="Plus Jakarta Sans" pitchFamily="34" charset="-122"/>
                <a:cs typeface="Plus Jakarta Sans" pitchFamily="34" charset="-120"/>
              </a:rPr>
              <a:t>Desktop performance score increased by +22 points (from 61 Before to 83 After out of 100).</a:t>
            </a:r>
            <a:endParaRPr lang="en-US" sz="1300" dirty="0"/>
          </a:p>
        </p:txBody>
      </p:sp>
      <p:sp>
        <p:nvSpPr>
          <p:cNvPr id="10" name="Shape 7"/>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1" name="Text 8"/>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DESKTOP STOREFRONT RATINGS (BEFORE → AFTER)</a:t>
            </a:r>
            <a:endParaRPr lang="en-US" sz="1100" dirty="0"/>
          </a:p>
        </p:txBody>
      </p:sp>
      <p:sp>
        <p:nvSpPr>
          <p:cNvPr id="12" name="Text 9"/>
          <p:cNvSpPr/>
          <p:nvPr/>
        </p:nvSpPr>
        <p:spPr>
          <a:xfrm>
            <a:off x="6492240" y="246888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Accessibility: 86 / 100</a:t>
            </a:r>
            <a:endParaRPr lang="en-US" sz="1800" dirty="0"/>
          </a:p>
        </p:txBody>
      </p:sp>
      <p:sp>
        <p:nvSpPr>
          <p:cNvPr id="13" name="Text 10"/>
          <p:cNvSpPr/>
          <p:nvPr/>
        </p:nvSpPr>
        <p:spPr>
          <a:xfrm>
            <a:off x="6492240" y="301752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Best Practices: 100 / 100</a:t>
            </a:r>
            <a:endParaRPr lang="en-US" sz="1800" dirty="0"/>
          </a:p>
        </p:txBody>
      </p:sp>
      <p:sp>
        <p:nvSpPr>
          <p:cNvPr id="14" name="Text 11"/>
          <p:cNvSpPr/>
          <p:nvPr/>
        </p:nvSpPr>
        <p:spPr>
          <a:xfrm>
            <a:off x="6492240" y="356616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SEO Rating: 100 / 100</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PageSpeed Insights</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Mobile Performance Optimization (Before vs After)</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MOBILE PERFORMANCE SCORE (BEFORE → AFTER)</a:t>
            </a:r>
            <a:endParaRPr lang="en-US" sz="1100" dirty="0"/>
          </a:p>
        </p:txBody>
      </p:sp>
      <p:sp>
        <p:nvSpPr>
          <p:cNvPr id="7" name="Text 4"/>
          <p:cNvSpPr/>
          <p:nvPr/>
        </p:nvSpPr>
        <p:spPr>
          <a:xfrm>
            <a:off x="1005840" y="2286000"/>
            <a:ext cx="4572000" cy="914400"/>
          </a:xfrm>
          <a:prstGeom prst="rect">
            <a:avLst/>
          </a:prstGeom>
          <a:noFill/>
          <a:ln/>
        </p:spPr>
        <p:txBody>
          <a:bodyPr wrap="square" rtlCol="0" anchor="ctr"/>
          <a:lstStyle/>
          <a:p>
            <a:pPr indent="0" marL="0">
              <a:buNone/>
            </a:pPr>
            <a:r>
              <a:rPr lang="en-US" sz="6000" b="1" dirty="0">
                <a:solidFill>
                  <a:srgbClr val="0EA5E9"/>
                </a:solidFill>
                <a:latin typeface="Outfit" pitchFamily="34" charset="0"/>
                <a:ea typeface="Outfit" pitchFamily="34" charset="-122"/>
                <a:cs typeface="Outfit" pitchFamily="34" charset="-120"/>
              </a:rPr>
              <a:t>47  →  52</a:t>
            </a:r>
            <a:endParaRPr lang="en-US" sz="6000" dirty="0"/>
          </a:p>
        </p:txBody>
      </p:sp>
      <p:sp>
        <p:nvSpPr>
          <p:cNvPr id="8" name="Text 5"/>
          <p:cNvSpPr/>
          <p:nvPr/>
        </p:nvSpPr>
        <p:spPr>
          <a:xfrm>
            <a:off x="1005840" y="3200400"/>
            <a:ext cx="4572000" cy="365760"/>
          </a:xfrm>
          <a:prstGeom prst="rect">
            <a:avLst/>
          </a:prstGeom>
          <a:noFill/>
          <a:ln/>
        </p:spPr>
        <p:txBody>
          <a:bodyPr wrap="square" rtlCol="0" anchor="ctr"/>
          <a:lstStyle/>
          <a:p>
            <a:pPr indent="0" marL="0">
              <a:buNone/>
            </a:pPr>
            <a:r>
              <a:rPr lang="en-US" sz="1600" b="1" dirty="0">
                <a:solidFill>
                  <a:srgbClr val="0F172A"/>
                </a:solidFill>
                <a:latin typeface="Outfit" pitchFamily="34" charset="0"/>
                <a:ea typeface="Outfit" pitchFamily="34" charset="-122"/>
                <a:cs typeface="Outfit" pitchFamily="34" charset="-120"/>
              </a:rPr>
              <a:t>+5 Points Mobile Optimization Lift</a:t>
            </a:r>
            <a:endParaRPr lang="en-US" sz="1600" dirty="0"/>
          </a:p>
        </p:txBody>
      </p:sp>
      <p:sp>
        <p:nvSpPr>
          <p:cNvPr id="9" name="Text 6"/>
          <p:cNvSpPr/>
          <p:nvPr/>
        </p:nvSpPr>
        <p:spPr>
          <a:xfrm>
            <a:off x="1005840" y="3657600"/>
            <a:ext cx="4572000" cy="1097280"/>
          </a:xfrm>
          <a:prstGeom prst="rect">
            <a:avLst/>
          </a:prstGeom>
          <a:noFill/>
          <a:ln/>
        </p:spPr>
        <p:txBody>
          <a:bodyPr wrap="square" rtlCol="0" anchor="ctr"/>
          <a:lstStyle/>
          <a:p>
            <a:pPr indent="0" marL="0">
              <a:buNone/>
            </a:pPr>
            <a:r>
              <a:rPr lang="en-US" sz="1300" dirty="0">
                <a:solidFill>
                  <a:srgbClr val="64748B"/>
                </a:solidFill>
                <a:latin typeface="Plus Jakarta Sans" pitchFamily="34" charset="0"/>
                <a:ea typeface="Plus Jakarta Sans" pitchFamily="34" charset="-122"/>
                <a:cs typeface="Plus Jakarta Sans" pitchFamily="34" charset="-120"/>
              </a:rPr>
              <a:t>Mobile performance score increased by +5 points (from 47 Before to 52 After out of 100), establishing a fast mobile rendering sequence.</a:t>
            </a:r>
            <a:endParaRPr lang="en-US" sz="1300" dirty="0"/>
          </a:p>
        </p:txBody>
      </p:sp>
      <p:sp>
        <p:nvSpPr>
          <p:cNvPr id="10" name="Shape 7"/>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1" name="Text 8"/>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MOBILE STOREFRONT RATINGS (BEFORE → AFTER)</a:t>
            </a:r>
            <a:endParaRPr lang="en-US" sz="1100" dirty="0"/>
          </a:p>
        </p:txBody>
      </p:sp>
      <p:sp>
        <p:nvSpPr>
          <p:cNvPr id="12" name="Text 9"/>
          <p:cNvSpPr/>
          <p:nvPr/>
        </p:nvSpPr>
        <p:spPr>
          <a:xfrm>
            <a:off x="6492240" y="246888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Accessibility: 86 / 100</a:t>
            </a:r>
            <a:endParaRPr lang="en-US" sz="1800" dirty="0"/>
          </a:p>
        </p:txBody>
      </p:sp>
      <p:sp>
        <p:nvSpPr>
          <p:cNvPr id="13" name="Text 10"/>
          <p:cNvSpPr/>
          <p:nvPr/>
        </p:nvSpPr>
        <p:spPr>
          <a:xfrm>
            <a:off x="6492240" y="301752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Best Practices: 96 / 100</a:t>
            </a:r>
            <a:endParaRPr lang="en-US" sz="1800" dirty="0"/>
          </a:p>
        </p:txBody>
      </p:sp>
      <p:sp>
        <p:nvSpPr>
          <p:cNvPr id="14" name="Text 11"/>
          <p:cNvSpPr/>
          <p:nvPr/>
        </p:nvSpPr>
        <p:spPr>
          <a:xfrm>
            <a:off x="6492240" y="3566160"/>
            <a:ext cx="4572000" cy="365760"/>
          </a:xfrm>
          <a:prstGeom prst="rect">
            <a:avLst/>
          </a:prstGeom>
          <a:noFill/>
          <a:ln/>
        </p:spPr>
        <p:txBody>
          <a:bodyPr wrap="square" rtlCol="0" anchor="ctr"/>
          <a:lstStyle/>
          <a:p>
            <a:pPr indent="0" marL="0">
              <a:buNone/>
            </a:pPr>
            <a:r>
              <a:rPr lang="en-US" sz="1800" b="1" dirty="0">
                <a:solidFill>
                  <a:srgbClr val="10B981"/>
                </a:solidFill>
                <a:latin typeface="Outfit" pitchFamily="34" charset="0"/>
                <a:ea typeface="Outfit" pitchFamily="34" charset="-122"/>
                <a:cs typeface="Outfit" pitchFamily="34" charset="-120"/>
              </a:rPr>
              <a:t>✔ SEO Rating: 100 / 100</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Search Engine Health</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Technical SEO &amp; Crawlability Verification</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META &amp; CANONICAL TAG HEALTH</a:t>
            </a:r>
            <a:endParaRPr lang="en-US" sz="1100" dirty="0"/>
          </a:p>
        </p:txBody>
      </p:sp>
      <p:sp>
        <p:nvSpPr>
          <p:cNvPr id="7" name="Text 4"/>
          <p:cNvSpPr/>
          <p:nvPr/>
        </p:nvSpPr>
        <p:spPr>
          <a:xfrm>
            <a:off x="1005840" y="2286000"/>
            <a:ext cx="4572000" cy="457200"/>
          </a:xfrm>
          <a:prstGeom prst="rect">
            <a:avLst/>
          </a:prstGeom>
          <a:noFill/>
          <a:ln/>
        </p:spPr>
        <p:txBody>
          <a:bodyPr wrap="square" rtlCol="0" anchor="ctr"/>
          <a:lstStyle/>
          <a:p>
            <a:pPr indent="0" marL="0">
              <a:buNone/>
            </a:pPr>
            <a:r>
              <a:rPr lang="en-US" sz="2200" b="1" dirty="0">
                <a:solidFill>
                  <a:srgbClr val="10B981"/>
                </a:solidFill>
                <a:latin typeface="Outfit" pitchFamily="34" charset="0"/>
                <a:ea typeface="Outfit" pitchFamily="34" charset="-122"/>
                <a:cs typeface="Outfit" pitchFamily="34" charset="-120"/>
              </a:rPr>
              <a:t>100% Meta Coverage</a:t>
            </a:r>
            <a:endParaRPr lang="en-US" sz="2200" dirty="0"/>
          </a:p>
        </p:txBody>
      </p:sp>
      <p:sp>
        <p:nvSpPr>
          <p:cNvPr id="8" name="Text 5"/>
          <p:cNvSpPr/>
          <p:nvPr/>
        </p:nvSpPr>
        <p:spPr>
          <a:xfrm>
            <a:off x="1005840" y="2926080"/>
            <a:ext cx="4572000" cy="182880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Title Tags: Present across all template layouts</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Meta Descriptions: Unique descriptions configured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Canonical Tags: Valid canonical URLs set without loops</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Heading Hierarchy: Single clean &lt;h1&gt; per page layout</a:t>
            </a:r>
            <a:endParaRPr lang="en-US" sz="1300" dirty="0"/>
          </a:p>
        </p:txBody>
      </p:sp>
      <p:sp>
        <p:nvSpPr>
          <p:cNvPr id="9" name="Shape 6"/>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0" name="Text 7"/>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STRUCTURED DATA &amp; INDEXING</a:t>
            </a:r>
            <a:endParaRPr lang="en-US" sz="1100" dirty="0"/>
          </a:p>
        </p:txBody>
      </p:sp>
      <p:sp>
        <p:nvSpPr>
          <p:cNvPr id="11" name="Text 8"/>
          <p:cNvSpPr/>
          <p:nvPr/>
        </p:nvSpPr>
        <p:spPr>
          <a:xfrm>
            <a:off x="6492240" y="2286000"/>
            <a:ext cx="4572000" cy="457200"/>
          </a:xfrm>
          <a:prstGeom prst="rect">
            <a:avLst/>
          </a:prstGeom>
          <a:noFill/>
          <a:ln/>
        </p:spPr>
        <p:txBody>
          <a:bodyPr wrap="square" rtlCol="0" anchor="ctr"/>
          <a:lstStyle/>
          <a:p>
            <a:pPr indent="0" marL="0">
              <a:buNone/>
            </a:pPr>
            <a:r>
              <a:rPr lang="en-US" sz="2200" b="1" dirty="0">
                <a:solidFill>
                  <a:srgbClr val="10B981"/>
                </a:solidFill>
                <a:latin typeface="Outfit" pitchFamily="34" charset="0"/>
                <a:ea typeface="Outfit" pitchFamily="34" charset="-122"/>
                <a:cs typeface="Outfit" pitchFamily="34" charset="-120"/>
              </a:rPr>
              <a:t>SEO Rating: 100 / 100</a:t>
            </a:r>
            <a:endParaRPr lang="en-US" sz="2200" dirty="0"/>
          </a:p>
        </p:txBody>
      </p:sp>
      <p:sp>
        <p:nvSpPr>
          <p:cNvPr id="12" name="Text 9"/>
          <p:cNvSpPr/>
          <p:nvPr/>
        </p:nvSpPr>
        <p:spPr>
          <a:xfrm>
            <a:off x="6492240" y="2926080"/>
            <a:ext cx="4572000" cy="182880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Schema.org Microdata: JSON-LD Product &amp; FAQ Schema valid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Sitemap.xml: Fully accessible &amp; formatted XML index</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Robots.txt: Googlebot &amp; Bingbot crawling enabled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OpenGraph Tags: Social sharing preview metadata verified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AI &amp; Voice Search Optimization</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GEO &amp; AEO (AI Engine Readiness)</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AI CRAWLER PERMISSIONS</a:t>
            </a:r>
            <a:endParaRPr lang="en-US" sz="1100" dirty="0"/>
          </a:p>
        </p:txBody>
      </p:sp>
      <p:sp>
        <p:nvSpPr>
          <p:cNvPr id="7" name="Text 4"/>
          <p:cNvSpPr/>
          <p:nvPr/>
        </p:nvSpPr>
        <p:spPr>
          <a:xfrm>
            <a:off x="1005840" y="2286000"/>
            <a:ext cx="4572000" cy="457200"/>
          </a:xfrm>
          <a:prstGeom prst="rect">
            <a:avLst/>
          </a:prstGeom>
          <a:noFill/>
          <a:ln/>
        </p:spPr>
        <p:txBody>
          <a:bodyPr wrap="square" rtlCol="0" anchor="ctr"/>
          <a:lstStyle/>
          <a:p>
            <a:pPr indent="0" marL="0">
              <a:buNone/>
            </a:pPr>
            <a:r>
              <a:rPr lang="en-US" sz="2200" b="1" dirty="0">
                <a:solidFill>
                  <a:srgbClr val="10B981"/>
                </a:solidFill>
                <a:latin typeface="Outfit" pitchFamily="34" charset="0"/>
                <a:ea typeface="Outfit" pitchFamily="34" charset="-122"/>
                <a:cs typeface="Outfit" pitchFamily="34" charset="-120"/>
              </a:rPr>
              <a:t>AI Crawlers: ALLOWED</a:t>
            </a:r>
            <a:endParaRPr lang="en-US" sz="2200" dirty="0"/>
          </a:p>
        </p:txBody>
      </p:sp>
      <p:sp>
        <p:nvSpPr>
          <p:cNvPr id="8" name="Text 5"/>
          <p:cNvSpPr/>
          <p:nvPr/>
        </p:nvSpPr>
        <p:spPr>
          <a:xfrm>
            <a:off x="1005840" y="2926080"/>
            <a:ext cx="4572000" cy="182880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GPTBot (OpenAI/SearchGPT): Access permitted in robots.txt</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Gemini-Exchange (Google AI): Unblocked for citation indexing</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PerplexityBot &amp; ClaudeBot: Catalog scanning allowed</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Product Facts: Clean HTML data tables ready for LLM extraction</a:t>
            </a:r>
            <a:endParaRPr lang="en-US" sz="1300" dirty="0"/>
          </a:p>
        </p:txBody>
      </p:sp>
      <p:sp>
        <p:nvSpPr>
          <p:cNvPr id="9" name="Shape 6"/>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0" name="Text 7"/>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VOICE READABILITY &amp; STRUCTURE</a:t>
            </a:r>
            <a:endParaRPr lang="en-US" sz="1100" dirty="0"/>
          </a:p>
        </p:txBody>
      </p:sp>
      <p:sp>
        <p:nvSpPr>
          <p:cNvPr id="11" name="Text 8"/>
          <p:cNvSpPr/>
          <p:nvPr/>
        </p:nvSpPr>
        <p:spPr>
          <a:xfrm>
            <a:off x="6492240" y="2286000"/>
            <a:ext cx="4572000" cy="457200"/>
          </a:xfrm>
          <a:prstGeom prst="rect">
            <a:avLst/>
          </a:prstGeom>
          <a:noFill/>
          <a:ln/>
        </p:spPr>
        <p:txBody>
          <a:bodyPr wrap="square" rtlCol="0" anchor="ctr"/>
          <a:lstStyle/>
          <a:p>
            <a:pPr indent="0" marL="0">
              <a:buNone/>
            </a:pPr>
            <a:r>
              <a:rPr lang="en-US" sz="2200" b="1" dirty="0">
                <a:solidFill>
                  <a:srgbClr val="0EA5E9"/>
                </a:solidFill>
                <a:latin typeface="Outfit" pitchFamily="34" charset="0"/>
                <a:ea typeface="Outfit" pitchFamily="34" charset="-122"/>
                <a:cs typeface="Outfit" pitchFamily="34" charset="-120"/>
              </a:rPr>
              <a:t>Flesch Index: 68.5</a:t>
            </a:r>
            <a:endParaRPr lang="en-US" sz="2200" dirty="0"/>
          </a:p>
        </p:txBody>
      </p:sp>
      <p:sp>
        <p:nvSpPr>
          <p:cNvPr id="12" name="Text 9"/>
          <p:cNvSpPr/>
          <p:nvPr/>
        </p:nvSpPr>
        <p:spPr>
          <a:xfrm>
            <a:off x="6492240" y="2926080"/>
            <a:ext cx="4572000" cy="182880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Conversational Tone: Standard English score (Easy for Voice/Siri)</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Direct Answer Q&amp;A: FAQ structures optimized for answer snippets</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JSON-LD Product Attributes: Instant price/spec extraction for AI</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High Tier Feature: Enterprise AI visibility monitoring enabled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Cybersecurity &amp; Storefront Protection</a:t>
            </a:r>
            <a:endParaRPr lang="en-US" sz="1300" dirty="0"/>
          </a:p>
        </p:txBody>
      </p:sp>
      <p:sp>
        <p:nvSpPr>
          <p:cNvPr id="4" name="Text 1"/>
          <p:cNvSpPr/>
          <p:nvPr/>
        </p:nvSpPr>
        <p:spPr>
          <a:xfrm>
            <a:off x="731520" y="731520"/>
            <a:ext cx="82296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Security Fix Delivered</a:t>
            </a:r>
            <a:endParaRPr lang="en-US" sz="2600" dirty="0"/>
          </a:p>
        </p:txBody>
      </p:sp>
      <p:sp>
        <p:nvSpPr>
          <p:cNvPr id="5" name="Text 2"/>
          <p:cNvSpPr/>
          <p:nvPr/>
        </p:nvSpPr>
        <p:spPr>
          <a:xfrm>
            <a:off x="731520" y="1280160"/>
            <a:ext cx="8229600" cy="365760"/>
          </a:xfrm>
          <a:prstGeom prst="rect">
            <a:avLst/>
          </a:prstGeom>
          <a:noFill/>
          <a:ln/>
        </p:spPr>
        <p:txBody>
          <a:bodyPr wrap="square" rtlCol="0" anchor="ctr"/>
          <a:lstStyle/>
          <a:p>
            <a:pPr indent="0" marL="0">
              <a:buNone/>
            </a:pPr>
            <a:r>
              <a:rPr lang="en-US" sz="1600" b="1" dirty="0">
                <a:solidFill>
                  <a:srgbClr val="10B981"/>
                </a:solidFill>
                <a:latin typeface="Plus Jakarta Sans" pitchFamily="34" charset="0"/>
                <a:ea typeface="Plus Jakarta Sans" pitchFamily="34" charset="-122"/>
                <a:cs typeface="Plus Jakarta Sans" pitchFamily="34" charset="-120"/>
              </a:rPr>
              <a:t>1 weak point closed on your store this month</a:t>
            </a:r>
            <a:endParaRPr lang="en-US" sz="1600" dirty="0"/>
          </a:p>
        </p:txBody>
      </p:sp>
      <p:sp>
        <p:nvSpPr>
          <p:cNvPr id="6" name="Shape 3"/>
          <p:cNvSpPr/>
          <p:nvPr/>
        </p:nvSpPr>
        <p:spPr>
          <a:xfrm>
            <a:off x="731520" y="1828800"/>
            <a:ext cx="3337560" cy="2331720"/>
          </a:xfrm>
          <a:prstGeom prst="roundRect">
            <a:avLst>
              <a:gd name="adj" fmla="val 4706"/>
            </a:avLst>
          </a:prstGeom>
          <a:solidFill>
            <a:srgbClr val="FEF2F2"/>
          </a:solidFill>
          <a:ln w="15875">
            <a:solidFill>
              <a:srgbClr val="FCA5A5"/>
            </a:solidFill>
            <a:prstDash val="solid"/>
          </a:ln>
        </p:spPr>
      </p:sp>
      <p:sp>
        <p:nvSpPr>
          <p:cNvPr id="7" name="Shape 4"/>
          <p:cNvSpPr/>
          <p:nvPr/>
        </p:nvSpPr>
        <p:spPr>
          <a:xfrm>
            <a:off x="2034540" y="2011680"/>
            <a:ext cx="731520" cy="731520"/>
          </a:xfrm>
          <a:prstGeom prst="ellipse">
            <a:avLst/>
          </a:prstGeom>
          <a:solidFill>
            <a:srgbClr val="DC2626"/>
          </a:solidFill>
          <a:ln w="12700">
            <a:solidFill>
              <a:srgbClr val="DC2626"/>
            </a:solidFill>
            <a:prstDash val="solid"/>
          </a:ln>
        </p:spPr>
      </p:sp>
      <p:sp>
        <p:nvSpPr>
          <p:cNvPr id="8" name="Text 5"/>
          <p:cNvSpPr/>
          <p:nvPr/>
        </p:nvSpPr>
        <p:spPr>
          <a:xfrm>
            <a:off x="2034540" y="2011680"/>
            <a:ext cx="731520" cy="731520"/>
          </a:xfrm>
          <a:prstGeom prst="rect">
            <a:avLst/>
          </a:prstGeom>
          <a:noFill/>
          <a:ln/>
        </p:spPr>
        <p:txBody>
          <a:bodyPr wrap="square" rtlCol="0" anchor="ctr"/>
          <a:lstStyle/>
          <a:p>
            <a:pPr algn="ctr" indent="0" marL="0">
              <a:buNone/>
            </a:pPr>
            <a:r>
              <a:rPr lang="en-US" sz="3400" b="1" dirty="0">
                <a:solidFill>
                  <a:srgbClr val="FFFFFF"/>
                </a:solidFill>
                <a:latin typeface="Outfit" pitchFamily="34" charset="0"/>
                <a:ea typeface="Outfit" pitchFamily="34" charset="-122"/>
                <a:cs typeface="Outfit" pitchFamily="34" charset="-120"/>
              </a:rPr>
              <a:t>!</a:t>
            </a:r>
            <a:endParaRPr lang="en-US" sz="3400" dirty="0"/>
          </a:p>
        </p:txBody>
      </p:sp>
      <p:sp>
        <p:nvSpPr>
          <p:cNvPr id="9" name="Text 6"/>
          <p:cNvSpPr/>
          <p:nvPr/>
        </p:nvSpPr>
        <p:spPr>
          <a:xfrm>
            <a:off x="731520" y="2834640"/>
            <a:ext cx="3337560" cy="274320"/>
          </a:xfrm>
          <a:prstGeom prst="rect">
            <a:avLst/>
          </a:prstGeom>
          <a:noFill/>
          <a:ln/>
        </p:spPr>
        <p:txBody>
          <a:bodyPr wrap="square" rtlCol="0" anchor="ctr"/>
          <a:lstStyle/>
          <a:p>
            <a:pPr algn="ctr" indent="0" marL="0">
              <a:buNone/>
            </a:pPr>
            <a:r>
              <a:rPr lang="en-US" sz="1100" b="1" dirty="0">
                <a:solidFill>
                  <a:srgbClr val="DC2626"/>
                </a:solidFill>
                <a:latin typeface="Plus Jakarta Sans" pitchFamily="34" charset="0"/>
                <a:ea typeface="Plus Jakarta Sans" pitchFamily="34" charset="-122"/>
                <a:cs typeface="Plus Jakarta Sans" pitchFamily="34" charset="-120"/>
              </a:rPr>
              <a:t>THE RISK</a:t>
            </a:r>
            <a:endParaRPr lang="en-US" sz="1100" dirty="0"/>
          </a:p>
        </p:txBody>
      </p:sp>
      <p:sp>
        <p:nvSpPr>
          <p:cNvPr id="10" name="Text 7"/>
          <p:cNvSpPr/>
          <p:nvPr/>
        </p:nvSpPr>
        <p:spPr>
          <a:xfrm>
            <a:off x="960120" y="3108960"/>
            <a:ext cx="2880360" cy="960120"/>
          </a:xfrm>
          <a:prstGeom prst="rect">
            <a:avLst/>
          </a:prstGeom>
          <a:noFill/>
          <a:ln/>
        </p:spPr>
        <p:txBody>
          <a:bodyPr wrap="square" rtlCol="0" anchor="t"/>
          <a:lstStyle/>
          <a:p>
            <a:pPr algn="ctr" indent="0" marL="0">
              <a:lnSpc>
                <a:spcPct val="115000"/>
              </a:lnSpc>
              <a:buNone/>
            </a:pPr>
            <a:r>
              <a:rPr lang="en-US" sz="1200" dirty="0">
                <a:solidFill>
                  <a:srgbClr val="0F172A"/>
                </a:solidFill>
                <a:latin typeface="Plus Jakarta Sans" pitchFamily="34" charset="0"/>
                <a:ea typeface="Plus Jakarta Sans" pitchFamily="34" charset="-122"/>
                <a:cs typeface="Plus Jakarta Sans" pitchFamily="34" charset="-120"/>
              </a:rPr>
              <a:t>1 outside tool on your store loaded from other companies' servers, with no way to confirm the code was unchanged.</a:t>
            </a:r>
            <a:endParaRPr lang="en-US" sz="1200" dirty="0"/>
          </a:p>
        </p:txBody>
      </p:sp>
      <p:sp>
        <p:nvSpPr>
          <p:cNvPr id="11" name="Shape 8"/>
          <p:cNvSpPr/>
          <p:nvPr/>
        </p:nvSpPr>
        <p:spPr>
          <a:xfrm>
            <a:off x="4123944" y="2839212"/>
            <a:ext cx="301752" cy="310896"/>
          </a:xfrm>
          <a:prstGeom prst="rightArrow">
            <a:avLst/>
          </a:prstGeom>
          <a:solidFill>
            <a:srgbClr val="CBD5E1"/>
          </a:solidFill>
          <a:ln w="12700">
            <a:solidFill>
              <a:srgbClr val="CBD5E1"/>
            </a:solidFill>
            <a:prstDash val="solid"/>
          </a:ln>
        </p:spPr>
      </p:sp>
      <p:sp>
        <p:nvSpPr>
          <p:cNvPr id="12" name="Shape 9"/>
          <p:cNvSpPr/>
          <p:nvPr/>
        </p:nvSpPr>
        <p:spPr>
          <a:xfrm>
            <a:off x="4425696" y="1828800"/>
            <a:ext cx="3337560" cy="2331720"/>
          </a:xfrm>
          <a:prstGeom prst="roundRect">
            <a:avLst>
              <a:gd name="adj" fmla="val 4706"/>
            </a:avLst>
          </a:prstGeom>
          <a:solidFill>
            <a:srgbClr val="F0F9FF"/>
          </a:solidFill>
          <a:ln w="15875">
            <a:solidFill>
              <a:srgbClr val="7DD3FC"/>
            </a:solidFill>
            <a:prstDash val="solid"/>
          </a:ln>
        </p:spPr>
      </p:sp>
      <p:sp>
        <p:nvSpPr>
          <p:cNvPr id="13" name="Shape 10"/>
          <p:cNvSpPr/>
          <p:nvPr/>
        </p:nvSpPr>
        <p:spPr>
          <a:xfrm>
            <a:off x="5728716" y="2011680"/>
            <a:ext cx="731520" cy="731520"/>
          </a:xfrm>
          <a:prstGeom prst="ellipse">
            <a:avLst/>
          </a:prstGeom>
          <a:solidFill>
            <a:srgbClr val="0EA5E9"/>
          </a:solidFill>
          <a:ln w="12700">
            <a:solidFill>
              <a:srgbClr val="0EA5E9"/>
            </a:solidFill>
            <a:prstDash val="solid"/>
          </a:ln>
        </p:spPr>
      </p:sp>
      <p:sp>
        <p:nvSpPr>
          <p:cNvPr id="14" name="Shape 11"/>
          <p:cNvSpPr/>
          <p:nvPr/>
        </p:nvSpPr>
        <p:spPr>
          <a:xfrm>
            <a:off x="5966460" y="2130552"/>
            <a:ext cx="256032" cy="274320"/>
          </a:xfrm>
          <a:prstGeom prst="ellipse">
            <a:avLst/>
          </a:prstGeom>
          <a:ln w="38100">
            <a:solidFill>
              <a:srgbClr val="FFFFFF"/>
            </a:solidFill>
            <a:prstDash val="solid"/>
          </a:ln>
        </p:spPr>
      </p:sp>
      <p:sp>
        <p:nvSpPr>
          <p:cNvPr id="15" name="Shape 12"/>
          <p:cNvSpPr/>
          <p:nvPr/>
        </p:nvSpPr>
        <p:spPr>
          <a:xfrm>
            <a:off x="5911596" y="2322576"/>
            <a:ext cx="365760" cy="274320"/>
          </a:xfrm>
          <a:prstGeom prst="roundRect">
            <a:avLst>
              <a:gd name="adj" fmla="val 16667"/>
            </a:avLst>
          </a:prstGeom>
          <a:solidFill>
            <a:srgbClr val="FFFFFF"/>
          </a:solidFill>
          <a:ln w="12700">
            <a:solidFill>
              <a:srgbClr val="FFFFFF"/>
            </a:solidFill>
            <a:prstDash val="solid"/>
          </a:ln>
        </p:spPr>
      </p:sp>
      <p:sp>
        <p:nvSpPr>
          <p:cNvPr id="16" name="Text 13"/>
          <p:cNvSpPr/>
          <p:nvPr/>
        </p:nvSpPr>
        <p:spPr>
          <a:xfrm>
            <a:off x="4425696" y="2834640"/>
            <a:ext cx="3337560" cy="274320"/>
          </a:xfrm>
          <a:prstGeom prst="rect">
            <a:avLst/>
          </a:prstGeom>
          <a:noFill/>
          <a:ln/>
        </p:spPr>
        <p:txBody>
          <a:bodyPr wrap="square" rtlCol="0" anchor="ctr"/>
          <a:lstStyle/>
          <a:p>
            <a:pPr algn="ctr" indent="0" marL="0">
              <a:buNone/>
            </a:pPr>
            <a:r>
              <a:rPr lang="en-US" sz="1100" b="1" dirty="0">
                <a:solidFill>
                  <a:srgbClr val="0EA5E9"/>
                </a:solidFill>
                <a:latin typeface="Plus Jakarta Sans" pitchFamily="34" charset="0"/>
                <a:ea typeface="Plus Jakarta Sans" pitchFamily="34" charset="-122"/>
                <a:cs typeface="Plus Jakarta Sans" pitchFamily="34" charset="-120"/>
              </a:rPr>
              <a:t>WHAT WE DID</a:t>
            </a:r>
            <a:endParaRPr lang="en-US" sz="1100" dirty="0"/>
          </a:p>
        </p:txBody>
      </p:sp>
      <p:sp>
        <p:nvSpPr>
          <p:cNvPr id="17" name="Text 14"/>
          <p:cNvSpPr/>
          <p:nvPr/>
        </p:nvSpPr>
        <p:spPr>
          <a:xfrm>
            <a:off x="4654296" y="3108960"/>
            <a:ext cx="2880360" cy="960120"/>
          </a:xfrm>
          <a:prstGeom prst="rect">
            <a:avLst/>
          </a:prstGeom>
          <a:noFill/>
          <a:ln/>
        </p:spPr>
        <p:txBody>
          <a:bodyPr wrap="square" rtlCol="0" anchor="t"/>
          <a:lstStyle/>
          <a:p>
            <a:pPr algn="ctr" indent="0" marL="0">
              <a:lnSpc>
                <a:spcPct val="115000"/>
              </a:lnSpc>
              <a:buNone/>
            </a:pPr>
            <a:r>
              <a:rPr lang="en-US" sz="1200" dirty="0">
                <a:solidFill>
                  <a:srgbClr val="0F172A"/>
                </a:solidFill>
                <a:latin typeface="Plus Jakarta Sans" pitchFamily="34" charset="0"/>
                <a:ea typeface="Plus Jakarta Sans" pitchFamily="34" charset="-122"/>
                <a:cs typeface="Plus Jakarta Sans" pitchFamily="34" charset="-120"/>
              </a:rPr>
              <a:t>We added a digital seal to it, matching the exact, approved version of the code.</a:t>
            </a:r>
            <a:endParaRPr lang="en-US" sz="1200" dirty="0"/>
          </a:p>
        </p:txBody>
      </p:sp>
      <p:sp>
        <p:nvSpPr>
          <p:cNvPr id="18" name="Shape 15"/>
          <p:cNvSpPr/>
          <p:nvPr/>
        </p:nvSpPr>
        <p:spPr>
          <a:xfrm>
            <a:off x="7818120" y="2839212"/>
            <a:ext cx="301752" cy="310896"/>
          </a:xfrm>
          <a:prstGeom prst="rightArrow">
            <a:avLst/>
          </a:prstGeom>
          <a:solidFill>
            <a:srgbClr val="CBD5E1"/>
          </a:solidFill>
          <a:ln w="12700">
            <a:solidFill>
              <a:srgbClr val="CBD5E1"/>
            </a:solidFill>
            <a:prstDash val="solid"/>
          </a:ln>
        </p:spPr>
      </p:sp>
      <p:sp>
        <p:nvSpPr>
          <p:cNvPr id="19" name="Shape 16"/>
          <p:cNvSpPr/>
          <p:nvPr/>
        </p:nvSpPr>
        <p:spPr>
          <a:xfrm>
            <a:off x="8119872" y="1828800"/>
            <a:ext cx="3337560" cy="2331720"/>
          </a:xfrm>
          <a:prstGeom prst="roundRect">
            <a:avLst>
              <a:gd name="adj" fmla="val 4706"/>
            </a:avLst>
          </a:prstGeom>
          <a:solidFill>
            <a:srgbClr val="ECFDF5"/>
          </a:solidFill>
          <a:ln w="15875">
            <a:solidFill>
              <a:srgbClr val="86EFAC"/>
            </a:solidFill>
            <a:prstDash val="solid"/>
          </a:ln>
        </p:spPr>
      </p:sp>
      <p:sp>
        <p:nvSpPr>
          <p:cNvPr id="20" name="Shape 17"/>
          <p:cNvSpPr/>
          <p:nvPr/>
        </p:nvSpPr>
        <p:spPr>
          <a:xfrm>
            <a:off x="9422892" y="2011680"/>
            <a:ext cx="731520" cy="731520"/>
          </a:xfrm>
          <a:prstGeom prst="ellipse">
            <a:avLst/>
          </a:prstGeom>
          <a:solidFill>
            <a:srgbClr val="10B981"/>
          </a:solidFill>
          <a:ln w="12700">
            <a:solidFill>
              <a:srgbClr val="10B981"/>
            </a:solidFill>
            <a:prstDash val="solid"/>
          </a:ln>
        </p:spPr>
      </p:sp>
      <p:sp>
        <p:nvSpPr>
          <p:cNvPr id="21" name="Text 18"/>
          <p:cNvSpPr/>
          <p:nvPr/>
        </p:nvSpPr>
        <p:spPr>
          <a:xfrm>
            <a:off x="9422892" y="2011680"/>
            <a:ext cx="731520" cy="731520"/>
          </a:xfrm>
          <a:prstGeom prst="rect">
            <a:avLst/>
          </a:prstGeom>
          <a:noFill/>
          <a:ln/>
        </p:spPr>
        <p:txBody>
          <a:bodyPr wrap="square" rtlCol="0" anchor="ctr"/>
          <a:lstStyle/>
          <a:p>
            <a:pPr algn="ctr" indent="0" marL="0">
              <a:buNone/>
            </a:pPr>
            <a:r>
              <a:rPr lang="en-US" sz="3200" b="1" dirty="0">
                <a:solidFill>
                  <a:srgbClr val="FFFFFF"/>
                </a:solidFill>
                <a:latin typeface="Plus Jakarta Sans" pitchFamily="34" charset="0"/>
                <a:ea typeface="Plus Jakarta Sans" pitchFamily="34" charset="-122"/>
                <a:cs typeface="Plus Jakarta Sans" pitchFamily="34" charset="-120"/>
              </a:rPr>
              <a:t>✔</a:t>
            </a:r>
            <a:endParaRPr lang="en-US" sz="3200" dirty="0"/>
          </a:p>
        </p:txBody>
      </p:sp>
      <p:sp>
        <p:nvSpPr>
          <p:cNvPr id="22" name="Text 19"/>
          <p:cNvSpPr/>
          <p:nvPr/>
        </p:nvSpPr>
        <p:spPr>
          <a:xfrm>
            <a:off x="8119872" y="2834640"/>
            <a:ext cx="3337560" cy="274320"/>
          </a:xfrm>
          <a:prstGeom prst="rect">
            <a:avLst/>
          </a:prstGeom>
          <a:noFill/>
          <a:ln/>
        </p:spPr>
        <p:txBody>
          <a:bodyPr wrap="square" rtlCol="0" anchor="ctr"/>
          <a:lstStyle/>
          <a:p>
            <a:pPr algn="ctr" indent="0" marL="0">
              <a:buNone/>
            </a:pPr>
            <a:r>
              <a:rPr lang="en-US" sz="1100" b="1" dirty="0">
                <a:solidFill>
                  <a:srgbClr val="10B981"/>
                </a:solidFill>
                <a:latin typeface="Plus Jakarta Sans" pitchFamily="34" charset="0"/>
                <a:ea typeface="Plus Jakarta Sans" pitchFamily="34" charset="-122"/>
                <a:cs typeface="Plus Jakarta Sans" pitchFamily="34" charset="-120"/>
              </a:rPr>
              <a:t>THE RESULT</a:t>
            </a:r>
            <a:endParaRPr lang="en-US" sz="1100" dirty="0"/>
          </a:p>
        </p:txBody>
      </p:sp>
      <p:sp>
        <p:nvSpPr>
          <p:cNvPr id="23" name="Text 20"/>
          <p:cNvSpPr/>
          <p:nvPr/>
        </p:nvSpPr>
        <p:spPr>
          <a:xfrm>
            <a:off x="8348472" y="3108960"/>
            <a:ext cx="2880360" cy="960120"/>
          </a:xfrm>
          <a:prstGeom prst="rect">
            <a:avLst/>
          </a:prstGeom>
          <a:noFill/>
          <a:ln/>
        </p:spPr>
        <p:txBody>
          <a:bodyPr wrap="square" rtlCol="0" anchor="t"/>
          <a:lstStyle/>
          <a:p>
            <a:pPr algn="ctr" indent="0" marL="0">
              <a:lnSpc>
                <a:spcPct val="115000"/>
              </a:lnSpc>
              <a:buNone/>
            </a:pPr>
            <a:r>
              <a:rPr lang="en-US" sz="1200" dirty="0">
                <a:solidFill>
                  <a:srgbClr val="0F172A"/>
                </a:solidFill>
                <a:latin typeface="Plus Jakarta Sans" pitchFamily="34" charset="0"/>
                <a:ea typeface="Plus Jakarta Sans" pitchFamily="34" charset="-122"/>
                <a:cs typeface="Plus Jakarta Sans" pitchFamily="34" charset="-120"/>
              </a:rPr>
              <a:t>Visitors' browsers now check the seal and refuse to run any tool that has been tampered with.</a:t>
            </a:r>
            <a:endParaRPr lang="en-US" sz="1200" dirty="0"/>
          </a:p>
        </p:txBody>
      </p:sp>
      <p:sp>
        <p:nvSpPr>
          <p:cNvPr id="24" name="Text 21"/>
          <p:cNvSpPr/>
          <p:nvPr/>
        </p:nvSpPr>
        <p:spPr>
          <a:xfrm>
            <a:off x="731520" y="4315968"/>
            <a:ext cx="2743200" cy="256032"/>
          </a:xfrm>
          <a:prstGeom prst="rect">
            <a:avLst/>
          </a:prstGeom>
          <a:noFill/>
          <a:ln/>
        </p:spPr>
        <p:txBody>
          <a:bodyPr wrap="square" rtlCol="0" anchor="ctr"/>
          <a:lstStyle/>
          <a:p>
            <a:pPr indent="0" marL="0">
              <a:buNone/>
            </a:pPr>
            <a:r>
              <a:rPr lang="en-US" sz="900" b="1" dirty="0">
                <a:solidFill>
                  <a:srgbClr val="64748B"/>
                </a:solidFill>
                <a:latin typeface="Plus Jakarta Sans" pitchFamily="34" charset="0"/>
                <a:ea typeface="Plus Jakarta Sans" pitchFamily="34" charset="-122"/>
                <a:cs typeface="Plus Jakarta Sans" pitchFamily="34" charset="-120"/>
              </a:rPr>
              <a:t>NOW PROTECTED</a:t>
            </a:r>
            <a:endParaRPr lang="en-US" sz="900" dirty="0"/>
          </a:p>
        </p:txBody>
      </p:sp>
      <p:sp>
        <p:nvSpPr>
          <p:cNvPr id="25" name="Shape 22"/>
          <p:cNvSpPr/>
          <p:nvPr/>
        </p:nvSpPr>
        <p:spPr>
          <a:xfrm>
            <a:off x="731520" y="4590288"/>
            <a:ext cx="2560320" cy="365760"/>
          </a:xfrm>
          <a:prstGeom prst="roundRect">
            <a:avLst>
              <a:gd name="adj" fmla="val 50000"/>
            </a:avLst>
          </a:prstGeom>
          <a:solidFill>
            <a:srgbClr val="ECFDF5"/>
          </a:solidFill>
          <a:ln w="12700">
            <a:solidFill>
              <a:srgbClr val="10B981"/>
            </a:solidFill>
            <a:prstDash val="solid"/>
          </a:ln>
        </p:spPr>
      </p:sp>
      <p:sp>
        <p:nvSpPr>
          <p:cNvPr id="26" name="Text 23"/>
          <p:cNvSpPr/>
          <p:nvPr/>
        </p:nvSpPr>
        <p:spPr>
          <a:xfrm>
            <a:off x="731520" y="4590288"/>
            <a:ext cx="2560320" cy="365760"/>
          </a:xfrm>
          <a:prstGeom prst="rect">
            <a:avLst/>
          </a:prstGeom>
          <a:noFill/>
          <a:ln/>
        </p:spPr>
        <p:txBody>
          <a:bodyPr wrap="square" rtlCol="0" anchor="ctr"/>
          <a:lstStyle/>
          <a:p>
            <a:pPr algn="ctr" indent="0" marL="0">
              <a:buNone/>
            </a:pPr>
            <a:r>
              <a:rPr lang="en-US" sz="1100" b="1" dirty="0">
                <a:solidFill>
                  <a:srgbClr val="047857"/>
                </a:solidFill>
                <a:latin typeface="Plus Jakarta Sans" pitchFamily="34" charset="0"/>
                <a:ea typeface="Plus Jakarta Sans" pitchFamily="34" charset="-122"/>
                <a:cs typeface="Plus Jakarta Sans" pitchFamily="34" charset="-120"/>
              </a:rPr>
              <a:t>✔  cdn11.bigcommerce.com</a:t>
            </a:r>
            <a:endParaRPr lang="en-US" sz="1100" dirty="0"/>
          </a:p>
        </p:txBody>
      </p:sp>
      <p:sp>
        <p:nvSpPr>
          <p:cNvPr id="27" name="Text 24"/>
          <p:cNvSpPr/>
          <p:nvPr/>
        </p:nvSpPr>
        <p:spPr>
          <a:xfrm>
            <a:off x="731520" y="5138928"/>
            <a:ext cx="5486400" cy="256032"/>
          </a:xfrm>
          <a:prstGeom prst="rect">
            <a:avLst/>
          </a:prstGeom>
          <a:noFill/>
          <a:ln/>
        </p:spPr>
        <p:txBody>
          <a:bodyPr wrap="square" rtlCol="0" anchor="ctr"/>
          <a:lstStyle/>
          <a:p>
            <a:pPr indent="0" marL="0">
              <a:buNone/>
            </a:pPr>
            <a:r>
              <a:rPr lang="en-US" sz="900" b="1" dirty="0">
                <a:solidFill>
                  <a:srgbClr val="64748B"/>
                </a:solidFill>
                <a:latin typeface="Plus Jakarta Sans" pitchFamily="34" charset="0"/>
                <a:ea typeface="Plus Jakarta Sans" pitchFamily="34" charset="-122"/>
                <a:cs typeface="Plus Jakarta Sans" pitchFamily="34" charset="-120"/>
              </a:rPr>
              <a:t>WHY IT MATTERS TO YOUR BUSINESS</a:t>
            </a:r>
            <a:endParaRPr lang="en-US" sz="900" dirty="0"/>
          </a:p>
        </p:txBody>
      </p:sp>
      <p:sp>
        <p:nvSpPr>
          <p:cNvPr id="28" name="Shape 25"/>
          <p:cNvSpPr/>
          <p:nvPr/>
        </p:nvSpPr>
        <p:spPr>
          <a:xfrm>
            <a:off x="731520" y="5468112"/>
            <a:ext cx="310896" cy="310896"/>
          </a:xfrm>
          <a:prstGeom prst="ellipse">
            <a:avLst/>
          </a:prstGeom>
          <a:solidFill>
            <a:srgbClr val="10B981"/>
          </a:solidFill>
          <a:ln w="12700">
            <a:solidFill>
              <a:srgbClr val="10B981"/>
            </a:solidFill>
            <a:prstDash val="solid"/>
          </a:ln>
        </p:spPr>
      </p:sp>
      <p:sp>
        <p:nvSpPr>
          <p:cNvPr id="29" name="Text 26"/>
          <p:cNvSpPr/>
          <p:nvPr/>
        </p:nvSpPr>
        <p:spPr>
          <a:xfrm>
            <a:off x="731520" y="5468112"/>
            <a:ext cx="310896" cy="310896"/>
          </a:xfrm>
          <a:prstGeom prst="rect">
            <a:avLst/>
          </a:prstGeom>
          <a:noFill/>
          <a:ln/>
        </p:spPr>
        <p:txBody>
          <a:bodyPr wrap="square"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a:t>
            </a:r>
            <a:endParaRPr lang="en-US" sz="1100" dirty="0"/>
          </a:p>
        </p:txBody>
      </p:sp>
      <p:sp>
        <p:nvSpPr>
          <p:cNvPr id="30" name="Text 27"/>
          <p:cNvSpPr/>
          <p:nvPr/>
        </p:nvSpPr>
        <p:spPr>
          <a:xfrm>
            <a:off x="1143000" y="5431536"/>
            <a:ext cx="3017520" cy="274320"/>
          </a:xfrm>
          <a:prstGeom prst="rect">
            <a:avLst/>
          </a:prstGeom>
          <a:noFill/>
          <a:ln/>
        </p:spPr>
        <p:txBody>
          <a:bodyPr wrap="square" rtlCol="0" anchor="ctr"/>
          <a:lstStyle/>
          <a:p>
            <a:pPr indent="0" marL="0">
              <a:buNone/>
            </a:pPr>
            <a:r>
              <a:rPr lang="en-US" sz="1200" b="1" dirty="0">
                <a:solidFill>
                  <a:srgbClr val="0F172A"/>
                </a:solidFill>
                <a:latin typeface="Outfit" pitchFamily="34" charset="0"/>
                <a:ea typeface="Outfit" pitchFamily="34" charset="-122"/>
                <a:cs typeface="Outfit" pitchFamily="34" charset="-120"/>
              </a:rPr>
              <a:t>Checkout stays protected</a:t>
            </a:r>
            <a:endParaRPr lang="en-US" sz="1200" dirty="0"/>
          </a:p>
        </p:txBody>
      </p:sp>
      <p:sp>
        <p:nvSpPr>
          <p:cNvPr id="31" name="Text 28"/>
          <p:cNvSpPr/>
          <p:nvPr/>
        </p:nvSpPr>
        <p:spPr>
          <a:xfrm>
            <a:off x="1143000" y="5687568"/>
            <a:ext cx="3017520" cy="502920"/>
          </a:xfrm>
          <a:prstGeom prst="rect">
            <a:avLst/>
          </a:prstGeom>
          <a:noFill/>
          <a:ln/>
        </p:spPr>
        <p:txBody>
          <a:bodyPr wrap="square" rtlCol="0" anchor="t"/>
          <a:lstStyle/>
          <a:p>
            <a:pPr indent="0" marL="0">
              <a:lnSpc>
                <a:spcPts val="1300"/>
              </a:lnSpc>
              <a:buNone/>
            </a:pPr>
            <a:r>
              <a:rPr lang="en-US" sz="1000" dirty="0">
                <a:solidFill>
                  <a:srgbClr val="64748B"/>
                </a:solidFill>
                <a:latin typeface="Plus Jakarta Sans" pitchFamily="34" charset="0"/>
                <a:ea typeface="Plus Jakarta Sans" pitchFamily="34" charset="-122"/>
                <a:cs typeface="Plus Jakarta Sans" pitchFamily="34" charset="-120"/>
              </a:rPr>
              <a:t>Card and login details can't be siphoned off by tampered code.</a:t>
            </a:r>
            <a:endParaRPr lang="en-US" sz="1000" dirty="0"/>
          </a:p>
        </p:txBody>
      </p:sp>
      <p:sp>
        <p:nvSpPr>
          <p:cNvPr id="32" name="Shape 29"/>
          <p:cNvSpPr/>
          <p:nvPr/>
        </p:nvSpPr>
        <p:spPr>
          <a:xfrm>
            <a:off x="4425696" y="5468112"/>
            <a:ext cx="310896" cy="310896"/>
          </a:xfrm>
          <a:prstGeom prst="ellipse">
            <a:avLst/>
          </a:prstGeom>
          <a:solidFill>
            <a:srgbClr val="10B981"/>
          </a:solidFill>
          <a:ln w="12700">
            <a:solidFill>
              <a:srgbClr val="10B981"/>
            </a:solidFill>
            <a:prstDash val="solid"/>
          </a:ln>
        </p:spPr>
      </p:sp>
      <p:sp>
        <p:nvSpPr>
          <p:cNvPr id="33" name="Text 30"/>
          <p:cNvSpPr/>
          <p:nvPr/>
        </p:nvSpPr>
        <p:spPr>
          <a:xfrm>
            <a:off x="4425696" y="5468112"/>
            <a:ext cx="310896" cy="310896"/>
          </a:xfrm>
          <a:prstGeom prst="rect">
            <a:avLst/>
          </a:prstGeom>
          <a:noFill/>
          <a:ln/>
        </p:spPr>
        <p:txBody>
          <a:bodyPr wrap="square"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a:t>
            </a:r>
            <a:endParaRPr lang="en-US" sz="1100" dirty="0"/>
          </a:p>
        </p:txBody>
      </p:sp>
      <p:sp>
        <p:nvSpPr>
          <p:cNvPr id="34" name="Text 31"/>
          <p:cNvSpPr/>
          <p:nvPr/>
        </p:nvSpPr>
        <p:spPr>
          <a:xfrm>
            <a:off x="4837176" y="5431536"/>
            <a:ext cx="3017520" cy="274320"/>
          </a:xfrm>
          <a:prstGeom prst="rect">
            <a:avLst/>
          </a:prstGeom>
          <a:noFill/>
          <a:ln/>
        </p:spPr>
        <p:txBody>
          <a:bodyPr wrap="square" rtlCol="0" anchor="ctr"/>
          <a:lstStyle/>
          <a:p>
            <a:pPr indent="0" marL="0">
              <a:buNone/>
            </a:pPr>
            <a:r>
              <a:rPr lang="en-US" sz="1200" b="1" dirty="0">
                <a:solidFill>
                  <a:srgbClr val="0F172A"/>
                </a:solidFill>
                <a:latin typeface="Outfit" pitchFamily="34" charset="0"/>
                <a:ea typeface="Outfit" pitchFamily="34" charset="-122"/>
                <a:cs typeface="Outfit" pitchFamily="34" charset="-120"/>
              </a:rPr>
              <a:t>Customer trust is safeguarded</a:t>
            </a:r>
            <a:endParaRPr lang="en-US" sz="1200" dirty="0"/>
          </a:p>
        </p:txBody>
      </p:sp>
      <p:sp>
        <p:nvSpPr>
          <p:cNvPr id="35" name="Text 32"/>
          <p:cNvSpPr/>
          <p:nvPr/>
        </p:nvSpPr>
        <p:spPr>
          <a:xfrm>
            <a:off x="4837176" y="5687568"/>
            <a:ext cx="3017520" cy="502920"/>
          </a:xfrm>
          <a:prstGeom prst="rect">
            <a:avLst/>
          </a:prstGeom>
          <a:noFill/>
          <a:ln/>
        </p:spPr>
        <p:txBody>
          <a:bodyPr wrap="square" rtlCol="0" anchor="t"/>
          <a:lstStyle/>
          <a:p>
            <a:pPr indent="0" marL="0">
              <a:lnSpc>
                <a:spcPts val="1300"/>
              </a:lnSpc>
              <a:buNone/>
            </a:pPr>
            <a:r>
              <a:rPr lang="en-US" sz="1000" dirty="0">
                <a:solidFill>
                  <a:srgbClr val="64748B"/>
                </a:solidFill>
                <a:latin typeface="Plus Jakarta Sans" pitchFamily="34" charset="0"/>
                <a:ea typeface="Plus Jakarta Sans" pitchFamily="34" charset="-122"/>
                <a:cs typeface="Plus Jakarta Sans" pitchFamily="34" charset="-120"/>
              </a:rPr>
              <a:t>Your store becomes a much harder target for a "hacked store" incident.</a:t>
            </a:r>
            <a:endParaRPr lang="en-US" sz="1000" dirty="0"/>
          </a:p>
        </p:txBody>
      </p:sp>
      <p:sp>
        <p:nvSpPr>
          <p:cNvPr id="36" name="Shape 33"/>
          <p:cNvSpPr/>
          <p:nvPr/>
        </p:nvSpPr>
        <p:spPr>
          <a:xfrm>
            <a:off x="8119872" y="5468112"/>
            <a:ext cx="310896" cy="310896"/>
          </a:xfrm>
          <a:prstGeom prst="ellipse">
            <a:avLst/>
          </a:prstGeom>
          <a:solidFill>
            <a:srgbClr val="10B981"/>
          </a:solidFill>
          <a:ln w="12700">
            <a:solidFill>
              <a:srgbClr val="10B981"/>
            </a:solidFill>
            <a:prstDash val="solid"/>
          </a:ln>
        </p:spPr>
      </p:sp>
      <p:sp>
        <p:nvSpPr>
          <p:cNvPr id="37" name="Text 34"/>
          <p:cNvSpPr/>
          <p:nvPr/>
        </p:nvSpPr>
        <p:spPr>
          <a:xfrm>
            <a:off x="8119872" y="5468112"/>
            <a:ext cx="310896" cy="310896"/>
          </a:xfrm>
          <a:prstGeom prst="rect">
            <a:avLst/>
          </a:prstGeom>
          <a:noFill/>
          <a:ln/>
        </p:spPr>
        <p:txBody>
          <a:bodyPr wrap="square"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a:t>
            </a:r>
            <a:endParaRPr lang="en-US" sz="1100" dirty="0"/>
          </a:p>
        </p:txBody>
      </p:sp>
      <p:sp>
        <p:nvSpPr>
          <p:cNvPr id="38" name="Text 35"/>
          <p:cNvSpPr/>
          <p:nvPr/>
        </p:nvSpPr>
        <p:spPr>
          <a:xfrm>
            <a:off x="8531352" y="5431536"/>
            <a:ext cx="3017520" cy="274320"/>
          </a:xfrm>
          <a:prstGeom prst="rect">
            <a:avLst/>
          </a:prstGeom>
          <a:noFill/>
          <a:ln/>
        </p:spPr>
        <p:txBody>
          <a:bodyPr wrap="square" rtlCol="0" anchor="ctr"/>
          <a:lstStyle/>
          <a:p>
            <a:pPr indent="0" marL="0">
              <a:buNone/>
            </a:pPr>
            <a:r>
              <a:rPr lang="en-US" sz="1200" b="1" dirty="0">
                <a:solidFill>
                  <a:srgbClr val="0F172A"/>
                </a:solidFill>
                <a:latin typeface="Outfit" pitchFamily="34" charset="0"/>
                <a:ea typeface="Outfit" pitchFamily="34" charset="-122"/>
                <a:cs typeface="Outfit" pitchFamily="34" charset="-120"/>
              </a:rPr>
              <a:t>Nothing changes for shoppers</a:t>
            </a:r>
            <a:endParaRPr lang="en-US" sz="1200" dirty="0"/>
          </a:p>
        </p:txBody>
      </p:sp>
      <p:sp>
        <p:nvSpPr>
          <p:cNvPr id="39" name="Text 36"/>
          <p:cNvSpPr/>
          <p:nvPr/>
        </p:nvSpPr>
        <p:spPr>
          <a:xfrm>
            <a:off x="8531352" y="5687568"/>
            <a:ext cx="3017520" cy="502920"/>
          </a:xfrm>
          <a:prstGeom prst="rect">
            <a:avLst/>
          </a:prstGeom>
          <a:noFill/>
          <a:ln/>
        </p:spPr>
        <p:txBody>
          <a:bodyPr wrap="square" rtlCol="0" anchor="t"/>
          <a:lstStyle/>
          <a:p>
            <a:pPr indent="0" marL="0">
              <a:lnSpc>
                <a:spcPts val="1300"/>
              </a:lnSpc>
              <a:buNone/>
            </a:pPr>
            <a:r>
              <a:rPr lang="en-US" sz="1000" dirty="0">
                <a:solidFill>
                  <a:srgbClr val="64748B"/>
                </a:solidFill>
                <a:latin typeface="Plus Jakarta Sans" pitchFamily="34" charset="0"/>
                <a:ea typeface="Plus Jakarta Sans" pitchFamily="34" charset="-122"/>
                <a:cs typeface="Plus Jakarta Sans" pitchFamily="34" charset="-120"/>
              </a:rPr>
              <a:t>The protection runs invisibly, so pages look and work the same.</a:t>
            </a:r>
            <a:endParaRPr lang="en-US" sz="1000" dirty="0"/>
          </a:p>
        </p:txBody>
      </p:sp>
      <p:sp>
        <p:nvSpPr>
          <p:cNvPr id="40" name="Text 37"/>
          <p:cNvSpPr/>
          <p:nvPr/>
        </p:nvSpPr>
        <p:spPr>
          <a:xfrm>
            <a:off x="731520" y="6309360"/>
            <a:ext cx="10515600" cy="274320"/>
          </a:xfrm>
          <a:prstGeom prst="rect">
            <a:avLst/>
          </a:prstGeom>
          <a:noFill/>
          <a:ln/>
        </p:spPr>
        <p:txBody>
          <a:bodyPr wrap="square" rtlCol="0" anchor="ctr"/>
          <a:lstStyle/>
          <a:p>
            <a:pPr indent="0" marL="0">
              <a:buNone/>
            </a:pPr>
            <a:r>
              <a:rPr lang="en-US" sz="1000" i="1" dirty="0">
                <a:solidFill>
                  <a:srgbClr val="64748B"/>
                </a:solidFill>
                <a:latin typeface="Plus Jakarta Sans" pitchFamily="34" charset="0"/>
                <a:ea typeface="Plus Jakarta Sans" pitchFamily="34" charset="-122"/>
                <a:cs typeface="Plus Jakarta Sans" pitchFamily="34" charset="-120"/>
              </a:rPr>
              <a:t>9 other routine security items are scheduled for upcoming months.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Infrastructure Security</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DNS Configurations &amp; SSL Certificate Validity</a:t>
            </a:r>
            <a:endParaRPr lang="en-US" sz="2600" dirty="0"/>
          </a:p>
        </p:txBody>
      </p:sp>
      <p:sp>
        <p:nvSpPr>
          <p:cNvPr id="5" name="Shape 2"/>
          <p:cNvSpPr/>
          <p:nvPr/>
        </p:nvSpPr>
        <p:spPr>
          <a:xfrm>
            <a:off x="731520" y="1645920"/>
            <a:ext cx="5120640" cy="3474720"/>
          </a:xfrm>
          <a:prstGeom prst="rect">
            <a:avLst>
              <a:gd name="adj" fmla="val 2632"/>
            </a:avLst>
          </a:prstGeom>
          <a:solidFill>
            <a:srgbClr val="F8FAFC"/>
          </a:solidFill>
          <a:ln w="12700">
            <a:solidFill>
              <a:srgbClr val="E2E8F0"/>
            </a:solidFill>
            <a:prstDash val="solid"/>
          </a:ln>
        </p:spPr>
      </p:sp>
      <p:sp>
        <p:nvSpPr>
          <p:cNvPr id="6" name="Text 3"/>
          <p:cNvSpPr/>
          <p:nvPr/>
        </p:nvSpPr>
        <p:spPr>
          <a:xfrm>
            <a:off x="10058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SSL CERTIFICATE STATUS</a:t>
            </a:r>
            <a:endParaRPr lang="en-US" sz="1100" dirty="0"/>
          </a:p>
        </p:txBody>
      </p:sp>
      <p:sp>
        <p:nvSpPr>
          <p:cNvPr id="7" name="Text 4"/>
          <p:cNvSpPr/>
          <p:nvPr/>
        </p:nvSpPr>
        <p:spPr>
          <a:xfrm>
            <a:off x="1005840" y="2286000"/>
            <a:ext cx="4572000" cy="457200"/>
          </a:xfrm>
          <a:prstGeom prst="rect">
            <a:avLst/>
          </a:prstGeom>
          <a:noFill/>
          <a:ln/>
        </p:spPr>
        <p:txBody>
          <a:bodyPr wrap="square" rtlCol="0" anchor="ctr"/>
          <a:lstStyle/>
          <a:p>
            <a:pPr indent="0" marL="0">
              <a:buNone/>
            </a:pPr>
            <a:r>
              <a:rPr lang="en-US" sz="2200" b="1" dirty="0">
                <a:solidFill>
                  <a:srgbClr val="10B981"/>
                </a:solidFill>
                <a:latin typeface="Outfit" pitchFamily="34" charset="0"/>
                <a:ea typeface="Outfit" pitchFamily="34" charset="-122"/>
                <a:cs typeface="Outfit" pitchFamily="34" charset="-120"/>
              </a:rPr>
              <a:t>Active &amp; Secure</a:t>
            </a:r>
            <a:endParaRPr lang="en-US" sz="2200" dirty="0"/>
          </a:p>
        </p:txBody>
      </p:sp>
      <p:sp>
        <p:nvSpPr>
          <p:cNvPr id="8" name="Text 5"/>
          <p:cNvSpPr/>
          <p:nvPr/>
        </p:nvSpPr>
        <p:spPr>
          <a:xfrm>
            <a:off x="1005840" y="2834640"/>
            <a:ext cx="4572000" cy="210312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Security certificate issued by: Google Trust Services</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Days until it expires: 58 days</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Expiration date: Dec 12 11:28:44 2026 GMT</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Website covered: audio-connexion.com</a:t>
            </a:r>
            <a:endParaRPr lang="en-US" sz="1300" dirty="0"/>
          </a:p>
        </p:txBody>
      </p:sp>
      <p:sp>
        <p:nvSpPr>
          <p:cNvPr id="9" name="Shape 6"/>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10" name="Text 7"/>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DNS NAME RECORDS HEALTH</a:t>
            </a:r>
            <a:endParaRPr lang="en-US" sz="1100" dirty="0"/>
          </a:p>
        </p:txBody>
      </p:sp>
      <p:sp>
        <p:nvSpPr>
          <p:cNvPr id="11" name="Text 8"/>
          <p:cNvSpPr/>
          <p:nvPr/>
        </p:nvSpPr>
        <p:spPr>
          <a:xfrm>
            <a:off x="6492240" y="2286000"/>
            <a:ext cx="4572000" cy="457200"/>
          </a:xfrm>
          <a:prstGeom prst="rect">
            <a:avLst/>
          </a:prstGeom>
          <a:noFill/>
          <a:ln/>
        </p:spPr>
        <p:txBody>
          <a:bodyPr wrap="square" rtlCol="0" anchor="ctr"/>
          <a:lstStyle/>
          <a:p>
            <a:pPr indent="0" marL="0">
              <a:buNone/>
            </a:pPr>
            <a:r>
              <a:rPr lang="en-US" sz="2200" b="1" dirty="0">
                <a:solidFill>
                  <a:srgbClr val="10B981"/>
                </a:solidFill>
                <a:latin typeface="Outfit" pitchFamily="34" charset="0"/>
                <a:ea typeface="Outfit" pitchFamily="34" charset="-122"/>
                <a:cs typeface="Outfit" pitchFamily="34" charset="-120"/>
              </a:rPr>
              <a:t>Healthy Records Config</a:t>
            </a:r>
            <a:endParaRPr lang="en-US" sz="2200" dirty="0"/>
          </a:p>
        </p:txBody>
      </p:sp>
      <p:sp>
        <p:nvSpPr>
          <p:cNvPr id="12" name="Text 9"/>
          <p:cNvSpPr/>
          <p:nvPr/>
        </p:nvSpPr>
        <p:spPr>
          <a:xfrm>
            <a:off x="6492240" y="2834640"/>
            <a:ext cx="4572000" cy="210312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Name Servers (NS): ns1.dotster.com, ns2.dotster.com</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Mail Servers (MX): smtp.google.com (Priority 1)</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Email sender protection (SPF): In place</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Website address (A records): Resolving correctly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Sitemap &amp; Navigation Audit</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Sitemap Integrity &amp; Broken Link Audit</a:t>
            </a:r>
            <a:endParaRPr lang="en-US" sz="2600" dirty="0"/>
          </a:p>
        </p:txBody>
      </p:sp>
      <p:sp>
        <p:nvSpPr>
          <p:cNvPr id="5" name="Text 2"/>
          <p:cNvSpPr/>
          <p:nvPr/>
        </p:nvSpPr>
        <p:spPr>
          <a:xfrm>
            <a:off x="731520" y="1463040"/>
            <a:ext cx="10515600" cy="731520"/>
          </a:xfrm>
          <a:prstGeom prst="rect">
            <a:avLst/>
          </a:prstGeom>
          <a:noFill/>
          <a:ln/>
        </p:spPr>
        <p:txBody>
          <a:bodyPr wrap="square" rtlCol="0" anchor="ctr"/>
          <a:lstStyle/>
          <a:p>
            <a:pPr indent="0" marL="0">
              <a:buNone/>
            </a:pPr>
            <a:r>
              <a:rPr lang="en-US" sz="1450" dirty="0">
                <a:solidFill>
                  <a:srgbClr val="0F172A"/>
                </a:solidFill>
                <a:latin typeface="Plus Jakarta Sans" pitchFamily="34" charset="0"/>
                <a:ea typeface="Plus Jakarta Sans" pitchFamily="34" charset="-122"/>
                <a:cs typeface="Plus Jakarta Sans" pitchFamily="34" charset="-120"/>
              </a:rPr>
              <a:t>We performed a site-wide sitemap scan and status check across the store catalog. Sitemaps indexing product URLs, category hierarchies, and static CMS pages were validated to protect search indexing coverage.</a:t>
            </a:r>
            <a:endParaRPr lang="en-US" sz="1450" dirty="0"/>
          </a:p>
        </p:txBody>
      </p:sp>
      <p:sp>
        <p:nvSpPr>
          <p:cNvPr id="6" name="Shape 3"/>
          <p:cNvSpPr/>
          <p:nvPr/>
        </p:nvSpPr>
        <p:spPr>
          <a:xfrm>
            <a:off x="731520" y="2377440"/>
            <a:ext cx="4937760" cy="2560320"/>
          </a:xfrm>
          <a:prstGeom prst="rect">
            <a:avLst>
              <a:gd name="adj" fmla="val 3571"/>
            </a:avLst>
          </a:prstGeom>
          <a:solidFill>
            <a:srgbClr val="F8FAFC"/>
          </a:solidFill>
          <a:ln w="12700">
            <a:solidFill>
              <a:srgbClr val="E2E8F0"/>
            </a:solidFill>
            <a:prstDash val="solid"/>
          </a:ln>
        </p:spPr>
      </p:sp>
      <p:sp>
        <p:nvSpPr>
          <p:cNvPr id="7" name="Text 4"/>
          <p:cNvSpPr/>
          <p:nvPr/>
        </p:nvSpPr>
        <p:spPr>
          <a:xfrm>
            <a:off x="1005840" y="2651760"/>
            <a:ext cx="4389120" cy="365760"/>
          </a:xfrm>
          <a:prstGeom prst="rect">
            <a:avLst/>
          </a:prstGeom>
          <a:noFill/>
          <a:ln/>
        </p:spPr>
        <p:txBody>
          <a:bodyPr wrap="square" rtlCol="0" anchor="ctr"/>
          <a:lstStyle/>
          <a:p>
            <a:pPr indent="0" marL="0">
              <a:buNone/>
            </a:pPr>
            <a:r>
              <a:rPr lang="en-US" sz="1600" b="1" dirty="0">
                <a:solidFill>
                  <a:srgbClr val="075985"/>
                </a:solidFill>
                <a:latin typeface="Outfit" pitchFamily="34" charset="0"/>
                <a:ea typeface="Outfit" pitchFamily="34" charset="-122"/>
                <a:cs typeface="Outfit" pitchFamily="34" charset="-120"/>
              </a:rPr>
              <a:t>Storefront Scope &amp; Indexing</a:t>
            </a:r>
            <a:endParaRPr lang="en-US" sz="1600" dirty="0"/>
          </a:p>
        </p:txBody>
      </p:sp>
      <p:sp>
        <p:nvSpPr>
          <p:cNvPr id="8" name="Text 5"/>
          <p:cNvSpPr/>
          <p:nvPr/>
        </p:nvSpPr>
        <p:spPr>
          <a:xfrm>
            <a:off x="1005840" y="3108960"/>
            <a:ext cx="4389120" cy="731520"/>
          </a:xfrm>
          <a:prstGeom prst="rect">
            <a:avLst/>
          </a:prstGeom>
          <a:noFill/>
          <a:ln/>
        </p:spPr>
        <p:txBody>
          <a:bodyPr wrap="square" rtlCol="0" anchor="ctr"/>
          <a:lstStyle/>
          <a:p>
            <a:pPr indent="0" marL="0">
              <a:buNone/>
            </a:pPr>
            <a:r>
              <a:rPr lang="en-US" sz="4800" b="1" dirty="0">
                <a:solidFill>
                  <a:srgbClr val="0EA5E9"/>
                </a:solidFill>
                <a:latin typeface="Outfit" pitchFamily="34" charset="0"/>
                <a:ea typeface="Outfit" pitchFamily="34" charset="-122"/>
                <a:cs typeface="Outfit" pitchFamily="34" charset="-120"/>
              </a:rPr>
              <a:t>1,813+ URLs</a:t>
            </a:r>
            <a:endParaRPr lang="en-US" sz="4800" dirty="0"/>
          </a:p>
        </p:txBody>
      </p:sp>
      <p:sp>
        <p:nvSpPr>
          <p:cNvPr id="9" name="Text 6"/>
          <p:cNvSpPr/>
          <p:nvPr/>
        </p:nvSpPr>
        <p:spPr>
          <a:xfrm>
            <a:off x="1005840" y="3931920"/>
            <a:ext cx="4389120" cy="731520"/>
          </a:xfrm>
          <a:prstGeom prst="rect">
            <a:avLst/>
          </a:prstGeom>
          <a:noFill/>
          <a:ln/>
        </p:spPr>
        <p:txBody>
          <a:bodyPr wrap="square" rtlCol="0" anchor="ctr"/>
          <a:lstStyle/>
          <a:p>
            <a:pPr indent="0" marL="0">
              <a:buNone/>
            </a:pPr>
            <a:r>
              <a:rPr lang="en-US" sz="1200" dirty="0">
                <a:solidFill>
                  <a:srgbClr val="64748B"/>
                </a:solidFill>
                <a:latin typeface="Plus Jakarta Sans" pitchFamily="34" charset="0"/>
                <a:ea typeface="Plus Jakarta Sans" pitchFamily="34" charset="-122"/>
                <a:cs typeface="Plus Jakarta Sans" pitchFamily="34" charset="-120"/>
              </a:rPr>
              <a:t>Total storefront URLs indexed in sitemaps. A representative sample of 26 core templates &amp; routes (PDP, PLP, CMS, and Home) was audited.</a:t>
            </a:r>
            <a:endParaRPr lang="en-US" sz="1200" dirty="0"/>
          </a:p>
        </p:txBody>
      </p:sp>
      <p:sp>
        <p:nvSpPr>
          <p:cNvPr id="10" name="Shape 7"/>
          <p:cNvSpPr/>
          <p:nvPr/>
        </p:nvSpPr>
        <p:spPr>
          <a:xfrm>
            <a:off x="6400800" y="2377440"/>
            <a:ext cx="4937760" cy="2560320"/>
          </a:xfrm>
          <a:prstGeom prst="rect">
            <a:avLst>
              <a:gd name="adj" fmla="val 3571"/>
            </a:avLst>
          </a:prstGeom>
          <a:solidFill>
            <a:srgbClr val="F8FAFC"/>
          </a:solidFill>
          <a:ln w="12700">
            <a:solidFill>
              <a:srgbClr val="E2E8F0"/>
            </a:solidFill>
            <a:prstDash val="solid"/>
          </a:ln>
        </p:spPr>
      </p:sp>
      <p:sp>
        <p:nvSpPr>
          <p:cNvPr id="11" name="Text 8"/>
          <p:cNvSpPr/>
          <p:nvPr/>
        </p:nvSpPr>
        <p:spPr>
          <a:xfrm>
            <a:off x="6675120" y="2651760"/>
            <a:ext cx="4389120" cy="365760"/>
          </a:xfrm>
          <a:prstGeom prst="rect">
            <a:avLst/>
          </a:prstGeom>
          <a:noFill/>
          <a:ln/>
        </p:spPr>
        <p:txBody>
          <a:bodyPr wrap="square" rtlCol="0" anchor="ctr"/>
          <a:lstStyle/>
          <a:p>
            <a:pPr indent="0" marL="0">
              <a:buNone/>
            </a:pPr>
            <a:r>
              <a:rPr lang="en-US" sz="1600" b="1" dirty="0">
                <a:solidFill>
                  <a:srgbClr val="075985"/>
                </a:solidFill>
                <a:latin typeface="Outfit" pitchFamily="34" charset="0"/>
                <a:ea typeface="Outfit" pitchFamily="34" charset="-122"/>
                <a:cs typeface="Outfit" pitchFamily="34" charset="-120"/>
              </a:rPr>
              <a:t>Broken Links Detected (404 / 500)</a:t>
            </a:r>
            <a:endParaRPr lang="en-US" sz="1600" dirty="0"/>
          </a:p>
        </p:txBody>
      </p:sp>
      <p:sp>
        <p:nvSpPr>
          <p:cNvPr id="12" name="Text 9"/>
          <p:cNvSpPr/>
          <p:nvPr/>
        </p:nvSpPr>
        <p:spPr>
          <a:xfrm>
            <a:off x="6675120" y="3108960"/>
            <a:ext cx="4389120" cy="731520"/>
          </a:xfrm>
          <a:prstGeom prst="rect">
            <a:avLst/>
          </a:prstGeom>
          <a:noFill/>
          <a:ln/>
        </p:spPr>
        <p:txBody>
          <a:bodyPr wrap="square" rtlCol="0" anchor="ctr"/>
          <a:lstStyle/>
          <a:p>
            <a:pPr indent="0" marL="0">
              <a:buNone/>
            </a:pPr>
            <a:r>
              <a:rPr lang="en-US" sz="4800" b="1" dirty="0">
                <a:solidFill>
                  <a:srgbClr val="10B981"/>
                </a:solidFill>
                <a:latin typeface="Outfit" pitchFamily="34" charset="0"/>
                <a:ea typeface="Outfit" pitchFamily="34" charset="-122"/>
                <a:cs typeface="Outfit" pitchFamily="34" charset="-120"/>
              </a:rPr>
              <a:t>0</a:t>
            </a:r>
            <a:endParaRPr lang="en-US" sz="4800" dirty="0"/>
          </a:p>
        </p:txBody>
      </p:sp>
      <p:sp>
        <p:nvSpPr>
          <p:cNvPr id="13" name="Text 10"/>
          <p:cNvSpPr/>
          <p:nvPr/>
        </p:nvSpPr>
        <p:spPr>
          <a:xfrm>
            <a:off x="6675120" y="3931920"/>
            <a:ext cx="4389120" cy="731520"/>
          </a:xfrm>
          <a:prstGeom prst="rect">
            <a:avLst/>
          </a:prstGeom>
          <a:noFill/>
          <a:ln/>
        </p:spPr>
        <p:txBody>
          <a:bodyPr wrap="square" rtlCol="0" anchor="ctr"/>
          <a:lstStyle/>
          <a:p>
            <a:pPr indent="0" marL="0">
              <a:buNone/>
            </a:pPr>
            <a:r>
              <a:rPr lang="en-US" sz="1250" dirty="0">
                <a:solidFill>
                  <a:srgbClr val="64748B"/>
                </a:solidFill>
                <a:latin typeface="Plus Jakarta Sans" pitchFamily="34" charset="0"/>
                <a:ea typeface="Plus Jakarta Sans" pitchFamily="34" charset="-122"/>
                <a:cs typeface="Plus Jakarta Sans" pitchFamily="34" charset="-120"/>
              </a:rPr>
              <a:t>100% Success Rate. No missing or broken pages were found in the sample checked.</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UI/UX Layout Testing</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Multi-Device Layout &amp; Viewport Audit</a:t>
            </a:r>
            <a:endParaRPr lang="en-US" sz="2600" dirty="0"/>
          </a:p>
        </p:txBody>
      </p:sp>
      <p:sp>
        <p:nvSpPr>
          <p:cNvPr id="5" name="Text 2"/>
          <p:cNvSpPr/>
          <p:nvPr/>
        </p:nvSpPr>
        <p:spPr>
          <a:xfrm>
            <a:off x="731520" y="1645920"/>
            <a:ext cx="5029200" cy="365760"/>
          </a:xfrm>
          <a:prstGeom prst="rect">
            <a:avLst/>
          </a:prstGeom>
          <a:noFill/>
          <a:ln/>
        </p:spPr>
        <p:txBody>
          <a:bodyPr wrap="square" rtlCol="0" anchor="ctr"/>
          <a:lstStyle/>
          <a:p>
            <a:pPr indent="0" marL="0">
              <a:buNone/>
            </a:pPr>
            <a:r>
              <a:rPr lang="en-US" sz="1800" b="1" dirty="0">
                <a:solidFill>
                  <a:srgbClr val="075985"/>
                </a:solidFill>
                <a:latin typeface="Outfit" pitchFamily="34" charset="0"/>
                <a:ea typeface="Outfit" pitchFamily="34" charset="-122"/>
                <a:cs typeface="Outfit" pitchFamily="34" charset="-120"/>
              </a:rPr>
              <a:t>Device Viewport Scope</a:t>
            </a:r>
            <a:endParaRPr lang="en-US" sz="1800" dirty="0"/>
          </a:p>
        </p:txBody>
      </p:sp>
      <p:sp>
        <p:nvSpPr>
          <p:cNvPr id="6" name="Text 3"/>
          <p:cNvSpPr/>
          <p:nvPr/>
        </p:nvSpPr>
        <p:spPr>
          <a:xfrm>
            <a:off x="731520" y="2103120"/>
            <a:ext cx="5029200" cy="2011680"/>
          </a:xfrm>
          <a:prstGeom prst="rect">
            <a:avLst/>
          </a:prstGeom>
          <a:noFill/>
          <a:ln/>
        </p:spPr>
        <p:txBody>
          <a:bodyPr wrap="square" rtlCol="0" anchor="ctr"/>
          <a:lstStyle/>
          <a:p>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 </a:t>
            </a:r>
            <a:pPr indent="0" marL="0">
              <a:lnSpc>
                <a:spcPts val="2200"/>
              </a:lnSpc>
              <a:buNone/>
            </a:pPr>
            <a:r>
              <a:rPr lang="en-US" sz="1450" b="1" dirty="0">
                <a:solidFill>
                  <a:srgbClr val="0F172A"/>
                </a:solidFill>
                <a:latin typeface="Plus Jakarta Sans" pitchFamily="34" charset="0"/>
                <a:ea typeface="Plus Jakarta Sans" pitchFamily="34" charset="-122"/>
                <a:cs typeface="Plus Jakarta Sans" pitchFamily="34" charset="-120"/>
              </a:rPr>
              <a:t>Desktop (1280px width): </a:t>
            </a:r>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Audited standard display layouts and hover interactions.
</a:t>
            </a:r>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 </a:t>
            </a:r>
            <a:pPr indent="0" marL="0">
              <a:lnSpc>
                <a:spcPts val="2200"/>
              </a:lnSpc>
              <a:buNone/>
            </a:pPr>
            <a:r>
              <a:rPr lang="en-US" sz="1450" b="1" dirty="0">
                <a:solidFill>
                  <a:srgbClr val="0F172A"/>
                </a:solidFill>
                <a:latin typeface="Plus Jakarta Sans" pitchFamily="34" charset="0"/>
                <a:ea typeface="Plus Jakarta Sans" pitchFamily="34" charset="-122"/>
                <a:cs typeface="Plus Jakarta Sans" pitchFamily="34" charset="-120"/>
              </a:rPr>
              <a:t>Tablet (768px width): </a:t>
            </a:r>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Audited grid collapsing and vertical flow alignment.
</a:t>
            </a:r>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 </a:t>
            </a:r>
            <a:pPr indent="0" marL="0">
              <a:lnSpc>
                <a:spcPts val="2200"/>
              </a:lnSpc>
              <a:buNone/>
            </a:pPr>
            <a:r>
              <a:rPr lang="en-US" sz="1450" b="1" dirty="0">
                <a:solidFill>
                  <a:srgbClr val="0F172A"/>
                </a:solidFill>
                <a:latin typeface="Plus Jakarta Sans" pitchFamily="34" charset="0"/>
                <a:ea typeface="Plus Jakarta Sans" pitchFamily="34" charset="-122"/>
                <a:cs typeface="Plus Jakarta Sans" pitchFamily="34" charset="-120"/>
              </a:rPr>
              <a:t>Mobile (375px width): </a:t>
            </a:r>
            <a:pPr indent="0" marL="0">
              <a:lnSpc>
                <a:spcPts val="2200"/>
              </a:lnSpc>
              <a:buNone/>
            </a:pPr>
            <a:r>
              <a:rPr lang="en-US" sz="1450" dirty="0">
                <a:solidFill>
                  <a:srgbClr val="0F172A"/>
                </a:solidFill>
                <a:latin typeface="Plus Jakarta Sans" pitchFamily="34" charset="0"/>
                <a:ea typeface="Plus Jakarta Sans" pitchFamily="34" charset="-122"/>
                <a:cs typeface="Plus Jakarta Sans" pitchFamily="34" charset="-120"/>
              </a:rPr>
              <a:t>Audited hamburger menu trigger and touch target sizes.</a:t>
            </a:r>
            <a:endParaRPr lang="en-US" sz="1450" dirty="0"/>
          </a:p>
        </p:txBody>
      </p:sp>
      <p:sp>
        <p:nvSpPr>
          <p:cNvPr id="7" name="Shape 4"/>
          <p:cNvSpPr/>
          <p:nvPr/>
        </p:nvSpPr>
        <p:spPr>
          <a:xfrm>
            <a:off x="6217920" y="1645920"/>
            <a:ext cx="5120640" cy="3474720"/>
          </a:xfrm>
          <a:prstGeom prst="rect">
            <a:avLst>
              <a:gd name="adj" fmla="val 2632"/>
            </a:avLst>
          </a:prstGeom>
          <a:solidFill>
            <a:srgbClr val="F8FAFC"/>
          </a:solidFill>
          <a:ln w="12700">
            <a:solidFill>
              <a:srgbClr val="E2E8F0"/>
            </a:solidFill>
            <a:prstDash val="solid"/>
          </a:ln>
        </p:spPr>
      </p:sp>
      <p:sp>
        <p:nvSpPr>
          <p:cNvPr id="8" name="Text 5"/>
          <p:cNvSpPr/>
          <p:nvPr/>
        </p:nvSpPr>
        <p:spPr>
          <a:xfrm>
            <a:off x="6492240" y="1920240"/>
            <a:ext cx="457200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RESPONSIVE LAYOUT STABILITY</a:t>
            </a:r>
            <a:endParaRPr lang="en-US" sz="1100" dirty="0"/>
          </a:p>
        </p:txBody>
      </p:sp>
      <p:sp>
        <p:nvSpPr>
          <p:cNvPr id="9" name="Text 6"/>
          <p:cNvSpPr/>
          <p:nvPr/>
        </p:nvSpPr>
        <p:spPr>
          <a:xfrm>
            <a:off x="6492240" y="2286000"/>
            <a:ext cx="4572000" cy="457200"/>
          </a:xfrm>
          <a:prstGeom prst="rect">
            <a:avLst/>
          </a:prstGeom>
          <a:noFill/>
          <a:ln/>
        </p:spPr>
        <p:txBody>
          <a:bodyPr wrap="square" rtlCol="0" anchor="ctr"/>
          <a:lstStyle/>
          <a:p>
            <a:pPr indent="0" marL="0">
              <a:buNone/>
            </a:pPr>
            <a:r>
              <a:rPr lang="en-US" sz="2200" b="1" dirty="0">
                <a:solidFill>
                  <a:srgbClr val="10B981"/>
                </a:solidFill>
                <a:latin typeface="Outfit" pitchFamily="34" charset="0"/>
                <a:ea typeface="Outfit" pitchFamily="34" charset="-122"/>
                <a:cs typeface="Outfit" pitchFamily="34" charset="-120"/>
              </a:rPr>
              <a:t>100% Fluid &amp; Compliant</a:t>
            </a:r>
            <a:endParaRPr lang="en-US" sz="2200" dirty="0"/>
          </a:p>
        </p:txBody>
      </p:sp>
      <p:sp>
        <p:nvSpPr>
          <p:cNvPr id="10" name="Text 7"/>
          <p:cNvSpPr/>
          <p:nvPr/>
        </p:nvSpPr>
        <p:spPr>
          <a:xfrm>
            <a:off x="6492240" y="2834640"/>
            <a:ext cx="4572000" cy="210312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We audited active templates (Homepage, Product details, Category grids, and static info pages) for scroll sizing.</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Zero horizontal document overflows (`scrollWidth &gt; innerWidth`)</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No content clipping or overlapping components</a:t>
            </a: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Fluid layout scaling across all viewports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Functional Verification</a:t>
            </a:r>
            <a:endParaRPr lang="en-US" sz="1300" dirty="0"/>
          </a:p>
        </p:txBody>
      </p:sp>
      <p:sp>
        <p:nvSpPr>
          <p:cNvPr id="4" name="Text 1"/>
          <p:cNvSpPr/>
          <p:nvPr/>
        </p:nvSpPr>
        <p:spPr>
          <a:xfrm>
            <a:off x="731520" y="731520"/>
            <a:ext cx="91440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Cross-Browser Compatibility &amp; Filter Checks</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424160" cy="2011680"/>
        </p:xfrm>
        <a:graphic>
          <a:graphicData uri="http://schemas.openxmlformats.org/drawingml/2006/table">
            <a:tbl>
              <a:tblPr/>
              <a:tblGrid>
                <a:gridCol w="2606040"/>
                <a:gridCol w="2606040"/>
                <a:gridCol w="2606040"/>
                <a:gridCol w="2606040"/>
              </a:tblGrid>
              <a:tr h="402336">
                <a:tc>
                  <a:txBody>
                    <a:bodyPr/>
                    <a:lstStyle/>
                    <a:p>
                      <a:pPr indent="0" marL="0">
                        <a:buNone/>
                      </a:pPr>
                      <a:r>
                        <a:rPr lang="en-US" sz="1200" b="1" dirty="0">
                          <a:solidFill>
                            <a:srgbClr val="000000"/>
                          </a:solidFill>
                          <a:latin typeface="Plus Jakarta Sans" pitchFamily="34" charset="0"/>
                          <a:ea typeface="Plus Jakarta Sans" pitchFamily="34" charset="-122"/>
                          <a:cs typeface="Plus Jakarta Sans" pitchFamily="34" charset="-120"/>
                        </a:rPr>
                        <a:t>Target Browser</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000000"/>
                          </a:solidFill>
                          <a:latin typeface="Plus Jakarta Sans" pitchFamily="34" charset="0"/>
                          <a:ea typeface="Plus Jakarta Sans" pitchFamily="34" charset="-122"/>
                          <a:cs typeface="Plus Jakarta Sans" pitchFamily="34" charset="-120"/>
                        </a:rPr>
                        <a:t>Feature Checked</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000000"/>
                          </a:solidFill>
                          <a:latin typeface="Plus Jakarta Sans" pitchFamily="34" charset="0"/>
                          <a:ea typeface="Plus Jakarta Sans" pitchFamily="34" charset="-122"/>
                          <a:cs typeface="Plus Jakarta Sans" pitchFamily="34" charset="-120"/>
                        </a:rPr>
                        <a:t>Status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000000"/>
                          </a:solidFill>
                          <a:latin typeface="Plus Jakarta Sans" pitchFamily="34" charset="0"/>
                          <a:ea typeface="Plus Jakarta Sans" pitchFamily="34" charset="-122"/>
                          <a:cs typeface="Plus Jakarta Sans" pitchFamily="34" charset="-120"/>
                        </a:rPr>
                        <a:t>Notes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402336">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Google Chrome</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Catalog, PLP Navigation</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PASS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Renders smoothly without visual clipping.</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02336">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Mozilla Firefox</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Sitemap Links, Media</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PASS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Layout constraints fully respected.</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02336">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Apple Safari</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Catalog Navigation</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PASS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Webkit engines render CSS rules cleanly.</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02336">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Microsoft Edge</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Layered Filter Links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PASS</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00000"/>
                          </a:solidFill>
                          <a:latin typeface="Plus Jakarta Sans" pitchFamily="34" charset="0"/>
                          <a:ea typeface="Plus Jakarta Sans" pitchFamily="34" charset="-122"/>
                          <a:cs typeface="Plus Jakarta Sans" pitchFamily="34" charset="-120"/>
                        </a:rPr>
                        <a:t>Navigation &amp; filter links fully functional.</a:t>
                      </a:r>
                      <a:endParaRPr lang="en-US" sz="12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6" name="Text 2"/>
          <p:cNvSpPr/>
          <p:nvPr/>
        </p:nvSpPr>
        <p:spPr>
          <a:xfrm>
            <a:off x="731520" y="4023360"/>
            <a:ext cx="10424160" cy="914400"/>
          </a:xfrm>
          <a:prstGeom prst="rect">
            <a:avLst/>
          </a:prstGeom>
          <a:noFill/>
          <a:ln/>
        </p:spPr>
        <p:txBody>
          <a:bodyPr wrap="square" rtlCol="0" anchor="ctr"/>
          <a:lstStyle/>
          <a:p>
            <a:pPr indent="0" marL="0">
              <a:lnSpc>
                <a:spcPts val="1800"/>
              </a:lnSpc>
              <a:buNone/>
            </a:pPr>
            <a:r>
              <a:rPr lang="en-US" sz="1300" dirty="0">
                <a:solidFill>
                  <a:srgbClr val="64748B"/>
                </a:solidFill>
                <a:latin typeface="Plus Jakarta Sans" pitchFamily="34" charset="0"/>
                <a:ea typeface="Plus Jakarta Sans" pitchFamily="34" charset="-122"/>
                <a:cs typeface="Plus Jakarta Sans" pitchFamily="34" charset="-120"/>
              </a:rPr>
              <a:t>Layered navigation filters (category sidebar filters) were programmatically triggered. Click interactions on abstract category filter attributes (e.g. 3D White Polygons) update the grid and navigate correctly to corresponding sub-URLs without routing errors.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73152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Diagnostics &amp; Tracking</a:t>
            </a:r>
            <a:endParaRPr lang="en-US" sz="1300" dirty="0"/>
          </a:p>
        </p:txBody>
      </p:sp>
      <p:sp>
        <p:nvSpPr>
          <p:cNvPr id="4" name="Text 1"/>
          <p:cNvSpPr/>
          <p:nvPr/>
        </p:nvSpPr>
        <p:spPr>
          <a:xfrm>
            <a:off x="731520" y="731520"/>
            <a:ext cx="877824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Analytics Tags &amp; Console Health Monitoring</a:t>
            </a:r>
            <a:endParaRPr lang="en-US" sz="2600" dirty="0"/>
          </a:p>
        </p:txBody>
      </p:sp>
      <p:sp>
        <p:nvSpPr>
          <p:cNvPr id="5" name="Text 2"/>
          <p:cNvSpPr/>
          <p:nvPr/>
        </p:nvSpPr>
        <p:spPr>
          <a:xfrm>
            <a:off x="731520" y="1325880"/>
            <a:ext cx="8229600" cy="365760"/>
          </a:xfrm>
          <a:prstGeom prst="rect">
            <a:avLst/>
          </a:prstGeom>
          <a:noFill/>
          <a:ln/>
        </p:spPr>
        <p:txBody>
          <a:bodyPr wrap="square" rtlCol="0" anchor="ctr"/>
          <a:lstStyle/>
          <a:p>
            <a:pPr indent="0" marL="0">
              <a:buNone/>
            </a:pPr>
            <a:r>
              <a:rPr lang="en-US" sz="1500" b="1" dirty="0">
                <a:solidFill>
                  <a:srgbClr val="10B981"/>
                </a:solidFill>
                <a:latin typeface="Plus Jakarta Sans" pitchFamily="34" charset="0"/>
                <a:ea typeface="Plus Jakarta Sans" pitchFamily="34" charset="-122"/>
                <a:cs typeface="Plus Jakarta Sans" pitchFamily="34" charset="-120"/>
              </a:rPr>
              <a:t>Your tracking is live and your pages are loading cleanly.</a:t>
            </a:r>
            <a:endParaRPr lang="en-US" sz="1500" dirty="0"/>
          </a:p>
        </p:txBody>
      </p:sp>
      <p:sp>
        <p:nvSpPr>
          <p:cNvPr id="6" name="Shape 3"/>
          <p:cNvSpPr/>
          <p:nvPr/>
        </p:nvSpPr>
        <p:spPr>
          <a:xfrm>
            <a:off x="731520" y="1874520"/>
            <a:ext cx="6126480" cy="4160520"/>
          </a:xfrm>
          <a:prstGeom prst="roundRect">
            <a:avLst>
              <a:gd name="adj" fmla="val 2198"/>
            </a:avLst>
          </a:prstGeom>
          <a:solidFill>
            <a:srgbClr val="F8FAFC"/>
          </a:solidFill>
          <a:ln w="12700">
            <a:solidFill>
              <a:srgbClr val="E2E8F0"/>
            </a:solidFill>
            <a:prstDash val="solid"/>
          </a:ln>
        </p:spPr>
      </p:sp>
      <p:sp>
        <p:nvSpPr>
          <p:cNvPr id="7" name="Text 4"/>
          <p:cNvSpPr/>
          <p:nvPr/>
        </p:nvSpPr>
        <p:spPr>
          <a:xfrm>
            <a:off x="1005840" y="2011680"/>
            <a:ext cx="3657600" cy="274320"/>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TRACKING TAGS</a:t>
            </a:r>
            <a:endParaRPr lang="en-US" sz="1000" dirty="0"/>
          </a:p>
        </p:txBody>
      </p:sp>
      <p:sp>
        <p:nvSpPr>
          <p:cNvPr id="8" name="Shape 5"/>
          <p:cNvSpPr/>
          <p:nvPr/>
        </p:nvSpPr>
        <p:spPr>
          <a:xfrm>
            <a:off x="1005840" y="2377440"/>
            <a:ext cx="5577840" cy="1554480"/>
          </a:xfrm>
          <a:prstGeom prst="roundRect">
            <a:avLst>
              <a:gd name="adj" fmla="val 4706"/>
            </a:avLst>
          </a:prstGeom>
          <a:solidFill>
            <a:srgbClr val="FFFFFF"/>
          </a:solidFill>
          <a:ln w="12700">
            <a:solidFill>
              <a:srgbClr val="E2E8F0"/>
            </a:solidFill>
            <a:prstDash val="solid"/>
          </a:ln>
        </p:spPr>
      </p:sp>
      <p:sp>
        <p:nvSpPr>
          <p:cNvPr id="9" name="Shape 6"/>
          <p:cNvSpPr/>
          <p:nvPr/>
        </p:nvSpPr>
        <p:spPr>
          <a:xfrm>
            <a:off x="1188720" y="2898648"/>
            <a:ext cx="512064" cy="512064"/>
          </a:xfrm>
          <a:prstGeom prst="ellipse">
            <a:avLst/>
          </a:prstGeom>
          <a:solidFill>
            <a:srgbClr val="10B981"/>
          </a:solidFill>
          <a:ln w="12700">
            <a:solidFill>
              <a:srgbClr val="10B981"/>
            </a:solidFill>
            <a:prstDash val="solid"/>
          </a:ln>
        </p:spPr>
      </p:sp>
      <p:sp>
        <p:nvSpPr>
          <p:cNvPr id="10" name="Text 7"/>
          <p:cNvSpPr/>
          <p:nvPr/>
        </p:nvSpPr>
        <p:spPr>
          <a:xfrm>
            <a:off x="1188720" y="2898648"/>
            <a:ext cx="512064" cy="512064"/>
          </a:xfrm>
          <a:prstGeom prst="rect">
            <a:avLst/>
          </a:prstGeom>
          <a:noFill/>
          <a:ln/>
        </p:spPr>
        <p:txBody>
          <a:bodyPr wrap="square" rtlCol="0" anchor="ctr"/>
          <a:lstStyle/>
          <a:p>
            <a:pPr algn="ctr" indent="0" marL="0">
              <a:buNone/>
            </a:pPr>
            <a:r>
              <a:rPr lang="en-US" sz="1800" b="1" dirty="0">
                <a:solidFill>
                  <a:srgbClr val="FFFFFF"/>
                </a:solidFill>
                <a:latin typeface="Plus Jakarta Sans" pitchFamily="34" charset="0"/>
                <a:ea typeface="Plus Jakarta Sans" pitchFamily="34" charset="-122"/>
                <a:cs typeface="Plus Jakarta Sans" pitchFamily="34" charset="-120"/>
              </a:rPr>
              <a:t>✔</a:t>
            </a:r>
            <a:endParaRPr lang="en-US" sz="1800" dirty="0"/>
          </a:p>
        </p:txBody>
      </p:sp>
      <p:sp>
        <p:nvSpPr>
          <p:cNvPr id="11" name="Text 8"/>
          <p:cNvSpPr/>
          <p:nvPr/>
        </p:nvSpPr>
        <p:spPr>
          <a:xfrm>
            <a:off x="1874520" y="2743200"/>
            <a:ext cx="2926080" cy="329184"/>
          </a:xfrm>
          <a:prstGeom prst="rect">
            <a:avLst/>
          </a:prstGeom>
          <a:noFill/>
          <a:ln/>
        </p:spPr>
        <p:txBody>
          <a:bodyPr wrap="square" rtlCol="0" anchor="ctr"/>
          <a:lstStyle/>
          <a:p>
            <a:pPr indent="0" marL="0">
              <a:buNone/>
            </a:pPr>
            <a:r>
              <a:rPr lang="en-US" sz="1500" b="1" dirty="0">
                <a:solidFill>
                  <a:srgbClr val="0F172A"/>
                </a:solidFill>
                <a:latin typeface="Outfit" pitchFamily="34" charset="0"/>
                <a:ea typeface="Outfit" pitchFamily="34" charset="-122"/>
                <a:cs typeface="Outfit" pitchFamily="34" charset="-120"/>
              </a:rPr>
              <a:t>Google Tag Manager</a:t>
            </a:r>
            <a:endParaRPr lang="en-US" sz="1500" dirty="0"/>
          </a:p>
        </p:txBody>
      </p:sp>
      <p:sp>
        <p:nvSpPr>
          <p:cNvPr id="12" name="Text 9"/>
          <p:cNvSpPr/>
          <p:nvPr/>
        </p:nvSpPr>
        <p:spPr>
          <a:xfrm>
            <a:off x="1874520" y="3099816"/>
            <a:ext cx="3017520" cy="457200"/>
          </a:xfrm>
          <a:prstGeom prst="rect">
            <a:avLst/>
          </a:prstGeom>
          <a:noFill/>
          <a:ln/>
        </p:spPr>
        <p:txBody>
          <a:bodyPr wrap="square" rtlCol="0" anchor="t"/>
          <a:lstStyle/>
          <a:p>
            <a:pPr indent="0" marL="0">
              <a:lnSpc>
                <a:spcPct val="110000"/>
              </a:lnSpc>
              <a:buNone/>
            </a:pPr>
            <a:r>
              <a:rPr lang="en-US" sz="1000" dirty="0">
                <a:solidFill>
                  <a:srgbClr val="64748B"/>
                </a:solidFill>
                <a:latin typeface="Plus Jakarta Sans" pitchFamily="34" charset="0"/>
                <a:ea typeface="Plus Jakarta Sans" pitchFamily="34" charset="-122"/>
                <a:cs typeface="Plus Jakarta Sans" pitchFamily="34" charset="-120"/>
              </a:rPr>
              <a:t>Manages your marketing and tracking tags in one place</a:t>
            </a:r>
            <a:endParaRPr lang="en-US" sz="1000" dirty="0"/>
          </a:p>
        </p:txBody>
      </p:sp>
      <p:sp>
        <p:nvSpPr>
          <p:cNvPr id="13" name="Shape 10"/>
          <p:cNvSpPr/>
          <p:nvPr/>
        </p:nvSpPr>
        <p:spPr>
          <a:xfrm>
            <a:off x="5074920" y="2807208"/>
            <a:ext cx="1371600" cy="292608"/>
          </a:xfrm>
          <a:prstGeom prst="roundRect">
            <a:avLst>
              <a:gd name="adj" fmla="val 50000"/>
            </a:avLst>
          </a:prstGeom>
          <a:solidFill>
            <a:srgbClr val="ECFDF5"/>
          </a:solidFill>
          <a:ln w="12700">
            <a:solidFill>
              <a:srgbClr val="10B981"/>
            </a:solidFill>
            <a:prstDash val="solid"/>
          </a:ln>
        </p:spPr>
      </p:sp>
      <p:sp>
        <p:nvSpPr>
          <p:cNvPr id="14" name="Text 11"/>
          <p:cNvSpPr/>
          <p:nvPr/>
        </p:nvSpPr>
        <p:spPr>
          <a:xfrm>
            <a:off x="5074920" y="2807208"/>
            <a:ext cx="1371600" cy="292608"/>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Active</a:t>
            </a:r>
            <a:endParaRPr lang="en-US" sz="1000" dirty="0"/>
          </a:p>
        </p:txBody>
      </p:sp>
      <p:sp>
        <p:nvSpPr>
          <p:cNvPr id="15" name="Text 12"/>
          <p:cNvSpPr/>
          <p:nvPr/>
        </p:nvSpPr>
        <p:spPr>
          <a:xfrm>
            <a:off x="5074920" y="3200400"/>
            <a:ext cx="1371600" cy="274320"/>
          </a:xfrm>
          <a:prstGeom prst="rect">
            <a:avLst/>
          </a:prstGeom>
          <a:noFill/>
          <a:ln/>
        </p:spPr>
        <p:txBody>
          <a:bodyPr wrap="square" rtlCol="0" anchor="ctr"/>
          <a:lstStyle/>
          <a:p>
            <a:pPr algn="ctr" indent="0" marL="0">
              <a:buNone/>
            </a:pPr>
            <a:r>
              <a:rPr lang="en-US" sz="900" dirty="0">
                <a:solidFill>
                  <a:srgbClr val="64748B"/>
                </a:solidFill>
                <a:latin typeface="Consolas" pitchFamily="34" charset="0"/>
                <a:ea typeface="Consolas" pitchFamily="34" charset="-122"/>
                <a:cs typeface="Consolas" pitchFamily="34" charset="-120"/>
              </a:rPr>
              <a:t>GTM-WXTTHWTH</a:t>
            </a:r>
            <a:endParaRPr lang="en-US" sz="900" dirty="0"/>
          </a:p>
        </p:txBody>
      </p:sp>
      <p:sp>
        <p:nvSpPr>
          <p:cNvPr id="16" name="Shape 13"/>
          <p:cNvSpPr/>
          <p:nvPr/>
        </p:nvSpPr>
        <p:spPr>
          <a:xfrm>
            <a:off x="1005840" y="4114800"/>
            <a:ext cx="5577840" cy="1554480"/>
          </a:xfrm>
          <a:prstGeom prst="roundRect">
            <a:avLst>
              <a:gd name="adj" fmla="val 4706"/>
            </a:avLst>
          </a:prstGeom>
          <a:solidFill>
            <a:srgbClr val="FFFFFF"/>
          </a:solidFill>
          <a:ln w="12700">
            <a:solidFill>
              <a:srgbClr val="E2E8F0"/>
            </a:solidFill>
            <a:prstDash val="solid"/>
          </a:ln>
        </p:spPr>
      </p:sp>
      <p:sp>
        <p:nvSpPr>
          <p:cNvPr id="17" name="Shape 14"/>
          <p:cNvSpPr/>
          <p:nvPr/>
        </p:nvSpPr>
        <p:spPr>
          <a:xfrm>
            <a:off x="1188720" y="4636008"/>
            <a:ext cx="512064" cy="512064"/>
          </a:xfrm>
          <a:prstGeom prst="ellipse">
            <a:avLst/>
          </a:prstGeom>
          <a:solidFill>
            <a:srgbClr val="10B981"/>
          </a:solidFill>
          <a:ln w="12700">
            <a:solidFill>
              <a:srgbClr val="10B981"/>
            </a:solidFill>
            <a:prstDash val="solid"/>
          </a:ln>
        </p:spPr>
      </p:sp>
      <p:sp>
        <p:nvSpPr>
          <p:cNvPr id="18" name="Text 15"/>
          <p:cNvSpPr/>
          <p:nvPr/>
        </p:nvSpPr>
        <p:spPr>
          <a:xfrm>
            <a:off x="1188720" y="4636008"/>
            <a:ext cx="512064" cy="512064"/>
          </a:xfrm>
          <a:prstGeom prst="rect">
            <a:avLst/>
          </a:prstGeom>
          <a:noFill/>
          <a:ln/>
        </p:spPr>
        <p:txBody>
          <a:bodyPr wrap="square" rtlCol="0" anchor="ctr"/>
          <a:lstStyle/>
          <a:p>
            <a:pPr algn="ctr" indent="0" marL="0">
              <a:buNone/>
            </a:pPr>
            <a:r>
              <a:rPr lang="en-US" sz="1800" b="1" dirty="0">
                <a:solidFill>
                  <a:srgbClr val="FFFFFF"/>
                </a:solidFill>
                <a:latin typeface="Plus Jakarta Sans" pitchFamily="34" charset="0"/>
                <a:ea typeface="Plus Jakarta Sans" pitchFamily="34" charset="-122"/>
                <a:cs typeface="Plus Jakarta Sans" pitchFamily="34" charset="-120"/>
              </a:rPr>
              <a:t>✔</a:t>
            </a:r>
            <a:endParaRPr lang="en-US" sz="1800" dirty="0"/>
          </a:p>
        </p:txBody>
      </p:sp>
      <p:sp>
        <p:nvSpPr>
          <p:cNvPr id="19" name="Text 16"/>
          <p:cNvSpPr/>
          <p:nvPr/>
        </p:nvSpPr>
        <p:spPr>
          <a:xfrm>
            <a:off x="1874520" y="4480560"/>
            <a:ext cx="2926080" cy="329184"/>
          </a:xfrm>
          <a:prstGeom prst="rect">
            <a:avLst/>
          </a:prstGeom>
          <a:noFill/>
          <a:ln/>
        </p:spPr>
        <p:txBody>
          <a:bodyPr wrap="square" rtlCol="0" anchor="ctr"/>
          <a:lstStyle/>
          <a:p>
            <a:pPr indent="0" marL="0">
              <a:buNone/>
            </a:pPr>
            <a:r>
              <a:rPr lang="en-US" sz="1500" b="1" dirty="0">
                <a:solidFill>
                  <a:srgbClr val="0F172A"/>
                </a:solidFill>
                <a:latin typeface="Outfit" pitchFamily="34" charset="0"/>
                <a:ea typeface="Outfit" pitchFamily="34" charset="-122"/>
                <a:cs typeface="Outfit" pitchFamily="34" charset="-120"/>
              </a:rPr>
              <a:t>Google Analytics (GA4)</a:t>
            </a:r>
            <a:endParaRPr lang="en-US" sz="1500" dirty="0"/>
          </a:p>
        </p:txBody>
      </p:sp>
      <p:sp>
        <p:nvSpPr>
          <p:cNvPr id="20" name="Text 17"/>
          <p:cNvSpPr/>
          <p:nvPr/>
        </p:nvSpPr>
        <p:spPr>
          <a:xfrm>
            <a:off x="1874520" y="4837176"/>
            <a:ext cx="3017520" cy="457200"/>
          </a:xfrm>
          <a:prstGeom prst="rect">
            <a:avLst/>
          </a:prstGeom>
          <a:noFill/>
          <a:ln/>
        </p:spPr>
        <p:txBody>
          <a:bodyPr wrap="square" rtlCol="0" anchor="t"/>
          <a:lstStyle/>
          <a:p>
            <a:pPr indent="0" marL="0">
              <a:lnSpc>
                <a:spcPct val="110000"/>
              </a:lnSpc>
              <a:buNone/>
            </a:pPr>
            <a:r>
              <a:rPr lang="en-US" sz="1000" dirty="0">
                <a:solidFill>
                  <a:srgbClr val="64748B"/>
                </a:solidFill>
                <a:latin typeface="Plus Jakarta Sans" pitchFamily="34" charset="0"/>
                <a:ea typeface="Plus Jakarta Sans" pitchFamily="34" charset="-122"/>
                <a:cs typeface="Plus Jakarta Sans" pitchFamily="34" charset="-120"/>
              </a:rPr>
              <a:t>Records visits, sales and customer behaviour</a:t>
            </a:r>
            <a:endParaRPr lang="en-US" sz="1000" dirty="0"/>
          </a:p>
        </p:txBody>
      </p:sp>
      <p:sp>
        <p:nvSpPr>
          <p:cNvPr id="21" name="Shape 18"/>
          <p:cNvSpPr/>
          <p:nvPr/>
        </p:nvSpPr>
        <p:spPr>
          <a:xfrm>
            <a:off x="5074920" y="4544568"/>
            <a:ext cx="1371600" cy="292608"/>
          </a:xfrm>
          <a:prstGeom prst="roundRect">
            <a:avLst>
              <a:gd name="adj" fmla="val 50000"/>
            </a:avLst>
          </a:prstGeom>
          <a:solidFill>
            <a:srgbClr val="ECFDF5"/>
          </a:solidFill>
          <a:ln w="12700">
            <a:solidFill>
              <a:srgbClr val="10B981"/>
            </a:solidFill>
            <a:prstDash val="solid"/>
          </a:ln>
        </p:spPr>
      </p:sp>
      <p:sp>
        <p:nvSpPr>
          <p:cNvPr id="22" name="Text 19"/>
          <p:cNvSpPr/>
          <p:nvPr/>
        </p:nvSpPr>
        <p:spPr>
          <a:xfrm>
            <a:off x="5074920" y="4544568"/>
            <a:ext cx="1371600" cy="292608"/>
          </a:xfrm>
          <a:prstGeom prst="rect">
            <a:avLst/>
          </a:prstGeom>
          <a:noFill/>
          <a:ln/>
        </p:spPr>
        <p:txBody>
          <a:bodyPr wrap="square" rtlCol="0" anchor="ctr"/>
          <a:lstStyle/>
          <a:p>
            <a:pPr algn="ctr" indent="0" marL="0">
              <a:buNone/>
            </a:pPr>
            <a:r>
              <a:rPr lang="en-US" sz="1000" b="1" dirty="0">
                <a:solidFill>
                  <a:srgbClr val="047857"/>
                </a:solidFill>
                <a:latin typeface="Plus Jakarta Sans" pitchFamily="34" charset="0"/>
                <a:ea typeface="Plus Jakarta Sans" pitchFamily="34" charset="-122"/>
                <a:cs typeface="Plus Jakarta Sans" pitchFamily="34" charset="-120"/>
              </a:rPr>
              <a:t>Active</a:t>
            </a:r>
            <a:endParaRPr lang="en-US" sz="1000" dirty="0"/>
          </a:p>
        </p:txBody>
      </p:sp>
      <p:sp>
        <p:nvSpPr>
          <p:cNvPr id="23" name="Text 20"/>
          <p:cNvSpPr/>
          <p:nvPr/>
        </p:nvSpPr>
        <p:spPr>
          <a:xfrm>
            <a:off x="5074920" y="4937760"/>
            <a:ext cx="1371600" cy="274320"/>
          </a:xfrm>
          <a:prstGeom prst="rect">
            <a:avLst/>
          </a:prstGeom>
          <a:noFill/>
          <a:ln/>
        </p:spPr>
        <p:txBody>
          <a:bodyPr wrap="square" rtlCol="0" anchor="ctr"/>
          <a:lstStyle/>
          <a:p>
            <a:pPr algn="ctr" indent="0" marL="0">
              <a:buNone/>
            </a:pPr>
            <a:r>
              <a:rPr lang="en-US" sz="900" dirty="0">
                <a:solidFill>
                  <a:srgbClr val="64748B"/>
                </a:solidFill>
                <a:latin typeface="Consolas" pitchFamily="34" charset="0"/>
                <a:ea typeface="Consolas" pitchFamily="34" charset="-122"/>
                <a:cs typeface="Consolas" pitchFamily="34" charset="-120"/>
              </a:rPr>
              <a:t>G-65SVY28B3L</a:t>
            </a:r>
            <a:endParaRPr lang="en-US" sz="900" dirty="0"/>
          </a:p>
        </p:txBody>
      </p:sp>
      <p:sp>
        <p:nvSpPr>
          <p:cNvPr id="24" name="Shape 21"/>
          <p:cNvSpPr/>
          <p:nvPr/>
        </p:nvSpPr>
        <p:spPr>
          <a:xfrm>
            <a:off x="7178040" y="1874520"/>
            <a:ext cx="4297680" cy="4160520"/>
          </a:xfrm>
          <a:prstGeom prst="roundRect">
            <a:avLst>
              <a:gd name="adj" fmla="val 2198"/>
            </a:avLst>
          </a:prstGeom>
          <a:solidFill>
            <a:srgbClr val="F8FAFC"/>
          </a:solidFill>
          <a:ln w="12700">
            <a:solidFill>
              <a:srgbClr val="E2E8F0"/>
            </a:solidFill>
            <a:prstDash val="solid"/>
          </a:ln>
        </p:spPr>
      </p:sp>
      <p:sp>
        <p:nvSpPr>
          <p:cNvPr id="25" name="Text 22"/>
          <p:cNvSpPr/>
          <p:nvPr/>
        </p:nvSpPr>
        <p:spPr>
          <a:xfrm>
            <a:off x="7452360" y="2011680"/>
            <a:ext cx="3657600" cy="274320"/>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PAGE HEALTH DURING LOAD</a:t>
            </a:r>
            <a:endParaRPr lang="en-US" sz="1000" dirty="0"/>
          </a:p>
        </p:txBody>
      </p:sp>
      <p:sp>
        <p:nvSpPr>
          <p:cNvPr id="26" name="Shape 23"/>
          <p:cNvSpPr/>
          <p:nvPr/>
        </p:nvSpPr>
        <p:spPr>
          <a:xfrm>
            <a:off x="7498080" y="2697480"/>
            <a:ext cx="1600200" cy="1600200"/>
          </a:xfrm>
          <a:prstGeom prst="ellipse">
            <a:avLst/>
          </a:prstGeom>
          <a:solidFill>
            <a:srgbClr val="ECFDF5"/>
          </a:solidFill>
          <a:ln w="88900">
            <a:solidFill>
              <a:srgbClr val="10B981"/>
            </a:solidFill>
            <a:prstDash val="solid"/>
          </a:ln>
        </p:spPr>
      </p:sp>
      <p:sp>
        <p:nvSpPr>
          <p:cNvPr id="27" name="Text 24"/>
          <p:cNvSpPr/>
          <p:nvPr/>
        </p:nvSpPr>
        <p:spPr>
          <a:xfrm>
            <a:off x="7498080" y="2971800"/>
            <a:ext cx="1600200" cy="1005840"/>
          </a:xfrm>
          <a:prstGeom prst="rect">
            <a:avLst/>
          </a:prstGeom>
          <a:noFill/>
          <a:ln/>
        </p:spPr>
        <p:txBody>
          <a:bodyPr wrap="square" rtlCol="0" anchor="ctr"/>
          <a:lstStyle/>
          <a:p>
            <a:pPr algn="ctr" indent="0" marL="0">
              <a:buNone/>
            </a:pPr>
            <a:r>
              <a:rPr lang="en-US" sz="4400" b="1" dirty="0">
                <a:solidFill>
                  <a:srgbClr val="10B981"/>
                </a:solidFill>
                <a:latin typeface="Outfit" pitchFamily="34" charset="0"/>
                <a:ea typeface="Outfit" pitchFamily="34" charset="-122"/>
                <a:cs typeface="Outfit" pitchFamily="34" charset="-120"/>
              </a:rPr>
              <a:t>0</a:t>
            </a:r>
            <a:endParaRPr lang="en-US" sz="4400" dirty="0"/>
          </a:p>
        </p:txBody>
      </p:sp>
      <p:sp>
        <p:nvSpPr>
          <p:cNvPr id="28" name="Text 25"/>
          <p:cNvSpPr/>
          <p:nvPr/>
        </p:nvSpPr>
        <p:spPr>
          <a:xfrm>
            <a:off x="7315200" y="4434840"/>
            <a:ext cx="1965960" cy="292608"/>
          </a:xfrm>
          <a:prstGeom prst="rect">
            <a:avLst/>
          </a:prstGeom>
          <a:noFill/>
          <a:ln/>
        </p:spPr>
        <p:txBody>
          <a:bodyPr wrap="square" rtlCol="0" anchor="ctr"/>
          <a:lstStyle/>
          <a:p>
            <a:pPr algn="ctr" indent="0" marL="0">
              <a:buNone/>
            </a:pPr>
            <a:r>
              <a:rPr lang="en-US" sz="1300" b="1" dirty="0">
                <a:solidFill>
                  <a:srgbClr val="0F172A"/>
                </a:solidFill>
                <a:latin typeface="Outfit" pitchFamily="34" charset="0"/>
                <a:ea typeface="Outfit" pitchFamily="34" charset="-122"/>
                <a:cs typeface="Outfit" pitchFamily="34" charset="-120"/>
              </a:rPr>
              <a:t>Script errors</a:t>
            </a:r>
            <a:endParaRPr lang="en-US" sz="1300" dirty="0"/>
          </a:p>
        </p:txBody>
      </p:sp>
      <p:sp>
        <p:nvSpPr>
          <p:cNvPr id="29" name="Text 26"/>
          <p:cNvSpPr/>
          <p:nvPr/>
        </p:nvSpPr>
        <p:spPr>
          <a:xfrm>
            <a:off x="7315200" y="4727448"/>
            <a:ext cx="1965960" cy="274320"/>
          </a:xfrm>
          <a:prstGeom prst="rect">
            <a:avLst/>
          </a:prstGeom>
          <a:noFill/>
          <a:ln/>
        </p:spPr>
        <p:txBody>
          <a:bodyPr wrap="square" rtlCol="0" anchor="ctr"/>
          <a:lstStyle/>
          <a:p>
            <a:pPr algn="ctr" indent="0" marL="0">
              <a:buNone/>
            </a:pPr>
            <a:r>
              <a:rPr lang="en-US" sz="1000" dirty="0">
                <a:solidFill>
                  <a:srgbClr val="64748B"/>
                </a:solidFill>
                <a:latin typeface="Plus Jakarta Sans" pitchFamily="34" charset="0"/>
                <a:ea typeface="Plus Jakarta Sans" pitchFamily="34" charset="-122"/>
                <a:cs typeface="Plus Jakarta Sans" pitchFamily="34" charset="-120"/>
              </a:rPr>
              <a:t>Code problems on the page</a:t>
            </a:r>
            <a:endParaRPr lang="en-US" sz="1000" dirty="0"/>
          </a:p>
        </p:txBody>
      </p:sp>
      <p:sp>
        <p:nvSpPr>
          <p:cNvPr id="30" name="Shape 27"/>
          <p:cNvSpPr/>
          <p:nvPr/>
        </p:nvSpPr>
        <p:spPr>
          <a:xfrm>
            <a:off x="9464040" y="2697480"/>
            <a:ext cx="1600200" cy="1600200"/>
          </a:xfrm>
          <a:prstGeom prst="ellipse">
            <a:avLst/>
          </a:prstGeom>
          <a:solidFill>
            <a:srgbClr val="ECFDF5"/>
          </a:solidFill>
          <a:ln w="88900">
            <a:solidFill>
              <a:srgbClr val="10B981"/>
            </a:solidFill>
            <a:prstDash val="solid"/>
          </a:ln>
        </p:spPr>
      </p:sp>
      <p:sp>
        <p:nvSpPr>
          <p:cNvPr id="31" name="Text 28"/>
          <p:cNvSpPr/>
          <p:nvPr/>
        </p:nvSpPr>
        <p:spPr>
          <a:xfrm>
            <a:off x="9464040" y="2971800"/>
            <a:ext cx="1600200" cy="1005840"/>
          </a:xfrm>
          <a:prstGeom prst="rect">
            <a:avLst/>
          </a:prstGeom>
          <a:noFill/>
          <a:ln/>
        </p:spPr>
        <p:txBody>
          <a:bodyPr wrap="square" rtlCol="0" anchor="ctr"/>
          <a:lstStyle/>
          <a:p>
            <a:pPr algn="ctr" indent="0" marL="0">
              <a:buNone/>
            </a:pPr>
            <a:r>
              <a:rPr lang="en-US" sz="4400" b="1" dirty="0">
                <a:solidFill>
                  <a:srgbClr val="10B981"/>
                </a:solidFill>
                <a:latin typeface="Outfit" pitchFamily="34" charset="0"/>
                <a:ea typeface="Outfit" pitchFamily="34" charset="-122"/>
                <a:cs typeface="Outfit" pitchFamily="34" charset="-120"/>
              </a:rPr>
              <a:t>0</a:t>
            </a:r>
            <a:endParaRPr lang="en-US" sz="4400" dirty="0"/>
          </a:p>
        </p:txBody>
      </p:sp>
      <p:sp>
        <p:nvSpPr>
          <p:cNvPr id="32" name="Text 29"/>
          <p:cNvSpPr/>
          <p:nvPr/>
        </p:nvSpPr>
        <p:spPr>
          <a:xfrm>
            <a:off x="9281160" y="4434840"/>
            <a:ext cx="1965960" cy="292608"/>
          </a:xfrm>
          <a:prstGeom prst="rect">
            <a:avLst/>
          </a:prstGeom>
          <a:noFill/>
          <a:ln/>
        </p:spPr>
        <p:txBody>
          <a:bodyPr wrap="square" rtlCol="0" anchor="ctr"/>
          <a:lstStyle/>
          <a:p>
            <a:pPr algn="ctr" indent="0" marL="0">
              <a:buNone/>
            </a:pPr>
            <a:r>
              <a:rPr lang="en-US" sz="1300" b="1" dirty="0">
                <a:solidFill>
                  <a:srgbClr val="0F172A"/>
                </a:solidFill>
                <a:latin typeface="Outfit" pitchFamily="34" charset="0"/>
                <a:ea typeface="Outfit" pitchFamily="34" charset="-122"/>
                <a:cs typeface="Outfit" pitchFamily="34" charset="-120"/>
              </a:rPr>
              <a:t>Failed requests</a:t>
            </a:r>
            <a:endParaRPr lang="en-US" sz="1300" dirty="0"/>
          </a:p>
        </p:txBody>
      </p:sp>
      <p:sp>
        <p:nvSpPr>
          <p:cNvPr id="33" name="Text 30"/>
          <p:cNvSpPr/>
          <p:nvPr/>
        </p:nvSpPr>
        <p:spPr>
          <a:xfrm>
            <a:off x="9281160" y="4727448"/>
            <a:ext cx="1965960" cy="274320"/>
          </a:xfrm>
          <a:prstGeom prst="rect">
            <a:avLst/>
          </a:prstGeom>
          <a:noFill/>
          <a:ln/>
        </p:spPr>
        <p:txBody>
          <a:bodyPr wrap="square" rtlCol="0" anchor="ctr"/>
          <a:lstStyle/>
          <a:p>
            <a:pPr algn="ctr" indent="0" marL="0">
              <a:buNone/>
            </a:pPr>
            <a:r>
              <a:rPr lang="en-US" sz="1000" dirty="0">
                <a:solidFill>
                  <a:srgbClr val="64748B"/>
                </a:solidFill>
                <a:latin typeface="Plus Jakarta Sans" pitchFamily="34" charset="0"/>
                <a:ea typeface="Plus Jakarta Sans" pitchFamily="34" charset="-122"/>
                <a:cs typeface="Plus Jakarta Sans" pitchFamily="34" charset="-120"/>
              </a:rPr>
              <a:t>Files that did not load</a:t>
            </a:r>
            <a:endParaRPr lang="en-US" sz="1000" dirty="0"/>
          </a:p>
        </p:txBody>
      </p:sp>
      <p:sp>
        <p:nvSpPr>
          <p:cNvPr id="34" name="Text 31"/>
          <p:cNvSpPr/>
          <p:nvPr/>
        </p:nvSpPr>
        <p:spPr>
          <a:xfrm>
            <a:off x="7452360" y="5394960"/>
            <a:ext cx="3657600" cy="274320"/>
          </a:xfrm>
          <a:prstGeom prst="rect">
            <a:avLst/>
          </a:prstGeom>
          <a:noFill/>
          <a:ln/>
        </p:spPr>
        <p:txBody>
          <a:bodyPr wrap="square" rtlCol="0" anchor="ctr"/>
          <a:lstStyle/>
          <a:p>
            <a:pPr algn="ctr" indent="0" marL="0">
              <a:buNone/>
            </a:pPr>
            <a:r>
              <a:rPr lang="en-US" sz="1000" i="1" dirty="0">
                <a:solidFill>
                  <a:srgbClr val="64748B"/>
                </a:solidFill>
                <a:latin typeface="Plus Jakarta Sans" pitchFamily="34" charset="0"/>
                <a:ea typeface="Plus Jakarta Sans" pitchFamily="34" charset="-122"/>
                <a:cs typeface="Plus Jakarta Sans" pitchFamily="34" charset="-120"/>
              </a:rPr>
              <a:t>Checked automatically every month</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1097280"/>
            <a:ext cx="10515600" cy="914400"/>
          </a:xfrm>
          <a:prstGeom prst="rect">
            <a:avLst/>
          </a:prstGeom>
          <a:noFill/>
          <a:ln/>
        </p:spPr>
        <p:txBody>
          <a:bodyPr wrap="square" rtlCol="0" anchor="ctr"/>
          <a:lstStyle/>
          <a:p>
            <a:pPr indent="0" marL="0">
              <a:buNone/>
            </a:pPr>
            <a:r>
              <a:rPr lang="en-US" sz="4400" b="1" dirty="0">
                <a:solidFill>
                  <a:srgbClr val="0F172A"/>
                </a:solidFill>
                <a:latin typeface="Outfit" pitchFamily="34" charset="0"/>
                <a:ea typeface="Outfit" pitchFamily="34" charset="-122"/>
                <a:cs typeface="Outfit" pitchFamily="34" charset="-120"/>
              </a:rPr>
              <a:t>Thank You!</a:t>
            </a:r>
            <a:endParaRPr lang="en-US" sz="4400" dirty="0"/>
          </a:p>
        </p:txBody>
      </p:sp>
      <p:sp>
        <p:nvSpPr>
          <p:cNvPr id="4" name="Text 1"/>
          <p:cNvSpPr/>
          <p:nvPr/>
        </p:nvSpPr>
        <p:spPr>
          <a:xfrm>
            <a:off x="731520" y="2011680"/>
            <a:ext cx="10515600" cy="548640"/>
          </a:xfrm>
          <a:prstGeom prst="rect">
            <a:avLst/>
          </a:prstGeom>
          <a:noFill/>
          <a:ln/>
        </p:spPr>
        <p:txBody>
          <a:bodyPr wrap="square" rtlCol="0" anchor="ctr"/>
          <a:lstStyle/>
          <a:p>
            <a:pPr indent="0" marL="0">
              <a:buNone/>
            </a:pPr>
            <a:r>
              <a:rPr lang="en-US" sz="1600" dirty="0">
                <a:solidFill>
                  <a:srgbClr val="0EA5E9"/>
                </a:solidFill>
                <a:latin typeface="Outfit" pitchFamily="34" charset="0"/>
                <a:ea typeface="Outfit" pitchFamily="34" charset="-122"/>
                <a:cs typeface="Outfit" pitchFamily="34" charset="-120"/>
              </a:rPr>
              <a:t>We are committed to maintaining, future-proofing, and optimizing your web operations.</a:t>
            </a:r>
            <a:endParaRPr lang="en-US" sz="1600" dirty="0"/>
          </a:p>
        </p:txBody>
      </p:sp>
      <p:sp>
        <p:nvSpPr>
          <p:cNvPr id="5" name="Text 2"/>
          <p:cNvSpPr/>
          <p:nvPr/>
        </p:nvSpPr>
        <p:spPr>
          <a:xfrm>
            <a:off x="731520" y="2560320"/>
            <a:ext cx="9144000" cy="548640"/>
          </a:xfrm>
          <a:prstGeom prst="rect">
            <a:avLst/>
          </a:prstGeom>
          <a:noFill/>
          <a:ln/>
        </p:spPr>
        <p:txBody>
          <a:bodyPr wrap="square" rtlCol="0" anchor="ctr"/>
          <a:lstStyle/>
          <a:p>
            <a:pPr indent="0" marL="0">
              <a:lnSpc>
                <a:spcPts val="1800"/>
              </a:lnSpc>
              <a:buNone/>
            </a:pPr>
            <a:r>
              <a:rPr lang="en-US" sz="1350" dirty="0">
                <a:solidFill>
                  <a:srgbClr val="64748B"/>
                </a:solidFill>
                <a:latin typeface="Plus Jakarta Sans" pitchFamily="34" charset="0"/>
                <a:ea typeface="Plus Jakarta Sans" pitchFamily="34" charset="-122"/>
                <a:cs typeface="Plus Jakarta Sans" pitchFamily="34" charset="-120"/>
              </a:rPr>
              <a:t>If you have questions regarding the findings or recommendations in this audit report, please connect with your account engineer.</a:t>
            </a:r>
            <a:endParaRPr lang="en-US" sz="1350" dirty="0"/>
          </a:p>
        </p:txBody>
      </p:sp>
      <p:sp>
        <p:nvSpPr>
          <p:cNvPr id="6" name="Text 3"/>
          <p:cNvSpPr/>
          <p:nvPr/>
        </p:nvSpPr>
        <p:spPr>
          <a:xfrm>
            <a:off x="731520" y="3749040"/>
            <a:ext cx="4572000" cy="914400"/>
          </a:xfrm>
          <a:prstGeom prst="rect">
            <a:avLst/>
          </a:prstGeom>
          <a:noFill/>
          <a:ln/>
        </p:spPr>
        <p:txBody>
          <a:bodyPr wrap="square" rtlCol="0" anchor="ctr"/>
          <a:lstStyle/>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United States Office</a:t>
            </a:r>
            <a:endParaRPr lang="en-US" sz="1300" dirty="0"/>
          </a:p>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98 Cutter Mill Rd, Great Neck, NY 11021, USA</a:t>
            </a:r>
            <a:endParaRPr lang="en-US" sz="1300" dirty="0"/>
          </a:p>
        </p:txBody>
      </p:sp>
      <p:sp>
        <p:nvSpPr>
          <p:cNvPr id="7" name="Text 4"/>
          <p:cNvSpPr/>
          <p:nvPr/>
        </p:nvSpPr>
        <p:spPr>
          <a:xfrm>
            <a:off x="5943600" y="3749040"/>
            <a:ext cx="4572000" cy="914400"/>
          </a:xfrm>
          <a:prstGeom prst="rect">
            <a:avLst/>
          </a:prstGeom>
          <a:noFill/>
          <a:ln/>
        </p:spPr>
        <p:txBody>
          <a:bodyPr wrap="square" rtlCol="0" anchor="ctr"/>
          <a:lstStyle/>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Canada Office</a:t>
            </a:r>
            <a:endParaRPr lang="en-US" sz="1300" dirty="0"/>
          </a:p>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150 King Street W, Toronto, ON M5H 1J9, Canada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2026-10-14T15:27:25Z</dcterms:created>
  <dcterms:modified xsi:type="dcterms:W3CDTF">2026-10-14T15:27:25Z</dcterms:modified>
</cp:coreProperties>
</file>