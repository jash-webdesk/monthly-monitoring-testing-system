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Store Health</c:v>
                </c:pt>
              </c:strCache>
            </c:strRef>
          </c:tx>
          <c:spPr>
            <a:solidFill>
              <a:schemeClr val="accent1"/>
            </a:solidFill>
            <a:ln w="9525" cap="flat">
              <a:solidFill>
                <a:srgbClr val="F9F9F9"/>
              </a:solidFill>
              <a:prstDash val="solid"/>
              <a:round/>
            </a:ln>
            <a:effectLst/>
          </c:spPr>
          <c:dPt>
            <c:idx val="0"/>
            <c:bubble3D val="0"/>
            <c:spPr>
              <a:solidFill>
                <a:srgbClr val="10B981"/>
              </a:solidFill>
              <a:ln w="25400" cap="flat">
                <a:solidFill>
                  <a:srgbClr val="FFFFFF"/>
                </a:solidFill>
                <a:prstDash val="solid"/>
                <a:round/>
              </a:ln>
              <a:effectLst/>
            </c:spPr>
          </c:dPt>
          <c:dPt>
            <c:idx val="1"/>
            <c:bubble3D val="0"/>
            <c:spPr>
              <a:solidFill>
                <a:srgbClr val="E2E8F0"/>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Healthy Index</c:v>
                </c:pt>
                <c:pt idx="1">
                  <c:v>Variance</c:v>
                </c:pt>
              </c:strCache>
            </c:strRef>
          </c:cat>
          <c:val>
            <c:numRef>
              <c:f>Sheet1!$B$2:$B$3</c:f>
              <c:numCache>
                <c:ptCount val="2"/>
                <c:pt idx="0">
                  <c:v>88</c:v>
                </c:pt>
                <c:pt idx="1">
                  <c:v>12</c:v>
                </c:pt>
              </c:numCache>
            </c:numRef>
          </c:val>
        </c:ser>
        <c:firstSliceAng val="0"/>
        <c:holeSize val="72"/>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Uptime</c:v>
                </c:pt>
              </c:strCache>
            </c:strRef>
          </c:tx>
          <c:spPr>
            <a:solidFill>
              <a:schemeClr val="accent1"/>
            </a:solidFill>
            <a:ln w="9525" cap="flat">
              <a:solidFill>
                <a:srgbClr val="F9F9F9"/>
              </a:solidFill>
              <a:prstDash val="solid"/>
              <a:round/>
            </a:ln>
            <a:effectLst/>
          </c:spPr>
          <c:dPt>
            <c:idx val="0"/>
            <c:bubble3D val="0"/>
            <c:spPr>
              <a:solidFill>
                <a:srgbClr val="10B981"/>
              </a:solidFill>
              <a:ln w="25400" cap="flat">
                <a:solidFill>
                  <a:srgbClr val="FFFFFF"/>
                </a:solidFill>
                <a:prstDash val="solid"/>
                <a:round/>
              </a:ln>
              <a:effectLst/>
            </c:spPr>
          </c:dPt>
          <c:dPt>
            <c:idx val="1"/>
            <c:bubble3D val="0"/>
            <c:spPr>
              <a:solidFill>
                <a:srgbClr val="E2E8F0"/>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Available</c:v>
                </c:pt>
                <c:pt idx="1">
                  <c:v>Offline</c:v>
                </c:pt>
              </c:strCache>
            </c:strRef>
          </c:cat>
          <c:val>
            <c:numRef>
              <c:f>Sheet1!$B$2:$B$3</c:f>
              <c:numCache>
                <c:ptCount val="2"/>
                <c:pt idx="0">
                  <c:v>100</c:v>
                </c:pt>
                <c:pt idx="1">
                  <c:v>0</c:v>
                </c:pt>
              </c:numCache>
            </c:numRef>
          </c:val>
        </c:ser>
        <c:firstSliceAng val="0"/>
        <c:holeSize val="72"/>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Desktop Score</c:v>
                </c:pt>
              </c:strCache>
            </c:strRef>
          </c:tx>
          <c:spPr>
            <a:solidFill>
              <a:srgbClr val="94A3B8"/>
            </a:solidFill>
            <a:ln w="127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10B981"/>
              </a:solidFill>
              <a:effectLst/>
            </c:spPr>
          </c:dPt>
          <c:cat>
            <c:multiLvlStrRef>
              <c:f>Sheet1!$A$2:$A$3</c:f>
              <c:multiLvlStrCache>
                <c:ptCount val="2"/>
                <c:lvl>
                  <c:pt idx="0">
                    <c:v>Before Audit</c:v>
                  </c:pt>
                  <c:pt idx="1">
                    <c:v>After Optimization</c:v>
                  </c:pt>
                </c:lvl>
              </c:multiLvlStrCache>
            </c:multiLvlStrRef>
          </c:cat>
          <c:val>
            <c:numRef>
              <c:f>Sheet1!$B$2:$B$3</c:f>
              <c:numCache>
                <c:formatCode>General</c:formatCode>
                <c:ptCount val="2"/>
                <c:pt idx="0">
                  <c:v>80</c:v>
                </c:pt>
                <c:pt idx="1">
                  <c:v>92</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Mobile Score</c:v>
                </c:pt>
              </c:strCache>
            </c:strRef>
          </c:tx>
          <c:spPr>
            <a:solidFill>
              <a:srgbClr val="94A3B8"/>
            </a:solidFill>
            <a:ln w="127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0EA5E9"/>
              </a:solidFill>
              <a:effectLst/>
            </c:spPr>
          </c:dPt>
          <c:cat>
            <c:multiLvlStrRef>
              <c:f>Sheet1!$A$2:$A$3</c:f>
              <c:multiLvlStrCache>
                <c:ptCount val="2"/>
                <c:lvl>
                  <c:pt idx="0">
                    <c:v>Before Audit</c:v>
                  </c:pt>
                  <c:pt idx="1">
                    <c:v>After Optimization</c:v>
                  </c:pt>
                </c:lvl>
              </c:multiLvlStrCache>
            </c:multiLvlStrRef>
          </c:cat>
          <c:val>
            <c:numRef>
              <c:f>Sheet1!$B$2:$B$3</c:f>
              <c:numCache>
                <c:formatCode>General</c:formatCode>
                <c:ptCount val="2"/>
                <c:pt idx="0">
                  <c:v>56</c:v>
                </c:pt>
                <c:pt idx="1">
                  <c:v>68</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Open issues</c:v>
                </c:pt>
              </c:strCache>
            </c:strRef>
          </c:tx>
          <c:spPr>
            <a:solidFill>
              <a:schemeClr val="accent1"/>
            </a:solidFill>
            <a:ln w="9525" cap="flat">
              <a:solidFill>
                <a:srgbClr val="F9F9F9"/>
              </a:solidFill>
              <a:prstDash val="solid"/>
              <a:round/>
            </a:ln>
            <a:effectLst/>
          </c:spPr>
          <c:dPt>
            <c:idx val="0"/>
            <c:bubble3D val="0"/>
            <c:spPr>
              <a:solidFill>
                <a:srgbClr val="DC2626"/>
              </a:solidFill>
              <a:ln w="25400" cap="flat">
                <a:solidFill>
                  <a:srgbClr val="FFFFFF"/>
                </a:solidFill>
                <a:prstDash val="solid"/>
                <a:round/>
              </a:ln>
              <a:effectLst/>
            </c:spPr>
          </c:dPt>
          <c:dPt>
            <c:idx val="1"/>
            <c:bubble3D val="0"/>
            <c:spPr>
              <a:solidFill>
                <a:srgbClr val="F59E0B"/>
              </a:solidFill>
              <a:ln w="25400" cap="flat">
                <a:solidFill>
                  <a:srgbClr val="FFFFFF"/>
                </a:solidFill>
                <a:prstDash val="solid"/>
                <a:round/>
              </a:ln>
              <a:effectLst/>
            </c:spPr>
          </c:dPt>
          <c:dPt>
            <c:idx val="2"/>
            <c:bubble3D val="0"/>
            <c:spPr>
              <a:solidFill>
                <a:srgbClr val="94A3B8"/>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Urgent</c:v>
                </c:pt>
                <c:pt idx="1">
                  <c:v>Medium</c:v>
                </c:pt>
                <c:pt idx="2">
                  <c:v>Minor</c:v>
                </c:pt>
              </c:strCache>
            </c:strRef>
          </c:cat>
          <c:val>
            <c:numRef>
              <c:f>Sheet1!$B$2:$B$4</c:f>
              <c:numCache>
                <c:ptCount val="3"/>
                <c:pt idx="0">
                  <c:v>0</c:v>
                </c:pt>
                <c:pt idx="1">
                  <c:v>1</c:v>
                </c:pt>
                <c:pt idx="2">
                  <c:v>0</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SSL Expiry</c:v>
                </c:pt>
              </c:strCache>
            </c:strRef>
          </c:tx>
          <c:spPr>
            <a:solidFill>
              <a:schemeClr val="accent1"/>
            </a:solidFill>
            <a:ln w="9525" cap="flat">
              <a:solidFill>
                <a:srgbClr val="F9F9F9"/>
              </a:solidFill>
              <a:prstDash val="solid"/>
              <a:round/>
            </a:ln>
            <a:effectLst/>
          </c:spPr>
          <c:dPt>
            <c:idx val="0"/>
            <c:bubble3D val="0"/>
            <c:spPr>
              <a:solidFill>
                <a:srgbClr val="10B981"/>
              </a:solidFill>
              <a:ln w="25400" cap="flat">
                <a:solidFill>
                  <a:srgbClr val="FFFFFF"/>
                </a:solidFill>
                <a:prstDash val="solid"/>
                <a:round/>
              </a:ln>
              <a:effectLst/>
            </c:spPr>
          </c:dPt>
          <c:dPt>
            <c:idx val="1"/>
            <c:bubble3D val="0"/>
            <c:spPr>
              <a:solidFill>
                <a:srgbClr val="E2E8F0"/>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Days Remaining</c:v>
                </c:pt>
                <c:pt idx="1">
                  <c:v>Elapsed</c:v>
                </c:pt>
              </c:strCache>
            </c:strRef>
          </c:cat>
          <c:val>
            <c:numRef>
              <c:f>Sheet1!$B$2:$B$3</c:f>
              <c:numCache>
                <c:ptCount val="2"/>
                <c:pt idx="0">
                  <c:v>57</c:v>
                </c:pt>
                <c:pt idx="1">
                  <c:v>33</c:v>
                </c:pt>
              </c:numCache>
            </c:numRef>
          </c:val>
        </c:ser>
        <c:firstSliceAng val="0"/>
        <c:holeSize val="7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1.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6.xml"/><Relationship Id="rId1"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731520" y="731520"/>
            <a:ext cx="2011680" cy="1097280"/>
          </a:xfrm>
          <a:prstGeom prst="rect">
            <a:avLst/>
          </a:prstGeom>
        </p:spPr>
      </p:pic>
      <p:sp>
        <p:nvSpPr>
          <p:cNvPr id="3" name="Text 0"/>
          <p:cNvSpPr/>
          <p:nvPr/>
        </p:nvSpPr>
        <p:spPr>
          <a:xfrm>
            <a:off x="731520" y="2011680"/>
            <a:ext cx="10515600" cy="1188720"/>
          </a:xfrm>
          <a:prstGeom prst="rect">
            <a:avLst/>
          </a:prstGeom>
          <a:noFill/>
          <a:ln/>
        </p:spPr>
        <p:txBody>
          <a:bodyPr wrap="square" rtlCol="0" anchor="ctr"/>
          <a:lstStyle/>
          <a:p>
            <a:pPr indent="0" marL="0">
              <a:buNone/>
            </a:pPr>
            <a:r>
              <a:rPr lang="en-US" sz="3600" b="1" dirty="0">
                <a:solidFill>
                  <a:srgbClr val="0F172A"/>
                </a:solidFill>
                <a:latin typeface="Outfit" pitchFamily="34" charset="0"/>
                <a:ea typeface="Outfit" pitchFamily="34" charset="-122"/>
                <a:cs typeface="Outfit" pitchFamily="34" charset="-120"/>
              </a:rPr>
              <a:t>Monthly Optimization &amp; Operations Report</a:t>
            </a:r>
            <a:endParaRPr lang="en-US" sz="3600" dirty="0"/>
          </a:p>
        </p:txBody>
      </p:sp>
      <p:sp>
        <p:nvSpPr>
          <p:cNvPr id="4" name="Text 1"/>
          <p:cNvSpPr/>
          <p:nvPr/>
        </p:nvSpPr>
        <p:spPr>
          <a:xfrm>
            <a:off x="731520" y="3291840"/>
            <a:ext cx="10515600" cy="457200"/>
          </a:xfrm>
          <a:prstGeom prst="rect">
            <a:avLst/>
          </a:prstGeom>
          <a:noFill/>
          <a:ln/>
        </p:spPr>
        <p:txBody>
          <a:bodyPr wrap="square" rtlCol="0" anchor="ctr"/>
          <a:lstStyle/>
          <a:p>
            <a:pPr indent="0" marL="0">
              <a:buNone/>
            </a:pPr>
            <a:r>
              <a:rPr lang="en-US" sz="1800" dirty="0">
                <a:solidFill>
                  <a:srgbClr val="0EA5E9"/>
                </a:solidFill>
                <a:latin typeface="Outfit" pitchFamily="34" charset="0"/>
                <a:ea typeface="Outfit" pitchFamily="34" charset="-122"/>
                <a:cs typeface="Outfit" pitchFamily="34" charset="-120"/>
              </a:rPr>
              <a:t>partsconnexion.com — 2026-10 Comprehensive Audit &amp; Executive Deck</a:t>
            </a:r>
            <a:endParaRPr lang="en-US" sz="1800" dirty="0"/>
          </a:p>
        </p:txBody>
      </p:sp>
      <p:sp>
        <p:nvSpPr>
          <p:cNvPr id="5" name="Shape 2"/>
          <p:cNvSpPr/>
          <p:nvPr/>
        </p:nvSpPr>
        <p:spPr>
          <a:xfrm>
            <a:off x="731520" y="4206240"/>
            <a:ext cx="2286000" cy="45720"/>
          </a:xfrm>
          <a:prstGeom prst="rect">
            <a:avLst/>
          </a:prstGeom>
          <a:solidFill>
            <a:srgbClr val="0EA5E9"/>
          </a:solidFill>
          <a:ln/>
        </p:spPr>
      </p:sp>
      <p:sp>
        <p:nvSpPr>
          <p:cNvPr id="6" name="Text 3"/>
          <p:cNvSpPr/>
          <p:nvPr/>
        </p:nvSpPr>
        <p:spPr>
          <a:xfrm>
            <a:off x="731520" y="4572000"/>
            <a:ext cx="7315200" cy="365760"/>
          </a:xfrm>
          <a:prstGeom prst="rect">
            <a:avLst/>
          </a:prstGeom>
          <a:noFill/>
          <a:ln/>
        </p:spPr>
        <p:txBody>
          <a:bodyPr wrap="square" rtlCol="0" anchor="ctr"/>
          <a:lstStyle/>
          <a:p>
            <a:pPr indent="0" marL="0">
              <a:buNone/>
            </a:pPr>
            <a:r>
              <a:rPr lang="en-US" sz="1300" dirty="0">
                <a:solidFill>
                  <a:srgbClr val="64748B"/>
                </a:solidFill>
                <a:latin typeface="Plus Jakarta Sans" pitchFamily="34" charset="0"/>
                <a:ea typeface="Plus Jakarta Sans" pitchFamily="34" charset="-122"/>
                <a:cs typeface="Plus Jakarta Sans" pitchFamily="34" charset="-120"/>
              </a:rPr>
              <a:t>Prepared by WebDesk Solution Maintenance &amp; QA Engineering Team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Monthly Maintenance Statement</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Executive Health Scorecard &amp; Data Protection</a:t>
            </a:r>
            <a:endParaRPr lang="en-US" sz="2600" dirty="0"/>
          </a:p>
        </p:txBody>
      </p:sp>
      <p:sp>
        <p:nvSpPr>
          <p:cNvPr id="5" name="Shape 2"/>
          <p:cNvSpPr/>
          <p:nvPr/>
        </p:nvSpPr>
        <p:spPr>
          <a:xfrm>
            <a:off x="731520" y="1508760"/>
            <a:ext cx="3931920" cy="4526280"/>
          </a:xfrm>
          <a:prstGeom prst="roundRect">
            <a:avLst>
              <a:gd name="adj" fmla="val 2326"/>
            </a:avLst>
          </a:prstGeom>
          <a:solidFill>
            <a:srgbClr val="F8FAFC"/>
          </a:solidFill>
          <a:ln w="12700">
            <a:solidFill>
              <a:srgbClr val="E2E8F0"/>
            </a:solidFill>
            <a:prstDash val="solid"/>
          </a:ln>
        </p:spPr>
      </p:sp>
      <p:sp>
        <p:nvSpPr>
          <p:cNvPr id="6" name="Text 3"/>
          <p:cNvSpPr/>
          <p:nvPr/>
        </p:nvSpPr>
        <p:spPr>
          <a:xfrm>
            <a:off x="1005840" y="1691640"/>
            <a:ext cx="3383280" cy="256032"/>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COMPOSITE STORE HEALTH</a:t>
            </a:r>
            <a:endParaRPr lang="en-US" sz="1000" dirty="0"/>
          </a:p>
        </p:txBody>
      </p:sp>
      <p:graphicFrame>
        <p:nvGraphicFramePr>
          <p:cNvPr id="7" name="Chart 0" descr=""/>
          <p:cNvGraphicFramePr/>
          <p:nvPr/>
        </p:nvGraphicFramePr>
        <p:xfrm>
          <a:off x="960120" y="1965960"/>
          <a:ext cx="3474720" cy="233172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960120" y="2697480"/>
            <a:ext cx="3474720" cy="548640"/>
          </a:xfrm>
          <a:prstGeom prst="rect">
            <a:avLst/>
          </a:prstGeom>
          <a:noFill/>
          <a:ln/>
        </p:spPr>
        <p:txBody>
          <a:bodyPr wrap="square" rtlCol="0" anchor="ctr"/>
          <a:lstStyle/>
          <a:p>
            <a:pPr algn="ctr" indent="0" marL="0">
              <a:buNone/>
            </a:pPr>
            <a:r>
              <a:rPr lang="en-US" sz="3400" b="1" dirty="0">
                <a:solidFill>
                  <a:srgbClr val="0F172A"/>
                </a:solidFill>
                <a:latin typeface="Outfit" pitchFamily="34" charset="0"/>
                <a:ea typeface="Outfit" pitchFamily="34" charset="-122"/>
                <a:cs typeface="Outfit" pitchFamily="34" charset="-120"/>
              </a:rPr>
              <a:t>88%</a:t>
            </a:r>
            <a:endParaRPr lang="en-US" sz="3400" dirty="0"/>
          </a:p>
        </p:txBody>
      </p:sp>
      <p:sp>
        <p:nvSpPr>
          <p:cNvPr id="9" name="Text 5"/>
          <p:cNvSpPr/>
          <p:nvPr/>
        </p:nvSpPr>
        <p:spPr>
          <a:xfrm>
            <a:off x="960120" y="3218688"/>
            <a:ext cx="3474720" cy="228600"/>
          </a:xfrm>
          <a:prstGeom prst="rect">
            <a:avLst/>
          </a:prstGeom>
          <a:noFill/>
          <a:ln/>
        </p:spPr>
        <p:txBody>
          <a:bodyPr wrap="square" rtlCol="0" anchor="ctr"/>
          <a:lstStyle/>
          <a:p>
            <a:pPr algn="ctr" indent="0" marL="0">
              <a:buNone/>
            </a:pPr>
            <a:r>
              <a:rPr lang="en-US" sz="850" b="1" dirty="0">
                <a:solidFill>
                  <a:srgbClr val="64748B"/>
                </a:solidFill>
                <a:latin typeface="Plus Jakarta Sans" pitchFamily="34" charset="0"/>
                <a:ea typeface="Plus Jakarta Sans" pitchFamily="34" charset="-122"/>
                <a:cs typeface="Plus Jakarta Sans" pitchFamily="34" charset="-120"/>
              </a:rPr>
              <a:t>STORE HEALTH INDEX</a:t>
            </a:r>
            <a:endParaRPr lang="en-US" sz="850" dirty="0"/>
          </a:p>
        </p:txBody>
      </p:sp>
      <p:sp>
        <p:nvSpPr>
          <p:cNvPr id="10" name="Shape 6"/>
          <p:cNvSpPr/>
          <p:nvPr/>
        </p:nvSpPr>
        <p:spPr>
          <a:xfrm>
            <a:off x="1143000" y="4434840"/>
            <a:ext cx="3108960" cy="329184"/>
          </a:xfrm>
          <a:prstGeom prst="roundRect">
            <a:avLst>
              <a:gd name="adj" fmla="val 50000"/>
            </a:avLst>
          </a:prstGeom>
          <a:solidFill>
            <a:srgbClr val="ECFDF5"/>
          </a:solidFill>
          <a:ln w="12700">
            <a:solidFill>
              <a:srgbClr val="10B981"/>
            </a:solidFill>
            <a:prstDash val="solid"/>
          </a:ln>
        </p:spPr>
      </p:sp>
      <p:sp>
        <p:nvSpPr>
          <p:cNvPr id="11" name="Text 7"/>
          <p:cNvSpPr/>
          <p:nvPr/>
        </p:nvSpPr>
        <p:spPr>
          <a:xfrm>
            <a:off x="1143000" y="4434840"/>
            <a:ext cx="3108960" cy="329184"/>
          </a:xfrm>
          <a:prstGeom prst="rect">
            <a:avLst/>
          </a:prstGeom>
          <a:noFill/>
          <a:ln/>
        </p:spPr>
        <p:txBody>
          <a:bodyPr wrap="square" rtlCol="0" anchor="ctr"/>
          <a:lstStyle/>
          <a:p>
            <a:pPr algn="ctr" indent="0" marL="0">
              <a:buNone/>
            </a:pPr>
            <a:r>
              <a:rPr lang="en-US" sz="1000" b="1" dirty="0">
                <a:solidFill>
                  <a:srgbClr val="047857"/>
                </a:solidFill>
                <a:latin typeface="Plus Jakarta Sans" pitchFamily="34" charset="0"/>
                <a:ea typeface="Plus Jakarta Sans" pitchFamily="34" charset="-122"/>
                <a:cs typeface="Plus Jakarta Sans" pitchFamily="34" charset="-120"/>
              </a:rPr>
              <a:t>OPTIMIZED &amp; PROTECTED</a:t>
            </a:r>
            <a:endParaRPr lang="en-US" sz="1000" dirty="0"/>
          </a:p>
        </p:txBody>
      </p:sp>
      <p:sp>
        <p:nvSpPr>
          <p:cNvPr id="12" name="Text 8"/>
          <p:cNvSpPr/>
          <p:nvPr/>
        </p:nvSpPr>
        <p:spPr>
          <a:xfrm>
            <a:off x="1005840" y="4892040"/>
            <a:ext cx="3383280" cy="1005840"/>
          </a:xfrm>
          <a:prstGeom prst="rect">
            <a:avLst/>
          </a:prstGeom>
          <a:noFill/>
          <a:ln/>
        </p:spPr>
        <p:txBody>
          <a:bodyPr wrap="square" rtlCol="0" anchor="ctr"/>
          <a:lstStyle/>
          <a:p>
            <a:pPr indent="0" marL="0">
              <a:lnSpc>
                <a:spcPts val="1400"/>
              </a:lnSpc>
              <a:buNone/>
            </a:pPr>
            <a:r>
              <a:rPr lang="en-US" sz="1000" dirty="0">
                <a:solidFill>
                  <a:srgbClr val="0F172A"/>
                </a:solidFill>
                <a:latin typeface="Plus Jakarta Sans" pitchFamily="34" charset="0"/>
                <a:ea typeface="Plus Jakarta Sans" pitchFamily="34" charset="-122"/>
                <a:cs typeface="Plus Jakarta Sans" pitchFamily="34" charset="-120"/>
              </a:rPr>
              <a:t>✔ Automated 24/7 Availability Monitoring</a:t>
            </a:r>
            <a:endParaRPr lang="en-US" sz="1000" dirty="0"/>
          </a:p>
          <a:p>
            <a:pPr indent="0" marL="0">
              <a:lnSpc>
                <a:spcPts val="1400"/>
              </a:lnSpc>
              <a:buNone/>
            </a:pPr>
            <a:r>
              <a:rPr lang="en-US" sz="1000" dirty="0">
                <a:solidFill>
                  <a:srgbClr val="0F172A"/>
                </a:solidFill>
                <a:latin typeface="Plus Jakarta Sans" pitchFamily="34" charset="0"/>
                <a:ea typeface="Plus Jakarta Sans" pitchFamily="34" charset="-122"/>
                <a:cs typeface="Plus Jakarta Sans" pitchFamily="34" charset="-120"/>
              </a:rPr>
              <a:t>✔ SQL Database Tables &amp; Customer Orders Archived</a:t>
            </a:r>
            <a:endParaRPr lang="en-US" sz="1000" dirty="0"/>
          </a:p>
          <a:p>
            <a:pPr indent="0" marL="0">
              <a:lnSpc>
                <a:spcPts val="1400"/>
              </a:lnSpc>
              <a:buNone/>
            </a:pPr>
            <a:r>
              <a:rPr lang="en-US" sz="1000" dirty="0">
                <a:solidFill>
                  <a:srgbClr val="0F172A"/>
                </a:solidFill>
                <a:latin typeface="Plus Jakarta Sans" pitchFamily="34" charset="0"/>
                <a:ea typeface="Plus Jakarta Sans" pitchFamily="34" charset="-122"/>
                <a:cs typeface="Plus Jakarta Sans" pitchFamily="34" charset="-120"/>
              </a:rPr>
              <a:t>✔ Active Theme &amp; Source Code Snapshots Secured</a:t>
            </a:r>
            <a:endParaRPr lang="en-US" sz="1000" dirty="0"/>
          </a:p>
        </p:txBody>
      </p:sp>
      <p:sp>
        <p:nvSpPr>
          <p:cNvPr id="13" name="Shape 9"/>
          <p:cNvSpPr/>
          <p:nvPr/>
        </p:nvSpPr>
        <p:spPr>
          <a:xfrm>
            <a:off x="4892040" y="1508760"/>
            <a:ext cx="6565392" cy="804672"/>
          </a:xfrm>
          <a:prstGeom prst="roundRect">
            <a:avLst>
              <a:gd name="adj" fmla="val 9091"/>
            </a:avLst>
          </a:prstGeom>
          <a:solidFill>
            <a:srgbClr val="FFFFFF"/>
          </a:solidFill>
          <a:ln w="12700">
            <a:solidFill>
              <a:srgbClr val="E2E8F0"/>
            </a:solidFill>
            <a:prstDash val="solid"/>
          </a:ln>
        </p:spPr>
      </p:sp>
      <p:sp>
        <p:nvSpPr>
          <p:cNvPr id="14" name="Shape 10"/>
          <p:cNvSpPr/>
          <p:nvPr/>
        </p:nvSpPr>
        <p:spPr>
          <a:xfrm>
            <a:off x="4892040" y="1508760"/>
            <a:ext cx="91440" cy="804672"/>
          </a:xfrm>
          <a:prstGeom prst="rect">
            <a:avLst/>
          </a:prstGeom>
          <a:solidFill>
            <a:srgbClr val="10B981"/>
          </a:solidFill>
          <a:ln w="12700">
            <a:solidFill>
              <a:srgbClr val="10B981"/>
            </a:solidFill>
            <a:prstDash val="solid"/>
          </a:ln>
        </p:spPr>
      </p:sp>
      <p:sp>
        <p:nvSpPr>
          <p:cNvPr id="15" name="Shape 11"/>
          <p:cNvSpPr/>
          <p:nvPr/>
        </p:nvSpPr>
        <p:spPr>
          <a:xfrm>
            <a:off x="5093208" y="1746504"/>
            <a:ext cx="329184" cy="329184"/>
          </a:xfrm>
          <a:prstGeom prst="ellipse">
            <a:avLst/>
          </a:prstGeom>
          <a:solidFill>
            <a:srgbClr val="ECFDF5"/>
          </a:solidFill>
          <a:ln w="12700">
            <a:solidFill>
              <a:srgbClr val="10B981"/>
            </a:solidFill>
            <a:prstDash val="solid"/>
          </a:ln>
        </p:spPr>
      </p:sp>
      <p:sp>
        <p:nvSpPr>
          <p:cNvPr id="16" name="Text 12"/>
          <p:cNvSpPr/>
          <p:nvPr/>
        </p:nvSpPr>
        <p:spPr>
          <a:xfrm>
            <a:off x="5093208" y="1746504"/>
            <a:ext cx="329184" cy="329184"/>
          </a:xfrm>
          <a:prstGeom prst="rect">
            <a:avLst/>
          </a:prstGeom>
          <a:noFill/>
          <a:ln/>
        </p:spPr>
        <p:txBody>
          <a:bodyPr wrap="square" rtlCol="0" anchor="ctr"/>
          <a:lstStyle/>
          <a:p>
            <a:pPr algn="ctr" indent="0" marL="0">
              <a:buNone/>
            </a:pPr>
            <a:r>
              <a:rPr lang="en-US" sz="1100" b="1" dirty="0">
                <a:solidFill>
                  <a:srgbClr val="047857"/>
                </a:solidFill>
                <a:latin typeface="Plus Jakarta Sans" pitchFamily="34" charset="0"/>
                <a:ea typeface="Plus Jakarta Sans" pitchFamily="34" charset="-122"/>
                <a:cs typeface="Plus Jakarta Sans" pitchFamily="34" charset="-120"/>
              </a:rPr>
              <a:t>✔</a:t>
            </a:r>
            <a:endParaRPr lang="en-US" sz="1100" dirty="0"/>
          </a:p>
        </p:txBody>
      </p:sp>
      <p:sp>
        <p:nvSpPr>
          <p:cNvPr id="17" name="Text 13"/>
          <p:cNvSpPr/>
          <p:nvPr/>
        </p:nvSpPr>
        <p:spPr>
          <a:xfrm>
            <a:off x="5550408" y="1618488"/>
            <a:ext cx="4462272" cy="274320"/>
          </a:xfrm>
          <a:prstGeom prst="rect">
            <a:avLst/>
          </a:prstGeom>
          <a:noFill/>
          <a:ln/>
        </p:spPr>
        <p:txBody>
          <a:bodyPr wrap="square" rtlCol="0" anchor="ctr"/>
          <a:lstStyle/>
          <a:p>
            <a:pPr indent="0" marL="0">
              <a:buNone/>
            </a:pPr>
            <a:r>
              <a:rPr lang="en-US" sz="1250" b="1" dirty="0">
                <a:solidFill>
                  <a:srgbClr val="0F172A"/>
                </a:solidFill>
                <a:latin typeface="Outfit" pitchFamily="34" charset="0"/>
                <a:ea typeface="Outfit" pitchFamily="34" charset="-122"/>
                <a:cs typeface="Outfit" pitchFamily="34" charset="-120"/>
              </a:rPr>
              <a:t>Performance &amp; Core Web Vitals</a:t>
            </a:r>
            <a:endParaRPr lang="en-US" sz="1250" dirty="0"/>
          </a:p>
        </p:txBody>
      </p:sp>
      <p:sp>
        <p:nvSpPr>
          <p:cNvPr id="18" name="Text 14"/>
          <p:cNvSpPr/>
          <p:nvPr/>
        </p:nvSpPr>
        <p:spPr>
          <a:xfrm>
            <a:off x="5550408" y="1892808"/>
            <a:ext cx="4462272" cy="292608"/>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Desktop 92/100 • Mobile 68/100 • LCP 1.3 s</a:t>
            </a:r>
            <a:endParaRPr lang="en-US" sz="1000" dirty="0"/>
          </a:p>
        </p:txBody>
      </p:sp>
      <p:sp>
        <p:nvSpPr>
          <p:cNvPr id="19" name="Shape 15"/>
          <p:cNvSpPr/>
          <p:nvPr/>
        </p:nvSpPr>
        <p:spPr>
          <a:xfrm>
            <a:off x="10131552" y="1764792"/>
            <a:ext cx="1143000" cy="292608"/>
          </a:xfrm>
          <a:prstGeom prst="roundRect">
            <a:avLst>
              <a:gd name="adj" fmla="val 50000"/>
            </a:avLst>
          </a:prstGeom>
          <a:solidFill>
            <a:srgbClr val="ECFDF5"/>
          </a:solidFill>
          <a:ln w="12700">
            <a:solidFill>
              <a:srgbClr val="10B981"/>
            </a:solidFill>
            <a:prstDash val="solid"/>
          </a:ln>
        </p:spPr>
      </p:sp>
      <p:sp>
        <p:nvSpPr>
          <p:cNvPr id="20" name="Text 16"/>
          <p:cNvSpPr/>
          <p:nvPr/>
        </p:nvSpPr>
        <p:spPr>
          <a:xfrm>
            <a:off x="10131552" y="1764792"/>
            <a:ext cx="1143000" cy="292608"/>
          </a:xfrm>
          <a:prstGeom prst="rect">
            <a:avLst/>
          </a:prstGeom>
          <a:noFill/>
          <a:ln/>
        </p:spPr>
        <p:txBody>
          <a:bodyPr wrap="square" rtlCol="0" anchor="ctr"/>
          <a:lstStyle/>
          <a:p>
            <a:pPr algn="ctr" indent="0" marL="0">
              <a:buNone/>
            </a:pPr>
            <a:r>
              <a:rPr lang="en-US" sz="950" b="1" dirty="0">
                <a:solidFill>
                  <a:srgbClr val="047857"/>
                </a:solidFill>
                <a:latin typeface="Plus Jakarta Sans" pitchFamily="34" charset="0"/>
                <a:ea typeface="Plus Jakarta Sans" pitchFamily="34" charset="-122"/>
                <a:cs typeface="Plus Jakarta Sans" pitchFamily="34" charset="-120"/>
              </a:rPr>
              <a:t>OPTIMIZED</a:t>
            </a:r>
            <a:endParaRPr lang="en-US" sz="950" dirty="0"/>
          </a:p>
        </p:txBody>
      </p:sp>
      <p:sp>
        <p:nvSpPr>
          <p:cNvPr id="21" name="Shape 17"/>
          <p:cNvSpPr/>
          <p:nvPr/>
        </p:nvSpPr>
        <p:spPr>
          <a:xfrm>
            <a:off x="4892040" y="2432304"/>
            <a:ext cx="6565392" cy="804672"/>
          </a:xfrm>
          <a:prstGeom prst="roundRect">
            <a:avLst>
              <a:gd name="adj" fmla="val 9091"/>
            </a:avLst>
          </a:prstGeom>
          <a:solidFill>
            <a:srgbClr val="FFFFFF"/>
          </a:solidFill>
          <a:ln w="12700">
            <a:solidFill>
              <a:srgbClr val="E2E8F0"/>
            </a:solidFill>
            <a:prstDash val="solid"/>
          </a:ln>
        </p:spPr>
      </p:sp>
      <p:sp>
        <p:nvSpPr>
          <p:cNvPr id="22" name="Shape 18"/>
          <p:cNvSpPr/>
          <p:nvPr/>
        </p:nvSpPr>
        <p:spPr>
          <a:xfrm>
            <a:off x="4892040" y="2432304"/>
            <a:ext cx="91440" cy="804672"/>
          </a:xfrm>
          <a:prstGeom prst="rect">
            <a:avLst/>
          </a:prstGeom>
          <a:solidFill>
            <a:srgbClr val="0EA5E9"/>
          </a:solidFill>
          <a:ln w="12700">
            <a:solidFill>
              <a:srgbClr val="0EA5E9"/>
            </a:solidFill>
            <a:prstDash val="solid"/>
          </a:ln>
        </p:spPr>
      </p:sp>
      <p:sp>
        <p:nvSpPr>
          <p:cNvPr id="23" name="Shape 19"/>
          <p:cNvSpPr/>
          <p:nvPr/>
        </p:nvSpPr>
        <p:spPr>
          <a:xfrm>
            <a:off x="5093208" y="2670048"/>
            <a:ext cx="329184" cy="329184"/>
          </a:xfrm>
          <a:prstGeom prst="ellipse">
            <a:avLst/>
          </a:prstGeom>
          <a:solidFill>
            <a:srgbClr val="F0F9FF"/>
          </a:solidFill>
          <a:ln w="12700">
            <a:solidFill>
              <a:srgbClr val="0EA5E9"/>
            </a:solidFill>
            <a:prstDash val="solid"/>
          </a:ln>
        </p:spPr>
      </p:sp>
      <p:sp>
        <p:nvSpPr>
          <p:cNvPr id="24" name="Text 20"/>
          <p:cNvSpPr/>
          <p:nvPr/>
        </p:nvSpPr>
        <p:spPr>
          <a:xfrm>
            <a:off x="5093208" y="2670048"/>
            <a:ext cx="329184" cy="329184"/>
          </a:xfrm>
          <a:prstGeom prst="rect">
            <a:avLst/>
          </a:prstGeom>
          <a:noFill/>
          <a:ln/>
        </p:spPr>
        <p:txBody>
          <a:bodyPr wrap="square" rtlCol="0" anchor="ctr"/>
          <a:lstStyle/>
          <a:p>
            <a:pPr algn="ctr" indent="0" marL="0">
              <a:buNone/>
            </a:pPr>
            <a:r>
              <a:rPr lang="en-US" sz="1100" b="1" dirty="0">
                <a:solidFill>
                  <a:srgbClr val="075985"/>
                </a:solidFill>
                <a:latin typeface="Plus Jakarta Sans" pitchFamily="34" charset="0"/>
                <a:ea typeface="Plus Jakarta Sans" pitchFamily="34" charset="-122"/>
                <a:cs typeface="Plus Jakarta Sans" pitchFamily="34" charset="-120"/>
              </a:rPr>
              <a:t>✔</a:t>
            </a:r>
            <a:endParaRPr lang="en-US" sz="1100" dirty="0"/>
          </a:p>
        </p:txBody>
      </p:sp>
      <p:sp>
        <p:nvSpPr>
          <p:cNvPr id="25" name="Text 21"/>
          <p:cNvSpPr/>
          <p:nvPr/>
        </p:nvSpPr>
        <p:spPr>
          <a:xfrm>
            <a:off x="5550408" y="2542032"/>
            <a:ext cx="4462272" cy="274320"/>
          </a:xfrm>
          <a:prstGeom prst="rect">
            <a:avLst/>
          </a:prstGeom>
          <a:noFill/>
          <a:ln/>
        </p:spPr>
        <p:txBody>
          <a:bodyPr wrap="square" rtlCol="0" anchor="ctr"/>
          <a:lstStyle/>
          <a:p>
            <a:pPr indent="0" marL="0">
              <a:buNone/>
            </a:pPr>
            <a:r>
              <a:rPr lang="en-US" sz="1250" b="1" dirty="0">
                <a:solidFill>
                  <a:srgbClr val="0F172A"/>
                </a:solidFill>
                <a:latin typeface="Outfit" pitchFamily="34" charset="0"/>
                <a:ea typeface="Outfit" pitchFamily="34" charset="-122"/>
                <a:cs typeface="Outfit" pitchFamily="34" charset="-120"/>
              </a:rPr>
              <a:t>Storefront Defense &amp; Security</a:t>
            </a:r>
            <a:endParaRPr lang="en-US" sz="1250" dirty="0"/>
          </a:p>
        </p:txBody>
      </p:sp>
      <p:sp>
        <p:nvSpPr>
          <p:cNvPr id="26" name="Text 22"/>
          <p:cNvSpPr/>
          <p:nvPr/>
        </p:nvSpPr>
        <p:spPr>
          <a:xfrm>
            <a:off x="5550408" y="2816352"/>
            <a:ext cx="4462272" cy="292608"/>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1 Routine Scans Tracked • Zero Active Breaches</a:t>
            </a:r>
            <a:endParaRPr lang="en-US" sz="1000" dirty="0"/>
          </a:p>
        </p:txBody>
      </p:sp>
      <p:sp>
        <p:nvSpPr>
          <p:cNvPr id="27" name="Shape 23"/>
          <p:cNvSpPr/>
          <p:nvPr/>
        </p:nvSpPr>
        <p:spPr>
          <a:xfrm>
            <a:off x="10131552" y="2688336"/>
            <a:ext cx="1143000" cy="292608"/>
          </a:xfrm>
          <a:prstGeom prst="roundRect">
            <a:avLst>
              <a:gd name="adj" fmla="val 50000"/>
            </a:avLst>
          </a:prstGeom>
          <a:solidFill>
            <a:srgbClr val="F0F9FF"/>
          </a:solidFill>
          <a:ln w="12700">
            <a:solidFill>
              <a:srgbClr val="0EA5E9"/>
            </a:solidFill>
            <a:prstDash val="solid"/>
          </a:ln>
        </p:spPr>
      </p:sp>
      <p:sp>
        <p:nvSpPr>
          <p:cNvPr id="28" name="Text 24"/>
          <p:cNvSpPr/>
          <p:nvPr/>
        </p:nvSpPr>
        <p:spPr>
          <a:xfrm>
            <a:off x="10131552" y="2688336"/>
            <a:ext cx="1143000" cy="292608"/>
          </a:xfrm>
          <a:prstGeom prst="rect">
            <a:avLst/>
          </a:prstGeom>
          <a:noFill/>
          <a:ln/>
        </p:spPr>
        <p:txBody>
          <a:bodyPr wrap="square" rtlCol="0" anchor="ctr"/>
          <a:lstStyle/>
          <a:p>
            <a:pPr algn="ctr" indent="0" marL="0">
              <a:buNone/>
            </a:pPr>
            <a:r>
              <a:rPr lang="en-US" sz="950" b="1" dirty="0">
                <a:solidFill>
                  <a:srgbClr val="075985"/>
                </a:solidFill>
                <a:latin typeface="Plus Jakarta Sans" pitchFamily="34" charset="0"/>
                <a:ea typeface="Plus Jakarta Sans" pitchFamily="34" charset="-122"/>
                <a:cs typeface="Plus Jakarta Sans" pitchFamily="34" charset="-120"/>
              </a:rPr>
              <a:t>PROTECTED</a:t>
            </a:r>
            <a:endParaRPr lang="en-US" sz="950" dirty="0"/>
          </a:p>
        </p:txBody>
      </p:sp>
      <p:sp>
        <p:nvSpPr>
          <p:cNvPr id="29" name="Shape 25"/>
          <p:cNvSpPr/>
          <p:nvPr/>
        </p:nvSpPr>
        <p:spPr>
          <a:xfrm>
            <a:off x="4892040" y="3355848"/>
            <a:ext cx="6565392" cy="804672"/>
          </a:xfrm>
          <a:prstGeom prst="roundRect">
            <a:avLst>
              <a:gd name="adj" fmla="val 9091"/>
            </a:avLst>
          </a:prstGeom>
          <a:solidFill>
            <a:srgbClr val="FFFFFF"/>
          </a:solidFill>
          <a:ln w="12700">
            <a:solidFill>
              <a:srgbClr val="E2E8F0"/>
            </a:solidFill>
            <a:prstDash val="solid"/>
          </a:ln>
        </p:spPr>
      </p:sp>
      <p:sp>
        <p:nvSpPr>
          <p:cNvPr id="30" name="Shape 26"/>
          <p:cNvSpPr/>
          <p:nvPr/>
        </p:nvSpPr>
        <p:spPr>
          <a:xfrm>
            <a:off x="4892040" y="3355848"/>
            <a:ext cx="91440" cy="804672"/>
          </a:xfrm>
          <a:prstGeom prst="rect">
            <a:avLst/>
          </a:prstGeom>
          <a:solidFill>
            <a:srgbClr val="10B981"/>
          </a:solidFill>
          <a:ln w="12700">
            <a:solidFill>
              <a:srgbClr val="10B981"/>
            </a:solidFill>
            <a:prstDash val="solid"/>
          </a:ln>
        </p:spPr>
      </p:sp>
      <p:sp>
        <p:nvSpPr>
          <p:cNvPr id="31" name="Shape 27"/>
          <p:cNvSpPr/>
          <p:nvPr/>
        </p:nvSpPr>
        <p:spPr>
          <a:xfrm>
            <a:off x="5093208" y="3593592"/>
            <a:ext cx="329184" cy="329184"/>
          </a:xfrm>
          <a:prstGeom prst="ellipse">
            <a:avLst/>
          </a:prstGeom>
          <a:solidFill>
            <a:srgbClr val="ECFDF5"/>
          </a:solidFill>
          <a:ln w="12700">
            <a:solidFill>
              <a:srgbClr val="10B981"/>
            </a:solidFill>
            <a:prstDash val="solid"/>
          </a:ln>
        </p:spPr>
      </p:sp>
      <p:sp>
        <p:nvSpPr>
          <p:cNvPr id="32" name="Text 28"/>
          <p:cNvSpPr/>
          <p:nvPr/>
        </p:nvSpPr>
        <p:spPr>
          <a:xfrm>
            <a:off x="5093208" y="3593592"/>
            <a:ext cx="329184" cy="329184"/>
          </a:xfrm>
          <a:prstGeom prst="rect">
            <a:avLst/>
          </a:prstGeom>
          <a:noFill/>
          <a:ln/>
        </p:spPr>
        <p:txBody>
          <a:bodyPr wrap="square" rtlCol="0" anchor="ctr"/>
          <a:lstStyle/>
          <a:p>
            <a:pPr algn="ctr" indent="0" marL="0">
              <a:buNone/>
            </a:pPr>
            <a:r>
              <a:rPr lang="en-US" sz="1100" b="1" dirty="0">
                <a:solidFill>
                  <a:srgbClr val="047857"/>
                </a:solidFill>
                <a:latin typeface="Plus Jakarta Sans" pitchFamily="34" charset="0"/>
                <a:ea typeface="Plus Jakarta Sans" pitchFamily="34" charset="-122"/>
                <a:cs typeface="Plus Jakarta Sans" pitchFamily="34" charset="-120"/>
              </a:rPr>
              <a:t>✔</a:t>
            </a:r>
            <a:endParaRPr lang="en-US" sz="1100" dirty="0"/>
          </a:p>
        </p:txBody>
      </p:sp>
      <p:sp>
        <p:nvSpPr>
          <p:cNvPr id="33" name="Text 29"/>
          <p:cNvSpPr/>
          <p:nvPr/>
        </p:nvSpPr>
        <p:spPr>
          <a:xfrm>
            <a:off x="5550408" y="3465576"/>
            <a:ext cx="4462272" cy="274320"/>
          </a:xfrm>
          <a:prstGeom prst="rect">
            <a:avLst/>
          </a:prstGeom>
          <a:noFill/>
          <a:ln/>
        </p:spPr>
        <p:txBody>
          <a:bodyPr wrap="square" rtlCol="0" anchor="ctr"/>
          <a:lstStyle/>
          <a:p>
            <a:pPr indent="0" marL="0">
              <a:buNone/>
            </a:pPr>
            <a:r>
              <a:rPr lang="en-US" sz="1250" b="1" dirty="0">
                <a:solidFill>
                  <a:srgbClr val="0F172A"/>
                </a:solidFill>
                <a:latin typeface="Outfit" pitchFamily="34" charset="0"/>
                <a:ea typeface="Outfit" pitchFamily="34" charset="-122"/>
                <a:cs typeface="Outfit" pitchFamily="34" charset="-120"/>
              </a:rPr>
              <a:t>Availability &amp; Latency</a:t>
            </a:r>
            <a:endParaRPr lang="en-US" sz="1250" dirty="0"/>
          </a:p>
        </p:txBody>
      </p:sp>
      <p:sp>
        <p:nvSpPr>
          <p:cNvPr id="34" name="Text 30"/>
          <p:cNvSpPr/>
          <p:nvPr/>
        </p:nvSpPr>
        <p:spPr>
          <a:xfrm>
            <a:off x="5550408" y="3739896"/>
            <a:ext cx="4462272" cy="292608"/>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100% 30-Day Uptime • 110ms TTFB</a:t>
            </a:r>
            <a:endParaRPr lang="en-US" sz="1000" dirty="0"/>
          </a:p>
        </p:txBody>
      </p:sp>
      <p:sp>
        <p:nvSpPr>
          <p:cNvPr id="35" name="Shape 31"/>
          <p:cNvSpPr/>
          <p:nvPr/>
        </p:nvSpPr>
        <p:spPr>
          <a:xfrm>
            <a:off x="10131552" y="3611880"/>
            <a:ext cx="1143000" cy="292608"/>
          </a:xfrm>
          <a:prstGeom prst="roundRect">
            <a:avLst>
              <a:gd name="adj" fmla="val 50000"/>
            </a:avLst>
          </a:prstGeom>
          <a:solidFill>
            <a:srgbClr val="ECFDF5"/>
          </a:solidFill>
          <a:ln w="12700">
            <a:solidFill>
              <a:srgbClr val="10B981"/>
            </a:solidFill>
            <a:prstDash val="solid"/>
          </a:ln>
        </p:spPr>
      </p:sp>
      <p:sp>
        <p:nvSpPr>
          <p:cNvPr id="36" name="Text 32"/>
          <p:cNvSpPr/>
          <p:nvPr/>
        </p:nvSpPr>
        <p:spPr>
          <a:xfrm>
            <a:off x="10131552" y="3611880"/>
            <a:ext cx="1143000" cy="292608"/>
          </a:xfrm>
          <a:prstGeom prst="rect">
            <a:avLst/>
          </a:prstGeom>
          <a:noFill/>
          <a:ln/>
        </p:spPr>
        <p:txBody>
          <a:bodyPr wrap="square" rtlCol="0" anchor="ctr"/>
          <a:lstStyle/>
          <a:p>
            <a:pPr algn="ctr" indent="0" marL="0">
              <a:buNone/>
            </a:pPr>
            <a:r>
              <a:rPr lang="en-US" sz="950" b="1" dirty="0">
                <a:solidFill>
                  <a:srgbClr val="047857"/>
                </a:solidFill>
                <a:latin typeface="Plus Jakarta Sans" pitchFamily="34" charset="0"/>
                <a:ea typeface="Plus Jakarta Sans" pitchFamily="34" charset="-122"/>
                <a:cs typeface="Plus Jakarta Sans" pitchFamily="34" charset="-120"/>
              </a:rPr>
              <a:t>SLA MET</a:t>
            </a:r>
            <a:endParaRPr lang="en-US" sz="950" dirty="0"/>
          </a:p>
        </p:txBody>
      </p:sp>
      <p:sp>
        <p:nvSpPr>
          <p:cNvPr id="37" name="Shape 33"/>
          <p:cNvSpPr/>
          <p:nvPr/>
        </p:nvSpPr>
        <p:spPr>
          <a:xfrm>
            <a:off x="4892040" y="4279392"/>
            <a:ext cx="6565392" cy="804672"/>
          </a:xfrm>
          <a:prstGeom prst="roundRect">
            <a:avLst>
              <a:gd name="adj" fmla="val 9091"/>
            </a:avLst>
          </a:prstGeom>
          <a:solidFill>
            <a:srgbClr val="FFFFFF"/>
          </a:solidFill>
          <a:ln w="12700">
            <a:solidFill>
              <a:srgbClr val="E2E8F0"/>
            </a:solidFill>
            <a:prstDash val="solid"/>
          </a:ln>
        </p:spPr>
      </p:sp>
      <p:sp>
        <p:nvSpPr>
          <p:cNvPr id="38" name="Shape 34"/>
          <p:cNvSpPr/>
          <p:nvPr/>
        </p:nvSpPr>
        <p:spPr>
          <a:xfrm>
            <a:off x="4892040" y="4279392"/>
            <a:ext cx="91440" cy="804672"/>
          </a:xfrm>
          <a:prstGeom prst="rect">
            <a:avLst/>
          </a:prstGeom>
          <a:solidFill>
            <a:srgbClr val="10B981"/>
          </a:solidFill>
          <a:ln w="12700">
            <a:solidFill>
              <a:srgbClr val="10B981"/>
            </a:solidFill>
            <a:prstDash val="solid"/>
          </a:ln>
        </p:spPr>
      </p:sp>
      <p:sp>
        <p:nvSpPr>
          <p:cNvPr id="39" name="Shape 35"/>
          <p:cNvSpPr/>
          <p:nvPr/>
        </p:nvSpPr>
        <p:spPr>
          <a:xfrm>
            <a:off x="5093208" y="4517136"/>
            <a:ext cx="329184" cy="329184"/>
          </a:xfrm>
          <a:prstGeom prst="ellipse">
            <a:avLst/>
          </a:prstGeom>
          <a:solidFill>
            <a:srgbClr val="ECFDF5"/>
          </a:solidFill>
          <a:ln w="12700">
            <a:solidFill>
              <a:srgbClr val="10B981"/>
            </a:solidFill>
            <a:prstDash val="solid"/>
          </a:ln>
        </p:spPr>
      </p:sp>
      <p:sp>
        <p:nvSpPr>
          <p:cNvPr id="40" name="Text 36"/>
          <p:cNvSpPr/>
          <p:nvPr/>
        </p:nvSpPr>
        <p:spPr>
          <a:xfrm>
            <a:off x="5093208" y="4517136"/>
            <a:ext cx="329184" cy="329184"/>
          </a:xfrm>
          <a:prstGeom prst="rect">
            <a:avLst/>
          </a:prstGeom>
          <a:noFill/>
          <a:ln/>
        </p:spPr>
        <p:txBody>
          <a:bodyPr wrap="square" rtlCol="0" anchor="ctr"/>
          <a:lstStyle/>
          <a:p>
            <a:pPr algn="ctr" indent="0" marL="0">
              <a:buNone/>
            </a:pPr>
            <a:r>
              <a:rPr lang="en-US" sz="1100" b="1" dirty="0">
                <a:solidFill>
                  <a:srgbClr val="047857"/>
                </a:solidFill>
                <a:latin typeface="Plus Jakarta Sans" pitchFamily="34" charset="0"/>
                <a:ea typeface="Plus Jakarta Sans" pitchFamily="34" charset="-122"/>
                <a:cs typeface="Plus Jakarta Sans" pitchFamily="34" charset="-120"/>
              </a:rPr>
              <a:t>✔</a:t>
            </a:r>
            <a:endParaRPr lang="en-US" sz="1100" dirty="0"/>
          </a:p>
        </p:txBody>
      </p:sp>
      <p:sp>
        <p:nvSpPr>
          <p:cNvPr id="41" name="Text 37"/>
          <p:cNvSpPr/>
          <p:nvPr/>
        </p:nvSpPr>
        <p:spPr>
          <a:xfrm>
            <a:off x="5550408" y="4389120"/>
            <a:ext cx="4462272" cy="274320"/>
          </a:xfrm>
          <a:prstGeom prst="rect">
            <a:avLst/>
          </a:prstGeom>
          <a:noFill/>
          <a:ln/>
        </p:spPr>
        <p:txBody>
          <a:bodyPr wrap="square" rtlCol="0" anchor="ctr"/>
          <a:lstStyle/>
          <a:p>
            <a:pPr indent="0" marL="0">
              <a:buNone/>
            </a:pPr>
            <a:r>
              <a:rPr lang="en-US" sz="1250" b="1" dirty="0">
                <a:solidFill>
                  <a:srgbClr val="0F172A"/>
                </a:solidFill>
                <a:latin typeface="Outfit" pitchFamily="34" charset="0"/>
                <a:ea typeface="Outfit" pitchFamily="34" charset="-122"/>
                <a:cs typeface="Outfit" pitchFamily="34" charset="-120"/>
              </a:rPr>
              <a:t>Storefront Multi-Currency</a:t>
            </a:r>
            <a:endParaRPr lang="en-US" sz="1250" dirty="0"/>
          </a:p>
        </p:txBody>
      </p:sp>
      <p:sp>
        <p:nvSpPr>
          <p:cNvPr id="42" name="Text 38"/>
          <p:cNvSpPr/>
          <p:nvPr/>
        </p:nvSpPr>
        <p:spPr>
          <a:xfrm>
            <a:off x="5550408" y="4663440"/>
            <a:ext cx="4462272" cy="292608"/>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USD / CAD Currency Switch &amp; Product Price Recalculation Verified</a:t>
            </a:r>
            <a:endParaRPr lang="en-US" sz="1000" dirty="0"/>
          </a:p>
        </p:txBody>
      </p:sp>
      <p:sp>
        <p:nvSpPr>
          <p:cNvPr id="43" name="Shape 39"/>
          <p:cNvSpPr/>
          <p:nvPr/>
        </p:nvSpPr>
        <p:spPr>
          <a:xfrm>
            <a:off x="10131552" y="4535424"/>
            <a:ext cx="1143000" cy="292608"/>
          </a:xfrm>
          <a:prstGeom prst="roundRect">
            <a:avLst>
              <a:gd name="adj" fmla="val 50000"/>
            </a:avLst>
          </a:prstGeom>
          <a:solidFill>
            <a:srgbClr val="ECFDF5"/>
          </a:solidFill>
          <a:ln w="12700">
            <a:solidFill>
              <a:srgbClr val="10B981"/>
            </a:solidFill>
            <a:prstDash val="solid"/>
          </a:ln>
        </p:spPr>
      </p:sp>
      <p:sp>
        <p:nvSpPr>
          <p:cNvPr id="44" name="Text 40"/>
          <p:cNvSpPr/>
          <p:nvPr/>
        </p:nvSpPr>
        <p:spPr>
          <a:xfrm>
            <a:off x="10131552" y="4535424"/>
            <a:ext cx="1143000" cy="292608"/>
          </a:xfrm>
          <a:prstGeom prst="rect">
            <a:avLst/>
          </a:prstGeom>
          <a:noFill/>
          <a:ln/>
        </p:spPr>
        <p:txBody>
          <a:bodyPr wrap="square" rtlCol="0" anchor="ctr"/>
          <a:lstStyle/>
          <a:p>
            <a:pPr algn="ctr" indent="0" marL="0">
              <a:buNone/>
            </a:pPr>
            <a:r>
              <a:rPr lang="en-US" sz="950" b="1" dirty="0">
                <a:solidFill>
                  <a:srgbClr val="047857"/>
                </a:solidFill>
                <a:latin typeface="Plus Jakarta Sans" pitchFamily="34" charset="0"/>
                <a:ea typeface="Plus Jakarta Sans" pitchFamily="34" charset="-122"/>
                <a:cs typeface="Plus Jakarta Sans" pitchFamily="34" charset="-120"/>
              </a:rPr>
              <a:t>VERIFIED</a:t>
            </a:r>
            <a:endParaRPr lang="en-US" sz="950" dirty="0"/>
          </a:p>
        </p:txBody>
      </p:sp>
      <p:sp>
        <p:nvSpPr>
          <p:cNvPr id="45" name="Shape 41"/>
          <p:cNvSpPr/>
          <p:nvPr/>
        </p:nvSpPr>
        <p:spPr>
          <a:xfrm>
            <a:off x="4892040" y="5202936"/>
            <a:ext cx="6565392" cy="804672"/>
          </a:xfrm>
          <a:prstGeom prst="roundRect">
            <a:avLst>
              <a:gd name="adj" fmla="val 9091"/>
            </a:avLst>
          </a:prstGeom>
          <a:solidFill>
            <a:srgbClr val="FFFFFF"/>
          </a:solidFill>
          <a:ln w="12700">
            <a:solidFill>
              <a:srgbClr val="E2E8F0"/>
            </a:solidFill>
            <a:prstDash val="solid"/>
          </a:ln>
        </p:spPr>
      </p:sp>
      <p:sp>
        <p:nvSpPr>
          <p:cNvPr id="46" name="Shape 42"/>
          <p:cNvSpPr/>
          <p:nvPr/>
        </p:nvSpPr>
        <p:spPr>
          <a:xfrm>
            <a:off x="4892040" y="5202936"/>
            <a:ext cx="91440" cy="804672"/>
          </a:xfrm>
          <a:prstGeom prst="rect">
            <a:avLst/>
          </a:prstGeom>
          <a:solidFill>
            <a:srgbClr val="10B981"/>
          </a:solidFill>
          <a:ln w="12700">
            <a:solidFill>
              <a:srgbClr val="10B981"/>
            </a:solidFill>
            <a:prstDash val="solid"/>
          </a:ln>
        </p:spPr>
      </p:sp>
      <p:sp>
        <p:nvSpPr>
          <p:cNvPr id="47" name="Shape 43"/>
          <p:cNvSpPr/>
          <p:nvPr/>
        </p:nvSpPr>
        <p:spPr>
          <a:xfrm>
            <a:off x="5093208" y="5440680"/>
            <a:ext cx="329184" cy="329184"/>
          </a:xfrm>
          <a:prstGeom prst="ellipse">
            <a:avLst/>
          </a:prstGeom>
          <a:solidFill>
            <a:srgbClr val="ECFDF5"/>
          </a:solidFill>
          <a:ln w="12700">
            <a:solidFill>
              <a:srgbClr val="10B981"/>
            </a:solidFill>
            <a:prstDash val="solid"/>
          </a:ln>
        </p:spPr>
      </p:sp>
      <p:sp>
        <p:nvSpPr>
          <p:cNvPr id="48" name="Text 44"/>
          <p:cNvSpPr/>
          <p:nvPr/>
        </p:nvSpPr>
        <p:spPr>
          <a:xfrm>
            <a:off x="5093208" y="5440680"/>
            <a:ext cx="329184" cy="329184"/>
          </a:xfrm>
          <a:prstGeom prst="rect">
            <a:avLst/>
          </a:prstGeom>
          <a:noFill/>
          <a:ln/>
        </p:spPr>
        <p:txBody>
          <a:bodyPr wrap="square" rtlCol="0" anchor="ctr"/>
          <a:lstStyle/>
          <a:p>
            <a:pPr algn="ctr" indent="0" marL="0">
              <a:buNone/>
            </a:pPr>
            <a:r>
              <a:rPr lang="en-US" sz="1100" b="1" dirty="0">
                <a:solidFill>
                  <a:srgbClr val="047857"/>
                </a:solidFill>
                <a:latin typeface="Plus Jakarta Sans" pitchFamily="34" charset="0"/>
                <a:ea typeface="Plus Jakarta Sans" pitchFamily="34" charset="-122"/>
                <a:cs typeface="Plus Jakarta Sans" pitchFamily="34" charset="-120"/>
              </a:rPr>
              <a:t>✔</a:t>
            </a:r>
            <a:endParaRPr lang="en-US" sz="1100" dirty="0"/>
          </a:p>
        </p:txBody>
      </p:sp>
      <p:sp>
        <p:nvSpPr>
          <p:cNvPr id="49" name="Text 45"/>
          <p:cNvSpPr/>
          <p:nvPr/>
        </p:nvSpPr>
        <p:spPr>
          <a:xfrm>
            <a:off x="5550408" y="5312664"/>
            <a:ext cx="4462272" cy="274320"/>
          </a:xfrm>
          <a:prstGeom prst="rect">
            <a:avLst/>
          </a:prstGeom>
          <a:noFill/>
          <a:ln/>
        </p:spPr>
        <p:txBody>
          <a:bodyPr wrap="square" rtlCol="0" anchor="ctr"/>
          <a:lstStyle/>
          <a:p>
            <a:pPr indent="0" marL="0">
              <a:buNone/>
            </a:pPr>
            <a:r>
              <a:rPr lang="en-US" sz="1250" b="1" dirty="0">
                <a:solidFill>
                  <a:srgbClr val="0F172A"/>
                </a:solidFill>
                <a:latin typeface="Outfit" pitchFamily="34" charset="0"/>
                <a:ea typeface="Outfit" pitchFamily="34" charset="-122"/>
                <a:cs typeface="Outfit" pitchFamily="34" charset="-120"/>
              </a:rPr>
              <a:t>Data Protection &amp; Backups</a:t>
            </a:r>
            <a:endParaRPr lang="en-US" sz="1250" dirty="0"/>
          </a:p>
        </p:txBody>
      </p:sp>
      <p:sp>
        <p:nvSpPr>
          <p:cNvPr id="50" name="Text 46"/>
          <p:cNvSpPr/>
          <p:nvPr/>
        </p:nvSpPr>
        <p:spPr>
          <a:xfrm>
            <a:off x="5550408" y="5586984"/>
            <a:ext cx="4462272" cy="292608"/>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Compressed Database Tables, Theme Code &amp; Product Assets Archived</a:t>
            </a:r>
            <a:endParaRPr lang="en-US" sz="1000" dirty="0"/>
          </a:p>
        </p:txBody>
      </p:sp>
      <p:sp>
        <p:nvSpPr>
          <p:cNvPr id="51" name="Shape 47"/>
          <p:cNvSpPr/>
          <p:nvPr/>
        </p:nvSpPr>
        <p:spPr>
          <a:xfrm>
            <a:off x="10131552" y="5458968"/>
            <a:ext cx="1143000" cy="292608"/>
          </a:xfrm>
          <a:prstGeom prst="roundRect">
            <a:avLst>
              <a:gd name="adj" fmla="val 50000"/>
            </a:avLst>
          </a:prstGeom>
          <a:solidFill>
            <a:srgbClr val="ECFDF5"/>
          </a:solidFill>
          <a:ln w="12700">
            <a:solidFill>
              <a:srgbClr val="10B981"/>
            </a:solidFill>
            <a:prstDash val="solid"/>
          </a:ln>
        </p:spPr>
      </p:sp>
      <p:sp>
        <p:nvSpPr>
          <p:cNvPr id="52" name="Text 48"/>
          <p:cNvSpPr/>
          <p:nvPr/>
        </p:nvSpPr>
        <p:spPr>
          <a:xfrm>
            <a:off x="10131552" y="5458968"/>
            <a:ext cx="1143000" cy="292608"/>
          </a:xfrm>
          <a:prstGeom prst="rect">
            <a:avLst/>
          </a:prstGeom>
          <a:noFill/>
          <a:ln/>
        </p:spPr>
        <p:txBody>
          <a:bodyPr wrap="square" rtlCol="0" anchor="ctr"/>
          <a:lstStyle/>
          <a:p>
            <a:pPr algn="ctr" indent="0" marL="0">
              <a:buNone/>
            </a:pPr>
            <a:r>
              <a:rPr lang="en-US" sz="950" b="1" dirty="0">
                <a:solidFill>
                  <a:srgbClr val="047857"/>
                </a:solidFill>
                <a:latin typeface="Plus Jakarta Sans" pitchFamily="34" charset="0"/>
                <a:ea typeface="Plus Jakarta Sans" pitchFamily="34" charset="-122"/>
                <a:cs typeface="Plus Jakarta Sans" pitchFamily="34" charset="-120"/>
              </a:rPr>
              <a:t>SECURED</a:t>
            </a:r>
            <a:endParaRPr lang="en-US" sz="950" dirty="0"/>
          </a:p>
        </p:txBody>
      </p:sp>
      <p:sp>
        <p:nvSpPr>
          <p:cNvPr id="53" name="Shape 49"/>
          <p:cNvSpPr/>
          <p:nvPr/>
        </p:nvSpPr>
        <p:spPr>
          <a:xfrm>
            <a:off x="731520" y="6217920"/>
            <a:ext cx="10725912" cy="384048"/>
          </a:xfrm>
          <a:prstGeom prst="roundRect">
            <a:avLst>
              <a:gd name="adj" fmla="val 19048"/>
            </a:avLst>
          </a:prstGeom>
          <a:solidFill>
            <a:srgbClr val="F1F5F9"/>
          </a:solidFill>
          <a:ln w="12700">
            <a:solidFill>
              <a:srgbClr val="E2E8F0"/>
            </a:solidFill>
            <a:prstDash val="solid"/>
          </a:ln>
        </p:spPr>
      </p:sp>
      <p:sp>
        <p:nvSpPr>
          <p:cNvPr id="54" name="Text 50"/>
          <p:cNvSpPr/>
          <p:nvPr/>
        </p:nvSpPr>
        <p:spPr>
          <a:xfrm>
            <a:off x="960120" y="6217920"/>
            <a:ext cx="10332720" cy="384048"/>
          </a:xfrm>
          <a:prstGeom prst="rect">
            <a:avLst/>
          </a:prstGeom>
          <a:noFill/>
          <a:ln/>
        </p:spPr>
        <p:txBody>
          <a:bodyPr wrap="square" rtlCol="0" anchor="ctr"/>
          <a:lstStyle/>
          <a:p>
            <a:pPr indent="0" marL="0">
              <a:buNone/>
            </a:pPr>
            <a:r>
              <a:rPr lang="en-US" sz="950" b="1" dirty="0">
                <a:solidFill>
                  <a:srgbClr val="334155"/>
                </a:solidFill>
                <a:latin typeface="Plus Jakarta Sans" pitchFamily="34" charset="0"/>
                <a:ea typeface="Plus Jakarta Sans" pitchFamily="34" charset="-122"/>
                <a:cs typeface="Plus Jakarta Sans" pitchFamily="34" charset="-120"/>
              </a:rPr>
              <a:t>✔  Proactive Monthly Monitoring: 14 Core Technical Areas Inspected • Zero Active Security Breaches • Zero Store Downtime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Availability &amp; Latency</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Uptime &amp; Initial Response Time (TTFB)</a:t>
            </a:r>
            <a:endParaRPr lang="en-US" sz="2600" dirty="0"/>
          </a:p>
        </p:txBody>
      </p:sp>
      <p:sp>
        <p:nvSpPr>
          <p:cNvPr id="5" name="Shape 2"/>
          <p:cNvSpPr/>
          <p:nvPr/>
        </p:nvSpPr>
        <p:spPr>
          <a:xfrm>
            <a:off x="731520" y="1508760"/>
            <a:ext cx="5120640" cy="4526280"/>
          </a:xfrm>
          <a:prstGeom prst="roundRect">
            <a:avLst>
              <a:gd name="adj" fmla="val 2020"/>
            </a:avLst>
          </a:prstGeom>
          <a:solidFill>
            <a:srgbClr val="F8FAFC"/>
          </a:solidFill>
          <a:ln w="12700">
            <a:solidFill>
              <a:srgbClr val="E2E8F0"/>
            </a:solidFill>
            <a:prstDash val="solid"/>
          </a:ln>
        </p:spPr>
      </p:sp>
      <p:sp>
        <p:nvSpPr>
          <p:cNvPr id="6" name="Text 3"/>
          <p:cNvSpPr/>
          <p:nvPr/>
        </p:nvSpPr>
        <p:spPr>
          <a:xfrm>
            <a:off x="1005840" y="1691640"/>
            <a:ext cx="4572000" cy="256032"/>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STOREFRONT AVAILABILITY &amp; SLA GUARANTEE</a:t>
            </a:r>
            <a:endParaRPr lang="en-US" sz="1000" dirty="0"/>
          </a:p>
        </p:txBody>
      </p:sp>
      <p:graphicFrame>
        <p:nvGraphicFramePr>
          <p:cNvPr id="7" name="Chart 0" descr=""/>
          <p:cNvGraphicFramePr/>
          <p:nvPr/>
        </p:nvGraphicFramePr>
        <p:xfrm>
          <a:off x="1005840" y="1965960"/>
          <a:ext cx="4572000" cy="210312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1005840" y="2606040"/>
            <a:ext cx="4572000" cy="502920"/>
          </a:xfrm>
          <a:prstGeom prst="rect">
            <a:avLst/>
          </a:prstGeom>
          <a:noFill/>
          <a:ln/>
        </p:spPr>
        <p:txBody>
          <a:bodyPr wrap="square" rtlCol="0" anchor="ctr"/>
          <a:lstStyle/>
          <a:p>
            <a:pPr algn="ctr" indent="0" marL="0">
              <a:buNone/>
            </a:pPr>
            <a:r>
              <a:rPr lang="en-US" sz="3400" b="1" dirty="0">
                <a:solidFill>
                  <a:srgbClr val="0F172A"/>
                </a:solidFill>
                <a:latin typeface="Outfit" pitchFamily="34" charset="0"/>
                <a:ea typeface="Outfit" pitchFamily="34" charset="-122"/>
                <a:cs typeface="Outfit" pitchFamily="34" charset="-120"/>
              </a:rPr>
              <a:t>100%</a:t>
            </a:r>
            <a:endParaRPr lang="en-US" sz="3400" dirty="0"/>
          </a:p>
        </p:txBody>
      </p:sp>
      <p:sp>
        <p:nvSpPr>
          <p:cNvPr id="9" name="Text 5"/>
          <p:cNvSpPr/>
          <p:nvPr/>
        </p:nvSpPr>
        <p:spPr>
          <a:xfrm>
            <a:off x="1005840" y="3108960"/>
            <a:ext cx="4572000" cy="228600"/>
          </a:xfrm>
          <a:prstGeom prst="rect">
            <a:avLst/>
          </a:prstGeom>
          <a:noFill/>
          <a:ln/>
        </p:spPr>
        <p:txBody>
          <a:bodyPr wrap="square" rtlCol="0" anchor="ctr"/>
          <a:lstStyle/>
          <a:p>
            <a:pPr algn="ctr" indent="0" marL="0">
              <a:buNone/>
            </a:pPr>
            <a:r>
              <a:rPr lang="en-US" sz="850" b="1" dirty="0">
                <a:solidFill>
                  <a:srgbClr val="64748B"/>
                </a:solidFill>
                <a:latin typeface="Plus Jakarta Sans" pitchFamily="34" charset="0"/>
                <a:ea typeface="Plus Jakarta Sans" pitchFamily="34" charset="-122"/>
                <a:cs typeface="Plus Jakarta Sans" pitchFamily="34" charset="-120"/>
              </a:rPr>
              <a:t>STOREFRONT AVAILABILITY</a:t>
            </a:r>
            <a:endParaRPr lang="en-US" sz="850" dirty="0"/>
          </a:p>
        </p:txBody>
      </p:sp>
      <p:sp>
        <p:nvSpPr>
          <p:cNvPr id="10" name="Shape 6"/>
          <p:cNvSpPr/>
          <p:nvPr/>
        </p:nvSpPr>
        <p:spPr>
          <a:xfrm>
            <a:off x="1737360" y="4251960"/>
            <a:ext cx="3108960" cy="310896"/>
          </a:xfrm>
          <a:prstGeom prst="roundRect">
            <a:avLst>
              <a:gd name="adj" fmla="val 50000"/>
            </a:avLst>
          </a:prstGeom>
          <a:solidFill>
            <a:srgbClr val="ECFDF5"/>
          </a:solidFill>
          <a:ln w="12700">
            <a:solidFill>
              <a:srgbClr val="10B981"/>
            </a:solidFill>
            <a:prstDash val="solid"/>
          </a:ln>
        </p:spPr>
      </p:sp>
      <p:sp>
        <p:nvSpPr>
          <p:cNvPr id="11" name="Text 7"/>
          <p:cNvSpPr/>
          <p:nvPr/>
        </p:nvSpPr>
        <p:spPr>
          <a:xfrm>
            <a:off x="1737360" y="4251960"/>
            <a:ext cx="3108960" cy="310896"/>
          </a:xfrm>
          <a:prstGeom prst="rect">
            <a:avLst/>
          </a:prstGeom>
          <a:noFill/>
          <a:ln/>
        </p:spPr>
        <p:txBody>
          <a:bodyPr wrap="square" rtlCol="0" anchor="ctr"/>
          <a:lstStyle/>
          <a:p>
            <a:pPr algn="ctr" indent="0" marL="0">
              <a:buNone/>
            </a:pPr>
            <a:r>
              <a:rPr lang="en-US" sz="950" b="1" dirty="0">
                <a:solidFill>
                  <a:srgbClr val="047857"/>
                </a:solidFill>
                <a:latin typeface="Plus Jakarta Sans" pitchFamily="34" charset="0"/>
                <a:ea typeface="Plus Jakarta Sans" pitchFamily="34" charset="-122"/>
                <a:cs typeface="Plus Jakarta Sans" pitchFamily="34" charset="-120"/>
              </a:rPr>
              <a:t>100% SLA COMPLIANCE MET</a:t>
            </a:r>
            <a:endParaRPr lang="en-US" sz="950" dirty="0"/>
          </a:p>
        </p:txBody>
      </p:sp>
      <p:sp>
        <p:nvSpPr>
          <p:cNvPr id="12" name="Shape 8"/>
          <p:cNvSpPr/>
          <p:nvPr/>
        </p:nvSpPr>
        <p:spPr>
          <a:xfrm>
            <a:off x="960120" y="4709160"/>
            <a:ext cx="1417320" cy="1051560"/>
          </a:xfrm>
          <a:prstGeom prst="roundRect">
            <a:avLst>
              <a:gd name="adj" fmla="val 6957"/>
            </a:avLst>
          </a:prstGeom>
          <a:solidFill>
            <a:srgbClr val="F8FAFC"/>
          </a:solidFill>
          <a:ln w="12700">
            <a:solidFill>
              <a:srgbClr val="E2E8F0"/>
            </a:solidFill>
            <a:prstDash val="solid"/>
          </a:ln>
        </p:spPr>
      </p:sp>
      <p:sp>
        <p:nvSpPr>
          <p:cNvPr id="13" name="Text 9"/>
          <p:cNvSpPr/>
          <p:nvPr/>
        </p:nvSpPr>
        <p:spPr>
          <a:xfrm>
            <a:off x="960120" y="4818888"/>
            <a:ext cx="1417320" cy="201168"/>
          </a:xfrm>
          <a:prstGeom prst="rect">
            <a:avLst/>
          </a:prstGeom>
          <a:noFill/>
          <a:ln/>
        </p:spPr>
        <p:txBody>
          <a:bodyPr wrap="square" rtlCol="0" anchor="ctr"/>
          <a:lstStyle/>
          <a:p>
            <a:pPr algn="ctr" indent="0" marL="0">
              <a:buNone/>
            </a:pPr>
            <a:r>
              <a:rPr lang="en-US" sz="800" b="1" dirty="0">
                <a:solidFill>
                  <a:srgbClr val="64748B"/>
                </a:solidFill>
                <a:latin typeface="Plus Jakarta Sans" pitchFamily="34" charset="0"/>
                <a:ea typeface="Plus Jakarta Sans" pitchFamily="34" charset="-122"/>
                <a:cs typeface="Plus Jakarta Sans" pitchFamily="34" charset="-120"/>
              </a:rPr>
              <a:t>30-DAY OUTAGES</a:t>
            </a:r>
            <a:endParaRPr lang="en-US" sz="800" dirty="0"/>
          </a:p>
        </p:txBody>
      </p:sp>
      <p:sp>
        <p:nvSpPr>
          <p:cNvPr id="14" name="Text 10"/>
          <p:cNvSpPr/>
          <p:nvPr/>
        </p:nvSpPr>
        <p:spPr>
          <a:xfrm>
            <a:off x="960120" y="5038344"/>
            <a:ext cx="1417320" cy="365760"/>
          </a:xfrm>
          <a:prstGeom prst="rect">
            <a:avLst/>
          </a:prstGeom>
          <a:noFill/>
          <a:ln/>
        </p:spPr>
        <p:txBody>
          <a:bodyPr wrap="square" rtlCol="0" anchor="ctr"/>
          <a:lstStyle/>
          <a:p>
            <a:pPr algn="ctr" indent="0" marL="0">
              <a:buNone/>
            </a:pPr>
            <a:r>
              <a:rPr lang="en-US" sz="1200" b="1" dirty="0">
                <a:solidFill>
                  <a:srgbClr val="10B981"/>
                </a:solidFill>
                <a:latin typeface="Outfit" pitchFamily="34" charset="0"/>
                <a:ea typeface="Outfit" pitchFamily="34" charset="-122"/>
                <a:cs typeface="Outfit" pitchFamily="34" charset="-120"/>
              </a:rPr>
              <a:t>0 Incidents</a:t>
            </a:r>
            <a:endParaRPr lang="en-US" sz="1200" dirty="0"/>
          </a:p>
        </p:txBody>
      </p:sp>
      <p:sp>
        <p:nvSpPr>
          <p:cNvPr id="15" name="Text 11"/>
          <p:cNvSpPr/>
          <p:nvPr/>
        </p:nvSpPr>
        <p:spPr>
          <a:xfrm>
            <a:off x="960120" y="5422392"/>
            <a:ext cx="1417320" cy="201168"/>
          </a:xfrm>
          <a:prstGeom prst="rect">
            <a:avLst/>
          </a:prstGeom>
          <a:noFill/>
          <a:ln/>
        </p:spPr>
        <p:txBody>
          <a:bodyPr wrap="square" rtlCol="0" anchor="ctr"/>
          <a:lstStyle/>
          <a:p>
            <a:pPr algn="ctr" indent="0" marL="0">
              <a:buNone/>
            </a:pPr>
            <a:r>
              <a:rPr lang="en-US" sz="850" dirty="0">
                <a:solidFill>
                  <a:srgbClr val="64748B"/>
                </a:solidFill>
                <a:latin typeface="Plus Jakarta Sans" pitchFamily="34" charset="0"/>
                <a:ea typeface="Plus Jakarta Sans" pitchFamily="34" charset="-122"/>
                <a:cs typeface="Plus Jakarta Sans" pitchFamily="34" charset="-120"/>
              </a:rPr>
              <a:t>100% Reliable</a:t>
            </a:r>
            <a:endParaRPr lang="en-US" sz="850" dirty="0"/>
          </a:p>
        </p:txBody>
      </p:sp>
      <p:sp>
        <p:nvSpPr>
          <p:cNvPr id="16" name="Shape 12"/>
          <p:cNvSpPr/>
          <p:nvPr/>
        </p:nvSpPr>
        <p:spPr>
          <a:xfrm>
            <a:off x="2560320" y="4709160"/>
            <a:ext cx="1417320" cy="1051560"/>
          </a:xfrm>
          <a:prstGeom prst="roundRect">
            <a:avLst>
              <a:gd name="adj" fmla="val 6957"/>
            </a:avLst>
          </a:prstGeom>
          <a:solidFill>
            <a:srgbClr val="F8FAFC"/>
          </a:solidFill>
          <a:ln w="12700">
            <a:solidFill>
              <a:srgbClr val="E2E8F0"/>
            </a:solidFill>
            <a:prstDash val="solid"/>
          </a:ln>
        </p:spPr>
      </p:sp>
      <p:sp>
        <p:nvSpPr>
          <p:cNvPr id="17" name="Text 13"/>
          <p:cNvSpPr/>
          <p:nvPr/>
        </p:nvSpPr>
        <p:spPr>
          <a:xfrm>
            <a:off x="2560320" y="4818888"/>
            <a:ext cx="1417320" cy="201168"/>
          </a:xfrm>
          <a:prstGeom prst="rect">
            <a:avLst/>
          </a:prstGeom>
          <a:noFill/>
          <a:ln/>
        </p:spPr>
        <p:txBody>
          <a:bodyPr wrap="square" rtlCol="0" anchor="ctr"/>
          <a:lstStyle/>
          <a:p>
            <a:pPr algn="ctr" indent="0" marL="0">
              <a:buNone/>
            </a:pPr>
            <a:r>
              <a:rPr lang="en-US" sz="800" b="1" dirty="0">
                <a:solidFill>
                  <a:srgbClr val="64748B"/>
                </a:solidFill>
                <a:latin typeface="Plus Jakarta Sans" pitchFamily="34" charset="0"/>
                <a:ea typeface="Plus Jakarta Sans" pitchFamily="34" charset="-122"/>
                <a:cs typeface="Plus Jakarta Sans" pitchFamily="34" charset="-120"/>
              </a:rPr>
              <a:t>STOREFRONT STATUS</a:t>
            </a:r>
            <a:endParaRPr lang="en-US" sz="800" dirty="0"/>
          </a:p>
        </p:txBody>
      </p:sp>
      <p:sp>
        <p:nvSpPr>
          <p:cNvPr id="18" name="Text 14"/>
          <p:cNvSpPr/>
          <p:nvPr/>
        </p:nvSpPr>
        <p:spPr>
          <a:xfrm>
            <a:off x="2560320" y="5038344"/>
            <a:ext cx="1417320" cy="365760"/>
          </a:xfrm>
          <a:prstGeom prst="rect">
            <a:avLst/>
          </a:prstGeom>
          <a:noFill/>
          <a:ln/>
        </p:spPr>
        <p:txBody>
          <a:bodyPr wrap="square" rtlCol="0" anchor="ctr"/>
          <a:lstStyle/>
          <a:p>
            <a:pPr algn="ctr" indent="0" marL="0">
              <a:buNone/>
            </a:pPr>
            <a:r>
              <a:rPr lang="en-US" sz="1200" b="1" dirty="0">
                <a:solidFill>
                  <a:srgbClr val="0EA5E9"/>
                </a:solidFill>
                <a:latin typeface="Outfit" pitchFamily="34" charset="0"/>
                <a:ea typeface="Outfit" pitchFamily="34" charset="-122"/>
                <a:cs typeface="Outfit" pitchFamily="34" charset="-120"/>
              </a:rPr>
              <a:t>Online (200 OK)</a:t>
            </a:r>
            <a:endParaRPr lang="en-US" sz="1200" dirty="0"/>
          </a:p>
        </p:txBody>
      </p:sp>
      <p:sp>
        <p:nvSpPr>
          <p:cNvPr id="19" name="Text 15"/>
          <p:cNvSpPr/>
          <p:nvPr/>
        </p:nvSpPr>
        <p:spPr>
          <a:xfrm>
            <a:off x="2560320" y="5422392"/>
            <a:ext cx="1417320" cy="201168"/>
          </a:xfrm>
          <a:prstGeom prst="rect">
            <a:avLst/>
          </a:prstGeom>
          <a:noFill/>
          <a:ln/>
        </p:spPr>
        <p:txBody>
          <a:bodyPr wrap="square" rtlCol="0" anchor="ctr"/>
          <a:lstStyle/>
          <a:p>
            <a:pPr algn="ctr" indent="0" marL="0">
              <a:buNone/>
            </a:pPr>
            <a:r>
              <a:rPr lang="en-US" sz="850" dirty="0">
                <a:solidFill>
                  <a:srgbClr val="64748B"/>
                </a:solidFill>
                <a:latin typeface="Plus Jakarta Sans" pitchFamily="34" charset="0"/>
                <a:ea typeface="Plus Jakarta Sans" pitchFamily="34" charset="-122"/>
                <a:cs typeface="Plus Jakarta Sans" pitchFamily="34" charset="-120"/>
              </a:rPr>
              <a:t>HTTP Gateway</a:t>
            </a:r>
            <a:endParaRPr lang="en-US" sz="850" dirty="0"/>
          </a:p>
        </p:txBody>
      </p:sp>
      <p:sp>
        <p:nvSpPr>
          <p:cNvPr id="20" name="Shape 16"/>
          <p:cNvSpPr/>
          <p:nvPr/>
        </p:nvSpPr>
        <p:spPr>
          <a:xfrm>
            <a:off x="4160520" y="4709160"/>
            <a:ext cx="1417320" cy="1051560"/>
          </a:xfrm>
          <a:prstGeom prst="roundRect">
            <a:avLst>
              <a:gd name="adj" fmla="val 6957"/>
            </a:avLst>
          </a:prstGeom>
          <a:solidFill>
            <a:srgbClr val="F8FAFC"/>
          </a:solidFill>
          <a:ln w="12700">
            <a:solidFill>
              <a:srgbClr val="E2E8F0"/>
            </a:solidFill>
            <a:prstDash val="solid"/>
          </a:ln>
        </p:spPr>
      </p:sp>
      <p:sp>
        <p:nvSpPr>
          <p:cNvPr id="21" name="Text 17"/>
          <p:cNvSpPr/>
          <p:nvPr/>
        </p:nvSpPr>
        <p:spPr>
          <a:xfrm>
            <a:off x="4160520" y="4818888"/>
            <a:ext cx="1417320" cy="201168"/>
          </a:xfrm>
          <a:prstGeom prst="rect">
            <a:avLst/>
          </a:prstGeom>
          <a:noFill/>
          <a:ln/>
        </p:spPr>
        <p:txBody>
          <a:bodyPr wrap="square" rtlCol="0" anchor="ctr"/>
          <a:lstStyle/>
          <a:p>
            <a:pPr algn="ctr" indent="0" marL="0">
              <a:buNone/>
            </a:pPr>
            <a:r>
              <a:rPr lang="en-US" sz="800" b="1" dirty="0">
                <a:solidFill>
                  <a:srgbClr val="64748B"/>
                </a:solidFill>
                <a:latin typeface="Plus Jakarta Sans" pitchFamily="34" charset="0"/>
                <a:ea typeface="Plus Jakarta Sans" pitchFamily="34" charset="-122"/>
                <a:cs typeface="Plus Jakarta Sans" pitchFamily="34" charset="-120"/>
              </a:rPr>
              <a:t>ROUTING ENGINE</a:t>
            </a:r>
            <a:endParaRPr lang="en-US" sz="800" dirty="0"/>
          </a:p>
        </p:txBody>
      </p:sp>
      <p:sp>
        <p:nvSpPr>
          <p:cNvPr id="22" name="Text 18"/>
          <p:cNvSpPr/>
          <p:nvPr/>
        </p:nvSpPr>
        <p:spPr>
          <a:xfrm>
            <a:off x="4160520" y="5038344"/>
            <a:ext cx="1417320" cy="365760"/>
          </a:xfrm>
          <a:prstGeom prst="rect">
            <a:avLst/>
          </a:prstGeom>
          <a:noFill/>
          <a:ln/>
        </p:spPr>
        <p:txBody>
          <a:bodyPr wrap="square" rtlCol="0" anchor="ctr"/>
          <a:lstStyle/>
          <a:p>
            <a:pPr algn="ctr" indent="0" marL="0">
              <a:buNone/>
            </a:pPr>
            <a:r>
              <a:rPr lang="en-US" sz="1200" b="1" dirty="0">
                <a:solidFill>
                  <a:srgbClr val="6366F1"/>
                </a:solidFill>
                <a:latin typeface="Outfit" pitchFamily="34" charset="0"/>
                <a:ea typeface="Outfit" pitchFamily="34" charset="-122"/>
                <a:cs typeface="Outfit" pitchFamily="34" charset="-120"/>
              </a:rPr>
              <a:t>Global CDN</a:t>
            </a:r>
            <a:endParaRPr lang="en-US" sz="1200" dirty="0"/>
          </a:p>
        </p:txBody>
      </p:sp>
      <p:sp>
        <p:nvSpPr>
          <p:cNvPr id="23" name="Text 19"/>
          <p:cNvSpPr/>
          <p:nvPr/>
        </p:nvSpPr>
        <p:spPr>
          <a:xfrm>
            <a:off x="4160520" y="5422392"/>
            <a:ext cx="1417320" cy="201168"/>
          </a:xfrm>
          <a:prstGeom prst="rect">
            <a:avLst/>
          </a:prstGeom>
          <a:noFill/>
          <a:ln/>
        </p:spPr>
        <p:txBody>
          <a:bodyPr wrap="square" rtlCol="0" anchor="ctr"/>
          <a:lstStyle/>
          <a:p>
            <a:pPr algn="ctr" indent="0" marL="0">
              <a:buNone/>
            </a:pPr>
            <a:r>
              <a:rPr lang="en-US" sz="850" dirty="0">
                <a:solidFill>
                  <a:srgbClr val="64748B"/>
                </a:solidFill>
                <a:latin typeface="Plus Jakarta Sans" pitchFamily="34" charset="0"/>
                <a:ea typeface="Plus Jakarta Sans" pitchFamily="34" charset="-122"/>
                <a:cs typeface="Plus Jakarta Sans" pitchFamily="34" charset="-120"/>
              </a:rPr>
              <a:t>Anycast Edge</a:t>
            </a:r>
            <a:endParaRPr lang="en-US" sz="850" dirty="0"/>
          </a:p>
        </p:txBody>
      </p:sp>
      <p:sp>
        <p:nvSpPr>
          <p:cNvPr id="24" name="Shape 20"/>
          <p:cNvSpPr/>
          <p:nvPr/>
        </p:nvSpPr>
        <p:spPr>
          <a:xfrm>
            <a:off x="6217920" y="1508760"/>
            <a:ext cx="5239512" cy="4526280"/>
          </a:xfrm>
          <a:prstGeom prst="roundRect">
            <a:avLst>
              <a:gd name="adj" fmla="val 2020"/>
            </a:avLst>
          </a:prstGeom>
          <a:solidFill>
            <a:srgbClr val="F8FAFC"/>
          </a:solidFill>
          <a:ln w="12700">
            <a:solidFill>
              <a:srgbClr val="E2E8F0"/>
            </a:solidFill>
            <a:prstDash val="solid"/>
          </a:ln>
        </p:spPr>
      </p:sp>
      <p:sp>
        <p:nvSpPr>
          <p:cNvPr id="25" name="Text 21"/>
          <p:cNvSpPr/>
          <p:nvPr/>
        </p:nvSpPr>
        <p:spPr>
          <a:xfrm>
            <a:off x="6492240" y="1691640"/>
            <a:ext cx="4663440" cy="256032"/>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SERVER LATENCY &amp; TIME TO FIRST BYTE (TTFB)</a:t>
            </a:r>
            <a:endParaRPr lang="en-US" sz="1000" dirty="0"/>
          </a:p>
        </p:txBody>
      </p:sp>
      <p:sp>
        <p:nvSpPr>
          <p:cNvPr id="26" name="Text 22"/>
          <p:cNvSpPr/>
          <p:nvPr/>
        </p:nvSpPr>
        <p:spPr>
          <a:xfrm>
            <a:off x="6492240" y="1965960"/>
            <a:ext cx="2377440" cy="640080"/>
          </a:xfrm>
          <a:prstGeom prst="rect">
            <a:avLst/>
          </a:prstGeom>
          <a:noFill/>
          <a:ln/>
        </p:spPr>
        <p:txBody>
          <a:bodyPr wrap="square" rtlCol="0" anchor="ctr"/>
          <a:lstStyle/>
          <a:p>
            <a:pPr indent="0" marL="0">
              <a:buNone/>
            </a:pPr>
            <a:r>
              <a:rPr lang="en-US" sz="4400" b="1" dirty="0">
                <a:solidFill>
                  <a:srgbClr val="10B981"/>
                </a:solidFill>
                <a:latin typeface="Outfit" pitchFamily="34" charset="0"/>
                <a:ea typeface="Outfit" pitchFamily="34" charset="-122"/>
                <a:cs typeface="Outfit" pitchFamily="34" charset="-120"/>
              </a:rPr>
              <a:t>110 ms</a:t>
            </a:r>
            <a:endParaRPr lang="en-US" sz="4400" dirty="0"/>
          </a:p>
        </p:txBody>
      </p:sp>
      <p:sp>
        <p:nvSpPr>
          <p:cNvPr id="27" name="Shape 23"/>
          <p:cNvSpPr/>
          <p:nvPr/>
        </p:nvSpPr>
        <p:spPr>
          <a:xfrm>
            <a:off x="8961120" y="2103120"/>
            <a:ext cx="2194560" cy="329184"/>
          </a:xfrm>
          <a:prstGeom prst="roundRect">
            <a:avLst>
              <a:gd name="adj" fmla="val 50000"/>
            </a:avLst>
          </a:prstGeom>
          <a:solidFill>
            <a:srgbClr val="ECFDF5"/>
          </a:solidFill>
          <a:ln w="12700">
            <a:solidFill>
              <a:srgbClr val="10B981"/>
            </a:solidFill>
            <a:prstDash val="solid"/>
          </a:ln>
        </p:spPr>
      </p:sp>
      <p:sp>
        <p:nvSpPr>
          <p:cNvPr id="28" name="Text 24"/>
          <p:cNvSpPr/>
          <p:nvPr/>
        </p:nvSpPr>
        <p:spPr>
          <a:xfrm>
            <a:off x="8961120" y="2103120"/>
            <a:ext cx="2194560" cy="329184"/>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OPTIMAL SPEED (&lt; 300ms)</a:t>
            </a:r>
            <a:endParaRPr lang="en-US" sz="900" dirty="0"/>
          </a:p>
        </p:txBody>
      </p:sp>
      <p:sp>
        <p:nvSpPr>
          <p:cNvPr id="29" name="Text 25"/>
          <p:cNvSpPr/>
          <p:nvPr/>
        </p:nvSpPr>
        <p:spPr>
          <a:xfrm>
            <a:off x="6492240" y="2697480"/>
            <a:ext cx="3657600" cy="201168"/>
          </a:xfrm>
          <a:prstGeom prst="rect">
            <a:avLst/>
          </a:prstGeom>
          <a:noFill/>
          <a:ln/>
        </p:spPr>
        <p:txBody>
          <a:bodyPr wrap="square" rtlCol="0" anchor="ctr"/>
          <a:lstStyle/>
          <a:p>
            <a:pPr indent="0" marL="0">
              <a:buNone/>
            </a:pPr>
            <a:r>
              <a:rPr lang="en-US" sz="850" b="1" dirty="0">
                <a:solidFill>
                  <a:srgbClr val="64748B"/>
                </a:solidFill>
                <a:latin typeface="Plus Jakarta Sans" pitchFamily="34" charset="0"/>
                <a:ea typeface="Plus Jakarta Sans" pitchFamily="34" charset="-122"/>
                <a:cs typeface="Plus Jakarta Sans" pitchFamily="34" charset="-120"/>
              </a:rPr>
              <a:t>LATENCY PERFORMANCE SCALE</a:t>
            </a:r>
            <a:endParaRPr lang="en-US" sz="850" dirty="0"/>
          </a:p>
        </p:txBody>
      </p:sp>
      <p:sp>
        <p:nvSpPr>
          <p:cNvPr id="30" name="Shape 26"/>
          <p:cNvSpPr/>
          <p:nvPr/>
        </p:nvSpPr>
        <p:spPr>
          <a:xfrm>
            <a:off x="6492240" y="2971800"/>
            <a:ext cx="2286000" cy="182880"/>
          </a:xfrm>
          <a:prstGeom prst="roundRect">
            <a:avLst>
              <a:gd name="adj" fmla="val 25000"/>
            </a:avLst>
          </a:prstGeom>
          <a:solidFill>
            <a:srgbClr val="10B981"/>
          </a:solidFill>
          <a:ln w="12700">
            <a:solidFill>
              <a:srgbClr val="10B981"/>
            </a:solidFill>
            <a:prstDash val="solid"/>
          </a:ln>
        </p:spPr>
      </p:sp>
      <p:sp>
        <p:nvSpPr>
          <p:cNvPr id="31" name="Shape 27"/>
          <p:cNvSpPr/>
          <p:nvPr/>
        </p:nvSpPr>
        <p:spPr>
          <a:xfrm>
            <a:off x="8823960" y="2971800"/>
            <a:ext cx="1371600" cy="182880"/>
          </a:xfrm>
          <a:prstGeom prst="roundRect">
            <a:avLst>
              <a:gd name="adj" fmla="val 25000"/>
            </a:avLst>
          </a:prstGeom>
          <a:solidFill>
            <a:srgbClr val="F59E0B"/>
          </a:solidFill>
          <a:ln w="12700">
            <a:solidFill>
              <a:srgbClr val="F59E0B"/>
            </a:solidFill>
            <a:prstDash val="solid"/>
          </a:ln>
        </p:spPr>
      </p:sp>
      <p:sp>
        <p:nvSpPr>
          <p:cNvPr id="32" name="Shape 28"/>
          <p:cNvSpPr/>
          <p:nvPr/>
        </p:nvSpPr>
        <p:spPr>
          <a:xfrm>
            <a:off x="10241280" y="2971800"/>
            <a:ext cx="914400" cy="182880"/>
          </a:xfrm>
          <a:prstGeom prst="roundRect">
            <a:avLst>
              <a:gd name="adj" fmla="val 25000"/>
            </a:avLst>
          </a:prstGeom>
          <a:solidFill>
            <a:srgbClr val="EF4444"/>
          </a:solidFill>
          <a:ln w="12700">
            <a:solidFill>
              <a:srgbClr val="EF4444"/>
            </a:solidFill>
            <a:prstDash val="solid"/>
          </a:ln>
        </p:spPr>
      </p:sp>
      <p:sp>
        <p:nvSpPr>
          <p:cNvPr id="33" name="Text 29"/>
          <p:cNvSpPr/>
          <p:nvPr/>
        </p:nvSpPr>
        <p:spPr>
          <a:xfrm>
            <a:off x="6492240" y="3182112"/>
            <a:ext cx="2286000" cy="201168"/>
          </a:xfrm>
          <a:prstGeom prst="rect">
            <a:avLst/>
          </a:prstGeom>
          <a:noFill/>
          <a:ln/>
        </p:spPr>
        <p:txBody>
          <a:bodyPr wrap="square" rtlCol="0" anchor="ctr"/>
          <a:lstStyle/>
          <a:p>
            <a:pPr indent="0" marL="0">
              <a:buNone/>
            </a:pPr>
            <a:r>
              <a:rPr lang="en-US" sz="800" dirty="0">
                <a:solidFill>
                  <a:srgbClr val="047857"/>
                </a:solidFill>
                <a:latin typeface="Plus Jakarta Sans" pitchFamily="34" charset="0"/>
                <a:ea typeface="Plus Jakarta Sans" pitchFamily="34" charset="-122"/>
                <a:cs typeface="Plus Jakarta Sans" pitchFamily="34" charset="-120"/>
              </a:rPr>
              <a:t>0ms — 300ms (Fast)</a:t>
            </a:r>
            <a:endParaRPr lang="en-US" sz="800" dirty="0"/>
          </a:p>
        </p:txBody>
      </p:sp>
      <p:sp>
        <p:nvSpPr>
          <p:cNvPr id="34" name="Text 30"/>
          <p:cNvSpPr/>
          <p:nvPr/>
        </p:nvSpPr>
        <p:spPr>
          <a:xfrm>
            <a:off x="8823960" y="3182112"/>
            <a:ext cx="1371600" cy="201168"/>
          </a:xfrm>
          <a:prstGeom prst="rect">
            <a:avLst/>
          </a:prstGeom>
          <a:noFill/>
          <a:ln/>
        </p:spPr>
        <p:txBody>
          <a:bodyPr wrap="square" rtlCol="0" anchor="ctr"/>
          <a:lstStyle/>
          <a:p>
            <a:pPr indent="0" marL="0">
              <a:buNone/>
            </a:pPr>
            <a:r>
              <a:rPr lang="en-US" sz="800" dirty="0">
                <a:solidFill>
                  <a:srgbClr val="B45309"/>
                </a:solidFill>
                <a:latin typeface="Plus Jakarta Sans" pitchFamily="34" charset="0"/>
                <a:ea typeface="Plus Jakarta Sans" pitchFamily="34" charset="-122"/>
                <a:cs typeface="Plus Jakarta Sans" pitchFamily="34" charset="-120"/>
              </a:rPr>
              <a:t>300ms — 800ms (Target)</a:t>
            </a:r>
            <a:endParaRPr lang="en-US" sz="800" dirty="0"/>
          </a:p>
        </p:txBody>
      </p:sp>
      <p:sp>
        <p:nvSpPr>
          <p:cNvPr id="35" name="Text 31"/>
          <p:cNvSpPr/>
          <p:nvPr/>
        </p:nvSpPr>
        <p:spPr>
          <a:xfrm>
            <a:off x="10241280" y="3182112"/>
            <a:ext cx="914400" cy="201168"/>
          </a:xfrm>
          <a:prstGeom prst="rect">
            <a:avLst/>
          </a:prstGeom>
          <a:noFill/>
          <a:ln/>
        </p:spPr>
        <p:txBody>
          <a:bodyPr wrap="square" rtlCol="0" anchor="ctr"/>
          <a:lstStyle/>
          <a:p>
            <a:pPr indent="0" marL="0">
              <a:buNone/>
            </a:pPr>
            <a:r>
              <a:rPr lang="en-US" sz="800" dirty="0">
                <a:solidFill>
                  <a:srgbClr val="B91C1C"/>
                </a:solidFill>
                <a:latin typeface="Plus Jakarta Sans" pitchFamily="34" charset="0"/>
                <a:ea typeface="Plus Jakarta Sans" pitchFamily="34" charset="-122"/>
                <a:cs typeface="Plus Jakarta Sans" pitchFamily="34" charset="-120"/>
              </a:rPr>
              <a:t>800ms+</a:t>
            </a:r>
            <a:endParaRPr lang="en-US" sz="800" dirty="0"/>
          </a:p>
        </p:txBody>
      </p:sp>
      <p:sp>
        <p:nvSpPr>
          <p:cNvPr id="36" name="Shape 32"/>
          <p:cNvSpPr/>
          <p:nvPr/>
        </p:nvSpPr>
        <p:spPr>
          <a:xfrm>
            <a:off x="6492240" y="3520440"/>
            <a:ext cx="4709160" cy="621792"/>
          </a:xfrm>
          <a:prstGeom prst="roundRect">
            <a:avLst>
              <a:gd name="adj" fmla="val 11765"/>
            </a:avLst>
          </a:prstGeom>
          <a:solidFill>
            <a:srgbClr val="FFFFFF"/>
          </a:solidFill>
          <a:ln w="12700">
            <a:solidFill>
              <a:srgbClr val="E2E8F0"/>
            </a:solidFill>
            <a:prstDash val="solid"/>
          </a:ln>
        </p:spPr>
      </p:sp>
      <p:sp>
        <p:nvSpPr>
          <p:cNvPr id="37" name="Shape 33"/>
          <p:cNvSpPr/>
          <p:nvPr/>
        </p:nvSpPr>
        <p:spPr>
          <a:xfrm>
            <a:off x="6629400" y="3666744"/>
            <a:ext cx="329184" cy="329184"/>
          </a:xfrm>
          <a:prstGeom prst="ellipse">
            <a:avLst/>
          </a:prstGeom>
          <a:solidFill>
            <a:srgbClr val="ECFDF5"/>
          </a:solidFill>
          <a:ln w="12700">
            <a:solidFill>
              <a:srgbClr val="10B981"/>
            </a:solidFill>
            <a:prstDash val="solid"/>
          </a:ln>
        </p:spPr>
      </p:sp>
      <p:sp>
        <p:nvSpPr>
          <p:cNvPr id="38" name="Text 34"/>
          <p:cNvSpPr/>
          <p:nvPr/>
        </p:nvSpPr>
        <p:spPr>
          <a:xfrm>
            <a:off x="6629400" y="3666744"/>
            <a:ext cx="329184" cy="329184"/>
          </a:xfrm>
          <a:prstGeom prst="rect">
            <a:avLst/>
          </a:prstGeom>
          <a:noFill/>
          <a:ln/>
        </p:spPr>
        <p:txBody>
          <a:bodyPr wrap="square" rtlCol="0" anchor="ctr"/>
          <a:lstStyle/>
          <a:p>
            <a:pPr algn="ctr" indent="0" marL="0">
              <a:buNone/>
            </a:pPr>
            <a:r>
              <a:rPr lang="en-US" sz="1100" b="1" dirty="0">
                <a:solidFill>
                  <a:srgbClr val="047857"/>
                </a:solidFill>
                <a:latin typeface="Plus Jakarta Sans" pitchFamily="34" charset="0"/>
                <a:ea typeface="Plus Jakarta Sans" pitchFamily="34" charset="-122"/>
                <a:cs typeface="Plus Jakarta Sans" pitchFamily="34" charset="-120"/>
              </a:rPr>
              <a:t>✔</a:t>
            </a:r>
            <a:endParaRPr lang="en-US" sz="1100" dirty="0"/>
          </a:p>
        </p:txBody>
      </p:sp>
      <p:sp>
        <p:nvSpPr>
          <p:cNvPr id="39" name="Text 35"/>
          <p:cNvSpPr/>
          <p:nvPr/>
        </p:nvSpPr>
        <p:spPr>
          <a:xfrm>
            <a:off x="7059168" y="3593592"/>
            <a:ext cx="2743200" cy="237744"/>
          </a:xfrm>
          <a:prstGeom prst="rect">
            <a:avLst/>
          </a:prstGeom>
          <a:noFill/>
          <a:ln/>
        </p:spPr>
        <p:txBody>
          <a:bodyPr wrap="square" rtlCol="0" anchor="ctr"/>
          <a:lstStyle/>
          <a:p>
            <a:pPr indent="0" marL="0">
              <a:buNone/>
            </a:pPr>
            <a:r>
              <a:rPr lang="en-US" sz="1150" b="1" dirty="0">
                <a:solidFill>
                  <a:srgbClr val="0F172A"/>
                </a:solidFill>
                <a:latin typeface="Outfit" pitchFamily="34" charset="0"/>
                <a:ea typeface="Outfit" pitchFamily="34" charset="-122"/>
                <a:cs typeface="Outfit" pitchFamily="34" charset="-120"/>
              </a:rPr>
              <a:t>Edge Cache Delivery</a:t>
            </a:r>
            <a:endParaRPr lang="en-US" sz="1150" dirty="0"/>
          </a:p>
        </p:txBody>
      </p:sp>
      <p:sp>
        <p:nvSpPr>
          <p:cNvPr id="40" name="Text 36"/>
          <p:cNvSpPr/>
          <p:nvPr/>
        </p:nvSpPr>
        <p:spPr>
          <a:xfrm>
            <a:off x="7059168" y="3831336"/>
            <a:ext cx="2743200" cy="256032"/>
          </a:xfrm>
          <a:prstGeom prst="rect">
            <a:avLst/>
          </a:prstGeom>
          <a:noFill/>
          <a:ln/>
        </p:spPr>
        <p:txBody>
          <a:bodyPr wrap="square" rtlCol="0" anchor="ctr"/>
          <a:lstStyle/>
          <a:p>
            <a:pPr indent="0" marL="0">
              <a:buNone/>
            </a:pPr>
            <a:r>
              <a:rPr lang="en-US" sz="900" dirty="0">
                <a:solidFill>
                  <a:srgbClr val="64748B"/>
                </a:solidFill>
                <a:latin typeface="Plus Jakarta Sans" pitchFamily="34" charset="0"/>
                <a:ea typeface="Plus Jakarta Sans" pitchFamily="34" charset="-122"/>
                <a:cs typeface="Plus Jakarta Sans" pitchFamily="34" charset="-120"/>
              </a:rPr>
              <a:t>Fast edge cache response without cold-start delay</a:t>
            </a:r>
            <a:endParaRPr lang="en-US" sz="900" dirty="0"/>
          </a:p>
        </p:txBody>
      </p:sp>
      <p:sp>
        <p:nvSpPr>
          <p:cNvPr id="41" name="Shape 37"/>
          <p:cNvSpPr/>
          <p:nvPr/>
        </p:nvSpPr>
        <p:spPr>
          <a:xfrm>
            <a:off x="10058400" y="3675888"/>
            <a:ext cx="1051560" cy="274320"/>
          </a:xfrm>
          <a:prstGeom prst="roundRect">
            <a:avLst>
              <a:gd name="adj" fmla="val 50000"/>
            </a:avLst>
          </a:prstGeom>
          <a:solidFill>
            <a:srgbClr val="ECFDF5"/>
          </a:solidFill>
          <a:ln w="12700">
            <a:solidFill>
              <a:srgbClr val="10B981"/>
            </a:solidFill>
            <a:prstDash val="solid"/>
          </a:ln>
        </p:spPr>
      </p:sp>
      <p:sp>
        <p:nvSpPr>
          <p:cNvPr id="42" name="Text 38"/>
          <p:cNvSpPr/>
          <p:nvPr/>
        </p:nvSpPr>
        <p:spPr>
          <a:xfrm>
            <a:off x="10058400" y="3675888"/>
            <a:ext cx="1051560" cy="274320"/>
          </a:xfrm>
          <a:prstGeom prst="rect">
            <a:avLst/>
          </a:prstGeom>
          <a:noFill/>
          <a:ln/>
        </p:spPr>
        <p:txBody>
          <a:bodyPr wrap="square" rtlCol="0" anchor="ctr"/>
          <a:lstStyle/>
          <a:p>
            <a:pPr algn="ctr" indent="0" marL="0">
              <a:buNone/>
            </a:pPr>
            <a:r>
              <a:rPr lang="en-US" sz="850" b="1" dirty="0">
                <a:solidFill>
                  <a:srgbClr val="047857"/>
                </a:solidFill>
                <a:latin typeface="Plus Jakarta Sans" pitchFamily="34" charset="0"/>
                <a:ea typeface="Plus Jakarta Sans" pitchFamily="34" charset="-122"/>
                <a:cs typeface="Plus Jakarta Sans" pitchFamily="34" charset="-120"/>
              </a:rPr>
              <a:t>INSTANT</a:t>
            </a:r>
            <a:endParaRPr lang="en-US" sz="850" dirty="0"/>
          </a:p>
        </p:txBody>
      </p:sp>
      <p:sp>
        <p:nvSpPr>
          <p:cNvPr id="43" name="Shape 39"/>
          <p:cNvSpPr/>
          <p:nvPr/>
        </p:nvSpPr>
        <p:spPr>
          <a:xfrm>
            <a:off x="6492240" y="4233672"/>
            <a:ext cx="4709160" cy="621792"/>
          </a:xfrm>
          <a:prstGeom prst="roundRect">
            <a:avLst>
              <a:gd name="adj" fmla="val 11765"/>
            </a:avLst>
          </a:prstGeom>
          <a:solidFill>
            <a:srgbClr val="FFFFFF"/>
          </a:solidFill>
          <a:ln w="12700">
            <a:solidFill>
              <a:srgbClr val="E2E8F0"/>
            </a:solidFill>
            <a:prstDash val="solid"/>
          </a:ln>
        </p:spPr>
      </p:sp>
      <p:sp>
        <p:nvSpPr>
          <p:cNvPr id="44" name="Shape 40"/>
          <p:cNvSpPr/>
          <p:nvPr/>
        </p:nvSpPr>
        <p:spPr>
          <a:xfrm>
            <a:off x="6629400" y="4379976"/>
            <a:ext cx="329184" cy="329184"/>
          </a:xfrm>
          <a:prstGeom prst="ellipse">
            <a:avLst/>
          </a:prstGeom>
          <a:solidFill>
            <a:srgbClr val="ECFDF5"/>
          </a:solidFill>
          <a:ln w="12700">
            <a:solidFill>
              <a:srgbClr val="10B981"/>
            </a:solidFill>
            <a:prstDash val="solid"/>
          </a:ln>
        </p:spPr>
      </p:sp>
      <p:sp>
        <p:nvSpPr>
          <p:cNvPr id="45" name="Text 41"/>
          <p:cNvSpPr/>
          <p:nvPr/>
        </p:nvSpPr>
        <p:spPr>
          <a:xfrm>
            <a:off x="6629400" y="4379976"/>
            <a:ext cx="329184" cy="329184"/>
          </a:xfrm>
          <a:prstGeom prst="rect">
            <a:avLst/>
          </a:prstGeom>
          <a:noFill/>
          <a:ln/>
        </p:spPr>
        <p:txBody>
          <a:bodyPr wrap="square" rtlCol="0" anchor="ctr"/>
          <a:lstStyle/>
          <a:p>
            <a:pPr algn="ctr" indent="0" marL="0">
              <a:buNone/>
            </a:pPr>
            <a:r>
              <a:rPr lang="en-US" sz="1100" b="1" dirty="0">
                <a:solidFill>
                  <a:srgbClr val="047857"/>
                </a:solidFill>
                <a:latin typeface="Plus Jakarta Sans" pitchFamily="34" charset="0"/>
                <a:ea typeface="Plus Jakarta Sans" pitchFamily="34" charset="-122"/>
                <a:cs typeface="Plus Jakarta Sans" pitchFamily="34" charset="-120"/>
              </a:rPr>
              <a:t>✔</a:t>
            </a:r>
            <a:endParaRPr lang="en-US" sz="1100" dirty="0"/>
          </a:p>
        </p:txBody>
      </p:sp>
      <p:sp>
        <p:nvSpPr>
          <p:cNvPr id="46" name="Text 42"/>
          <p:cNvSpPr/>
          <p:nvPr/>
        </p:nvSpPr>
        <p:spPr>
          <a:xfrm>
            <a:off x="7059168" y="4306824"/>
            <a:ext cx="2743200" cy="237744"/>
          </a:xfrm>
          <a:prstGeom prst="rect">
            <a:avLst/>
          </a:prstGeom>
          <a:noFill/>
          <a:ln/>
        </p:spPr>
        <p:txBody>
          <a:bodyPr wrap="square" rtlCol="0" anchor="ctr"/>
          <a:lstStyle/>
          <a:p>
            <a:pPr indent="0" marL="0">
              <a:buNone/>
            </a:pPr>
            <a:r>
              <a:rPr lang="en-US" sz="1150" b="1" dirty="0">
                <a:solidFill>
                  <a:srgbClr val="0F172A"/>
                </a:solidFill>
                <a:latin typeface="Outfit" pitchFamily="34" charset="0"/>
                <a:ea typeface="Outfit" pitchFamily="34" charset="-122"/>
                <a:cs typeface="Outfit" pitchFamily="34" charset="-120"/>
              </a:rPr>
              <a:t>Redirect Sequences</a:t>
            </a:r>
            <a:endParaRPr lang="en-US" sz="1150" dirty="0"/>
          </a:p>
        </p:txBody>
      </p:sp>
      <p:sp>
        <p:nvSpPr>
          <p:cNvPr id="47" name="Text 43"/>
          <p:cNvSpPr/>
          <p:nvPr/>
        </p:nvSpPr>
        <p:spPr>
          <a:xfrm>
            <a:off x="7059168" y="4544568"/>
            <a:ext cx="2743200" cy="256032"/>
          </a:xfrm>
          <a:prstGeom prst="rect">
            <a:avLst/>
          </a:prstGeom>
          <a:noFill/>
          <a:ln/>
        </p:spPr>
        <p:txBody>
          <a:bodyPr wrap="square" rtlCol="0" anchor="ctr"/>
          <a:lstStyle/>
          <a:p>
            <a:pPr indent="0" marL="0">
              <a:buNone/>
            </a:pPr>
            <a:r>
              <a:rPr lang="en-US" sz="900" dirty="0">
                <a:solidFill>
                  <a:srgbClr val="64748B"/>
                </a:solidFill>
                <a:latin typeface="Plus Jakarta Sans" pitchFamily="34" charset="0"/>
                <a:ea typeface="Plus Jakarta Sans" pitchFamily="34" charset="-122"/>
                <a:cs typeface="Plus Jakarta Sans" pitchFamily="34" charset="-120"/>
              </a:rPr>
              <a:t>0 redirects detected (Clean direct page routing)</a:t>
            </a:r>
            <a:endParaRPr lang="en-US" sz="900" dirty="0"/>
          </a:p>
        </p:txBody>
      </p:sp>
      <p:sp>
        <p:nvSpPr>
          <p:cNvPr id="48" name="Shape 44"/>
          <p:cNvSpPr/>
          <p:nvPr/>
        </p:nvSpPr>
        <p:spPr>
          <a:xfrm>
            <a:off x="10058400" y="4389120"/>
            <a:ext cx="1051560" cy="274320"/>
          </a:xfrm>
          <a:prstGeom prst="roundRect">
            <a:avLst>
              <a:gd name="adj" fmla="val 50000"/>
            </a:avLst>
          </a:prstGeom>
          <a:solidFill>
            <a:srgbClr val="ECFDF5"/>
          </a:solidFill>
          <a:ln w="12700">
            <a:solidFill>
              <a:srgbClr val="10B981"/>
            </a:solidFill>
            <a:prstDash val="solid"/>
          </a:ln>
        </p:spPr>
      </p:sp>
      <p:sp>
        <p:nvSpPr>
          <p:cNvPr id="49" name="Text 45"/>
          <p:cNvSpPr/>
          <p:nvPr/>
        </p:nvSpPr>
        <p:spPr>
          <a:xfrm>
            <a:off x="10058400" y="4389120"/>
            <a:ext cx="1051560" cy="274320"/>
          </a:xfrm>
          <a:prstGeom prst="rect">
            <a:avLst/>
          </a:prstGeom>
          <a:noFill/>
          <a:ln/>
        </p:spPr>
        <p:txBody>
          <a:bodyPr wrap="square" rtlCol="0" anchor="ctr"/>
          <a:lstStyle/>
          <a:p>
            <a:pPr algn="ctr" indent="0" marL="0">
              <a:buNone/>
            </a:pPr>
            <a:r>
              <a:rPr lang="en-US" sz="850" b="1" dirty="0">
                <a:solidFill>
                  <a:srgbClr val="047857"/>
                </a:solidFill>
                <a:latin typeface="Plus Jakarta Sans" pitchFamily="34" charset="0"/>
                <a:ea typeface="Plus Jakarta Sans" pitchFamily="34" charset="-122"/>
                <a:cs typeface="Plus Jakarta Sans" pitchFamily="34" charset="-120"/>
              </a:rPr>
              <a:t>0 REDIRECTS</a:t>
            </a:r>
            <a:endParaRPr lang="en-US" sz="850" dirty="0"/>
          </a:p>
        </p:txBody>
      </p:sp>
      <p:sp>
        <p:nvSpPr>
          <p:cNvPr id="50" name="Shape 46"/>
          <p:cNvSpPr/>
          <p:nvPr/>
        </p:nvSpPr>
        <p:spPr>
          <a:xfrm>
            <a:off x="6492240" y="4946904"/>
            <a:ext cx="4709160" cy="621792"/>
          </a:xfrm>
          <a:prstGeom prst="roundRect">
            <a:avLst>
              <a:gd name="adj" fmla="val 11765"/>
            </a:avLst>
          </a:prstGeom>
          <a:solidFill>
            <a:srgbClr val="FFFFFF"/>
          </a:solidFill>
          <a:ln w="12700">
            <a:solidFill>
              <a:srgbClr val="E2E8F0"/>
            </a:solidFill>
            <a:prstDash val="solid"/>
          </a:ln>
        </p:spPr>
      </p:sp>
      <p:sp>
        <p:nvSpPr>
          <p:cNvPr id="51" name="Shape 47"/>
          <p:cNvSpPr/>
          <p:nvPr/>
        </p:nvSpPr>
        <p:spPr>
          <a:xfrm>
            <a:off x="6629400" y="5093208"/>
            <a:ext cx="329184" cy="329184"/>
          </a:xfrm>
          <a:prstGeom prst="ellipse">
            <a:avLst/>
          </a:prstGeom>
          <a:solidFill>
            <a:srgbClr val="F0F9FF"/>
          </a:solidFill>
          <a:ln w="12700">
            <a:solidFill>
              <a:srgbClr val="0EA5E9"/>
            </a:solidFill>
            <a:prstDash val="solid"/>
          </a:ln>
        </p:spPr>
      </p:sp>
      <p:sp>
        <p:nvSpPr>
          <p:cNvPr id="52" name="Text 48"/>
          <p:cNvSpPr/>
          <p:nvPr/>
        </p:nvSpPr>
        <p:spPr>
          <a:xfrm>
            <a:off x="6629400" y="5093208"/>
            <a:ext cx="329184" cy="329184"/>
          </a:xfrm>
          <a:prstGeom prst="rect">
            <a:avLst/>
          </a:prstGeom>
          <a:noFill/>
          <a:ln/>
        </p:spPr>
        <p:txBody>
          <a:bodyPr wrap="square" rtlCol="0" anchor="ctr"/>
          <a:lstStyle/>
          <a:p>
            <a:pPr algn="ctr" indent="0" marL="0">
              <a:buNone/>
            </a:pPr>
            <a:r>
              <a:rPr lang="en-US" sz="1100" b="1" dirty="0">
                <a:solidFill>
                  <a:srgbClr val="075985"/>
                </a:solidFill>
                <a:latin typeface="Plus Jakarta Sans" pitchFamily="34" charset="0"/>
                <a:ea typeface="Plus Jakarta Sans" pitchFamily="34" charset="-122"/>
                <a:cs typeface="Plus Jakarta Sans" pitchFamily="34" charset="-120"/>
              </a:rPr>
              <a:t>✔</a:t>
            </a:r>
            <a:endParaRPr lang="en-US" sz="1100" dirty="0"/>
          </a:p>
        </p:txBody>
      </p:sp>
      <p:sp>
        <p:nvSpPr>
          <p:cNvPr id="53" name="Text 49"/>
          <p:cNvSpPr/>
          <p:nvPr/>
        </p:nvSpPr>
        <p:spPr>
          <a:xfrm>
            <a:off x="7059168" y="5020056"/>
            <a:ext cx="2743200" cy="237744"/>
          </a:xfrm>
          <a:prstGeom prst="rect">
            <a:avLst/>
          </a:prstGeom>
          <a:noFill/>
          <a:ln/>
        </p:spPr>
        <p:txBody>
          <a:bodyPr wrap="square" rtlCol="0" anchor="ctr"/>
          <a:lstStyle/>
          <a:p>
            <a:pPr indent="0" marL="0">
              <a:buNone/>
            </a:pPr>
            <a:r>
              <a:rPr lang="en-US" sz="1150" b="1" dirty="0">
                <a:solidFill>
                  <a:srgbClr val="0F172A"/>
                </a:solidFill>
                <a:latin typeface="Outfit" pitchFamily="34" charset="0"/>
                <a:ea typeface="Outfit" pitchFamily="34" charset="-122"/>
                <a:cs typeface="Outfit" pitchFamily="34" charset="-120"/>
              </a:rPr>
              <a:t>Global CDN Routing</a:t>
            </a:r>
            <a:endParaRPr lang="en-US" sz="1150" dirty="0"/>
          </a:p>
        </p:txBody>
      </p:sp>
      <p:sp>
        <p:nvSpPr>
          <p:cNvPr id="54" name="Text 50"/>
          <p:cNvSpPr/>
          <p:nvPr/>
        </p:nvSpPr>
        <p:spPr>
          <a:xfrm>
            <a:off x="7059168" y="5257800"/>
            <a:ext cx="2743200" cy="256032"/>
          </a:xfrm>
          <a:prstGeom prst="rect">
            <a:avLst/>
          </a:prstGeom>
          <a:noFill/>
          <a:ln/>
        </p:spPr>
        <p:txBody>
          <a:bodyPr wrap="square" rtlCol="0" anchor="ctr"/>
          <a:lstStyle/>
          <a:p>
            <a:pPr indent="0" marL="0">
              <a:buNone/>
            </a:pPr>
            <a:r>
              <a:rPr lang="en-US" sz="900" dirty="0">
                <a:solidFill>
                  <a:srgbClr val="64748B"/>
                </a:solidFill>
                <a:latin typeface="Plus Jakarta Sans" pitchFamily="34" charset="0"/>
                <a:ea typeface="Plus Jakarta Sans" pitchFamily="34" charset="-122"/>
                <a:cs typeface="Plus Jakarta Sans" pitchFamily="34" charset="-120"/>
              </a:rPr>
              <a:t>Anycast nodes deliver HTML closest to visitor location</a:t>
            </a:r>
            <a:endParaRPr lang="en-US" sz="900" dirty="0"/>
          </a:p>
        </p:txBody>
      </p:sp>
      <p:sp>
        <p:nvSpPr>
          <p:cNvPr id="55" name="Shape 51"/>
          <p:cNvSpPr/>
          <p:nvPr/>
        </p:nvSpPr>
        <p:spPr>
          <a:xfrm>
            <a:off x="10058400" y="5102352"/>
            <a:ext cx="1051560" cy="274320"/>
          </a:xfrm>
          <a:prstGeom prst="roundRect">
            <a:avLst>
              <a:gd name="adj" fmla="val 50000"/>
            </a:avLst>
          </a:prstGeom>
          <a:solidFill>
            <a:srgbClr val="F0F9FF"/>
          </a:solidFill>
          <a:ln w="12700">
            <a:solidFill>
              <a:srgbClr val="0EA5E9"/>
            </a:solidFill>
            <a:prstDash val="solid"/>
          </a:ln>
        </p:spPr>
      </p:sp>
      <p:sp>
        <p:nvSpPr>
          <p:cNvPr id="56" name="Text 52"/>
          <p:cNvSpPr/>
          <p:nvPr/>
        </p:nvSpPr>
        <p:spPr>
          <a:xfrm>
            <a:off x="10058400" y="5102352"/>
            <a:ext cx="1051560" cy="274320"/>
          </a:xfrm>
          <a:prstGeom prst="rect">
            <a:avLst/>
          </a:prstGeom>
          <a:noFill/>
          <a:ln/>
        </p:spPr>
        <p:txBody>
          <a:bodyPr wrap="square" rtlCol="0" anchor="ctr"/>
          <a:lstStyle/>
          <a:p>
            <a:pPr algn="ctr" indent="0" marL="0">
              <a:buNone/>
            </a:pPr>
            <a:r>
              <a:rPr lang="en-US" sz="850" b="1" dirty="0">
                <a:solidFill>
                  <a:srgbClr val="075985"/>
                </a:solidFill>
                <a:latin typeface="Plus Jakarta Sans" pitchFamily="34" charset="0"/>
                <a:ea typeface="Plus Jakarta Sans" pitchFamily="34" charset="-122"/>
                <a:cs typeface="Plus Jakarta Sans" pitchFamily="34" charset="-120"/>
              </a:rPr>
              <a:t>ACTIVE</a:t>
            </a:r>
            <a:endParaRPr lang="en-US" sz="850" dirty="0"/>
          </a:p>
        </p:txBody>
      </p:sp>
      <p:sp>
        <p:nvSpPr>
          <p:cNvPr id="57" name="Shape 53"/>
          <p:cNvSpPr/>
          <p:nvPr/>
        </p:nvSpPr>
        <p:spPr>
          <a:xfrm>
            <a:off x="731520" y="6217920"/>
            <a:ext cx="10725912" cy="384048"/>
          </a:xfrm>
          <a:prstGeom prst="roundRect">
            <a:avLst>
              <a:gd name="adj" fmla="val 19048"/>
            </a:avLst>
          </a:prstGeom>
          <a:solidFill>
            <a:srgbClr val="F1F5F9"/>
          </a:solidFill>
          <a:ln w="12700">
            <a:solidFill>
              <a:srgbClr val="E2E8F0"/>
            </a:solidFill>
            <a:prstDash val="solid"/>
          </a:ln>
        </p:spPr>
      </p:sp>
      <p:sp>
        <p:nvSpPr>
          <p:cNvPr id="58" name="Text 54"/>
          <p:cNvSpPr/>
          <p:nvPr/>
        </p:nvSpPr>
        <p:spPr>
          <a:xfrm>
            <a:off x="960120" y="6217920"/>
            <a:ext cx="10332720" cy="384048"/>
          </a:xfrm>
          <a:prstGeom prst="rect">
            <a:avLst/>
          </a:prstGeom>
          <a:noFill/>
          <a:ln/>
        </p:spPr>
        <p:txBody>
          <a:bodyPr wrap="square" rtlCol="0" anchor="ctr"/>
          <a:lstStyle/>
          <a:p>
            <a:pPr indent="0" marL="0">
              <a:buNone/>
            </a:pPr>
            <a:r>
              <a:rPr lang="en-US" sz="950" b="1" dirty="0">
                <a:solidFill>
                  <a:srgbClr val="334155"/>
                </a:solidFill>
                <a:latin typeface="Plus Jakarta Sans" pitchFamily="34" charset="0"/>
                <a:ea typeface="Plus Jakarta Sans" pitchFamily="34" charset="-122"/>
                <a:cs typeface="Plus Jakarta Sans" pitchFamily="34" charset="-120"/>
              </a:rPr>
              <a:t>✔  Availability SLA Met: 100% Storefront Uptime • Sub-300ms Initial Response Latency • Zero Edge Gateway Errors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Page Loading Experience (Core Web Vitals)</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Core Web Vitals Assessment: PASSED</a:t>
            </a:r>
            <a:endParaRPr lang="en-US" sz="2600" dirty="0"/>
          </a:p>
        </p:txBody>
      </p:sp>
      <p:sp>
        <p:nvSpPr>
          <p:cNvPr id="5" name="Shape 2"/>
          <p:cNvSpPr/>
          <p:nvPr/>
        </p:nvSpPr>
        <p:spPr>
          <a:xfrm>
            <a:off x="731520" y="1508760"/>
            <a:ext cx="5120640" cy="4526280"/>
          </a:xfrm>
          <a:prstGeom prst="roundRect">
            <a:avLst>
              <a:gd name="adj" fmla="val 2020"/>
            </a:avLst>
          </a:prstGeom>
          <a:solidFill>
            <a:srgbClr val="F8FAFC"/>
          </a:solidFill>
          <a:ln w="12700">
            <a:solidFill>
              <a:srgbClr val="E2E8F0"/>
            </a:solidFill>
            <a:prstDash val="solid"/>
          </a:ln>
        </p:spPr>
      </p:sp>
      <p:sp>
        <p:nvSpPr>
          <p:cNvPr id="6" name="Text 3"/>
          <p:cNvSpPr/>
          <p:nvPr/>
        </p:nvSpPr>
        <p:spPr>
          <a:xfrm>
            <a:off x="1005840" y="1691640"/>
            <a:ext cx="3200400" cy="256032"/>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LARGEST CONTENTFUL PAINT (LCP)</a:t>
            </a:r>
            <a:endParaRPr lang="en-US" sz="1000" dirty="0"/>
          </a:p>
        </p:txBody>
      </p:sp>
      <p:sp>
        <p:nvSpPr>
          <p:cNvPr id="7" name="Shape 4"/>
          <p:cNvSpPr/>
          <p:nvPr/>
        </p:nvSpPr>
        <p:spPr>
          <a:xfrm>
            <a:off x="4297680" y="1664208"/>
            <a:ext cx="1325880" cy="292608"/>
          </a:xfrm>
          <a:prstGeom prst="roundRect">
            <a:avLst>
              <a:gd name="adj" fmla="val 50000"/>
            </a:avLst>
          </a:prstGeom>
          <a:solidFill>
            <a:srgbClr val="ECFDF5"/>
          </a:solidFill>
          <a:ln w="12700">
            <a:solidFill>
              <a:srgbClr val="10B981"/>
            </a:solidFill>
            <a:prstDash val="solid"/>
          </a:ln>
        </p:spPr>
      </p:sp>
      <p:sp>
        <p:nvSpPr>
          <p:cNvPr id="8" name="Text 5"/>
          <p:cNvSpPr/>
          <p:nvPr/>
        </p:nvSpPr>
        <p:spPr>
          <a:xfrm>
            <a:off x="4297680" y="1664208"/>
            <a:ext cx="1325880" cy="292608"/>
          </a:xfrm>
          <a:prstGeom prst="rect">
            <a:avLst/>
          </a:prstGeom>
          <a:noFill/>
          <a:ln/>
        </p:spPr>
        <p:txBody>
          <a:bodyPr wrap="square" rtlCol="0" anchor="ctr"/>
          <a:lstStyle/>
          <a:p>
            <a:pPr algn="ctr" indent="0" marL="0">
              <a:buNone/>
            </a:pPr>
            <a:r>
              <a:rPr lang="en-US" sz="950" b="1" dirty="0">
                <a:solidFill>
                  <a:srgbClr val="047857"/>
                </a:solidFill>
                <a:latin typeface="Plus Jakarta Sans" pitchFamily="34" charset="0"/>
                <a:ea typeface="Plus Jakarta Sans" pitchFamily="34" charset="-122"/>
                <a:cs typeface="Plus Jakarta Sans" pitchFamily="34" charset="-120"/>
              </a:rPr>
              <a:t>PASS (1.3 s)</a:t>
            </a:r>
            <a:endParaRPr lang="en-US" sz="950" dirty="0"/>
          </a:p>
        </p:txBody>
      </p:sp>
      <p:sp>
        <p:nvSpPr>
          <p:cNvPr id="9" name="Text 6"/>
          <p:cNvSpPr/>
          <p:nvPr/>
        </p:nvSpPr>
        <p:spPr>
          <a:xfrm>
            <a:off x="1005840" y="1965960"/>
            <a:ext cx="4389120" cy="685800"/>
          </a:xfrm>
          <a:prstGeom prst="rect">
            <a:avLst/>
          </a:prstGeom>
          <a:noFill/>
          <a:ln/>
        </p:spPr>
        <p:txBody>
          <a:bodyPr wrap="square" rtlCol="0" anchor="ctr"/>
          <a:lstStyle/>
          <a:p>
            <a:pPr indent="0" marL="0">
              <a:buNone/>
            </a:pPr>
            <a:r>
              <a:rPr lang="en-US" sz="4800" b="1" dirty="0">
                <a:solidFill>
                  <a:srgbClr val="10B981"/>
                </a:solidFill>
                <a:latin typeface="Outfit" pitchFamily="34" charset="0"/>
                <a:ea typeface="Outfit" pitchFamily="34" charset="-122"/>
                <a:cs typeface="Outfit" pitchFamily="34" charset="-120"/>
              </a:rPr>
              <a:t>1.3 s</a:t>
            </a:r>
            <a:endParaRPr lang="en-US" sz="4800" dirty="0"/>
          </a:p>
        </p:txBody>
      </p:sp>
      <p:sp>
        <p:nvSpPr>
          <p:cNvPr id="10" name="Text 7"/>
          <p:cNvSpPr/>
          <p:nvPr/>
        </p:nvSpPr>
        <p:spPr>
          <a:xfrm>
            <a:off x="1005840" y="2697480"/>
            <a:ext cx="3657600" cy="201168"/>
          </a:xfrm>
          <a:prstGeom prst="rect">
            <a:avLst/>
          </a:prstGeom>
          <a:noFill/>
          <a:ln/>
        </p:spPr>
        <p:txBody>
          <a:bodyPr wrap="square" rtlCol="0" anchor="ctr"/>
          <a:lstStyle/>
          <a:p>
            <a:pPr indent="0" marL="0">
              <a:buNone/>
            </a:pPr>
            <a:r>
              <a:rPr lang="en-US" sz="850" b="1" dirty="0">
                <a:solidFill>
                  <a:srgbClr val="64748B"/>
                </a:solidFill>
                <a:latin typeface="Plus Jakarta Sans" pitchFamily="34" charset="0"/>
                <a:ea typeface="Plus Jakarta Sans" pitchFamily="34" charset="-122"/>
                <a:cs typeface="Plus Jakarta Sans" pitchFamily="34" charset="-120"/>
              </a:rPr>
              <a:t>GOOGLE LCP THRESHOLD SCALE</a:t>
            </a:r>
            <a:endParaRPr lang="en-US" sz="850" dirty="0"/>
          </a:p>
        </p:txBody>
      </p:sp>
      <p:sp>
        <p:nvSpPr>
          <p:cNvPr id="11" name="Shape 8"/>
          <p:cNvSpPr/>
          <p:nvPr/>
        </p:nvSpPr>
        <p:spPr>
          <a:xfrm>
            <a:off x="1005840" y="2944368"/>
            <a:ext cx="2468880" cy="182880"/>
          </a:xfrm>
          <a:prstGeom prst="roundRect">
            <a:avLst>
              <a:gd name="adj" fmla="val 25000"/>
            </a:avLst>
          </a:prstGeom>
          <a:solidFill>
            <a:srgbClr val="10B981"/>
          </a:solidFill>
          <a:ln w="12700">
            <a:solidFill>
              <a:srgbClr val="10B981"/>
            </a:solidFill>
            <a:prstDash val="solid"/>
          </a:ln>
        </p:spPr>
      </p:sp>
      <p:sp>
        <p:nvSpPr>
          <p:cNvPr id="12" name="Shape 9"/>
          <p:cNvSpPr/>
          <p:nvPr/>
        </p:nvSpPr>
        <p:spPr>
          <a:xfrm>
            <a:off x="3520440" y="2944368"/>
            <a:ext cx="1188720" cy="182880"/>
          </a:xfrm>
          <a:prstGeom prst="roundRect">
            <a:avLst>
              <a:gd name="adj" fmla="val 25000"/>
            </a:avLst>
          </a:prstGeom>
          <a:solidFill>
            <a:srgbClr val="F59E0B"/>
          </a:solidFill>
          <a:ln w="12700">
            <a:solidFill>
              <a:srgbClr val="F59E0B"/>
            </a:solidFill>
            <a:prstDash val="solid"/>
          </a:ln>
        </p:spPr>
      </p:sp>
      <p:sp>
        <p:nvSpPr>
          <p:cNvPr id="13" name="Shape 10"/>
          <p:cNvSpPr/>
          <p:nvPr/>
        </p:nvSpPr>
        <p:spPr>
          <a:xfrm>
            <a:off x="4754880" y="2944368"/>
            <a:ext cx="731520" cy="182880"/>
          </a:xfrm>
          <a:prstGeom prst="roundRect">
            <a:avLst>
              <a:gd name="adj" fmla="val 25000"/>
            </a:avLst>
          </a:prstGeom>
          <a:solidFill>
            <a:srgbClr val="EF4444"/>
          </a:solidFill>
          <a:ln w="12700">
            <a:solidFill>
              <a:srgbClr val="EF4444"/>
            </a:solidFill>
            <a:prstDash val="solid"/>
          </a:ln>
        </p:spPr>
      </p:sp>
      <p:sp>
        <p:nvSpPr>
          <p:cNvPr id="14" name="Text 11"/>
          <p:cNvSpPr/>
          <p:nvPr/>
        </p:nvSpPr>
        <p:spPr>
          <a:xfrm>
            <a:off x="1005840" y="3145536"/>
            <a:ext cx="2468880" cy="201168"/>
          </a:xfrm>
          <a:prstGeom prst="rect">
            <a:avLst/>
          </a:prstGeom>
          <a:noFill/>
          <a:ln/>
        </p:spPr>
        <p:txBody>
          <a:bodyPr wrap="square" rtlCol="0" anchor="ctr"/>
          <a:lstStyle/>
          <a:p>
            <a:pPr indent="0" marL="0">
              <a:buNone/>
            </a:pPr>
            <a:r>
              <a:rPr lang="en-US" sz="800" dirty="0">
                <a:solidFill>
                  <a:srgbClr val="047857"/>
                </a:solidFill>
                <a:latin typeface="Plus Jakarta Sans" pitchFamily="34" charset="0"/>
                <a:ea typeface="Plus Jakarta Sans" pitchFamily="34" charset="-122"/>
                <a:cs typeface="Plus Jakarta Sans" pitchFamily="34" charset="-120"/>
              </a:rPr>
              <a:t>0s — 2.5s (Google Good)</a:t>
            </a:r>
            <a:endParaRPr lang="en-US" sz="800" dirty="0"/>
          </a:p>
        </p:txBody>
      </p:sp>
      <p:sp>
        <p:nvSpPr>
          <p:cNvPr id="15" name="Text 12"/>
          <p:cNvSpPr/>
          <p:nvPr/>
        </p:nvSpPr>
        <p:spPr>
          <a:xfrm>
            <a:off x="3520440" y="3145536"/>
            <a:ext cx="1188720" cy="201168"/>
          </a:xfrm>
          <a:prstGeom prst="rect">
            <a:avLst/>
          </a:prstGeom>
          <a:noFill/>
          <a:ln/>
        </p:spPr>
        <p:txBody>
          <a:bodyPr wrap="square" rtlCol="0" anchor="ctr"/>
          <a:lstStyle/>
          <a:p>
            <a:pPr indent="0" marL="0">
              <a:buNone/>
            </a:pPr>
            <a:r>
              <a:rPr lang="en-US" sz="800" dirty="0">
                <a:solidFill>
                  <a:srgbClr val="B45309"/>
                </a:solidFill>
                <a:latin typeface="Plus Jakarta Sans" pitchFamily="34" charset="0"/>
                <a:ea typeface="Plus Jakarta Sans" pitchFamily="34" charset="-122"/>
                <a:cs typeface="Plus Jakarta Sans" pitchFamily="34" charset="-120"/>
              </a:rPr>
              <a:t>2.5s — 4.0s</a:t>
            </a:r>
            <a:endParaRPr lang="en-US" sz="800" dirty="0"/>
          </a:p>
        </p:txBody>
      </p:sp>
      <p:sp>
        <p:nvSpPr>
          <p:cNvPr id="16" name="Text 13"/>
          <p:cNvSpPr/>
          <p:nvPr/>
        </p:nvSpPr>
        <p:spPr>
          <a:xfrm>
            <a:off x="4754880" y="3145536"/>
            <a:ext cx="731520" cy="201168"/>
          </a:xfrm>
          <a:prstGeom prst="rect">
            <a:avLst/>
          </a:prstGeom>
          <a:noFill/>
          <a:ln/>
        </p:spPr>
        <p:txBody>
          <a:bodyPr wrap="square" rtlCol="0" anchor="ctr"/>
          <a:lstStyle/>
          <a:p>
            <a:pPr indent="0" marL="0">
              <a:buNone/>
            </a:pPr>
            <a:r>
              <a:rPr lang="en-US" sz="800" dirty="0">
                <a:solidFill>
                  <a:srgbClr val="B91C1C"/>
                </a:solidFill>
                <a:latin typeface="Plus Jakarta Sans" pitchFamily="34" charset="0"/>
                <a:ea typeface="Plus Jakarta Sans" pitchFamily="34" charset="-122"/>
                <a:cs typeface="Plus Jakarta Sans" pitchFamily="34" charset="-120"/>
              </a:rPr>
              <a:t>4s+</a:t>
            </a:r>
            <a:endParaRPr lang="en-US" sz="800" dirty="0"/>
          </a:p>
        </p:txBody>
      </p:sp>
      <p:sp>
        <p:nvSpPr>
          <p:cNvPr id="17" name="Shape 14"/>
          <p:cNvSpPr/>
          <p:nvPr/>
        </p:nvSpPr>
        <p:spPr>
          <a:xfrm>
            <a:off x="1005840" y="3474720"/>
            <a:ext cx="4572000" cy="585216"/>
          </a:xfrm>
          <a:prstGeom prst="roundRect">
            <a:avLst>
              <a:gd name="adj" fmla="val 12500"/>
            </a:avLst>
          </a:prstGeom>
          <a:solidFill>
            <a:srgbClr val="FFFFFF"/>
          </a:solidFill>
          <a:ln w="12700">
            <a:solidFill>
              <a:srgbClr val="E2E8F0"/>
            </a:solidFill>
            <a:prstDash val="solid"/>
          </a:ln>
        </p:spPr>
      </p:sp>
      <p:sp>
        <p:nvSpPr>
          <p:cNvPr id="18" name="Shape 15"/>
          <p:cNvSpPr/>
          <p:nvPr/>
        </p:nvSpPr>
        <p:spPr>
          <a:xfrm>
            <a:off x="1143000" y="3611880"/>
            <a:ext cx="310896" cy="310896"/>
          </a:xfrm>
          <a:prstGeom prst="ellipse">
            <a:avLst/>
          </a:prstGeom>
          <a:solidFill>
            <a:srgbClr val="ECFDF5"/>
          </a:solidFill>
          <a:ln w="12700">
            <a:solidFill>
              <a:srgbClr val="10B981"/>
            </a:solidFill>
            <a:prstDash val="solid"/>
          </a:ln>
        </p:spPr>
      </p:sp>
      <p:sp>
        <p:nvSpPr>
          <p:cNvPr id="19" name="Text 16"/>
          <p:cNvSpPr/>
          <p:nvPr/>
        </p:nvSpPr>
        <p:spPr>
          <a:xfrm>
            <a:off x="1143000" y="3611880"/>
            <a:ext cx="310896" cy="310896"/>
          </a:xfrm>
          <a:prstGeom prst="rect">
            <a:avLst/>
          </a:prstGeom>
          <a:noFill/>
          <a:ln/>
        </p:spPr>
        <p:txBody>
          <a:bodyPr wrap="square" rtlCol="0" anchor="ctr"/>
          <a:lstStyle/>
          <a:p>
            <a:pPr algn="ctr" indent="0" marL="0">
              <a:buNone/>
            </a:pPr>
            <a:r>
              <a:rPr lang="en-US" sz="1000" b="1" dirty="0">
                <a:solidFill>
                  <a:srgbClr val="047857"/>
                </a:solidFill>
                <a:latin typeface="Plus Jakarta Sans" pitchFamily="34" charset="0"/>
                <a:ea typeface="Plus Jakarta Sans" pitchFamily="34" charset="-122"/>
                <a:cs typeface="Plus Jakarta Sans" pitchFamily="34" charset="-120"/>
              </a:rPr>
              <a:t>✔</a:t>
            </a:r>
            <a:endParaRPr lang="en-US" sz="1000" dirty="0"/>
          </a:p>
        </p:txBody>
      </p:sp>
      <p:sp>
        <p:nvSpPr>
          <p:cNvPr id="20" name="Text 17"/>
          <p:cNvSpPr/>
          <p:nvPr/>
        </p:nvSpPr>
        <p:spPr>
          <a:xfrm>
            <a:off x="1554480" y="3547872"/>
            <a:ext cx="3840480" cy="219456"/>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Hero Media Preloaded</a:t>
            </a:r>
            <a:endParaRPr lang="en-US" sz="1100" dirty="0"/>
          </a:p>
        </p:txBody>
      </p:sp>
      <p:sp>
        <p:nvSpPr>
          <p:cNvPr id="21" name="Text 18"/>
          <p:cNvSpPr/>
          <p:nvPr/>
        </p:nvSpPr>
        <p:spPr>
          <a:xfrm>
            <a:off x="1554480" y="3767328"/>
            <a:ext cx="3840480" cy="237744"/>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Main above-the-fold image begins downloading immediately</a:t>
            </a:r>
            <a:endParaRPr lang="en-US" sz="850" dirty="0"/>
          </a:p>
        </p:txBody>
      </p:sp>
      <p:sp>
        <p:nvSpPr>
          <p:cNvPr id="22" name="Shape 19"/>
          <p:cNvSpPr/>
          <p:nvPr/>
        </p:nvSpPr>
        <p:spPr>
          <a:xfrm>
            <a:off x="1005840" y="4133088"/>
            <a:ext cx="4572000" cy="585216"/>
          </a:xfrm>
          <a:prstGeom prst="roundRect">
            <a:avLst>
              <a:gd name="adj" fmla="val 12500"/>
            </a:avLst>
          </a:prstGeom>
          <a:solidFill>
            <a:srgbClr val="FFFFFF"/>
          </a:solidFill>
          <a:ln w="12700">
            <a:solidFill>
              <a:srgbClr val="E2E8F0"/>
            </a:solidFill>
            <a:prstDash val="solid"/>
          </a:ln>
        </p:spPr>
      </p:sp>
      <p:sp>
        <p:nvSpPr>
          <p:cNvPr id="23" name="Shape 20"/>
          <p:cNvSpPr/>
          <p:nvPr/>
        </p:nvSpPr>
        <p:spPr>
          <a:xfrm>
            <a:off x="1143000" y="4270248"/>
            <a:ext cx="310896" cy="310896"/>
          </a:xfrm>
          <a:prstGeom prst="ellipse">
            <a:avLst/>
          </a:prstGeom>
          <a:solidFill>
            <a:srgbClr val="ECFDF5"/>
          </a:solidFill>
          <a:ln w="12700">
            <a:solidFill>
              <a:srgbClr val="10B981"/>
            </a:solidFill>
            <a:prstDash val="solid"/>
          </a:ln>
        </p:spPr>
      </p:sp>
      <p:sp>
        <p:nvSpPr>
          <p:cNvPr id="24" name="Text 21"/>
          <p:cNvSpPr/>
          <p:nvPr/>
        </p:nvSpPr>
        <p:spPr>
          <a:xfrm>
            <a:off x="1143000" y="4270248"/>
            <a:ext cx="310896" cy="310896"/>
          </a:xfrm>
          <a:prstGeom prst="rect">
            <a:avLst/>
          </a:prstGeom>
          <a:noFill/>
          <a:ln/>
        </p:spPr>
        <p:txBody>
          <a:bodyPr wrap="square" rtlCol="0" anchor="ctr"/>
          <a:lstStyle/>
          <a:p>
            <a:pPr algn="ctr" indent="0" marL="0">
              <a:buNone/>
            </a:pPr>
            <a:r>
              <a:rPr lang="en-US" sz="1000" b="1" dirty="0">
                <a:solidFill>
                  <a:srgbClr val="047857"/>
                </a:solidFill>
                <a:latin typeface="Plus Jakarta Sans" pitchFamily="34" charset="0"/>
                <a:ea typeface="Plus Jakarta Sans" pitchFamily="34" charset="-122"/>
                <a:cs typeface="Plus Jakarta Sans" pitchFamily="34" charset="-120"/>
              </a:rPr>
              <a:t>✔</a:t>
            </a:r>
            <a:endParaRPr lang="en-US" sz="1000" dirty="0"/>
          </a:p>
        </p:txBody>
      </p:sp>
      <p:sp>
        <p:nvSpPr>
          <p:cNvPr id="25" name="Text 22"/>
          <p:cNvSpPr/>
          <p:nvPr/>
        </p:nvSpPr>
        <p:spPr>
          <a:xfrm>
            <a:off x="1554480" y="4206240"/>
            <a:ext cx="3840480" cy="219456"/>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Critical CSS Inlined</a:t>
            </a:r>
            <a:endParaRPr lang="en-US" sz="1100" dirty="0"/>
          </a:p>
        </p:txBody>
      </p:sp>
      <p:sp>
        <p:nvSpPr>
          <p:cNvPr id="26" name="Text 23"/>
          <p:cNvSpPr/>
          <p:nvPr/>
        </p:nvSpPr>
        <p:spPr>
          <a:xfrm>
            <a:off x="1554480" y="4425696"/>
            <a:ext cx="3840480" cy="237744"/>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Core viewport styles render before external JS executes</a:t>
            </a:r>
            <a:endParaRPr lang="en-US" sz="850" dirty="0"/>
          </a:p>
        </p:txBody>
      </p:sp>
      <p:sp>
        <p:nvSpPr>
          <p:cNvPr id="27" name="Shape 24"/>
          <p:cNvSpPr/>
          <p:nvPr/>
        </p:nvSpPr>
        <p:spPr>
          <a:xfrm>
            <a:off x="1005840" y="4791456"/>
            <a:ext cx="4572000" cy="585216"/>
          </a:xfrm>
          <a:prstGeom prst="roundRect">
            <a:avLst>
              <a:gd name="adj" fmla="val 12500"/>
            </a:avLst>
          </a:prstGeom>
          <a:solidFill>
            <a:srgbClr val="FFFFFF"/>
          </a:solidFill>
          <a:ln w="12700">
            <a:solidFill>
              <a:srgbClr val="E2E8F0"/>
            </a:solidFill>
            <a:prstDash val="solid"/>
          </a:ln>
        </p:spPr>
      </p:sp>
      <p:sp>
        <p:nvSpPr>
          <p:cNvPr id="28" name="Shape 25"/>
          <p:cNvSpPr/>
          <p:nvPr/>
        </p:nvSpPr>
        <p:spPr>
          <a:xfrm>
            <a:off x="1143000" y="4928616"/>
            <a:ext cx="310896" cy="310896"/>
          </a:xfrm>
          <a:prstGeom prst="ellipse">
            <a:avLst/>
          </a:prstGeom>
          <a:solidFill>
            <a:srgbClr val="ECFDF5"/>
          </a:solidFill>
          <a:ln w="12700">
            <a:solidFill>
              <a:srgbClr val="10B981"/>
            </a:solidFill>
            <a:prstDash val="solid"/>
          </a:ln>
        </p:spPr>
      </p:sp>
      <p:sp>
        <p:nvSpPr>
          <p:cNvPr id="29" name="Text 26"/>
          <p:cNvSpPr/>
          <p:nvPr/>
        </p:nvSpPr>
        <p:spPr>
          <a:xfrm>
            <a:off x="1143000" y="4928616"/>
            <a:ext cx="310896" cy="310896"/>
          </a:xfrm>
          <a:prstGeom prst="rect">
            <a:avLst/>
          </a:prstGeom>
          <a:noFill/>
          <a:ln/>
        </p:spPr>
        <p:txBody>
          <a:bodyPr wrap="square" rtlCol="0" anchor="ctr"/>
          <a:lstStyle/>
          <a:p>
            <a:pPr algn="ctr" indent="0" marL="0">
              <a:buNone/>
            </a:pPr>
            <a:r>
              <a:rPr lang="en-US" sz="1000" b="1" dirty="0">
                <a:solidFill>
                  <a:srgbClr val="047857"/>
                </a:solidFill>
                <a:latin typeface="Plus Jakarta Sans" pitchFamily="34" charset="0"/>
                <a:ea typeface="Plus Jakarta Sans" pitchFamily="34" charset="-122"/>
                <a:cs typeface="Plus Jakarta Sans" pitchFamily="34" charset="-120"/>
              </a:rPr>
              <a:t>✔</a:t>
            </a:r>
            <a:endParaRPr lang="en-US" sz="1000" dirty="0"/>
          </a:p>
        </p:txBody>
      </p:sp>
      <p:sp>
        <p:nvSpPr>
          <p:cNvPr id="30" name="Text 27"/>
          <p:cNvSpPr/>
          <p:nvPr/>
        </p:nvSpPr>
        <p:spPr>
          <a:xfrm>
            <a:off x="1554480" y="4864608"/>
            <a:ext cx="3840480" cy="219456"/>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Fast Initial HTML</a:t>
            </a:r>
            <a:endParaRPr lang="en-US" sz="1100" dirty="0"/>
          </a:p>
        </p:txBody>
      </p:sp>
      <p:sp>
        <p:nvSpPr>
          <p:cNvPr id="31" name="Text 28"/>
          <p:cNvSpPr/>
          <p:nvPr/>
        </p:nvSpPr>
        <p:spPr>
          <a:xfrm>
            <a:off x="1554480" y="5084064"/>
            <a:ext cx="3840480" cy="237744"/>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Server delivers complete initial document structure in &lt;200ms</a:t>
            </a:r>
            <a:endParaRPr lang="en-US" sz="850" dirty="0"/>
          </a:p>
        </p:txBody>
      </p:sp>
      <p:sp>
        <p:nvSpPr>
          <p:cNvPr id="32" name="Text 29"/>
          <p:cNvSpPr/>
          <p:nvPr/>
        </p:nvSpPr>
        <p:spPr>
          <a:xfrm>
            <a:off x="1005840" y="5532120"/>
            <a:ext cx="4572000" cy="411480"/>
          </a:xfrm>
          <a:prstGeom prst="rect">
            <a:avLst/>
          </a:prstGeom>
          <a:noFill/>
          <a:ln/>
        </p:spPr>
        <p:txBody>
          <a:bodyPr wrap="square" rtlCol="0" anchor="ctr"/>
          <a:lstStyle/>
          <a:p>
            <a:pPr indent="0" marL="0">
              <a:lnSpc>
                <a:spcPts val="1300"/>
              </a:lnSpc>
              <a:buNone/>
            </a:pPr>
            <a:r>
              <a:rPr lang="en-US" sz="950" dirty="0">
                <a:solidFill>
                  <a:srgbClr val="64748B"/>
                </a:solidFill>
                <a:latin typeface="Plus Jakarta Sans" pitchFamily="34" charset="0"/>
                <a:ea typeface="Plus Jakarta Sans" pitchFamily="34" charset="-122"/>
                <a:cs typeface="Plus Jakarta Sans" pitchFamily="34" charset="-120"/>
              </a:rPr>
              <a:t>Status: HEALTHY (Passed) — Target: under 2.5s. Measures when the main content finishes showing.</a:t>
            </a:r>
            <a:endParaRPr lang="en-US" sz="950" dirty="0"/>
          </a:p>
        </p:txBody>
      </p:sp>
      <p:sp>
        <p:nvSpPr>
          <p:cNvPr id="33" name="Shape 30"/>
          <p:cNvSpPr/>
          <p:nvPr/>
        </p:nvSpPr>
        <p:spPr>
          <a:xfrm>
            <a:off x="6217920" y="1508760"/>
            <a:ext cx="5239512" cy="4526280"/>
          </a:xfrm>
          <a:prstGeom prst="roundRect">
            <a:avLst>
              <a:gd name="adj" fmla="val 2020"/>
            </a:avLst>
          </a:prstGeom>
          <a:solidFill>
            <a:srgbClr val="F8FAFC"/>
          </a:solidFill>
          <a:ln w="12700">
            <a:solidFill>
              <a:srgbClr val="E2E8F0"/>
            </a:solidFill>
            <a:prstDash val="solid"/>
          </a:ln>
        </p:spPr>
      </p:sp>
      <p:sp>
        <p:nvSpPr>
          <p:cNvPr id="34" name="Text 31"/>
          <p:cNvSpPr/>
          <p:nvPr/>
        </p:nvSpPr>
        <p:spPr>
          <a:xfrm>
            <a:off x="6492240" y="1691640"/>
            <a:ext cx="3200400" cy="256032"/>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CUMULATIVE LAYOUT SHIFT (CLS)</a:t>
            </a:r>
            <a:endParaRPr lang="en-US" sz="1000" dirty="0"/>
          </a:p>
        </p:txBody>
      </p:sp>
      <p:sp>
        <p:nvSpPr>
          <p:cNvPr id="35" name="Shape 32"/>
          <p:cNvSpPr/>
          <p:nvPr/>
        </p:nvSpPr>
        <p:spPr>
          <a:xfrm>
            <a:off x="9875520" y="1664208"/>
            <a:ext cx="1325880" cy="292608"/>
          </a:xfrm>
          <a:prstGeom prst="roundRect">
            <a:avLst>
              <a:gd name="adj" fmla="val 50000"/>
            </a:avLst>
          </a:prstGeom>
          <a:solidFill>
            <a:srgbClr val="ECFDF5"/>
          </a:solidFill>
          <a:ln w="12700">
            <a:solidFill>
              <a:srgbClr val="10B981"/>
            </a:solidFill>
            <a:prstDash val="solid"/>
          </a:ln>
        </p:spPr>
      </p:sp>
      <p:sp>
        <p:nvSpPr>
          <p:cNvPr id="36" name="Text 33"/>
          <p:cNvSpPr/>
          <p:nvPr/>
        </p:nvSpPr>
        <p:spPr>
          <a:xfrm>
            <a:off x="9875520" y="1664208"/>
            <a:ext cx="1325880" cy="292608"/>
          </a:xfrm>
          <a:prstGeom prst="rect">
            <a:avLst/>
          </a:prstGeom>
          <a:noFill/>
          <a:ln/>
        </p:spPr>
        <p:txBody>
          <a:bodyPr wrap="square" rtlCol="0" anchor="ctr"/>
          <a:lstStyle/>
          <a:p>
            <a:pPr algn="ctr" indent="0" marL="0">
              <a:buNone/>
            </a:pPr>
            <a:r>
              <a:rPr lang="en-US" sz="950" b="1" dirty="0">
                <a:solidFill>
                  <a:srgbClr val="047857"/>
                </a:solidFill>
                <a:latin typeface="Plus Jakarta Sans" pitchFamily="34" charset="0"/>
                <a:ea typeface="Plus Jakarta Sans" pitchFamily="34" charset="-122"/>
                <a:cs typeface="Plus Jakarta Sans" pitchFamily="34" charset="-120"/>
              </a:rPr>
              <a:t>PASS (&lt; 0.1)</a:t>
            </a:r>
            <a:endParaRPr lang="en-US" sz="950" dirty="0"/>
          </a:p>
        </p:txBody>
      </p:sp>
      <p:sp>
        <p:nvSpPr>
          <p:cNvPr id="37" name="Text 34"/>
          <p:cNvSpPr/>
          <p:nvPr/>
        </p:nvSpPr>
        <p:spPr>
          <a:xfrm>
            <a:off x="6492240" y="1965960"/>
            <a:ext cx="4389120" cy="685800"/>
          </a:xfrm>
          <a:prstGeom prst="rect">
            <a:avLst/>
          </a:prstGeom>
          <a:noFill/>
          <a:ln/>
        </p:spPr>
        <p:txBody>
          <a:bodyPr wrap="square" rtlCol="0" anchor="ctr"/>
          <a:lstStyle/>
          <a:p>
            <a:pPr indent="0" marL="0">
              <a:buNone/>
            </a:pPr>
            <a:r>
              <a:rPr lang="en-US" sz="4800" b="1" dirty="0">
                <a:solidFill>
                  <a:srgbClr val="10B981"/>
                </a:solidFill>
                <a:latin typeface="Outfit" pitchFamily="34" charset="0"/>
                <a:ea typeface="Outfit" pitchFamily="34" charset="-122"/>
                <a:cs typeface="Outfit" pitchFamily="34" charset="-120"/>
              </a:rPr>
              <a:t>&lt; 0.1</a:t>
            </a:r>
            <a:endParaRPr lang="en-US" sz="4800" dirty="0"/>
          </a:p>
        </p:txBody>
      </p:sp>
      <p:sp>
        <p:nvSpPr>
          <p:cNvPr id="38" name="Text 35"/>
          <p:cNvSpPr/>
          <p:nvPr/>
        </p:nvSpPr>
        <p:spPr>
          <a:xfrm>
            <a:off x="6492240" y="2697480"/>
            <a:ext cx="3657600" cy="201168"/>
          </a:xfrm>
          <a:prstGeom prst="rect">
            <a:avLst/>
          </a:prstGeom>
          <a:noFill/>
          <a:ln/>
        </p:spPr>
        <p:txBody>
          <a:bodyPr wrap="square" rtlCol="0" anchor="ctr"/>
          <a:lstStyle/>
          <a:p>
            <a:pPr indent="0" marL="0">
              <a:buNone/>
            </a:pPr>
            <a:r>
              <a:rPr lang="en-US" sz="850" b="1" dirty="0">
                <a:solidFill>
                  <a:srgbClr val="64748B"/>
                </a:solidFill>
                <a:latin typeface="Plus Jakarta Sans" pitchFamily="34" charset="0"/>
                <a:ea typeface="Plus Jakarta Sans" pitchFamily="34" charset="-122"/>
                <a:cs typeface="Plus Jakarta Sans" pitchFamily="34" charset="-120"/>
              </a:rPr>
              <a:t>GOOGLE CLS THRESHOLD SCALE</a:t>
            </a:r>
            <a:endParaRPr lang="en-US" sz="850" dirty="0"/>
          </a:p>
        </p:txBody>
      </p:sp>
      <p:sp>
        <p:nvSpPr>
          <p:cNvPr id="39" name="Shape 36"/>
          <p:cNvSpPr/>
          <p:nvPr/>
        </p:nvSpPr>
        <p:spPr>
          <a:xfrm>
            <a:off x="6492240" y="2944368"/>
            <a:ext cx="2560320" cy="182880"/>
          </a:xfrm>
          <a:prstGeom prst="roundRect">
            <a:avLst>
              <a:gd name="adj" fmla="val 25000"/>
            </a:avLst>
          </a:prstGeom>
          <a:solidFill>
            <a:srgbClr val="10B981"/>
          </a:solidFill>
          <a:ln w="12700">
            <a:solidFill>
              <a:srgbClr val="10B981"/>
            </a:solidFill>
            <a:prstDash val="solid"/>
          </a:ln>
        </p:spPr>
      </p:sp>
      <p:sp>
        <p:nvSpPr>
          <p:cNvPr id="40" name="Shape 37"/>
          <p:cNvSpPr/>
          <p:nvPr/>
        </p:nvSpPr>
        <p:spPr>
          <a:xfrm>
            <a:off x="9098280" y="2944368"/>
            <a:ext cx="1280160" cy="182880"/>
          </a:xfrm>
          <a:prstGeom prst="roundRect">
            <a:avLst>
              <a:gd name="adj" fmla="val 25000"/>
            </a:avLst>
          </a:prstGeom>
          <a:solidFill>
            <a:srgbClr val="F59E0B"/>
          </a:solidFill>
          <a:ln w="12700">
            <a:solidFill>
              <a:srgbClr val="F59E0B"/>
            </a:solidFill>
            <a:prstDash val="solid"/>
          </a:ln>
        </p:spPr>
      </p:sp>
      <p:sp>
        <p:nvSpPr>
          <p:cNvPr id="41" name="Shape 38"/>
          <p:cNvSpPr/>
          <p:nvPr/>
        </p:nvSpPr>
        <p:spPr>
          <a:xfrm>
            <a:off x="10424160" y="2944368"/>
            <a:ext cx="777240" cy="182880"/>
          </a:xfrm>
          <a:prstGeom prst="roundRect">
            <a:avLst>
              <a:gd name="adj" fmla="val 25000"/>
            </a:avLst>
          </a:prstGeom>
          <a:solidFill>
            <a:srgbClr val="EF4444"/>
          </a:solidFill>
          <a:ln w="12700">
            <a:solidFill>
              <a:srgbClr val="EF4444"/>
            </a:solidFill>
            <a:prstDash val="solid"/>
          </a:ln>
        </p:spPr>
      </p:sp>
      <p:sp>
        <p:nvSpPr>
          <p:cNvPr id="42" name="Text 39"/>
          <p:cNvSpPr/>
          <p:nvPr/>
        </p:nvSpPr>
        <p:spPr>
          <a:xfrm>
            <a:off x="6492240" y="3145536"/>
            <a:ext cx="2560320" cy="201168"/>
          </a:xfrm>
          <a:prstGeom prst="rect">
            <a:avLst/>
          </a:prstGeom>
          <a:noFill/>
          <a:ln/>
        </p:spPr>
        <p:txBody>
          <a:bodyPr wrap="square" rtlCol="0" anchor="ctr"/>
          <a:lstStyle/>
          <a:p>
            <a:pPr indent="0" marL="0">
              <a:buNone/>
            </a:pPr>
            <a:r>
              <a:rPr lang="en-US" sz="800" dirty="0">
                <a:solidFill>
                  <a:srgbClr val="047857"/>
                </a:solidFill>
                <a:latin typeface="Plus Jakarta Sans" pitchFamily="34" charset="0"/>
                <a:ea typeface="Plus Jakarta Sans" pitchFamily="34" charset="-122"/>
                <a:cs typeface="Plus Jakarta Sans" pitchFamily="34" charset="-120"/>
              </a:rPr>
              <a:t>0.0 — 0.1 (Google Target)</a:t>
            </a:r>
            <a:endParaRPr lang="en-US" sz="800" dirty="0"/>
          </a:p>
        </p:txBody>
      </p:sp>
      <p:sp>
        <p:nvSpPr>
          <p:cNvPr id="43" name="Text 40"/>
          <p:cNvSpPr/>
          <p:nvPr/>
        </p:nvSpPr>
        <p:spPr>
          <a:xfrm>
            <a:off x="9098280" y="3145536"/>
            <a:ext cx="1280160" cy="201168"/>
          </a:xfrm>
          <a:prstGeom prst="rect">
            <a:avLst/>
          </a:prstGeom>
          <a:noFill/>
          <a:ln/>
        </p:spPr>
        <p:txBody>
          <a:bodyPr wrap="square" rtlCol="0" anchor="ctr"/>
          <a:lstStyle/>
          <a:p>
            <a:pPr indent="0" marL="0">
              <a:buNone/>
            </a:pPr>
            <a:r>
              <a:rPr lang="en-US" sz="800" dirty="0">
                <a:solidFill>
                  <a:srgbClr val="B45309"/>
                </a:solidFill>
                <a:latin typeface="Plus Jakarta Sans" pitchFamily="34" charset="0"/>
                <a:ea typeface="Plus Jakarta Sans" pitchFamily="34" charset="-122"/>
                <a:cs typeface="Plus Jakarta Sans" pitchFamily="34" charset="-120"/>
              </a:rPr>
              <a:t>0.1 — 0.25</a:t>
            </a:r>
            <a:endParaRPr lang="en-US" sz="800" dirty="0"/>
          </a:p>
        </p:txBody>
      </p:sp>
      <p:sp>
        <p:nvSpPr>
          <p:cNvPr id="44" name="Text 41"/>
          <p:cNvSpPr/>
          <p:nvPr/>
        </p:nvSpPr>
        <p:spPr>
          <a:xfrm>
            <a:off x="10424160" y="3145536"/>
            <a:ext cx="777240" cy="201168"/>
          </a:xfrm>
          <a:prstGeom prst="rect">
            <a:avLst/>
          </a:prstGeom>
          <a:noFill/>
          <a:ln/>
        </p:spPr>
        <p:txBody>
          <a:bodyPr wrap="square" rtlCol="0" anchor="ctr"/>
          <a:lstStyle/>
          <a:p>
            <a:pPr indent="0" marL="0">
              <a:buNone/>
            </a:pPr>
            <a:r>
              <a:rPr lang="en-US" sz="800" dirty="0">
                <a:solidFill>
                  <a:srgbClr val="B91C1C"/>
                </a:solidFill>
                <a:latin typeface="Plus Jakarta Sans" pitchFamily="34" charset="0"/>
                <a:ea typeface="Plus Jakarta Sans" pitchFamily="34" charset="-122"/>
                <a:cs typeface="Plus Jakarta Sans" pitchFamily="34" charset="-120"/>
              </a:rPr>
              <a:t>0.25+</a:t>
            </a:r>
            <a:endParaRPr lang="en-US" sz="800" dirty="0"/>
          </a:p>
        </p:txBody>
      </p:sp>
      <p:sp>
        <p:nvSpPr>
          <p:cNvPr id="45" name="Shape 42"/>
          <p:cNvSpPr/>
          <p:nvPr/>
        </p:nvSpPr>
        <p:spPr>
          <a:xfrm>
            <a:off x="6492240" y="3474720"/>
            <a:ext cx="4709160" cy="585216"/>
          </a:xfrm>
          <a:prstGeom prst="roundRect">
            <a:avLst>
              <a:gd name="adj" fmla="val 12500"/>
            </a:avLst>
          </a:prstGeom>
          <a:solidFill>
            <a:srgbClr val="FFFFFF"/>
          </a:solidFill>
          <a:ln w="12700">
            <a:solidFill>
              <a:srgbClr val="E2E8F0"/>
            </a:solidFill>
            <a:prstDash val="solid"/>
          </a:ln>
        </p:spPr>
      </p:sp>
      <p:sp>
        <p:nvSpPr>
          <p:cNvPr id="46" name="Shape 43"/>
          <p:cNvSpPr/>
          <p:nvPr/>
        </p:nvSpPr>
        <p:spPr>
          <a:xfrm>
            <a:off x="6629400" y="3611880"/>
            <a:ext cx="310896" cy="310896"/>
          </a:xfrm>
          <a:prstGeom prst="ellipse">
            <a:avLst/>
          </a:prstGeom>
          <a:solidFill>
            <a:srgbClr val="ECFDF5"/>
          </a:solidFill>
          <a:ln w="12700">
            <a:solidFill>
              <a:srgbClr val="10B981"/>
            </a:solidFill>
            <a:prstDash val="solid"/>
          </a:ln>
        </p:spPr>
      </p:sp>
      <p:sp>
        <p:nvSpPr>
          <p:cNvPr id="47" name="Text 44"/>
          <p:cNvSpPr/>
          <p:nvPr/>
        </p:nvSpPr>
        <p:spPr>
          <a:xfrm>
            <a:off x="6629400" y="3611880"/>
            <a:ext cx="310896" cy="310896"/>
          </a:xfrm>
          <a:prstGeom prst="rect">
            <a:avLst/>
          </a:prstGeom>
          <a:noFill/>
          <a:ln/>
        </p:spPr>
        <p:txBody>
          <a:bodyPr wrap="square" rtlCol="0" anchor="ctr"/>
          <a:lstStyle/>
          <a:p>
            <a:pPr algn="ctr" indent="0" marL="0">
              <a:buNone/>
            </a:pPr>
            <a:r>
              <a:rPr lang="en-US" sz="1000" b="1" dirty="0">
                <a:solidFill>
                  <a:srgbClr val="047857"/>
                </a:solidFill>
                <a:latin typeface="Plus Jakarta Sans" pitchFamily="34" charset="0"/>
                <a:ea typeface="Plus Jakarta Sans" pitchFamily="34" charset="-122"/>
                <a:cs typeface="Plus Jakarta Sans" pitchFamily="34" charset="-120"/>
              </a:rPr>
              <a:t>✔</a:t>
            </a:r>
            <a:endParaRPr lang="en-US" sz="1000" dirty="0"/>
          </a:p>
        </p:txBody>
      </p:sp>
      <p:sp>
        <p:nvSpPr>
          <p:cNvPr id="48" name="Text 45"/>
          <p:cNvSpPr/>
          <p:nvPr/>
        </p:nvSpPr>
        <p:spPr>
          <a:xfrm>
            <a:off x="7040880" y="3547872"/>
            <a:ext cx="3931920" cy="219456"/>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Explicit Media Dimensions</a:t>
            </a:r>
            <a:endParaRPr lang="en-US" sz="1100" dirty="0"/>
          </a:p>
        </p:txBody>
      </p:sp>
      <p:sp>
        <p:nvSpPr>
          <p:cNvPr id="49" name="Text 46"/>
          <p:cNvSpPr/>
          <p:nvPr/>
        </p:nvSpPr>
        <p:spPr>
          <a:xfrm>
            <a:off x="7040880" y="3767328"/>
            <a:ext cx="3931920" cy="237744"/>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Image and banner width/height attributes reserved in HTML</a:t>
            </a:r>
            <a:endParaRPr lang="en-US" sz="850" dirty="0"/>
          </a:p>
        </p:txBody>
      </p:sp>
      <p:sp>
        <p:nvSpPr>
          <p:cNvPr id="50" name="Shape 47"/>
          <p:cNvSpPr/>
          <p:nvPr/>
        </p:nvSpPr>
        <p:spPr>
          <a:xfrm>
            <a:off x="6492240" y="4133088"/>
            <a:ext cx="4709160" cy="585216"/>
          </a:xfrm>
          <a:prstGeom prst="roundRect">
            <a:avLst>
              <a:gd name="adj" fmla="val 12500"/>
            </a:avLst>
          </a:prstGeom>
          <a:solidFill>
            <a:srgbClr val="FFFFFF"/>
          </a:solidFill>
          <a:ln w="12700">
            <a:solidFill>
              <a:srgbClr val="E2E8F0"/>
            </a:solidFill>
            <a:prstDash val="solid"/>
          </a:ln>
        </p:spPr>
      </p:sp>
      <p:sp>
        <p:nvSpPr>
          <p:cNvPr id="51" name="Shape 48"/>
          <p:cNvSpPr/>
          <p:nvPr/>
        </p:nvSpPr>
        <p:spPr>
          <a:xfrm>
            <a:off x="6629400" y="4270248"/>
            <a:ext cx="310896" cy="310896"/>
          </a:xfrm>
          <a:prstGeom prst="ellipse">
            <a:avLst/>
          </a:prstGeom>
          <a:solidFill>
            <a:srgbClr val="ECFDF5"/>
          </a:solidFill>
          <a:ln w="12700">
            <a:solidFill>
              <a:srgbClr val="10B981"/>
            </a:solidFill>
            <a:prstDash val="solid"/>
          </a:ln>
        </p:spPr>
      </p:sp>
      <p:sp>
        <p:nvSpPr>
          <p:cNvPr id="52" name="Text 49"/>
          <p:cNvSpPr/>
          <p:nvPr/>
        </p:nvSpPr>
        <p:spPr>
          <a:xfrm>
            <a:off x="6629400" y="4270248"/>
            <a:ext cx="310896" cy="310896"/>
          </a:xfrm>
          <a:prstGeom prst="rect">
            <a:avLst/>
          </a:prstGeom>
          <a:noFill/>
          <a:ln/>
        </p:spPr>
        <p:txBody>
          <a:bodyPr wrap="square" rtlCol="0" anchor="ctr"/>
          <a:lstStyle/>
          <a:p>
            <a:pPr algn="ctr" indent="0" marL="0">
              <a:buNone/>
            </a:pPr>
            <a:r>
              <a:rPr lang="en-US" sz="1000" b="1" dirty="0">
                <a:solidFill>
                  <a:srgbClr val="047857"/>
                </a:solidFill>
                <a:latin typeface="Plus Jakarta Sans" pitchFamily="34" charset="0"/>
                <a:ea typeface="Plus Jakarta Sans" pitchFamily="34" charset="-122"/>
                <a:cs typeface="Plus Jakarta Sans" pitchFamily="34" charset="-120"/>
              </a:rPr>
              <a:t>✔</a:t>
            </a:r>
            <a:endParaRPr lang="en-US" sz="1000" dirty="0"/>
          </a:p>
        </p:txBody>
      </p:sp>
      <p:sp>
        <p:nvSpPr>
          <p:cNvPr id="53" name="Text 50"/>
          <p:cNvSpPr/>
          <p:nvPr/>
        </p:nvSpPr>
        <p:spPr>
          <a:xfrm>
            <a:off x="7040880" y="4206240"/>
            <a:ext cx="3931920" cy="219456"/>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Stable Web Font Rendering</a:t>
            </a:r>
            <a:endParaRPr lang="en-US" sz="1100" dirty="0"/>
          </a:p>
        </p:txBody>
      </p:sp>
      <p:sp>
        <p:nvSpPr>
          <p:cNvPr id="54" name="Text 51"/>
          <p:cNvSpPr/>
          <p:nvPr/>
        </p:nvSpPr>
        <p:spPr>
          <a:xfrm>
            <a:off x="7040880" y="4425696"/>
            <a:ext cx="3931920" cy="237744"/>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Font display swap enabled with zero layout shifts (FOUT)</a:t>
            </a:r>
            <a:endParaRPr lang="en-US" sz="850" dirty="0"/>
          </a:p>
        </p:txBody>
      </p:sp>
      <p:sp>
        <p:nvSpPr>
          <p:cNvPr id="55" name="Shape 52"/>
          <p:cNvSpPr/>
          <p:nvPr/>
        </p:nvSpPr>
        <p:spPr>
          <a:xfrm>
            <a:off x="6492240" y="4791456"/>
            <a:ext cx="4709160" cy="585216"/>
          </a:xfrm>
          <a:prstGeom prst="roundRect">
            <a:avLst>
              <a:gd name="adj" fmla="val 12500"/>
            </a:avLst>
          </a:prstGeom>
          <a:solidFill>
            <a:srgbClr val="FFFFFF"/>
          </a:solidFill>
          <a:ln w="12700">
            <a:solidFill>
              <a:srgbClr val="E2E8F0"/>
            </a:solidFill>
            <a:prstDash val="solid"/>
          </a:ln>
        </p:spPr>
      </p:sp>
      <p:sp>
        <p:nvSpPr>
          <p:cNvPr id="56" name="Shape 53"/>
          <p:cNvSpPr/>
          <p:nvPr/>
        </p:nvSpPr>
        <p:spPr>
          <a:xfrm>
            <a:off x="6629400" y="4928616"/>
            <a:ext cx="310896" cy="310896"/>
          </a:xfrm>
          <a:prstGeom prst="ellipse">
            <a:avLst/>
          </a:prstGeom>
          <a:solidFill>
            <a:srgbClr val="ECFDF5"/>
          </a:solidFill>
          <a:ln w="12700">
            <a:solidFill>
              <a:srgbClr val="10B981"/>
            </a:solidFill>
            <a:prstDash val="solid"/>
          </a:ln>
        </p:spPr>
      </p:sp>
      <p:sp>
        <p:nvSpPr>
          <p:cNvPr id="57" name="Text 54"/>
          <p:cNvSpPr/>
          <p:nvPr/>
        </p:nvSpPr>
        <p:spPr>
          <a:xfrm>
            <a:off x="6629400" y="4928616"/>
            <a:ext cx="310896" cy="310896"/>
          </a:xfrm>
          <a:prstGeom prst="rect">
            <a:avLst/>
          </a:prstGeom>
          <a:noFill/>
          <a:ln/>
        </p:spPr>
        <p:txBody>
          <a:bodyPr wrap="square" rtlCol="0" anchor="ctr"/>
          <a:lstStyle/>
          <a:p>
            <a:pPr algn="ctr" indent="0" marL="0">
              <a:buNone/>
            </a:pPr>
            <a:r>
              <a:rPr lang="en-US" sz="1000" b="1" dirty="0">
                <a:solidFill>
                  <a:srgbClr val="047857"/>
                </a:solidFill>
                <a:latin typeface="Plus Jakarta Sans" pitchFamily="34" charset="0"/>
                <a:ea typeface="Plus Jakarta Sans" pitchFamily="34" charset="-122"/>
                <a:cs typeface="Plus Jakarta Sans" pitchFamily="34" charset="-120"/>
              </a:rPr>
              <a:t>✔</a:t>
            </a:r>
            <a:endParaRPr lang="en-US" sz="1000" dirty="0"/>
          </a:p>
        </p:txBody>
      </p:sp>
      <p:sp>
        <p:nvSpPr>
          <p:cNvPr id="58" name="Text 55"/>
          <p:cNvSpPr/>
          <p:nvPr/>
        </p:nvSpPr>
        <p:spPr>
          <a:xfrm>
            <a:off x="7040880" y="4864608"/>
            <a:ext cx="3931920" cy="219456"/>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Dynamic Banner Reservation</a:t>
            </a:r>
            <a:endParaRPr lang="en-US" sz="1100" dirty="0"/>
          </a:p>
        </p:txBody>
      </p:sp>
      <p:sp>
        <p:nvSpPr>
          <p:cNvPr id="59" name="Text 56"/>
          <p:cNvSpPr/>
          <p:nvPr/>
        </p:nvSpPr>
        <p:spPr>
          <a:xfrm>
            <a:off x="7040880" y="5084064"/>
            <a:ext cx="3931920" cy="237744"/>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Cart drawers and popovers overlay without displacing page content</a:t>
            </a:r>
            <a:endParaRPr lang="en-US" sz="850" dirty="0"/>
          </a:p>
        </p:txBody>
      </p:sp>
      <p:sp>
        <p:nvSpPr>
          <p:cNvPr id="60" name="Text 57"/>
          <p:cNvSpPr/>
          <p:nvPr/>
        </p:nvSpPr>
        <p:spPr>
          <a:xfrm>
            <a:off x="6492240" y="5532120"/>
            <a:ext cx="4709160" cy="411480"/>
          </a:xfrm>
          <a:prstGeom prst="rect">
            <a:avLst/>
          </a:prstGeom>
          <a:noFill/>
          <a:ln/>
        </p:spPr>
        <p:txBody>
          <a:bodyPr wrap="square" rtlCol="0" anchor="ctr"/>
          <a:lstStyle/>
          <a:p>
            <a:pPr indent="0" marL="0">
              <a:lnSpc>
                <a:spcPts val="1300"/>
              </a:lnSpc>
              <a:buNone/>
            </a:pPr>
            <a:r>
              <a:rPr lang="en-US" sz="950" dirty="0">
                <a:solidFill>
                  <a:srgbClr val="64748B"/>
                </a:solidFill>
                <a:latin typeface="Plus Jakarta Sans" pitchFamily="34" charset="0"/>
                <a:ea typeface="Plus Jakarta Sans" pitchFamily="34" charset="-122"/>
                <a:cs typeface="Plus Jakarta Sans" pitchFamily="34" charset="-120"/>
              </a:rPr>
              <a:t>Status: HEALTHY (Passed) — Target: under 0.1. Measures whether content shifts unexpectedly during page load.</a:t>
            </a:r>
            <a:endParaRPr lang="en-US" sz="950" dirty="0"/>
          </a:p>
        </p:txBody>
      </p:sp>
      <p:sp>
        <p:nvSpPr>
          <p:cNvPr id="61" name="Shape 58"/>
          <p:cNvSpPr/>
          <p:nvPr/>
        </p:nvSpPr>
        <p:spPr>
          <a:xfrm>
            <a:off x="731520" y="6217920"/>
            <a:ext cx="10725912" cy="384048"/>
          </a:xfrm>
          <a:prstGeom prst="roundRect">
            <a:avLst>
              <a:gd name="adj" fmla="val 19048"/>
            </a:avLst>
          </a:prstGeom>
          <a:solidFill>
            <a:srgbClr val="F1F5F9"/>
          </a:solidFill>
          <a:ln w="12700">
            <a:solidFill>
              <a:srgbClr val="E2E8F0"/>
            </a:solidFill>
            <a:prstDash val="solid"/>
          </a:ln>
        </p:spPr>
      </p:sp>
      <p:sp>
        <p:nvSpPr>
          <p:cNvPr id="62" name="Text 59"/>
          <p:cNvSpPr/>
          <p:nvPr/>
        </p:nvSpPr>
        <p:spPr>
          <a:xfrm>
            <a:off x="960120" y="6217920"/>
            <a:ext cx="10332720" cy="384048"/>
          </a:xfrm>
          <a:prstGeom prst="rect">
            <a:avLst/>
          </a:prstGeom>
          <a:noFill/>
          <a:ln/>
        </p:spPr>
        <p:txBody>
          <a:bodyPr wrap="square" rtlCol="0" anchor="ctr"/>
          <a:lstStyle/>
          <a:p>
            <a:pPr indent="0" marL="0">
              <a:buNone/>
            </a:pPr>
            <a:r>
              <a:rPr lang="en-US" sz="950" b="1" dirty="0">
                <a:solidFill>
                  <a:srgbClr val="334155"/>
                </a:solidFill>
                <a:latin typeface="Plus Jakarta Sans" pitchFamily="34" charset="0"/>
                <a:ea typeface="Plus Jakarta Sans" pitchFamily="34" charset="-122"/>
                <a:cs typeface="Plus Jakarta Sans" pitchFamily="34" charset="-120"/>
              </a:rPr>
              <a:t>✔  Core Web Vitals Pass: Both LCP and CLS satisfy Google's strict Page Experience thresholds, protecting search rankings.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PageSpeed Insights</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Desktop Performance Optimization (Before vs After)</a:t>
            </a:r>
            <a:endParaRPr lang="en-US" sz="2600" dirty="0"/>
          </a:p>
        </p:txBody>
      </p:sp>
      <p:sp>
        <p:nvSpPr>
          <p:cNvPr id="5" name="Shape 2"/>
          <p:cNvSpPr/>
          <p:nvPr/>
        </p:nvSpPr>
        <p:spPr>
          <a:xfrm>
            <a:off x="731520" y="1508760"/>
            <a:ext cx="5120640" cy="4526280"/>
          </a:xfrm>
          <a:prstGeom prst="roundRect">
            <a:avLst>
              <a:gd name="adj" fmla="val 2020"/>
            </a:avLst>
          </a:prstGeom>
          <a:solidFill>
            <a:srgbClr val="F8FAFC"/>
          </a:solidFill>
          <a:ln w="12700">
            <a:solidFill>
              <a:srgbClr val="E2E8F0"/>
            </a:solidFill>
            <a:prstDash val="solid"/>
          </a:ln>
        </p:spPr>
      </p:sp>
      <p:sp>
        <p:nvSpPr>
          <p:cNvPr id="6" name="Text 3"/>
          <p:cNvSpPr/>
          <p:nvPr/>
        </p:nvSpPr>
        <p:spPr>
          <a:xfrm>
            <a:off x="1005840" y="1691640"/>
            <a:ext cx="3291840" cy="256032"/>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DESKTOP PERFORMANCE COMPARISON (PAGESPEED)</a:t>
            </a:r>
            <a:endParaRPr lang="en-US" sz="1000" dirty="0"/>
          </a:p>
        </p:txBody>
      </p:sp>
      <p:sp>
        <p:nvSpPr>
          <p:cNvPr id="7" name="Shape 4"/>
          <p:cNvSpPr/>
          <p:nvPr/>
        </p:nvSpPr>
        <p:spPr>
          <a:xfrm>
            <a:off x="4251960" y="1664208"/>
            <a:ext cx="1371600" cy="292608"/>
          </a:xfrm>
          <a:prstGeom prst="roundRect">
            <a:avLst>
              <a:gd name="adj" fmla="val 50000"/>
            </a:avLst>
          </a:prstGeom>
          <a:solidFill>
            <a:srgbClr val="ECFDF5"/>
          </a:solidFill>
          <a:ln w="12700">
            <a:solidFill>
              <a:srgbClr val="10B981"/>
            </a:solidFill>
            <a:prstDash val="solid"/>
          </a:ln>
        </p:spPr>
      </p:sp>
      <p:sp>
        <p:nvSpPr>
          <p:cNvPr id="8" name="Text 5"/>
          <p:cNvSpPr/>
          <p:nvPr/>
        </p:nvSpPr>
        <p:spPr>
          <a:xfrm>
            <a:off x="4251960" y="1664208"/>
            <a:ext cx="1371600" cy="292608"/>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+12 Points Optimization Lift</a:t>
            </a:r>
            <a:endParaRPr lang="en-US" sz="900" dirty="0"/>
          </a:p>
        </p:txBody>
      </p:sp>
      <p:graphicFrame>
        <p:nvGraphicFramePr>
          <p:cNvPr id="9" name="Chart 0" descr=""/>
          <p:cNvGraphicFramePr/>
          <p:nvPr/>
        </p:nvGraphicFramePr>
        <p:xfrm>
          <a:off x="914400" y="1965960"/>
          <a:ext cx="4754880" cy="201168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1005840" y="4069080"/>
            <a:ext cx="2240280" cy="822960"/>
          </a:xfrm>
          <a:prstGeom prst="roundRect">
            <a:avLst>
              <a:gd name="adj" fmla="val 8889"/>
            </a:avLst>
          </a:prstGeom>
          <a:solidFill>
            <a:srgbClr val="F8FAFC"/>
          </a:solidFill>
          <a:ln w="12700">
            <a:solidFill>
              <a:srgbClr val="E2E8F0"/>
            </a:solidFill>
            <a:prstDash val="solid"/>
          </a:ln>
        </p:spPr>
      </p:sp>
      <p:sp>
        <p:nvSpPr>
          <p:cNvPr id="11" name="Text 7"/>
          <p:cNvSpPr/>
          <p:nvPr/>
        </p:nvSpPr>
        <p:spPr>
          <a:xfrm>
            <a:off x="1005840" y="4160520"/>
            <a:ext cx="2240280" cy="182880"/>
          </a:xfrm>
          <a:prstGeom prst="rect">
            <a:avLst/>
          </a:prstGeom>
          <a:noFill/>
          <a:ln/>
        </p:spPr>
        <p:txBody>
          <a:bodyPr wrap="square" rtlCol="0" anchor="ctr"/>
          <a:lstStyle/>
          <a:p>
            <a:pPr algn="ctr" indent="0" marL="0">
              <a:buNone/>
            </a:pPr>
            <a:r>
              <a:rPr lang="en-US" sz="800" b="1" dirty="0">
                <a:solidFill>
                  <a:srgbClr val="64748B"/>
                </a:solidFill>
                <a:latin typeface="Plus Jakarta Sans" pitchFamily="34" charset="0"/>
                <a:ea typeface="Plus Jakarta Sans" pitchFamily="34" charset="-122"/>
                <a:cs typeface="Plus Jakarta Sans" pitchFamily="34" charset="-120"/>
              </a:rPr>
              <a:t>BEFORE AUDIT SCORE</a:t>
            </a:r>
            <a:endParaRPr lang="en-US" sz="800" dirty="0"/>
          </a:p>
        </p:txBody>
      </p:sp>
      <p:sp>
        <p:nvSpPr>
          <p:cNvPr id="12" name="Text 8"/>
          <p:cNvSpPr/>
          <p:nvPr/>
        </p:nvSpPr>
        <p:spPr>
          <a:xfrm>
            <a:off x="1005840" y="4361688"/>
            <a:ext cx="2240280" cy="411480"/>
          </a:xfrm>
          <a:prstGeom prst="rect">
            <a:avLst/>
          </a:prstGeom>
          <a:noFill/>
          <a:ln/>
        </p:spPr>
        <p:txBody>
          <a:bodyPr wrap="square" rtlCol="0" anchor="ctr"/>
          <a:lstStyle/>
          <a:p>
            <a:pPr algn="ctr" indent="0" marL="0">
              <a:buNone/>
            </a:pPr>
            <a:r>
              <a:rPr lang="en-US" sz="2200" b="1" dirty="0">
                <a:solidFill>
                  <a:srgbClr val="64748B"/>
                </a:solidFill>
                <a:latin typeface="Outfit" pitchFamily="34" charset="0"/>
                <a:ea typeface="Outfit" pitchFamily="34" charset="-122"/>
                <a:cs typeface="Outfit" pitchFamily="34" charset="-120"/>
              </a:rPr>
              <a:t>80 / 100</a:t>
            </a:r>
            <a:endParaRPr lang="en-US" sz="2200" dirty="0"/>
          </a:p>
        </p:txBody>
      </p:sp>
      <p:sp>
        <p:nvSpPr>
          <p:cNvPr id="13" name="Shape 9"/>
          <p:cNvSpPr/>
          <p:nvPr/>
        </p:nvSpPr>
        <p:spPr>
          <a:xfrm>
            <a:off x="3337560" y="4069080"/>
            <a:ext cx="2240280" cy="822960"/>
          </a:xfrm>
          <a:prstGeom prst="roundRect">
            <a:avLst>
              <a:gd name="adj" fmla="val 8889"/>
            </a:avLst>
          </a:prstGeom>
          <a:solidFill>
            <a:srgbClr val="ECFDF5"/>
          </a:solidFill>
          <a:ln w="12700">
            <a:solidFill>
              <a:srgbClr val="10B981"/>
            </a:solidFill>
            <a:prstDash val="solid"/>
          </a:ln>
        </p:spPr>
      </p:sp>
      <p:sp>
        <p:nvSpPr>
          <p:cNvPr id="14" name="Text 10"/>
          <p:cNvSpPr/>
          <p:nvPr/>
        </p:nvSpPr>
        <p:spPr>
          <a:xfrm>
            <a:off x="3337560" y="4160520"/>
            <a:ext cx="2240280" cy="182880"/>
          </a:xfrm>
          <a:prstGeom prst="rect">
            <a:avLst/>
          </a:prstGeom>
          <a:noFill/>
          <a:ln/>
        </p:spPr>
        <p:txBody>
          <a:bodyPr wrap="square" rtlCol="0" anchor="ctr"/>
          <a:lstStyle/>
          <a:p>
            <a:pPr algn="ctr" indent="0" marL="0">
              <a:buNone/>
            </a:pPr>
            <a:r>
              <a:rPr lang="en-US" sz="800" b="1" dirty="0">
                <a:solidFill>
                  <a:srgbClr val="047857"/>
                </a:solidFill>
                <a:latin typeface="Plus Jakarta Sans" pitchFamily="34" charset="0"/>
                <a:ea typeface="Plus Jakarta Sans" pitchFamily="34" charset="-122"/>
                <a:cs typeface="Plus Jakarta Sans" pitchFamily="34" charset="-120"/>
              </a:rPr>
              <a:t>AFTER OPTIMIZATION</a:t>
            </a:r>
            <a:endParaRPr lang="en-US" sz="800" dirty="0"/>
          </a:p>
        </p:txBody>
      </p:sp>
      <p:sp>
        <p:nvSpPr>
          <p:cNvPr id="15" name="Text 11"/>
          <p:cNvSpPr/>
          <p:nvPr/>
        </p:nvSpPr>
        <p:spPr>
          <a:xfrm>
            <a:off x="3337560" y="4361688"/>
            <a:ext cx="2240280" cy="411480"/>
          </a:xfrm>
          <a:prstGeom prst="rect">
            <a:avLst/>
          </a:prstGeom>
          <a:noFill/>
          <a:ln/>
        </p:spPr>
        <p:txBody>
          <a:bodyPr wrap="square" rtlCol="0" anchor="ctr"/>
          <a:lstStyle/>
          <a:p>
            <a:pPr algn="ctr" indent="0" marL="0">
              <a:buNone/>
            </a:pPr>
            <a:r>
              <a:rPr lang="en-US" sz="2200" b="1" dirty="0">
                <a:solidFill>
                  <a:srgbClr val="047857"/>
                </a:solidFill>
                <a:latin typeface="Outfit" pitchFamily="34" charset="0"/>
                <a:ea typeface="Outfit" pitchFamily="34" charset="-122"/>
                <a:cs typeface="Outfit" pitchFamily="34" charset="-120"/>
              </a:rPr>
              <a:t>92 / 100</a:t>
            </a:r>
            <a:endParaRPr lang="en-US" sz="2200" dirty="0"/>
          </a:p>
        </p:txBody>
      </p:sp>
      <p:sp>
        <p:nvSpPr>
          <p:cNvPr id="16" name="Text 12"/>
          <p:cNvSpPr/>
          <p:nvPr/>
        </p:nvSpPr>
        <p:spPr>
          <a:xfrm>
            <a:off x="1005840" y="5029200"/>
            <a:ext cx="4572000" cy="868680"/>
          </a:xfrm>
          <a:prstGeom prst="rect">
            <a:avLst/>
          </a:prstGeom>
          <a:noFill/>
          <a:ln/>
        </p:spPr>
        <p:txBody>
          <a:bodyPr wrap="square" rtlCol="0" anchor="ctr"/>
          <a:lstStyle/>
          <a:p>
            <a:pPr indent="0" marL="0">
              <a:lnSpc>
                <a:spcPts val="1400"/>
              </a:lnSpc>
              <a:buNone/>
            </a:pPr>
            <a:r>
              <a:rPr lang="en-US" sz="1050" dirty="0">
                <a:solidFill>
                  <a:srgbClr val="64748B"/>
                </a:solidFill>
                <a:latin typeface="Plus Jakarta Sans" pitchFamily="34" charset="0"/>
                <a:ea typeface="Plus Jakarta Sans" pitchFamily="34" charset="-122"/>
                <a:cs typeface="Plus Jakarta Sans" pitchFamily="34" charset="-120"/>
              </a:rPr>
              <a:t>Desktop performance score increased by +12 points (from 80 Before to 92 After out of 100), accelerating product page loading.</a:t>
            </a:r>
            <a:endParaRPr lang="en-US" sz="1050" dirty="0"/>
          </a:p>
        </p:txBody>
      </p:sp>
      <p:sp>
        <p:nvSpPr>
          <p:cNvPr id="17" name="Shape 13"/>
          <p:cNvSpPr/>
          <p:nvPr/>
        </p:nvSpPr>
        <p:spPr>
          <a:xfrm>
            <a:off x="6217920" y="1508760"/>
            <a:ext cx="5239512" cy="4526280"/>
          </a:xfrm>
          <a:prstGeom prst="roundRect">
            <a:avLst>
              <a:gd name="adj" fmla="val 2020"/>
            </a:avLst>
          </a:prstGeom>
          <a:solidFill>
            <a:srgbClr val="F8FAFC"/>
          </a:solidFill>
          <a:ln w="12700">
            <a:solidFill>
              <a:srgbClr val="E2E8F0"/>
            </a:solidFill>
            <a:prstDash val="solid"/>
          </a:ln>
        </p:spPr>
      </p:sp>
      <p:sp>
        <p:nvSpPr>
          <p:cNvPr id="18" name="Text 14"/>
          <p:cNvSpPr/>
          <p:nvPr/>
        </p:nvSpPr>
        <p:spPr>
          <a:xfrm>
            <a:off x="6492240" y="1691640"/>
            <a:ext cx="4572000" cy="256032"/>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DESKTOP STOREFRONT AUDIT RATINGS</a:t>
            </a:r>
            <a:endParaRPr lang="en-US" sz="1000" dirty="0"/>
          </a:p>
        </p:txBody>
      </p:sp>
      <p:sp>
        <p:nvSpPr>
          <p:cNvPr id="19" name="Text 15"/>
          <p:cNvSpPr/>
          <p:nvPr/>
        </p:nvSpPr>
        <p:spPr>
          <a:xfrm>
            <a:off x="6492240" y="2057400"/>
            <a:ext cx="3291840" cy="228600"/>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Accessibility (WCAG 2.1)</a:t>
            </a:r>
            <a:endParaRPr lang="en-US" sz="1100" dirty="0"/>
          </a:p>
        </p:txBody>
      </p:sp>
      <p:sp>
        <p:nvSpPr>
          <p:cNvPr id="20" name="Shape 16"/>
          <p:cNvSpPr/>
          <p:nvPr/>
        </p:nvSpPr>
        <p:spPr>
          <a:xfrm>
            <a:off x="10149840" y="2020824"/>
            <a:ext cx="1051560" cy="256032"/>
          </a:xfrm>
          <a:prstGeom prst="roundRect">
            <a:avLst>
              <a:gd name="adj" fmla="val 50000"/>
            </a:avLst>
          </a:prstGeom>
          <a:solidFill>
            <a:srgbClr val="ECFDF5"/>
          </a:solidFill>
          <a:ln w="12700">
            <a:solidFill>
              <a:srgbClr val="10B981"/>
            </a:solidFill>
            <a:prstDash val="solid"/>
          </a:ln>
        </p:spPr>
      </p:sp>
      <p:sp>
        <p:nvSpPr>
          <p:cNvPr id="21" name="Text 17"/>
          <p:cNvSpPr/>
          <p:nvPr/>
        </p:nvSpPr>
        <p:spPr>
          <a:xfrm>
            <a:off x="10149840" y="2020824"/>
            <a:ext cx="1051560" cy="256032"/>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87 / 100</a:t>
            </a:r>
            <a:endParaRPr lang="en-US" sz="900" dirty="0"/>
          </a:p>
        </p:txBody>
      </p:sp>
      <p:sp>
        <p:nvSpPr>
          <p:cNvPr id="22" name="Shape 18"/>
          <p:cNvSpPr/>
          <p:nvPr/>
        </p:nvSpPr>
        <p:spPr>
          <a:xfrm>
            <a:off x="6492240" y="2350008"/>
            <a:ext cx="4709160" cy="146304"/>
          </a:xfrm>
          <a:prstGeom prst="roundRect">
            <a:avLst>
              <a:gd name="adj" fmla="val 50000"/>
            </a:avLst>
          </a:prstGeom>
          <a:solidFill>
            <a:srgbClr val="E2E8F0"/>
          </a:solidFill>
          <a:ln w="12700">
            <a:solidFill>
              <a:srgbClr val="E2E8F0"/>
            </a:solidFill>
            <a:prstDash val="solid"/>
          </a:ln>
        </p:spPr>
      </p:sp>
      <p:sp>
        <p:nvSpPr>
          <p:cNvPr id="23" name="Shape 19"/>
          <p:cNvSpPr/>
          <p:nvPr/>
        </p:nvSpPr>
        <p:spPr>
          <a:xfrm>
            <a:off x="6492240" y="2350008"/>
            <a:ext cx="4096969" cy="146304"/>
          </a:xfrm>
          <a:prstGeom prst="roundRect">
            <a:avLst>
              <a:gd name="adj" fmla="val 50000"/>
            </a:avLst>
          </a:prstGeom>
          <a:solidFill>
            <a:srgbClr val="10B981"/>
          </a:solidFill>
          <a:ln w="12700">
            <a:solidFill>
              <a:srgbClr val="10B981"/>
            </a:solidFill>
            <a:prstDash val="solid"/>
          </a:ln>
        </p:spPr>
      </p:sp>
      <p:sp>
        <p:nvSpPr>
          <p:cNvPr id="24" name="Text 20"/>
          <p:cNvSpPr/>
          <p:nvPr/>
        </p:nvSpPr>
        <p:spPr>
          <a:xfrm>
            <a:off x="6492240" y="2862072"/>
            <a:ext cx="3291840" cy="228600"/>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Best Practices &amp; Security</a:t>
            </a:r>
            <a:endParaRPr lang="en-US" sz="1100" dirty="0"/>
          </a:p>
        </p:txBody>
      </p:sp>
      <p:sp>
        <p:nvSpPr>
          <p:cNvPr id="25" name="Shape 21"/>
          <p:cNvSpPr/>
          <p:nvPr/>
        </p:nvSpPr>
        <p:spPr>
          <a:xfrm>
            <a:off x="10149840" y="2825496"/>
            <a:ext cx="1051560" cy="256032"/>
          </a:xfrm>
          <a:prstGeom prst="roundRect">
            <a:avLst>
              <a:gd name="adj" fmla="val 50000"/>
            </a:avLst>
          </a:prstGeom>
          <a:solidFill>
            <a:srgbClr val="ECFDF5"/>
          </a:solidFill>
          <a:ln w="12700">
            <a:solidFill>
              <a:srgbClr val="10B981"/>
            </a:solidFill>
            <a:prstDash val="solid"/>
          </a:ln>
        </p:spPr>
      </p:sp>
      <p:sp>
        <p:nvSpPr>
          <p:cNvPr id="26" name="Text 22"/>
          <p:cNvSpPr/>
          <p:nvPr/>
        </p:nvSpPr>
        <p:spPr>
          <a:xfrm>
            <a:off x="10149840" y="2825496"/>
            <a:ext cx="1051560" cy="256032"/>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100 / 100</a:t>
            </a:r>
            <a:endParaRPr lang="en-US" sz="900" dirty="0"/>
          </a:p>
        </p:txBody>
      </p:sp>
      <p:sp>
        <p:nvSpPr>
          <p:cNvPr id="27" name="Shape 23"/>
          <p:cNvSpPr/>
          <p:nvPr/>
        </p:nvSpPr>
        <p:spPr>
          <a:xfrm>
            <a:off x="6492240" y="3154680"/>
            <a:ext cx="4709160" cy="146304"/>
          </a:xfrm>
          <a:prstGeom prst="roundRect">
            <a:avLst>
              <a:gd name="adj" fmla="val 50000"/>
            </a:avLst>
          </a:prstGeom>
          <a:solidFill>
            <a:srgbClr val="E2E8F0"/>
          </a:solidFill>
          <a:ln w="12700">
            <a:solidFill>
              <a:srgbClr val="E2E8F0"/>
            </a:solidFill>
            <a:prstDash val="solid"/>
          </a:ln>
        </p:spPr>
      </p:sp>
      <p:sp>
        <p:nvSpPr>
          <p:cNvPr id="28" name="Shape 24"/>
          <p:cNvSpPr/>
          <p:nvPr/>
        </p:nvSpPr>
        <p:spPr>
          <a:xfrm>
            <a:off x="6492240" y="3154680"/>
            <a:ext cx="4709160" cy="146304"/>
          </a:xfrm>
          <a:prstGeom prst="roundRect">
            <a:avLst>
              <a:gd name="adj" fmla="val 50000"/>
            </a:avLst>
          </a:prstGeom>
          <a:solidFill>
            <a:srgbClr val="10B981"/>
          </a:solidFill>
          <a:ln w="12700">
            <a:solidFill>
              <a:srgbClr val="10B981"/>
            </a:solidFill>
            <a:prstDash val="solid"/>
          </a:ln>
        </p:spPr>
      </p:sp>
      <p:sp>
        <p:nvSpPr>
          <p:cNvPr id="29" name="Text 25"/>
          <p:cNvSpPr/>
          <p:nvPr/>
        </p:nvSpPr>
        <p:spPr>
          <a:xfrm>
            <a:off x="6492240" y="3666744"/>
            <a:ext cx="3291840" cy="228600"/>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Search Engine Optimization (SEO)</a:t>
            </a:r>
            <a:endParaRPr lang="en-US" sz="1100" dirty="0"/>
          </a:p>
        </p:txBody>
      </p:sp>
      <p:sp>
        <p:nvSpPr>
          <p:cNvPr id="30" name="Shape 26"/>
          <p:cNvSpPr/>
          <p:nvPr/>
        </p:nvSpPr>
        <p:spPr>
          <a:xfrm>
            <a:off x="10149840" y="3630168"/>
            <a:ext cx="1051560" cy="256032"/>
          </a:xfrm>
          <a:prstGeom prst="roundRect">
            <a:avLst>
              <a:gd name="adj" fmla="val 50000"/>
            </a:avLst>
          </a:prstGeom>
          <a:solidFill>
            <a:srgbClr val="ECFDF5"/>
          </a:solidFill>
          <a:ln w="12700">
            <a:solidFill>
              <a:srgbClr val="10B981"/>
            </a:solidFill>
            <a:prstDash val="solid"/>
          </a:ln>
        </p:spPr>
      </p:sp>
      <p:sp>
        <p:nvSpPr>
          <p:cNvPr id="31" name="Text 27"/>
          <p:cNvSpPr/>
          <p:nvPr/>
        </p:nvSpPr>
        <p:spPr>
          <a:xfrm>
            <a:off x="10149840" y="3630168"/>
            <a:ext cx="1051560" cy="256032"/>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100 / 100</a:t>
            </a:r>
            <a:endParaRPr lang="en-US" sz="900" dirty="0"/>
          </a:p>
        </p:txBody>
      </p:sp>
      <p:sp>
        <p:nvSpPr>
          <p:cNvPr id="32" name="Shape 28"/>
          <p:cNvSpPr/>
          <p:nvPr/>
        </p:nvSpPr>
        <p:spPr>
          <a:xfrm>
            <a:off x="6492240" y="3959352"/>
            <a:ext cx="4709160" cy="146304"/>
          </a:xfrm>
          <a:prstGeom prst="roundRect">
            <a:avLst>
              <a:gd name="adj" fmla="val 50000"/>
            </a:avLst>
          </a:prstGeom>
          <a:solidFill>
            <a:srgbClr val="E2E8F0"/>
          </a:solidFill>
          <a:ln w="12700">
            <a:solidFill>
              <a:srgbClr val="E2E8F0"/>
            </a:solidFill>
            <a:prstDash val="solid"/>
          </a:ln>
        </p:spPr>
      </p:sp>
      <p:sp>
        <p:nvSpPr>
          <p:cNvPr id="33" name="Shape 29"/>
          <p:cNvSpPr/>
          <p:nvPr/>
        </p:nvSpPr>
        <p:spPr>
          <a:xfrm>
            <a:off x="6492240" y="3959352"/>
            <a:ext cx="4709160" cy="146304"/>
          </a:xfrm>
          <a:prstGeom prst="roundRect">
            <a:avLst>
              <a:gd name="adj" fmla="val 50000"/>
            </a:avLst>
          </a:prstGeom>
          <a:solidFill>
            <a:srgbClr val="10B981"/>
          </a:solidFill>
          <a:ln w="12700">
            <a:solidFill>
              <a:srgbClr val="10B981"/>
            </a:solidFill>
            <a:prstDash val="solid"/>
          </a:ln>
        </p:spPr>
      </p:sp>
      <p:sp>
        <p:nvSpPr>
          <p:cNvPr id="34" name="Text 30"/>
          <p:cNvSpPr/>
          <p:nvPr/>
        </p:nvSpPr>
        <p:spPr>
          <a:xfrm>
            <a:off x="6492240" y="4471416"/>
            <a:ext cx="3291840" cy="228600"/>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Agentic AI &amp; Voice Search Readiness</a:t>
            </a:r>
            <a:endParaRPr lang="en-US" sz="1100" dirty="0"/>
          </a:p>
        </p:txBody>
      </p:sp>
      <p:sp>
        <p:nvSpPr>
          <p:cNvPr id="35" name="Shape 31"/>
          <p:cNvSpPr/>
          <p:nvPr/>
        </p:nvSpPr>
        <p:spPr>
          <a:xfrm>
            <a:off x="10149840" y="4434840"/>
            <a:ext cx="1051560" cy="256032"/>
          </a:xfrm>
          <a:prstGeom prst="roundRect">
            <a:avLst>
              <a:gd name="adj" fmla="val 50000"/>
            </a:avLst>
          </a:prstGeom>
          <a:solidFill>
            <a:srgbClr val="ECFDF5"/>
          </a:solidFill>
          <a:ln w="12700">
            <a:solidFill>
              <a:srgbClr val="0EA5E9"/>
            </a:solidFill>
            <a:prstDash val="solid"/>
          </a:ln>
        </p:spPr>
      </p:sp>
      <p:sp>
        <p:nvSpPr>
          <p:cNvPr id="36" name="Text 32"/>
          <p:cNvSpPr/>
          <p:nvPr/>
        </p:nvSpPr>
        <p:spPr>
          <a:xfrm>
            <a:off x="10149840" y="4434840"/>
            <a:ext cx="1051560" cy="256032"/>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100% Ready</a:t>
            </a:r>
            <a:endParaRPr lang="en-US" sz="900" dirty="0"/>
          </a:p>
        </p:txBody>
      </p:sp>
      <p:sp>
        <p:nvSpPr>
          <p:cNvPr id="37" name="Shape 33"/>
          <p:cNvSpPr/>
          <p:nvPr/>
        </p:nvSpPr>
        <p:spPr>
          <a:xfrm>
            <a:off x="6492240" y="4764024"/>
            <a:ext cx="4709160" cy="146304"/>
          </a:xfrm>
          <a:prstGeom prst="roundRect">
            <a:avLst>
              <a:gd name="adj" fmla="val 50000"/>
            </a:avLst>
          </a:prstGeom>
          <a:solidFill>
            <a:srgbClr val="E2E8F0"/>
          </a:solidFill>
          <a:ln w="12700">
            <a:solidFill>
              <a:srgbClr val="E2E8F0"/>
            </a:solidFill>
            <a:prstDash val="solid"/>
          </a:ln>
        </p:spPr>
      </p:sp>
      <p:sp>
        <p:nvSpPr>
          <p:cNvPr id="38" name="Shape 34"/>
          <p:cNvSpPr/>
          <p:nvPr/>
        </p:nvSpPr>
        <p:spPr>
          <a:xfrm>
            <a:off x="6492240" y="4764024"/>
            <a:ext cx="4709160" cy="146304"/>
          </a:xfrm>
          <a:prstGeom prst="roundRect">
            <a:avLst>
              <a:gd name="adj" fmla="val 50000"/>
            </a:avLst>
          </a:prstGeom>
          <a:solidFill>
            <a:srgbClr val="0EA5E9"/>
          </a:solidFill>
          <a:ln w="12700">
            <a:solidFill>
              <a:srgbClr val="0EA5E9"/>
            </a:solidFill>
            <a:prstDash val="solid"/>
          </a:ln>
        </p:spPr>
      </p:sp>
      <p:sp>
        <p:nvSpPr>
          <p:cNvPr id="39" name="Shape 35"/>
          <p:cNvSpPr/>
          <p:nvPr/>
        </p:nvSpPr>
        <p:spPr>
          <a:xfrm>
            <a:off x="6492240" y="5285232"/>
            <a:ext cx="4709160" cy="621792"/>
          </a:xfrm>
          <a:prstGeom prst="roundRect">
            <a:avLst>
              <a:gd name="adj" fmla="val 11765"/>
            </a:avLst>
          </a:prstGeom>
          <a:solidFill>
            <a:srgbClr val="F8FAFC"/>
          </a:solidFill>
          <a:ln w="12700">
            <a:solidFill>
              <a:srgbClr val="E2E8F0"/>
            </a:solidFill>
            <a:prstDash val="solid"/>
          </a:ln>
        </p:spPr>
      </p:sp>
      <p:sp>
        <p:nvSpPr>
          <p:cNvPr id="40" name="Text 36"/>
          <p:cNvSpPr/>
          <p:nvPr/>
        </p:nvSpPr>
        <p:spPr>
          <a:xfrm>
            <a:off x="6629400" y="5321808"/>
            <a:ext cx="4434840" cy="548640"/>
          </a:xfrm>
          <a:prstGeom prst="rect">
            <a:avLst/>
          </a:prstGeom>
          <a:noFill/>
          <a:ln/>
        </p:spPr>
        <p:txBody>
          <a:bodyPr wrap="square" rtlCol="0" anchor="ctr"/>
          <a:lstStyle/>
          <a:p>
            <a:pPr indent="0" marL="0">
              <a:lnSpc>
                <a:spcPts val="1300"/>
              </a:lnSpc>
              <a:buNone/>
            </a:pPr>
            <a:r>
              <a:rPr lang="en-US" sz="950" dirty="0">
                <a:solidFill>
                  <a:srgbClr val="334155"/>
                </a:solidFill>
                <a:latin typeface="Plus Jakarta Sans" pitchFamily="34" charset="0"/>
                <a:ea typeface="Plus Jakarta Sans" pitchFamily="34" charset="-122"/>
                <a:cs typeface="Plus Jakarta Sans" pitchFamily="34" charset="-120"/>
              </a:rPr>
              <a:t>✔  High desktop scores ensure fast catalog search, quick product rendering, and reduced bounce rates for large-screen shoppers.</a:t>
            </a:r>
            <a:endParaRPr lang="en-US" sz="950" dirty="0"/>
          </a:p>
        </p:txBody>
      </p:sp>
      <p:sp>
        <p:nvSpPr>
          <p:cNvPr id="41" name="Shape 37"/>
          <p:cNvSpPr/>
          <p:nvPr/>
        </p:nvSpPr>
        <p:spPr>
          <a:xfrm>
            <a:off x="731520" y="6217920"/>
            <a:ext cx="10725912" cy="384048"/>
          </a:xfrm>
          <a:prstGeom prst="roundRect">
            <a:avLst>
              <a:gd name="adj" fmla="val 19048"/>
            </a:avLst>
          </a:prstGeom>
          <a:solidFill>
            <a:srgbClr val="F1F5F9"/>
          </a:solidFill>
          <a:ln w="12700">
            <a:solidFill>
              <a:srgbClr val="E2E8F0"/>
            </a:solidFill>
            <a:prstDash val="solid"/>
          </a:ln>
        </p:spPr>
      </p:sp>
      <p:sp>
        <p:nvSpPr>
          <p:cNvPr id="42" name="Text 38"/>
          <p:cNvSpPr/>
          <p:nvPr/>
        </p:nvSpPr>
        <p:spPr>
          <a:xfrm>
            <a:off x="960120" y="6217920"/>
            <a:ext cx="10332720" cy="384048"/>
          </a:xfrm>
          <a:prstGeom prst="rect">
            <a:avLst/>
          </a:prstGeom>
          <a:noFill/>
          <a:ln/>
        </p:spPr>
        <p:txBody>
          <a:bodyPr wrap="square" rtlCol="0" anchor="ctr"/>
          <a:lstStyle/>
          <a:p>
            <a:pPr indent="0" marL="0">
              <a:buNone/>
            </a:pPr>
            <a:r>
              <a:rPr lang="en-US" sz="950" b="1" dirty="0">
                <a:solidFill>
                  <a:srgbClr val="334155"/>
                </a:solidFill>
                <a:latin typeface="Plus Jakarta Sans" pitchFamily="34" charset="0"/>
                <a:ea typeface="Plus Jakarta Sans" pitchFamily="34" charset="-122"/>
                <a:cs typeface="Plus Jakarta Sans" pitchFamily="34" charset="-120"/>
              </a:rPr>
              <a:t>✔  Desktop Performance Audit: 92/100 Performance Score • 87% Accessibility • 100% SEO Rating • 100% Best Practices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PageSpeed Insights</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Mobile Performance Optimization (Before vs After)</a:t>
            </a:r>
            <a:endParaRPr lang="en-US" sz="2600" dirty="0"/>
          </a:p>
        </p:txBody>
      </p:sp>
      <p:sp>
        <p:nvSpPr>
          <p:cNvPr id="5" name="Shape 2"/>
          <p:cNvSpPr/>
          <p:nvPr/>
        </p:nvSpPr>
        <p:spPr>
          <a:xfrm>
            <a:off x="731520" y="1508760"/>
            <a:ext cx="5120640" cy="4526280"/>
          </a:xfrm>
          <a:prstGeom prst="roundRect">
            <a:avLst>
              <a:gd name="adj" fmla="val 2020"/>
            </a:avLst>
          </a:prstGeom>
          <a:solidFill>
            <a:srgbClr val="F8FAFC"/>
          </a:solidFill>
          <a:ln w="12700">
            <a:solidFill>
              <a:srgbClr val="E2E8F0"/>
            </a:solidFill>
            <a:prstDash val="solid"/>
          </a:ln>
        </p:spPr>
      </p:sp>
      <p:sp>
        <p:nvSpPr>
          <p:cNvPr id="6" name="Text 3"/>
          <p:cNvSpPr/>
          <p:nvPr/>
        </p:nvSpPr>
        <p:spPr>
          <a:xfrm>
            <a:off x="1005840" y="1691640"/>
            <a:ext cx="3291840" cy="256032"/>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MOBILE PERFORMANCE COMPARISON (PAGESPEED)</a:t>
            </a:r>
            <a:endParaRPr lang="en-US" sz="1000" dirty="0"/>
          </a:p>
        </p:txBody>
      </p:sp>
      <p:sp>
        <p:nvSpPr>
          <p:cNvPr id="7" name="Shape 4"/>
          <p:cNvSpPr/>
          <p:nvPr/>
        </p:nvSpPr>
        <p:spPr>
          <a:xfrm>
            <a:off x="4251960" y="1664208"/>
            <a:ext cx="1371600" cy="292608"/>
          </a:xfrm>
          <a:prstGeom prst="roundRect">
            <a:avLst>
              <a:gd name="adj" fmla="val 50000"/>
            </a:avLst>
          </a:prstGeom>
          <a:solidFill>
            <a:srgbClr val="F0F9FF"/>
          </a:solidFill>
          <a:ln w="12700">
            <a:solidFill>
              <a:srgbClr val="0EA5E9"/>
            </a:solidFill>
            <a:prstDash val="solid"/>
          </a:ln>
        </p:spPr>
      </p:sp>
      <p:sp>
        <p:nvSpPr>
          <p:cNvPr id="8" name="Text 5"/>
          <p:cNvSpPr/>
          <p:nvPr/>
        </p:nvSpPr>
        <p:spPr>
          <a:xfrm>
            <a:off x="4251960" y="1664208"/>
            <a:ext cx="1371600" cy="292608"/>
          </a:xfrm>
          <a:prstGeom prst="rect">
            <a:avLst/>
          </a:prstGeom>
          <a:noFill/>
          <a:ln/>
        </p:spPr>
        <p:txBody>
          <a:bodyPr wrap="square" rtlCol="0" anchor="ctr"/>
          <a:lstStyle/>
          <a:p>
            <a:pPr algn="ctr" indent="0" marL="0">
              <a:buNone/>
            </a:pPr>
            <a:r>
              <a:rPr lang="en-US" sz="900" b="1" dirty="0">
                <a:solidFill>
                  <a:srgbClr val="075985"/>
                </a:solidFill>
                <a:latin typeface="Plus Jakarta Sans" pitchFamily="34" charset="0"/>
                <a:ea typeface="Plus Jakarta Sans" pitchFamily="34" charset="-122"/>
                <a:cs typeface="Plus Jakarta Sans" pitchFamily="34" charset="-120"/>
              </a:rPr>
              <a:t>+12 Points Mobile Lift</a:t>
            </a:r>
            <a:endParaRPr lang="en-US" sz="900" dirty="0"/>
          </a:p>
        </p:txBody>
      </p:sp>
      <p:graphicFrame>
        <p:nvGraphicFramePr>
          <p:cNvPr id="9" name="Chart 0" descr=""/>
          <p:cNvGraphicFramePr/>
          <p:nvPr/>
        </p:nvGraphicFramePr>
        <p:xfrm>
          <a:off x="914400" y="1965960"/>
          <a:ext cx="4754880" cy="201168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1005840" y="4069080"/>
            <a:ext cx="2240280" cy="822960"/>
          </a:xfrm>
          <a:prstGeom prst="roundRect">
            <a:avLst>
              <a:gd name="adj" fmla="val 8889"/>
            </a:avLst>
          </a:prstGeom>
          <a:solidFill>
            <a:srgbClr val="F8FAFC"/>
          </a:solidFill>
          <a:ln w="12700">
            <a:solidFill>
              <a:srgbClr val="E2E8F0"/>
            </a:solidFill>
            <a:prstDash val="solid"/>
          </a:ln>
        </p:spPr>
      </p:sp>
      <p:sp>
        <p:nvSpPr>
          <p:cNvPr id="11" name="Text 7"/>
          <p:cNvSpPr/>
          <p:nvPr/>
        </p:nvSpPr>
        <p:spPr>
          <a:xfrm>
            <a:off x="1005840" y="4160520"/>
            <a:ext cx="2240280" cy="182880"/>
          </a:xfrm>
          <a:prstGeom prst="rect">
            <a:avLst/>
          </a:prstGeom>
          <a:noFill/>
          <a:ln/>
        </p:spPr>
        <p:txBody>
          <a:bodyPr wrap="square" rtlCol="0" anchor="ctr"/>
          <a:lstStyle/>
          <a:p>
            <a:pPr algn="ctr" indent="0" marL="0">
              <a:buNone/>
            </a:pPr>
            <a:r>
              <a:rPr lang="en-US" sz="800" b="1" dirty="0">
                <a:solidFill>
                  <a:srgbClr val="64748B"/>
                </a:solidFill>
                <a:latin typeface="Plus Jakarta Sans" pitchFamily="34" charset="0"/>
                <a:ea typeface="Plus Jakarta Sans" pitchFamily="34" charset="-122"/>
                <a:cs typeface="Plus Jakarta Sans" pitchFamily="34" charset="-120"/>
              </a:rPr>
              <a:t>BEFORE AUDIT SCORE</a:t>
            </a:r>
            <a:endParaRPr lang="en-US" sz="800" dirty="0"/>
          </a:p>
        </p:txBody>
      </p:sp>
      <p:sp>
        <p:nvSpPr>
          <p:cNvPr id="12" name="Text 8"/>
          <p:cNvSpPr/>
          <p:nvPr/>
        </p:nvSpPr>
        <p:spPr>
          <a:xfrm>
            <a:off x="1005840" y="4361688"/>
            <a:ext cx="2240280" cy="411480"/>
          </a:xfrm>
          <a:prstGeom prst="rect">
            <a:avLst/>
          </a:prstGeom>
          <a:noFill/>
          <a:ln/>
        </p:spPr>
        <p:txBody>
          <a:bodyPr wrap="square" rtlCol="0" anchor="ctr"/>
          <a:lstStyle/>
          <a:p>
            <a:pPr algn="ctr" indent="0" marL="0">
              <a:buNone/>
            </a:pPr>
            <a:r>
              <a:rPr lang="en-US" sz="2200" b="1" dirty="0">
                <a:solidFill>
                  <a:srgbClr val="64748B"/>
                </a:solidFill>
                <a:latin typeface="Outfit" pitchFamily="34" charset="0"/>
                <a:ea typeface="Outfit" pitchFamily="34" charset="-122"/>
                <a:cs typeface="Outfit" pitchFamily="34" charset="-120"/>
              </a:rPr>
              <a:t>56 / 100</a:t>
            </a:r>
            <a:endParaRPr lang="en-US" sz="2200" dirty="0"/>
          </a:p>
        </p:txBody>
      </p:sp>
      <p:sp>
        <p:nvSpPr>
          <p:cNvPr id="13" name="Shape 9"/>
          <p:cNvSpPr/>
          <p:nvPr/>
        </p:nvSpPr>
        <p:spPr>
          <a:xfrm>
            <a:off x="3337560" y="4069080"/>
            <a:ext cx="2240280" cy="822960"/>
          </a:xfrm>
          <a:prstGeom prst="roundRect">
            <a:avLst>
              <a:gd name="adj" fmla="val 8889"/>
            </a:avLst>
          </a:prstGeom>
          <a:solidFill>
            <a:srgbClr val="F0F9FF"/>
          </a:solidFill>
          <a:ln w="12700">
            <a:solidFill>
              <a:srgbClr val="0EA5E9"/>
            </a:solidFill>
            <a:prstDash val="solid"/>
          </a:ln>
        </p:spPr>
      </p:sp>
      <p:sp>
        <p:nvSpPr>
          <p:cNvPr id="14" name="Text 10"/>
          <p:cNvSpPr/>
          <p:nvPr/>
        </p:nvSpPr>
        <p:spPr>
          <a:xfrm>
            <a:off x="3337560" y="4160520"/>
            <a:ext cx="2240280" cy="182880"/>
          </a:xfrm>
          <a:prstGeom prst="rect">
            <a:avLst/>
          </a:prstGeom>
          <a:noFill/>
          <a:ln/>
        </p:spPr>
        <p:txBody>
          <a:bodyPr wrap="square" rtlCol="0" anchor="ctr"/>
          <a:lstStyle/>
          <a:p>
            <a:pPr algn="ctr" indent="0" marL="0">
              <a:buNone/>
            </a:pPr>
            <a:r>
              <a:rPr lang="en-US" sz="800" b="1" dirty="0">
                <a:solidFill>
                  <a:srgbClr val="075985"/>
                </a:solidFill>
                <a:latin typeface="Plus Jakarta Sans" pitchFamily="34" charset="0"/>
                <a:ea typeface="Plus Jakarta Sans" pitchFamily="34" charset="-122"/>
                <a:cs typeface="Plus Jakarta Sans" pitchFamily="34" charset="-120"/>
              </a:rPr>
              <a:t>AFTER OPTIMIZATION</a:t>
            </a:r>
            <a:endParaRPr lang="en-US" sz="800" dirty="0"/>
          </a:p>
        </p:txBody>
      </p:sp>
      <p:sp>
        <p:nvSpPr>
          <p:cNvPr id="15" name="Text 11"/>
          <p:cNvSpPr/>
          <p:nvPr/>
        </p:nvSpPr>
        <p:spPr>
          <a:xfrm>
            <a:off x="3337560" y="4361688"/>
            <a:ext cx="2240280" cy="411480"/>
          </a:xfrm>
          <a:prstGeom prst="rect">
            <a:avLst/>
          </a:prstGeom>
          <a:noFill/>
          <a:ln/>
        </p:spPr>
        <p:txBody>
          <a:bodyPr wrap="square" rtlCol="0" anchor="ctr"/>
          <a:lstStyle/>
          <a:p>
            <a:pPr algn="ctr" indent="0" marL="0">
              <a:buNone/>
            </a:pPr>
            <a:r>
              <a:rPr lang="en-US" sz="2200" b="1" dirty="0">
                <a:solidFill>
                  <a:srgbClr val="075985"/>
                </a:solidFill>
                <a:latin typeface="Outfit" pitchFamily="34" charset="0"/>
                <a:ea typeface="Outfit" pitchFamily="34" charset="-122"/>
                <a:cs typeface="Outfit" pitchFamily="34" charset="-120"/>
              </a:rPr>
              <a:t>68 / 100</a:t>
            </a:r>
            <a:endParaRPr lang="en-US" sz="2200" dirty="0"/>
          </a:p>
        </p:txBody>
      </p:sp>
      <p:sp>
        <p:nvSpPr>
          <p:cNvPr id="16" name="Text 12"/>
          <p:cNvSpPr/>
          <p:nvPr/>
        </p:nvSpPr>
        <p:spPr>
          <a:xfrm>
            <a:off x="1005840" y="5029200"/>
            <a:ext cx="4572000" cy="868680"/>
          </a:xfrm>
          <a:prstGeom prst="rect">
            <a:avLst/>
          </a:prstGeom>
          <a:noFill/>
          <a:ln/>
        </p:spPr>
        <p:txBody>
          <a:bodyPr wrap="square" rtlCol="0" anchor="ctr"/>
          <a:lstStyle/>
          <a:p>
            <a:pPr indent="0" marL="0">
              <a:lnSpc>
                <a:spcPts val="1400"/>
              </a:lnSpc>
              <a:buNone/>
            </a:pPr>
            <a:r>
              <a:rPr lang="en-US" sz="1050" dirty="0">
                <a:solidFill>
                  <a:srgbClr val="64748B"/>
                </a:solidFill>
                <a:latin typeface="Plus Jakarta Sans" pitchFamily="34" charset="0"/>
                <a:ea typeface="Plus Jakarta Sans" pitchFamily="34" charset="-122"/>
                <a:cs typeface="Plus Jakarta Sans" pitchFamily="34" charset="-120"/>
              </a:rPr>
              <a:t>Mobile performance score increased by +12 points (from 56 Before to 68 After out of 100), streamlining mobile cart adds and navigation.</a:t>
            </a:r>
            <a:endParaRPr lang="en-US" sz="1050" dirty="0"/>
          </a:p>
        </p:txBody>
      </p:sp>
      <p:sp>
        <p:nvSpPr>
          <p:cNvPr id="17" name="Shape 13"/>
          <p:cNvSpPr/>
          <p:nvPr/>
        </p:nvSpPr>
        <p:spPr>
          <a:xfrm>
            <a:off x="6217920" y="1508760"/>
            <a:ext cx="5239512" cy="4526280"/>
          </a:xfrm>
          <a:prstGeom prst="roundRect">
            <a:avLst>
              <a:gd name="adj" fmla="val 2020"/>
            </a:avLst>
          </a:prstGeom>
          <a:solidFill>
            <a:srgbClr val="F8FAFC"/>
          </a:solidFill>
          <a:ln w="12700">
            <a:solidFill>
              <a:srgbClr val="E2E8F0"/>
            </a:solidFill>
            <a:prstDash val="solid"/>
          </a:ln>
        </p:spPr>
      </p:sp>
      <p:sp>
        <p:nvSpPr>
          <p:cNvPr id="18" name="Text 14"/>
          <p:cNvSpPr/>
          <p:nvPr/>
        </p:nvSpPr>
        <p:spPr>
          <a:xfrm>
            <a:off x="6492240" y="1691640"/>
            <a:ext cx="4572000" cy="256032"/>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MOBILE STOREFRONT AUDIT RATINGS</a:t>
            </a:r>
            <a:endParaRPr lang="en-US" sz="1000" dirty="0"/>
          </a:p>
        </p:txBody>
      </p:sp>
      <p:sp>
        <p:nvSpPr>
          <p:cNvPr id="19" name="Text 15"/>
          <p:cNvSpPr/>
          <p:nvPr/>
        </p:nvSpPr>
        <p:spPr>
          <a:xfrm>
            <a:off x="6492240" y="2057400"/>
            <a:ext cx="3291840" cy="228600"/>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Mobile Accessibility (axe-core)</a:t>
            </a:r>
            <a:endParaRPr lang="en-US" sz="1100" dirty="0"/>
          </a:p>
        </p:txBody>
      </p:sp>
      <p:sp>
        <p:nvSpPr>
          <p:cNvPr id="20" name="Shape 16"/>
          <p:cNvSpPr/>
          <p:nvPr/>
        </p:nvSpPr>
        <p:spPr>
          <a:xfrm>
            <a:off x="10149840" y="2020824"/>
            <a:ext cx="1051560" cy="256032"/>
          </a:xfrm>
          <a:prstGeom prst="roundRect">
            <a:avLst>
              <a:gd name="adj" fmla="val 50000"/>
            </a:avLst>
          </a:prstGeom>
          <a:solidFill>
            <a:srgbClr val="ECFDF5"/>
          </a:solidFill>
          <a:ln w="12700">
            <a:solidFill>
              <a:srgbClr val="10B981"/>
            </a:solidFill>
            <a:prstDash val="solid"/>
          </a:ln>
        </p:spPr>
      </p:sp>
      <p:sp>
        <p:nvSpPr>
          <p:cNvPr id="21" name="Text 17"/>
          <p:cNvSpPr/>
          <p:nvPr/>
        </p:nvSpPr>
        <p:spPr>
          <a:xfrm>
            <a:off x="10149840" y="2020824"/>
            <a:ext cx="1051560" cy="256032"/>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91 / 100</a:t>
            </a:r>
            <a:endParaRPr lang="en-US" sz="900" dirty="0"/>
          </a:p>
        </p:txBody>
      </p:sp>
      <p:sp>
        <p:nvSpPr>
          <p:cNvPr id="22" name="Shape 18"/>
          <p:cNvSpPr/>
          <p:nvPr/>
        </p:nvSpPr>
        <p:spPr>
          <a:xfrm>
            <a:off x="6492240" y="2350008"/>
            <a:ext cx="4709160" cy="146304"/>
          </a:xfrm>
          <a:prstGeom prst="roundRect">
            <a:avLst>
              <a:gd name="adj" fmla="val 50000"/>
            </a:avLst>
          </a:prstGeom>
          <a:solidFill>
            <a:srgbClr val="E2E8F0"/>
          </a:solidFill>
          <a:ln w="12700">
            <a:solidFill>
              <a:srgbClr val="E2E8F0"/>
            </a:solidFill>
            <a:prstDash val="solid"/>
          </a:ln>
        </p:spPr>
      </p:sp>
      <p:sp>
        <p:nvSpPr>
          <p:cNvPr id="23" name="Shape 19"/>
          <p:cNvSpPr/>
          <p:nvPr/>
        </p:nvSpPr>
        <p:spPr>
          <a:xfrm>
            <a:off x="6492240" y="2350008"/>
            <a:ext cx="4285336" cy="146304"/>
          </a:xfrm>
          <a:prstGeom prst="roundRect">
            <a:avLst>
              <a:gd name="adj" fmla="val 50000"/>
            </a:avLst>
          </a:prstGeom>
          <a:solidFill>
            <a:srgbClr val="10B981"/>
          </a:solidFill>
          <a:ln w="12700">
            <a:solidFill>
              <a:srgbClr val="10B981"/>
            </a:solidFill>
            <a:prstDash val="solid"/>
          </a:ln>
        </p:spPr>
      </p:sp>
      <p:sp>
        <p:nvSpPr>
          <p:cNvPr id="24" name="Text 20"/>
          <p:cNvSpPr/>
          <p:nvPr/>
        </p:nvSpPr>
        <p:spPr>
          <a:xfrm>
            <a:off x="6492240" y="2862072"/>
            <a:ext cx="3291840" cy="228600"/>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Mobile Best Practices</a:t>
            </a:r>
            <a:endParaRPr lang="en-US" sz="1100" dirty="0"/>
          </a:p>
        </p:txBody>
      </p:sp>
      <p:sp>
        <p:nvSpPr>
          <p:cNvPr id="25" name="Shape 21"/>
          <p:cNvSpPr/>
          <p:nvPr/>
        </p:nvSpPr>
        <p:spPr>
          <a:xfrm>
            <a:off x="10149840" y="2825496"/>
            <a:ext cx="1051560" cy="256032"/>
          </a:xfrm>
          <a:prstGeom prst="roundRect">
            <a:avLst>
              <a:gd name="adj" fmla="val 50000"/>
            </a:avLst>
          </a:prstGeom>
          <a:solidFill>
            <a:srgbClr val="ECFDF5"/>
          </a:solidFill>
          <a:ln w="12700">
            <a:solidFill>
              <a:srgbClr val="10B981"/>
            </a:solidFill>
            <a:prstDash val="solid"/>
          </a:ln>
        </p:spPr>
      </p:sp>
      <p:sp>
        <p:nvSpPr>
          <p:cNvPr id="26" name="Text 22"/>
          <p:cNvSpPr/>
          <p:nvPr/>
        </p:nvSpPr>
        <p:spPr>
          <a:xfrm>
            <a:off x="10149840" y="2825496"/>
            <a:ext cx="1051560" cy="256032"/>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96 / 100</a:t>
            </a:r>
            <a:endParaRPr lang="en-US" sz="900" dirty="0"/>
          </a:p>
        </p:txBody>
      </p:sp>
      <p:sp>
        <p:nvSpPr>
          <p:cNvPr id="27" name="Shape 23"/>
          <p:cNvSpPr/>
          <p:nvPr/>
        </p:nvSpPr>
        <p:spPr>
          <a:xfrm>
            <a:off x="6492240" y="3154680"/>
            <a:ext cx="4709160" cy="146304"/>
          </a:xfrm>
          <a:prstGeom prst="roundRect">
            <a:avLst>
              <a:gd name="adj" fmla="val 50000"/>
            </a:avLst>
          </a:prstGeom>
          <a:solidFill>
            <a:srgbClr val="E2E8F0"/>
          </a:solidFill>
          <a:ln w="12700">
            <a:solidFill>
              <a:srgbClr val="E2E8F0"/>
            </a:solidFill>
            <a:prstDash val="solid"/>
          </a:ln>
        </p:spPr>
      </p:sp>
      <p:sp>
        <p:nvSpPr>
          <p:cNvPr id="28" name="Shape 24"/>
          <p:cNvSpPr/>
          <p:nvPr/>
        </p:nvSpPr>
        <p:spPr>
          <a:xfrm>
            <a:off x="6492240" y="3154680"/>
            <a:ext cx="4520794" cy="146304"/>
          </a:xfrm>
          <a:prstGeom prst="roundRect">
            <a:avLst>
              <a:gd name="adj" fmla="val 50000"/>
            </a:avLst>
          </a:prstGeom>
          <a:solidFill>
            <a:srgbClr val="10B981"/>
          </a:solidFill>
          <a:ln w="12700">
            <a:solidFill>
              <a:srgbClr val="10B981"/>
            </a:solidFill>
            <a:prstDash val="solid"/>
          </a:ln>
        </p:spPr>
      </p:sp>
      <p:sp>
        <p:nvSpPr>
          <p:cNvPr id="29" name="Text 25"/>
          <p:cNvSpPr/>
          <p:nvPr/>
        </p:nvSpPr>
        <p:spPr>
          <a:xfrm>
            <a:off x="6492240" y="3666744"/>
            <a:ext cx="3291840" cy="228600"/>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Mobile SEO Rating</a:t>
            </a:r>
            <a:endParaRPr lang="en-US" sz="1100" dirty="0"/>
          </a:p>
        </p:txBody>
      </p:sp>
      <p:sp>
        <p:nvSpPr>
          <p:cNvPr id="30" name="Shape 26"/>
          <p:cNvSpPr/>
          <p:nvPr/>
        </p:nvSpPr>
        <p:spPr>
          <a:xfrm>
            <a:off x="10149840" y="3630168"/>
            <a:ext cx="1051560" cy="256032"/>
          </a:xfrm>
          <a:prstGeom prst="roundRect">
            <a:avLst>
              <a:gd name="adj" fmla="val 50000"/>
            </a:avLst>
          </a:prstGeom>
          <a:solidFill>
            <a:srgbClr val="ECFDF5"/>
          </a:solidFill>
          <a:ln w="12700">
            <a:solidFill>
              <a:srgbClr val="10B981"/>
            </a:solidFill>
            <a:prstDash val="solid"/>
          </a:ln>
        </p:spPr>
      </p:sp>
      <p:sp>
        <p:nvSpPr>
          <p:cNvPr id="31" name="Text 27"/>
          <p:cNvSpPr/>
          <p:nvPr/>
        </p:nvSpPr>
        <p:spPr>
          <a:xfrm>
            <a:off x="10149840" y="3630168"/>
            <a:ext cx="1051560" cy="256032"/>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100 / 100</a:t>
            </a:r>
            <a:endParaRPr lang="en-US" sz="900" dirty="0"/>
          </a:p>
        </p:txBody>
      </p:sp>
      <p:sp>
        <p:nvSpPr>
          <p:cNvPr id="32" name="Shape 28"/>
          <p:cNvSpPr/>
          <p:nvPr/>
        </p:nvSpPr>
        <p:spPr>
          <a:xfrm>
            <a:off x="6492240" y="3959352"/>
            <a:ext cx="4709160" cy="146304"/>
          </a:xfrm>
          <a:prstGeom prst="roundRect">
            <a:avLst>
              <a:gd name="adj" fmla="val 50000"/>
            </a:avLst>
          </a:prstGeom>
          <a:solidFill>
            <a:srgbClr val="E2E8F0"/>
          </a:solidFill>
          <a:ln w="12700">
            <a:solidFill>
              <a:srgbClr val="E2E8F0"/>
            </a:solidFill>
            <a:prstDash val="solid"/>
          </a:ln>
        </p:spPr>
      </p:sp>
      <p:sp>
        <p:nvSpPr>
          <p:cNvPr id="33" name="Shape 29"/>
          <p:cNvSpPr/>
          <p:nvPr/>
        </p:nvSpPr>
        <p:spPr>
          <a:xfrm>
            <a:off x="6492240" y="3959352"/>
            <a:ext cx="4709160" cy="146304"/>
          </a:xfrm>
          <a:prstGeom prst="roundRect">
            <a:avLst>
              <a:gd name="adj" fmla="val 50000"/>
            </a:avLst>
          </a:prstGeom>
          <a:solidFill>
            <a:srgbClr val="10B981"/>
          </a:solidFill>
          <a:ln w="12700">
            <a:solidFill>
              <a:srgbClr val="10B981"/>
            </a:solidFill>
            <a:prstDash val="solid"/>
          </a:ln>
        </p:spPr>
      </p:sp>
      <p:sp>
        <p:nvSpPr>
          <p:cNvPr id="34" name="Text 30"/>
          <p:cNvSpPr/>
          <p:nvPr/>
        </p:nvSpPr>
        <p:spPr>
          <a:xfrm>
            <a:off x="6492240" y="4471416"/>
            <a:ext cx="3291840" cy="228600"/>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Touch Targets &amp; Viewport Flow</a:t>
            </a:r>
            <a:endParaRPr lang="en-US" sz="1100" dirty="0"/>
          </a:p>
        </p:txBody>
      </p:sp>
      <p:sp>
        <p:nvSpPr>
          <p:cNvPr id="35" name="Shape 31"/>
          <p:cNvSpPr/>
          <p:nvPr/>
        </p:nvSpPr>
        <p:spPr>
          <a:xfrm>
            <a:off x="10149840" y="4434840"/>
            <a:ext cx="1051560" cy="256032"/>
          </a:xfrm>
          <a:prstGeom prst="roundRect">
            <a:avLst>
              <a:gd name="adj" fmla="val 50000"/>
            </a:avLst>
          </a:prstGeom>
          <a:solidFill>
            <a:srgbClr val="ECFDF5"/>
          </a:solidFill>
          <a:ln w="12700">
            <a:solidFill>
              <a:srgbClr val="0EA5E9"/>
            </a:solidFill>
            <a:prstDash val="solid"/>
          </a:ln>
        </p:spPr>
      </p:sp>
      <p:sp>
        <p:nvSpPr>
          <p:cNvPr id="36" name="Text 32"/>
          <p:cNvSpPr/>
          <p:nvPr/>
        </p:nvSpPr>
        <p:spPr>
          <a:xfrm>
            <a:off x="10149840" y="4434840"/>
            <a:ext cx="1051560" cy="256032"/>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100% Fluid</a:t>
            </a:r>
            <a:endParaRPr lang="en-US" sz="900" dirty="0"/>
          </a:p>
        </p:txBody>
      </p:sp>
      <p:sp>
        <p:nvSpPr>
          <p:cNvPr id="37" name="Shape 33"/>
          <p:cNvSpPr/>
          <p:nvPr/>
        </p:nvSpPr>
        <p:spPr>
          <a:xfrm>
            <a:off x="6492240" y="4764024"/>
            <a:ext cx="4709160" cy="146304"/>
          </a:xfrm>
          <a:prstGeom prst="roundRect">
            <a:avLst>
              <a:gd name="adj" fmla="val 50000"/>
            </a:avLst>
          </a:prstGeom>
          <a:solidFill>
            <a:srgbClr val="E2E8F0"/>
          </a:solidFill>
          <a:ln w="12700">
            <a:solidFill>
              <a:srgbClr val="E2E8F0"/>
            </a:solidFill>
            <a:prstDash val="solid"/>
          </a:ln>
        </p:spPr>
      </p:sp>
      <p:sp>
        <p:nvSpPr>
          <p:cNvPr id="38" name="Shape 34"/>
          <p:cNvSpPr/>
          <p:nvPr/>
        </p:nvSpPr>
        <p:spPr>
          <a:xfrm>
            <a:off x="6492240" y="4764024"/>
            <a:ext cx="4709160" cy="146304"/>
          </a:xfrm>
          <a:prstGeom prst="roundRect">
            <a:avLst>
              <a:gd name="adj" fmla="val 50000"/>
            </a:avLst>
          </a:prstGeom>
          <a:solidFill>
            <a:srgbClr val="0EA5E9"/>
          </a:solidFill>
          <a:ln w="12700">
            <a:solidFill>
              <a:srgbClr val="0EA5E9"/>
            </a:solidFill>
            <a:prstDash val="solid"/>
          </a:ln>
        </p:spPr>
      </p:sp>
      <p:sp>
        <p:nvSpPr>
          <p:cNvPr id="39" name="Shape 35"/>
          <p:cNvSpPr/>
          <p:nvPr/>
        </p:nvSpPr>
        <p:spPr>
          <a:xfrm>
            <a:off x="6492240" y="5285232"/>
            <a:ext cx="4709160" cy="621792"/>
          </a:xfrm>
          <a:prstGeom prst="roundRect">
            <a:avLst>
              <a:gd name="adj" fmla="val 11765"/>
            </a:avLst>
          </a:prstGeom>
          <a:solidFill>
            <a:srgbClr val="F8FAFC"/>
          </a:solidFill>
          <a:ln w="12700">
            <a:solidFill>
              <a:srgbClr val="E2E8F0"/>
            </a:solidFill>
            <a:prstDash val="solid"/>
          </a:ln>
        </p:spPr>
      </p:sp>
      <p:sp>
        <p:nvSpPr>
          <p:cNvPr id="40" name="Text 36"/>
          <p:cNvSpPr/>
          <p:nvPr/>
        </p:nvSpPr>
        <p:spPr>
          <a:xfrm>
            <a:off x="6629400" y="5321808"/>
            <a:ext cx="4434840" cy="548640"/>
          </a:xfrm>
          <a:prstGeom prst="rect">
            <a:avLst/>
          </a:prstGeom>
          <a:noFill/>
          <a:ln/>
        </p:spPr>
        <p:txBody>
          <a:bodyPr wrap="square" rtlCol="0" anchor="ctr"/>
          <a:lstStyle/>
          <a:p>
            <a:pPr indent="0" marL="0">
              <a:lnSpc>
                <a:spcPts val="1300"/>
              </a:lnSpc>
              <a:buNone/>
            </a:pPr>
            <a:r>
              <a:rPr lang="en-US" sz="950" dirty="0">
                <a:solidFill>
                  <a:srgbClr val="334155"/>
                </a:solidFill>
                <a:latin typeface="Plus Jakarta Sans" pitchFamily="34" charset="0"/>
                <a:ea typeface="Plus Jakarta Sans" pitchFamily="34" charset="-122"/>
                <a:cs typeface="Plus Jakarta Sans" pitchFamily="34" charset="-120"/>
              </a:rPr>
              <a:t>✔  Accelerated mobile delivery reduces friction on mobile 4G/5G cellular networks and directly improves mobile conversion.</a:t>
            </a:r>
            <a:endParaRPr lang="en-US" sz="950" dirty="0"/>
          </a:p>
        </p:txBody>
      </p:sp>
      <p:sp>
        <p:nvSpPr>
          <p:cNvPr id="41" name="Shape 37"/>
          <p:cNvSpPr/>
          <p:nvPr/>
        </p:nvSpPr>
        <p:spPr>
          <a:xfrm>
            <a:off x="731520" y="6217920"/>
            <a:ext cx="10725912" cy="384048"/>
          </a:xfrm>
          <a:prstGeom prst="roundRect">
            <a:avLst>
              <a:gd name="adj" fmla="val 19048"/>
            </a:avLst>
          </a:prstGeom>
          <a:solidFill>
            <a:srgbClr val="F1F5F9"/>
          </a:solidFill>
          <a:ln w="12700">
            <a:solidFill>
              <a:srgbClr val="E2E8F0"/>
            </a:solidFill>
            <a:prstDash val="solid"/>
          </a:ln>
        </p:spPr>
      </p:sp>
      <p:sp>
        <p:nvSpPr>
          <p:cNvPr id="42" name="Text 38"/>
          <p:cNvSpPr/>
          <p:nvPr/>
        </p:nvSpPr>
        <p:spPr>
          <a:xfrm>
            <a:off x="960120" y="6217920"/>
            <a:ext cx="10332720" cy="384048"/>
          </a:xfrm>
          <a:prstGeom prst="rect">
            <a:avLst/>
          </a:prstGeom>
          <a:noFill/>
          <a:ln/>
        </p:spPr>
        <p:txBody>
          <a:bodyPr wrap="square" rtlCol="0" anchor="ctr"/>
          <a:lstStyle/>
          <a:p>
            <a:pPr indent="0" marL="0">
              <a:buNone/>
            </a:pPr>
            <a:r>
              <a:rPr lang="en-US" sz="950" b="1" dirty="0">
                <a:solidFill>
                  <a:srgbClr val="334155"/>
                </a:solidFill>
              </a:rPr>
              <a:t>✔  Mobile Optimization: 68/100 Mobile Speed • Zero Tap Clipping • Fluid Touch Gestures Verified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82296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Server Performance</a:t>
            </a:r>
            <a:endParaRPr lang="en-US" sz="1300" dirty="0"/>
          </a:p>
        </p:txBody>
      </p:sp>
      <p:sp>
        <p:nvSpPr>
          <p:cNvPr id="4" name="Text 1"/>
          <p:cNvSpPr/>
          <p:nvPr/>
        </p:nvSpPr>
        <p:spPr>
          <a:xfrm>
            <a:off x="731520" y="731520"/>
            <a:ext cx="96012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Server Memory and Log Optimization</a:t>
            </a:r>
            <a:endParaRPr lang="en-US" sz="2600" dirty="0"/>
          </a:p>
        </p:txBody>
      </p:sp>
      <p:sp>
        <p:nvSpPr>
          <p:cNvPr id="5" name="Text 2"/>
          <p:cNvSpPr/>
          <p:nvPr/>
        </p:nvSpPr>
        <p:spPr>
          <a:xfrm>
            <a:off x="731520" y="1280160"/>
            <a:ext cx="10515600" cy="365760"/>
          </a:xfrm>
          <a:prstGeom prst="rect">
            <a:avLst/>
          </a:prstGeom>
          <a:noFill/>
          <a:ln/>
        </p:spPr>
        <p:txBody>
          <a:bodyPr wrap="square" rtlCol="0" anchor="ctr"/>
          <a:lstStyle/>
          <a:p>
            <a:pPr indent="0" marL="0">
              <a:buNone/>
            </a:pPr>
            <a:r>
              <a:rPr lang="en-US" sz="1200" dirty="0">
                <a:solidFill>
                  <a:srgbClr val="64748B"/>
                </a:solidFill>
                <a:latin typeface="Plus Jakarta Sans" pitchFamily="34" charset="0"/>
                <a:ea typeface="Plus Jakarta Sans" pitchFamily="34" charset="-122"/>
                <a:cs typeface="Plus Jakarta Sans" pitchFamily="34" charset="-120"/>
              </a:rPr>
              <a:t>This work covers the PartsConnexion server, which also serves AudioConnexion.</a:t>
            </a:r>
            <a:endParaRPr lang="en-US" sz="1200" dirty="0"/>
          </a:p>
        </p:txBody>
      </p:sp>
      <p:sp>
        <p:nvSpPr>
          <p:cNvPr id="6" name="Shape 3"/>
          <p:cNvSpPr/>
          <p:nvPr/>
        </p:nvSpPr>
        <p:spPr>
          <a:xfrm>
            <a:off x="731520" y="1828800"/>
            <a:ext cx="5257800" cy="4206240"/>
          </a:xfrm>
          <a:prstGeom prst="roundRect">
            <a:avLst>
              <a:gd name="adj" fmla="val 1739"/>
            </a:avLst>
          </a:prstGeom>
          <a:solidFill>
            <a:srgbClr val="F8FAFC"/>
          </a:solidFill>
          <a:ln w="12700">
            <a:solidFill>
              <a:srgbClr val="E2E8F0"/>
            </a:solidFill>
            <a:prstDash val="solid"/>
          </a:ln>
        </p:spPr>
      </p:sp>
      <p:sp>
        <p:nvSpPr>
          <p:cNvPr id="7" name="Text 4"/>
          <p:cNvSpPr/>
          <p:nvPr/>
        </p:nvSpPr>
        <p:spPr>
          <a:xfrm>
            <a:off x="1005840" y="2011680"/>
            <a:ext cx="4754880" cy="365760"/>
          </a:xfrm>
          <a:prstGeom prst="rect">
            <a:avLst/>
          </a:prstGeom>
          <a:noFill/>
          <a:ln/>
        </p:spPr>
        <p:txBody>
          <a:bodyPr wrap="square" rtlCol="0" anchor="ctr"/>
          <a:lstStyle/>
          <a:p>
            <a:pPr indent="0" marL="0">
              <a:buNone/>
            </a:pPr>
            <a:r>
              <a:rPr lang="en-US" sz="1600" b="1" dirty="0">
                <a:solidFill>
                  <a:srgbClr val="0F172A"/>
                </a:solidFill>
                <a:latin typeface="Outfit" pitchFamily="34" charset="0"/>
                <a:ea typeface="Outfit" pitchFamily="34" charset="-122"/>
                <a:cs typeface="Outfit" pitchFamily="34" charset="-120"/>
              </a:rPr>
              <a:t>Server memory</a:t>
            </a:r>
            <a:endParaRPr lang="en-US" sz="1600" dirty="0"/>
          </a:p>
        </p:txBody>
      </p:sp>
      <p:sp>
        <p:nvSpPr>
          <p:cNvPr id="8" name="Shape 5"/>
          <p:cNvSpPr/>
          <p:nvPr/>
        </p:nvSpPr>
        <p:spPr>
          <a:xfrm>
            <a:off x="1005840" y="2468880"/>
            <a:ext cx="1737360" cy="329184"/>
          </a:xfrm>
          <a:prstGeom prst="roundRect">
            <a:avLst>
              <a:gd name="adj" fmla="val 41667"/>
            </a:avLst>
          </a:prstGeom>
          <a:solidFill>
            <a:srgbClr val="ECFDF5"/>
          </a:solidFill>
          <a:ln w="15240">
            <a:solidFill>
              <a:srgbClr val="10B981"/>
            </a:solidFill>
            <a:prstDash val="solid"/>
          </a:ln>
        </p:spPr>
      </p:sp>
      <p:sp>
        <p:nvSpPr>
          <p:cNvPr id="9" name="Text 6"/>
          <p:cNvSpPr/>
          <p:nvPr/>
        </p:nvSpPr>
        <p:spPr>
          <a:xfrm>
            <a:off x="1005840" y="2468880"/>
            <a:ext cx="1737360" cy="329184"/>
          </a:xfrm>
          <a:prstGeom prst="rect">
            <a:avLst/>
          </a:prstGeom>
          <a:noFill/>
          <a:ln/>
        </p:spPr>
        <p:txBody>
          <a:bodyPr wrap="square" rtlCol="0" anchor="ctr"/>
          <a:lstStyle/>
          <a:p>
            <a:pPr algn="ctr" indent="0" marL="0">
              <a:buNone/>
            </a:pPr>
            <a:r>
              <a:rPr lang="en-US" sz="1100" b="1" dirty="0">
                <a:solidFill>
                  <a:srgbClr val="047857"/>
                </a:solidFill>
                <a:latin typeface="Plus Jakarta Sans" pitchFamily="34" charset="0"/>
                <a:ea typeface="Plus Jakarta Sans" pitchFamily="34" charset="-122"/>
                <a:cs typeface="Plus Jakarta Sans" pitchFamily="34" charset="-120"/>
              </a:rPr>
              <a:t>Healthy</a:t>
            </a:r>
            <a:endParaRPr lang="en-US" sz="1100" dirty="0"/>
          </a:p>
        </p:txBody>
      </p:sp>
      <p:sp>
        <p:nvSpPr>
          <p:cNvPr id="10" name="Text 7"/>
          <p:cNvSpPr/>
          <p:nvPr/>
        </p:nvSpPr>
        <p:spPr>
          <a:xfrm>
            <a:off x="1005840" y="2926080"/>
            <a:ext cx="4754880" cy="822960"/>
          </a:xfrm>
          <a:prstGeom prst="rect">
            <a:avLst/>
          </a:prstGeom>
          <a:noFill/>
          <a:ln/>
        </p:spPr>
        <p:txBody>
          <a:bodyPr wrap="square" rtlCol="0" anchor="t"/>
          <a:lstStyle/>
          <a:p>
            <a:pPr indent="0" marL="0">
              <a:lnSpc>
                <a:spcPts val="1600"/>
              </a:lnSpc>
              <a:buNone/>
            </a:pPr>
            <a:r>
              <a:rPr lang="en-US" sz="1250" dirty="0">
                <a:solidFill>
                  <a:srgbClr val="0F172A"/>
                </a:solidFill>
                <a:latin typeface="Plus Jakarta Sans" pitchFamily="34" charset="0"/>
                <a:ea typeface="Plus Jakarta Sans" pitchFamily="34" charset="-122"/>
                <a:cs typeface="Plus Jakarta Sans" pitchFamily="34" charset="-120"/>
              </a:rPr>
              <a:t>Server memory use stayed steady at about 25% this month, well within normal limits.</a:t>
            </a:r>
            <a:endParaRPr lang="en-US" sz="1250" dirty="0"/>
          </a:p>
        </p:txBody>
      </p:sp>
      <p:sp>
        <p:nvSpPr>
          <p:cNvPr id="11" name="Text 8"/>
          <p:cNvSpPr/>
          <p:nvPr/>
        </p:nvSpPr>
        <p:spPr>
          <a:xfrm>
            <a:off x="1005840" y="3794760"/>
            <a:ext cx="4754880" cy="1463040"/>
          </a:xfrm>
          <a:prstGeom prst="rect">
            <a:avLst/>
          </a:prstGeom>
          <a:noFill/>
          <a:ln/>
        </p:spPr>
        <p:txBody>
          <a:bodyPr wrap="square" rtlCol="0" anchor="t"/>
          <a:lstStyle/>
          <a:p>
            <a:pPr marL="342900" indent="-342900">
              <a:spcAft>
                <a:spcPts val="400"/>
              </a:spcAft>
              <a:buSzPct val="100000"/>
              <a:buChar char="•"/>
            </a:pPr>
            <a:r>
              <a:rPr lang="en-US" sz="1200" dirty="0">
                <a:solidFill>
                  <a:srgbClr val="0F172A"/>
                </a:solidFill>
                <a:latin typeface="Plus Jakarta Sans" pitchFamily="34" charset="0"/>
                <a:ea typeface="Plus Jakarta Sans" pitchFamily="34" charset="-122"/>
                <a:cs typeface="Plus Jakarta Sans" pitchFamily="34" charset="-120"/>
              </a:rPr>
              <a:t>No unusual spikes were detected.</a:t>
            </a:r>
            <a:endParaRPr lang="en-US" sz="1200" dirty="0"/>
          </a:p>
          <a:p>
            <a:pPr marL="342900" indent="-342900">
              <a:spcAft>
                <a:spcPts val="400"/>
              </a:spcAft>
              <a:buSzPct val="100000"/>
              <a:buChar char="•"/>
            </a:pPr>
            <a:r>
              <a:rPr lang="en-US" sz="1200" dirty="0">
                <a:solidFill>
                  <a:srgbClr val="0F172A"/>
                </a:solidFill>
                <a:latin typeface="Plus Jakarta Sans" pitchFamily="34" charset="0"/>
                <a:ea typeface="Plus Jakarta Sans" pitchFamily="34" charset="-122"/>
                <a:cs typeface="Plus Jakarta Sans" pitchFamily="34" charset="-120"/>
              </a:rPr>
              <a:t>No sign of memory leaks.</a:t>
            </a:r>
            <a:endParaRPr lang="en-US" sz="1200" dirty="0"/>
          </a:p>
          <a:p>
            <a:pPr marL="342900" indent="-342900">
              <a:spcAft>
                <a:spcPts val="400"/>
              </a:spcAft>
              <a:buSzPct val="100000"/>
              <a:buChar char="•"/>
            </a:pPr>
            <a:r>
              <a:rPr lang="en-US" sz="1200" dirty="0">
                <a:solidFill>
                  <a:srgbClr val="0F172A"/>
                </a:solidFill>
                <a:latin typeface="Plus Jakarta Sans" pitchFamily="34" charset="0"/>
                <a:ea typeface="Plus Jakarta Sans" pitchFamily="34" charset="-122"/>
                <a:cs typeface="Plus Jakarta Sans" pitchFamily="34" charset="-120"/>
              </a:rPr>
              <a:t>Resources stayed within expected limits.</a:t>
            </a:r>
            <a:endParaRPr lang="en-US" sz="1200" dirty="0"/>
          </a:p>
        </p:txBody>
      </p:sp>
      <p:sp>
        <p:nvSpPr>
          <p:cNvPr id="12" name="Text 9"/>
          <p:cNvSpPr/>
          <p:nvPr/>
        </p:nvSpPr>
        <p:spPr>
          <a:xfrm>
            <a:off x="1005840" y="5440680"/>
            <a:ext cx="4754880" cy="457200"/>
          </a:xfrm>
          <a:prstGeom prst="rect">
            <a:avLst/>
          </a:prstGeom>
          <a:noFill/>
          <a:ln/>
        </p:spPr>
        <p:txBody>
          <a:bodyPr wrap="square" rtlCol="0" anchor="b"/>
          <a:lstStyle/>
          <a:p>
            <a:pPr indent="0" marL="0">
              <a:buNone/>
            </a:pPr>
            <a:r>
              <a:rPr lang="en-US" sz="900" dirty="0">
                <a:solidFill>
                  <a:srgbClr val="64748B"/>
                </a:solidFill>
                <a:latin typeface="Plus Jakarta Sans" pitchFamily="34" charset="0"/>
                <a:ea typeface="Plus Jakarta Sans" pitchFamily="34" charset="-122"/>
                <a:cs typeface="Plus Jakarta Sans" pitchFamily="34" charset="-120"/>
              </a:rPr>
              <a:t>Evidence: https://app.screencast.com/ewttZ7RRhBB25</a:t>
            </a:r>
            <a:endParaRPr lang="en-US" sz="900" dirty="0"/>
          </a:p>
        </p:txBody>
      </p:sp>
      <p:sp>
        <p:nvSpPr>
          <p:cNvPr id="13" name="Shape 10"/>
          <p:cNvSpPr/>
          <p:nvPr/>
        </p:nvSpPr>
        <p:spPr>
          <a:xfrm>
            <a:off x="6172200" y="1828800"/>
            <a:ext cx="5257800" cy="4206240"/>
          </a:xfrm>
          <a:prstGeom prst="roundRect">
            <a:avLst>
              <a:gd name="adj" fmla="val 1739"/>
            </a:avLst>
          </a:prstGeom>
          <a:solidFill>
            <a:srgbClr val="F8FAFC"/>
          </a:solidFill>
          <a:ln w="12700">
            <a:solidFill>
              <a:srgbClr val="E2E8F0"/>
            </a:solidFill>
            <a:prstDash val="solid"/>
          </a:ln>
        </p:spPr>
      </p:sp>
      <p:sp>
        <p:nvSpPr>
          <p:cNvPr id="14" name="Text 11"/>
          <p:cNvSpPr/>
          <p:nvPr/>
        </p:nvSpPr>
        <p:spPr>
          <a:xfrm>
            <a:off x="6446520" y="2011680"/>
            <a:ext cx="4754880" cy="365760"/>
          </a:xfrm>
          <a:prstGeom prst="rect">
            <a:avLst/>
          </a:prstGeom>
          <a:noFill/>
          <a:ln/>
        </p:spPr>
        <p:txBody>
          <a:bodyPr wrap="square" rtlCol="0" anchor="ctr"/>
          <a:lstStyle/>
          <a:p>
            <a:pPr indent="0" marL="0">
              <a:buNone/>
            </a:pPr>
            <a:r>
              <a:rPr lang="en-US" sz="1600" b="1" dirty="0">
                <a:solidFill>
                  <a:srgbClr val="0F172A"/>
                </a:solidFill>
                <a:latin typeface="Outfit" pitchFamily="34" charset="0"/>
                <a:ea typeface="Outfit" pitchFamily="34" charset="-122"/>
                <a:cs typeface="Outfit" pitchFamily="34" charset="-120"/>
              </a:rPr>
              <a:t>Server logs</a:t>
            </a:r>
            <a:endParaRPr lang="en-US" sz="1600" dirty="0"/>
          </a:p>
        </p:txBody>
      </p:sp>
      <p:sp>
        <p:nvSpPr>
          <p:cNvPr id="15" name="Shape 12"/>
          <p:cNvSpPr/>
          <p:nvPr/>
        </p:nvSpPr>
        <p:spPr>
          <a:xfrm>
            <a:off x="6446520" y="2468880"/>
            <a:ext cx="1737360" cy="329184"/>
          </a:xfrm>
          <a:prstGeom prst="roundRect">
            <a:avLst>
              <a:gd name="adj" fmla="val 41667"/>
            </a:avLst>
          </a:prstGeom>
          <a:solidFill>
            <a:srgbClr val="ECFDF5"/>
          </a:solidFill>
          <a:ln w="15240">
            <a:solidFill>
              <a:srgbClr val="10B981"/>
            </a:solidFill>
            <a:prstDash val="solid"/>
          </a:ln>
        </p:spPr>
      </p:sp>
      <p:sp>
        <p:nvSpPr>
          <p:cNvPr id="16" name="Text 13"/>
          <p:cNvSpPr/>
          <p:nvPr/>
        </p:nvSpPr>
        <p:spPr>
          <a:xfrm>
            <a:off x="6446520" y="2468880"/>
            <a:ext cx="1737360" cy="329184"/>
          </a:xfrm>
          <a:prstGeom prst="rect">
            <a:avLst/>
          </a:prstGeom>
          <a:noFill/>
          <a:ln/>
        </p:spPr>
        <p:txBody>
          <a:bodyPr wrap="square" rtlCol="0" anchor="ctr"/>
          <a:lstStyle/>
          <a:p>
            <a:pPr algn="ctr" indent="0" marL="0">
              <a:buNone/>
            </a:pPr>
            <a:r>
              <a:rPr lang="en-US" sz="1100" b="1" dirty="0">
                <a:solidFill>
                  <a:srgbClr val="047857"/>
                </a:solidFill>
                <a:latin typeface="Plus Jakarta Sans" pitchFamily="34" charset="0"/>
                <a:ea typeface="Plus Jakarta Sans" pitchFamily="34" charset="-122"/>
                <a:cs typeface="Plus Jakarta Sans" pitchFamily="34" charset="-120"/>
              </a:rPr>
              <a:t>Improved</a:t>
            </a:r>
            <a:endParaRPr lang="en-US" sz="1100" dirty="0"/>
          </a:p>
        </p:txBody>
      </p:sp>
      <p:sp>
        <p:nvSpPr>
          <p:cNvPr id="17" name="Text 14"/>
          <p:cNvSpPr/>
          <p:nvPr/>
        </p:nvSpPr>
        <p:spPr>
          <a:xfrm>
            <a:off x="6446520" y="2926080"/>
            <a:ext cx="4754880" cy="822960"/>
          </a:xfrm>
          <a:prstGeom prst="rect">
            <a:avLst/>
          </a:prstGeom>
          <a:noFill/>
          <a:ln/>
        </p:spPr>
        <p:txBody>
          <a:bodyPr wrap="square" rtlCol="0" anchor="t"/>
          <a:lstStyle/>
          <a:p>
            <a:pPr indent="0" marL="0">
              <a:lnSpc>
                <a:spcPts val="1600"/>
              </a:lnSpc>
              <a:buNone/>
            </a:pPr>
            <a:r>
              <a:rPr lang="en-US" sz="1250" dirty="0">
                <a:solidFill>
                  <a:srgbClr val="0F172A"/>
                </a:solidFill>
                <a:latin typeface="Plus Jakarta Sans" pitchFamily="34" charset="0"/>
                <a:ea typeface="Plus Jakarta Sans" pitchFamily="34" charset="-122"/>
                <a:cs typeface="Plus Jakarta Sans" pitchFamily="34" charset="-120"/>
              </a:rPr>
              <a:t>The server recorded far more log entries than were useful, which made problems harder to find and slowed troubleshooting. Logs are now cleaner, shorter and easier to read.</a:t>
            </a:r>
            <a:endParaRPr lang="en-US" sz="1250" dirty="0"/>
          </a:p>
        </p:txBody>
      </p:sp>
      <p:sp>
        <p:nvSpPr>
          <p:cNvPr id="18" name="Text 15"/>
          <p:cNvSpPr/>
          <p:nvPr/>
        </p:nvSpPr>
        <p:spPr>
          <a:xfrm>
            <a:off x="6446520" y="3794760"/>
            <a:ext cx="4754880" cy="1463040"/>
          </a:xfrm>
          <a:prstGeom prst="rect">
            <a:avLst/>
          </a:prstGeom>
          <a:noFill/>
          <a:ln/>
        </p:spPr>
        <p:txBody>
          <a:bodyPr wrap="square" rtlCol="0" anchor="t"/>
          <a:lstStyle/>
          <a:p>
            <a:pPr marL="342900" indent="-342900">
              <a:spcAft>
                <a:spcPts val="400"/>
              </a:spcAft>
              <a:buSzPct val="100000"/>
              <a:buChar char="•"/>
            </a:pPr>
            <a:r>
              <a:rPr lang="en-US" sz="1200" dirty="0">
                <a:solidFill>
                  <a:srgbClr val="0F172A"/>
                </a:solidFill>
                <a:latin typeface="Plus Jakarta Sans" pitchFamily="34" charset="0"/>
                <a:ea typeface="Plus Jakarta Sans" pitchFamily="34" charset="-122"/>
                <a:cs typeface="Plus Jakarta Sans" pitchFamily="34" charset="-120"/>
              </a:rPr>
              <a:t>Less noise in the logs</a:t>
            </a:r>
            <a:endParaRPr lang="en-US" sz="1200" dirty="0"/>
          </a:p>
          <a:p>
            <a:pPr marL="342900" indent="-342900">
              <a:spcAft>
                <a:spcPts val="400"/>
              </a:spcAft>
              <a:buSzPct val="100000"/>
              <a:buChar char="•"/>
            </a:pPr>
            <a:r>
              <a:rPr lang="en-US" sz="1200" dirty="0">
                <a:solidFill>
                  <a:srgbClr val="0F172A"/>
                </a:solidFill>
                <a:latin typeface="Plus Jakarta Sans" pitchFamily="34" charset="0"/>
                <a:ea typeface="Plus Jakarta Sans" pitchFamily="34" charset="-122"/>
                <a:cs typeface="Plus Jakarta Sans" pitchFamily="34" charset="-120"/>
              </a:rPr>
              <a:t>Clearer, easier-to-read entries</a:t>
            </a:r>
            <a:endParaRPr lang="en-US" sz="1200" dirty="0"/>
          </a:p>
          <a:p>
            <a:pPr marL="342900" indent="-342900">
              <a:spcAft>
                <a:spcPts val="400"/>
              </a:spcAft>
              <a:buSzPct val="100000"/>
              <a:buChar char="•"/>
            </a:pPr>
            <a:r>
              <a:rPr lang="en-US" sz="1200" dirty="0">
                <a:solidFill>
                  <a:srgbClr val="0F172A"/>
                </a:solidFill>
                <a:latin typeface="Plus Jakarta Sans" pitchFamily="34" charset="0"/>
                <a:ea typeface="Plus Jakarta Sans" pitchFamily="34" charset="-122"/>
                <a:cs typeface="Plus Jakarta Sans" pitchFamily="34" charset="-120"/>
              </a:rPr>
              <a:t>Faster to find a problem</a:t>
            </a:r>
            <a:endParaRPr lang="en-US" sz="1200" dirty="0"/>
          </a:p>
          <a:p>
            <a:pPr marL="342900" indent="-342900">
              <a:spcAft>
                <a:spcPts val="400"/>
              </a:spcAft>
              <a:buSzPct val="100000"/>
              <a:buChar char="•"/>
            </a:pPr>
            <a:r>
              <a:rPr lang="en-US" sz="1200" dirty="0">
                <a:solidFill>
                  <a:srgbClr val="0F172A"/>
                </a:solidFill>
                <a:latin typeface="Plus Jakarta Sans" pitchFamily="34" charset="0"/>
                <a:ea typeface="Plus Jakarta Sans" pitchFamily="34" charset="-122"/>
                <a:cs typeface="Plus Jakarta Sans" pitchFamily="34" charset="-120"/>
              </a:rPr>
              <a:t>Better visibility of how the store is running</a:t>
            </a:r>
            <a:endParaRPr lang="en-US" sz="1200" dirty="0"/>
          </a:p>
        </p:txBody>
      </p:sp>
      <p:sp>
        <p:nvSpPr>
          <p:cNvPr id="19" name="Text 16"/>
          <p:cNvSpPr/>
          <p:nvPr/>
        </p:nvSpPr>
        <p:spPr>
          <a:xfrm>
            <a:off x="6446520" y="5440680"/>
            <a:ext cx="4754880" cy="457200"/>
          </a:xfrm>
          <a:prstGeom prst="rect">
            <a:avLst/>
          </a:prstGeom>
          <a:noFill/>
          <a:ln/>
        </p:spPr>
        <p:txBody>
          <a:bodyPr wrap="square" rtlCol="0" anchor="b"/>
          <a:lstStyle/>
          <a:p>
            <a:pPr indent="0" marL="0">
              <a:buNone/>
            </a:pPr>
            <a:r>
              <a:rPr lang="en-US" sz="900" dirty="0">
                <a:solidFill>
                  <a:srgbClr val="64748B"/>
                </a:solidFill>
                <a:latin typeface="Plus Jakarta Sans" pitchFamily="34" charset="0"/>
                <a:ea typeface="Plus Jakarta Sans" pitchFamily="34" charset="-122"/>
                <a:cs typeface="Plus Jakarta Sans" pitchFamily="34" charset="-120"/>
              </a:rPr>
              <a:t>Before: https://app.screencast.com/QIHESSDzoOc0n   After: https://app.screencast.com/tnCHbJK4K9NwF</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Search Engine Health</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Technical SEO &amp; Crawlability Verification</a:t>
            </a:r>
            <a:endParaRPr lang="en-US" sz="2600" dirty="0"/>
          </a:p>
        </p:txBody>
      </p:sp>
      <p:sp>
        <p:nvSpPr>
          <p:cNvPr id="5" name="Shape 2"/>
          <p:cNvSpPr/>
          <p:nvPr/>
        </p:nvSpPr>
        <p:spPr>
          <a:xfrm>
            <a:off x="731520" y="1508760"/>
            <a:ext cx="5166360" cy="2176272"/>
          </a:xfrm>
          <a:prstGeom prst="roundRect">
            <a:avLst>
              <a:gd name="adj" fmla="val 4202"/>
            </a:avLst>
          </a:prstGeom>
          <a:solidFill>
            <a:srgbClr val="F8FAFC"/>
          </a:solidFill>
          <a:ln w="12700">
            <a:solidFill>
              <a:srgbClr val="E2E8F0"/>
            </a:solidFill>
            <a:prstDash val="solid"/>
          </a:ln>
        </p:spPr>
      </p:sp>
      <p:sp>
        <p:nvSpPr>
          <p:cNvPr id="6" name="Text 3"/>
          <p:cNvSpPr/>
          <p:nvPr/>
        </p:nvSpPr>
        <p:spPr>
          <a:xfrm>
            <a:off x="1005840" y="1691640"/>
            <a:ext cx="3520440" cy="237744"/>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META &amp; CANONICAL ARCHITECTURE</a:t>
            </a:r>
            <a:endParaRPr lang="en-US" sz="1000" dirty="0"/>
          </a:p>
        </p:txBody>
      </p:sp>
      <p:sp>
        <p:nvSpPr>
          <p:cNvPr id="7" name="Shape 4"/>
          <p:cNvSpPr/>
          <p:nvPr/>
        </p:nvSpPr>
        <p:spPr>
          <a:xfrm>
            <a:off x="4526280" y="1664208"/>
            <a:ext cx="1188720" cy="274320"/>
          </a:xfrm>
          <a:prstGeom prst="roundRect">
            <a:avLst>
              <a:gd name="adj" fmla="val 50000"/>
            </a:avLst>
          </a:prstGeom>
          <a:solidFill>
            <a:srgbClr val="ECFDF5"/>
          </a:solidFill>
          <a:ln w="12700">
            <a:solidFill>
              <a:srgbClr val="10B981"/>
            </a:solidFill>
            <a:prstDash val="solid"/>
          </a:ln>
        </p:spPr>
      </p:sp>
      <p:sp>
        <p:nvSpPr>
          <p:cNvPr id="8" name="Text 5"/>
          <p:cNvSpPr/>
          <p:nvPr/>
        </p:nvSpPr>
        <p:spPr>
          <a:xfrm>
            <a:off x="4526280" y="1664208"/>
            <a:ext cx="1188720" cy="274320"/>
          </a:xfrm>
          <a:prstGeom prst="rect">
            <a:avLst/>
          </a:prstGeom>
          <a:noFill/>
          <a:ln/>
        </p:spPr>
        <p:txBody>
          <a:bodyPr wrap="square" rtlCol="0" anchor="ctr"/>
          <a:lstStyle/>
          <a:p>
            <a:pPr algn="ctr" indent="0" marL="0">
              <a:buNone/>
            </a:pPr>
            <a:r>
              <a:rPr lang="en-US" sz="850" b="1" dirty="0">
                <a:solidFill>
                  <a:srgbClr val="047857"/>
                </a:solidFill>
                <a:latin typeface="Plus Jakarta Sans" pitchFamily="34" charset="0"/>
                <a:ea typeface="Plus Jakarta Sans" pitchFamily="34" charset="-122"/>
                <a:cs typeface="Plus Jakarta Sans" pitchFamily="34" charset="-120"/>
              </a:rPr>
              <a:t>100% COVERED</a:t>
            </a:r>
            <a:endParaRPr lang="en-US" sz="850" dirty="0"/>
          </a:p>
        </p:txBody>
      </p:sp>
      <p:sp>
        <p:nvSpPr>
          <p:cNvPr id="9" name="Shape 6"/>
          <p:cNvSpPr/>
          <p:nvPr/>
        </p:nvSpPr>
        <p:spPr>
          <a:xfrm>
            <a:off x="1005840" y="2112264"/>
            <a:ext cx="256032" cy="256032"/>
          </a:xfrm>
          <a:prstGeom prst="ellipse">
            <a:avLst/>
          </a:prstGeom>
          <a:solidFill>
            <a:srgbClr val="ECFDF5"/>
          </a:solidFill>
          <a:ln w="12700">
            <a:solidFill>
              <a:srgbClr val="10B981"/>
            </a:solidFill>
            <a:prstDash val="solid"/>
          </a:ln>
        </p:spPr>
      </p:sp>
      <p:sp>
        <p:nvSpPr>
          <p:cNvPr id="10" name="Text 7"/>
          <p:cNvSpPr/>
          <p:nvPr/>
        </p:nvSpPr>
        <p:spPr>
          <a:xfrm>
            <a:off x="1005840" y="2112264"/>
            <a:ext cx="256032" cy="256032"/>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a:t>
            </a:r>
            <a:endParaRPr lang="en-US" sz="900" dirty="0"/>
          </a:p>
        </p:txBody>
      </p:sp>
      <p:sp>
        <p:nvSpPr>
          <p:cNvPr id="11" name="Text 8"/>
          <p:cNvSpPr/>
          <p:nvPr/>
        </p:nvSpPr>
        <p:spPr>
          <a:xfrm>
            <a:off x="1353312" y="2057400"/>
            <a:ext cx="4434840" cy="201168"/>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Title Tag Configuration</a:t>
            </a:r>
            <a:endParaRPr lang="en-US" sz="1100" dirty="0"/>
          </a:p>
        </p:txBody>
      </p:sp>
      <p:sp>
        <p:nvSpPr>
          <p:cNvPr id="12" name="Text 9"/>
          <p:cNvSpPr/>
          <p:nvPr/>
        </p:nvSpPr>
        <p:spPr>
          <a:xfrm>
            <a:off x="1353312" y="2258568"/>
            <a:ext cx="4434840" cy="201168"/>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Descriptive, unique titles configured across all templates</a:t>
            </a:r>
            <a:endParaRPr lang="en-US" sz="850" dirty="0"/>
          </a:p>
        </p:txBody>
      </p:sp>
      <p:sp>
        <p:nvSpPr>
          <p:cNvPr id="13" name="Shape 10"/>
          <p:cNvSpPr/>
          <p:nvPr/>
        </p:nvSpPr>
        <p:spPr>
          <a:xfrm>
            <a:off x="1005840" y="2624328"/>
            <a:ext cx="256032" cy="256032"/>
          </a:xfrm>
          <a:prstGeom prst="ellipse">
            <a:avLst/>
          </a:prstGeom>
          <a:solidFill>
            <a:srgbClr val="ECFDF5"/>
          </a:solidFill>
          <a:ln w="12700">
            <a:solidFill>
              <a:srgbClr val="10B981"/>
            </a:solidFill>
            <a:prstDash val="solid"/>
          </a:ln>
        </p:spPr>
      </p:sp>
      <p:sp>
        <p:nvSpPr>
          <p:cNvPr id="14" name="Text 11"/>
          <p:cNvSpPr/>
          <p:nvPr/>
        </p:nvSpPr>
        <p:spPr>
          <a:xfrm>
            <a:off x="1005840" y="2624328"/>
            <a:ext cx="256032" cy="256032"/>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a:t>
            </a:r>
            <a:endParaRPr lang="en-US" sz="900" dirty="0"/>
          </a:p>
        </p:txBody>
      </p:sp>
      <p:sp>
        <p:nvSpPr>
          <p:cNvPr id="15" name="Text 12"/>
          <p:cNvSpPr/>
          <p:nvPr/>
        </p:nvSpPr>
        <p:spPr>
          <a:xfrm>
            <a:off x="1353312" y="2569464"/>
            <a:ext cx="4434840" cy="201168"/>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Meta Descriptions</a:t>
            </a:r>
            <a:endParaRPr lang="en-US" sz="1100" dirty="0"/>
          </a:p>
        </p:txBody>
      </p:sp>
      <p:sp>
        <p:nvSpPr>
          <p:cNvPr id="16" name="Text 13"/>
          <p:cNvSpPr/>
          <p:nvPr/>
        </p:nvSpPr>
        <p:spPr>
          <a:xfrm>
            <a:off x="1353312" y="2770632"/>
            <a:ext cx="4434840" cy="201168"/>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High CTR search snippet copy present without duplication</a:t>
            </a:r>
            <a:endParaRPr lang="en-US" sz="850" dirty="0"/>
          </a:p>
        </p:txBody>
      </p:sp>
      <p:sp>
        <p:nvSpPr>
          <p:cNvPr id="17" name="Shape 14"/>
          <p:cNvSpPr/>
          <p:nvPr/>
        </p:nvSpPr>
        <p:spPr>
          <a:xfrm>
            <a:off x="1005840" y="3136392"/>
            <a:ext cx="256032" cy="256032"/>
          </a:xfrm>
          <a:prstGeom prst="ellipse">
            <a:avLst/>
          </a:prstGeom>
          <a:solidFill>
            <a:srgbClr val="ECFDF5"/>
          </a:solidFill>
          <a:ln w="12700">
            <a:solidFill>
              <a:srgbClr val="10B981"/>
            </a:solidFill>
            <a:prstDash val="solid"/>
          </a:ln>
        </p:spPr>
      </p:sp>
      <p:sp>
        <p:nvSpPr>
          <p:cNvPr id="18" name="Text 15"/>
          <p:cNvSpPr/>
          <p:nvPr/>
        </p:nvSpPr>
        <p:spPr>
          <a:xfrm>
            <a:off x="1005840" y="3136392"/>
            <a:ext cx="256032" cy="256032"/>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a:t>
            </a:r>
            <a:endParaRPr lang="en-US" sz="900" dirty="0"/>
          </a:p>
        </p:txBody>
      </p:sp>
      <p:sp>
        <p:nvSpPr>
          <p:cNvPr id="19" name="Text 16"/>
          <p:cNvSpPr/>
          <p:nvPr/>
        </p:nvSpPr>
        <p:spPr>
          <a:xfrm>
            <a:off x="1353312" y="3081528"/>
            <a:ext cx="4434840" cy="201168"/>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Canonical Tag Hierarchy</a:t>
            </a:r>
            <a:endParaRPr lang="en-US" sz="1100" dirty="0"/>
          </a:p>
        </p:txBody>
      </p:sp>
      <p:sp>
        <p:nvSpPr>
          <p:cNvPr id="20" name="Text 17"/>
          <p:cNvSpPr/>
          <p:nvPr/>
        </p:nvSpPr>
        <p:spPr>
          <a:xfrm>
            <a:off x="1353312" y="3282696"/>
            <a:ext cx="4434840" cy="201168"/>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Self-referential URLs prevent duplicate indexing issues</a:t>
            </a:r>
            <a:endParaRPr lang="en-US" sz="850" dirty="0"/>
          </a:p>
        </p:txBody>
      </p:sp>
      <p:sp>
        <p:nvSpPr>
          <p:cNvPr id="21" name="Shape 18"/>
          <p:cNvSpPr/>
          <p:nvPr/>
        </p:nvSpPr>
        <p:spPr>
          <a:xfrm>
            <a:off x="6291072" y="1508760"/>
            <a:ext cx="5166360" cy="2176272"/>
          </a:xfrm>
          <a:prstGeom prst="roundRect">
            <a:avLst>
              <a:gd name="adj" fmla="val 4202"/>
            </a:avLst>
          </a:prstGeom>
          <a:solidFill>
            <a:srgbClr val="F8FAFC"/>
          </a:solidFill>
          <a:ln w="12700">
            <a:solidFill>
              <a:srgbClr val="E2E8F0"/>
            </a:solidFill>
            <a:prstDash val="solid"/>
          </a:ln>
        </p:spPr>
      </p:sp>
      <p:sp>
        <p:nvSpPr>
          <p:cNvPr id="22" name="Text 19"/>
          <p:cNvSpPr/>
          <p:nvPr/>
        </p:nvSpPr>
        <p:spPr>
          <a:xfrm>
            <a:off x="6565392" y="1691640"/>
            <a:ext cx="3520440" cy="237744"/>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STRUCTURED SCHEMA &amp; RICH SNIPPETS</a:t>
            </a:r>
            <a:endParaRPr lang="en-US" sz="1000" dirty="0"/>
          </a:p>
        </p:txBody>
      </p:sp>
      <p:sp>
        <p:nvSpPr>
          <p:cNvPr id="23" name="Shape 20"/>
          <p:cNvSpPr/>
          <p:nvPr/>
        </p:nvSpPr>
        <p:spPr>
          <a:xfrm>
            <a:off x="10085832" y="1664208"/>
            <a:ext cx="1188720" cy="274320"/>
          </a:xfrm>
          <a:prstGeom prst="roundRect">
            <a:avLst>
              <a:gd name="adj" fmla="val 50000"/>
            </a:avLst>
          </a:prstGeom>
          <a:solidFill>
            <a:srgbClr val="ECFDF5"/>
          </a:solidFill>
          <a:ln w="12700">
            <a:solidFill>
              <a:srgbClr val="10B981"/>
            </a:solidFill>
            <a:prstDash val="solid"/>
          </a:ln>
        </p:spPr>
      </p:sp>
      <p:sp>
        <p:nvSpPr>
          <p:cNvPr id="24" name="Text 21"/>
          <p:cNvSpPr/>
          <p:nvPr/>
        </p:nvSpPr>
        <p:spPr>
          <a:xfrm>
            <a:off x="10085832" y="1664208"/>
            <a:ext cx="1188720" cy="274320"/>
          </a:xfrm>
          <a:prstGeom prst="rect">
            <a:avLst/>
          </a:prstGeom>
          <a:noFill/>
          <a:ln/>
        </p:spPr>
        <p:txBody>
          <a:bodyPr wrap="square" rtlCol="0" anchor="ctr"/>
          <a:lstStyle/>
          <a:p>
            <a:pPr algn="ctr" indent="0" marL="0">
              <a:buNone/>
            </a:pPr>
            <a:r>
              <a:rPr lang="en-US" sz="850" b="1" dirty="0">
                <a:solidFill>
                  <a:srgbClr val="047857"/>
                </a:solidFill>
                <a:latin typeface="Plus Jakarta Sans" pitchFamily="34" charset="0"/>
                <a:ea typeface="Plus Jakarta Sans" pitchFamily="34" charset="-122"/>
                <a:cs typeface="Plus Jakarta Sans" pitchFamily="34" charset="-120"/>
              </a:rPr>
              <a:t>PRODUCT SCHEMA VERIFIED</a:t>
            </a:r>
            <a:endParaRPr lang="en-US" sz="850" dirty="0"/>
          </a:p>
        </p:txBody>
      </p:sp>
      <p:sp>
        <p:nvSpPr>
          <p:cNvPr id="25" name="Shape 22"/>
          <p:cNvSpPr/>
          <p:nvPr/>
        </p:nvSpPr>
        <p:spPr>
          <a:xfrm>
            <a:off x="6565392" y="2112264"/>
            <a:ext cx="256032" cy="256032"/>
          </a:xfrm>
          <a:prstGeom prst="ellipse">
            <a:avLst/>
          </a:prstGeom>
          <a:solidFill>
            <a:srgbClr val="ECFDF5"/>
          </a:solidFill>
          <a:ln w="12700">
            <a:solidFill>
              <a:srgbClr val="10B981"/>
            </a:solidFill>
            <a:prstDash val="solid"/>
          </a:ln>
        </p:spPr>
      </p:sp>
      <p:sp>
        <p:nvSpPr>
          <p:cNvPr id="26" name="Text 23"/>
          <p:cNvSpPr/>
          <p:nvPr/>
        </p:nvSpPr>
        <p:spPr>
          <a:xfrm>
            <a:off x="6565392" y="2112264"/>
            <a:ext cx="256032" cy="256032"/>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a:t>
            </a:r>
            <a:endParaRPr lang="en-US" sz="900" dirty="0"/>
          </a:p>
        </p:txBody>
      </p:sp>
      <p:sp>
        <p:nvSpPr>
          <p:cNvPr id="27" name="Text 24"/>
          <p:cNvSpPr/>
          <p:nvPr/>
        </p:nvSpPr>
        <p:spPr>
          <a:xfrm>
            <a:off x="6912864" y="2057400"/>
            <a:ext cx="4434840" cy="201168"/>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Product JSON-LD Microdata</a:t>
            </a:r>
            <a:endParaRPr lang="en-US" sz="1100" dirty="0"/>
          </a:p>
        </p:txBody>
      </p:sp>
      <p:sp>
        <p:nvSpPr>
          <p:cNvPr id="28" name="Text 25"/>
          <p:cNvSpPr/>
          <p:nvPr/>
        </p:nvSpPr>
        <p:spPr>
          <a:xfrm>
            <a:off x="6912864" y="2258568"/>
            <a:ext cx="4434840" cy="201168"/>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Verified: Amtrans Resistor 68R Ohm 0.5W AMRT...</a:t>
            </a:r>
            <a:endParaRPr lang="en-US" sz="850" dirty="0"/>
          </a:p>
        </p:txBody>
      </p:sp>
      <p:sp>
        <p:nvSpPr>
          <p:cNvPr id="29" name="Shape 26"/>
          <p:cNvSpPr/>
          <p:nvPr/>
        </p:nvSpPr>
        <p:spPr>
          <a:xfrm>
            <a:off x="6565392" y="2624328"/>
            <a:ext cx="256032" cy="256032"/>
          </a:xfrm>
          <a:prstGeom prst="ellipse">
            <a:avLst/>
          </a:prstGeom>
          <a:solidFill>
            <a:srgbClr val="ECFDF5"/>
          </a:solidFill>
          <a:ln w="12700">
            <a:solidFill>
              <a:srgbClr val="10B981"/>
            </a:solidFill>
            <a:prstDash val="solid"/>
          </a:ln>
        </p:spPr>
      </p:sp>
      <p:sp>
        <p:nvSpPr>
          <p:cNvPr id="30" name="Text 27"/>
          <p:cNvSpPr/>
          <p:nvPr/>
        </p:nvSpPr>
        <p:spPr>
          <a:xfrm>
            <a:off x="6565392" y="2624328"/>
            <a:ext cx="256032" cy="256032"/>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a:t>
            </a:r>
            <a:endParaRPr lang="en-US" sz="900" dirty="0"/>
          </a:p>
        </p:txBody>
      </p:sp>
      <p:sp>
        <p:nvSpPr>
          <p:cNvPr id="31" name="Text 28"/>
          <p:cNvSpPr/>
          <p:nvPr/>
        </p:nvSpPr>
        <p:spPr>
          <a:xfrm>
            <a:off x="6912864" y="2569464"/>
            <a:ext cx="4434840" cy="201168"/>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Google Rich Snippets Eligibility</a:t>
            </a:r>
            <a:endParaRPr lang="en-US" sz="1100" dirty="0"/>
          </a:p>
        </p:txBody>
      </p:sp>
      <p:sp>
        <p:nvSpPr>
          <p:cNvPr id="32" name="Text 29"/>
          <p:cNvSpPr/>
          <p:nvPr/>
        </p:nvSpPr>
        <p:spPr>
          <a:xfrm>
            <a:off x="6912864" y="2770632"/>
            <a:ext cx="4434840" cy="201168"/>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Eligible: InStock USD $0.74 + SKU mapped</a:t>
            </a:r>
            <a:endParaRPr lang="en-US" sz="850" dirty="0"/>
          </a:p>
        </p:txBody>
      </p:sp>
      <p:sp>
        <p:nvSpPr>
          <p:cNvPr id="33" name="Shape 30"/>
          <p:cNvSpPr/>
          <p:nvPr/>
        </p:nvSpPr>
        <p:spPr>
          <a:xfrm>
            <a:off x="6565392" y="3136392"/>
            <a:ext cx="256032" cy="256032"/>
          </a:xfrm>
          <a:prstGeom prst="ellipse">
            <a:avLst/>
          </a:prstGeom>
          <a:solidFill>
            <a:srgbClr val="ECFDF5"/>
          </a:solidFill>
          <a:ln w="12700">
            <a:solidFill>
              <a:srgbClr val="10B981"/>
            </a:solidFill>
            <a:prstDash val="solid"/>
          </a:ln>
        </p:spPr>
      </p:sp>
      <p:sp>
        <p:nvSpPr>
          <p:cNvPr id="34" name="Text 31"/>
          <p:cNvSpPr/>
          <p:nvPr/>
        </p:nvSpPr>
        <p:spPr>
          <a:xfrm>
            <a:off x="6565392" y="3136392"/>
            <a:ext cx="256032" cy="256032"/>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a:t>
            </a:r>
            <a:endParaRPr lang="en-US" sz="900" dirty="0"/>
          </a:p>
        </p:txBody>
      </p:sp>
      <p:sp>
        <p:nvSpPr>
          <p:cNvPr id="35" name="Text 32"/>
          <p:cNvSpPr/>
          <p:nvPr/>
        </p:nvSpPr>
        <p:spPr>
          <a:xfrm>
            <a:off x="6912864" y="3081528"/>
            <a:ext cx="4434840" cy="201168"/>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Breadcrumbs &amp; Entity Schema</a:t>
            </a:r>
            <a:endParaRPr lang="en-US" sz="1100" dirty="0"/>
          </a:p>
        </p:txBody>
      </p:sp>
      <p:sp>
        <p:nvSpPr>
          <p:cNvPr id="36" name="Text 33"/>
          <p:cNvSpPr/>
          <p:nvPr/>
        </p:nvSpPr>
        <p:spPr>
          <a:xfrm>
            <a:off x="6912864" y="3282696"/>
            <a:ext cx="4434840" cy="201168"/>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BreadcrumbList &amp; Brand publisher entities active</a:t>
            </a:r>
            <a:endParaRPr lang="en-US" sz="850" dirty="0"/>
          </a:p>
        </p:txBody>
      </p:sp>
      <p:sp>
        <p:nvSpPr>
          <p:cNvPr id="37" name="Shape 34"/>
          <p:cNvSpPr/>
          <p:nvPr/>
        </p:nvSpPr>
        <p:spPr>
          <a:xfrm>
            <a:off x="731520" y="3822192"/>
            <a:ext cx="5166360" cy="2176272"/>
          </a:xfrm>
          <a:prstGeom prst="roundRect">
            <a:avLst>
              <a:gd name="adj" fmla="val 4202"/>
            </a:avLst>
          </a:prstGeom>
          <a:solidFill>
            <a:srgbClr val="F8FAFC"/>
          </a:solidFill>
          <a:ln w="12700">
            <a:solidFill>
              <a:srgbClr val="E2E8F0"/>
            </a:solidFill>
            <a:prstDash val="solid"/>
          </a:ln>
        </p:spPr>
      </p:sp>
      <p:sp>
        <p:nvSpPr>
          <p:cNvPr id="38" name="Text 35"/>
          <p:cNvSpPr/>
          <p:nvPr/>
        </p:nvSpPr>
        <p:spPr>
          <a:xfrm>
            <a:off x="1005840" y="4005072"/>
            <a:ext cx="3520440" cy="237744"/>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CRAWLABILITY &amp; BOT ROUTING</a:t>
            </a:r>
            <a:endParaRPr lang="en-US" sz="1000" dirty="0"/>
          </a:p>
        </p:txBody>
      </p:sp>
      <p:sp>
        <p:nvSpPr>
          <p:cNvPr id="39" name="Shape 36"/>
          <p:cNvSpPr/>
          <p:nvPr/>
        </p:nvSpPr>
        <p:spPr>
          <a:xfrm>
            <a:off x="4526280" y="3977640"/>
            <a:ext cx="1188720" cy="274320"/>
          </a:xfrm>
          <a:prstGeom prst="roundRect">
            <a:avLst>
              <a:gd name="adj" fmla="val 50000"/>
            </a:avLst>
          </a:prstGeom>
          <a:solidFill>
            <a:srgbClr val="F0F9FF"/>
          </a:solidFill>
          <a:ln w="12700">
            <a:solidFill>
              <a:srgbClr val="0EA5E9"/>
            </a:solidFill>
            <a:prstDash val="solid"/>
          </a:ln>
        </p:spPr>
      </p:sp>
      <p:sp>
        <p:nvSpPr>
          <p:cNvPr id="40" name="Text 37"/>
          <p:cNvSpPr/>
          <p:nvPr/>
        </p:nvSpPr>
        <p:spPr>
          <a:xfrm>
            <a:off x="4526280" y="3977640"/>
            <a:ext cx="1188720" cy="274320"/>
          </a:xfrm>
          <a:prstGeom prst="rect">
            <a:avLst/>
          </a:prstGeom>
          <a:noFill/>
          <a:ln/>
        </p:spPr>
        <p:txBody>
          <a:bodyPr wrap="square" rtlCol="0" anchor="ctr"/>
          <a:lstStyle/>
          <a:p>
            <a:pPr algn="ctr" indent="0" marL="0">
              <a:buNone/>
            </a:pPr>
            <a:r>
              <a:rPr lang="en-US" sz="850" b="1" dirty="0">
                <a:solidFill>
                  <a:srgbClr val="075985"/>
                </a:solidFill>
                <a:latin typeface="Plus Jakarta Sans" pitchFamily="34" charset="0"/>
                <a:ea typeface="Plus Jakarta Sans" pitchFamily="34" charset="-122"/>
                <a:cs typeface="Plus Jakarta Sans" pitchFamily="34" charset="-120"/>
              </a:rPr>
              <a:t>INDEXATION ACTIVE</a:t>
            </a:r>
            <a:endParaRPr lang="en-US" sz="850" dirty="0"/>
          </a:p>
        </p:txBody>
      </p:sp>
      <p:sp>
        <p:nvSpPr>
          <p:cNvPr id="41" name="Shape 38"/>
          <p:cNvSpPr/>
          <p:nvPr/>
        </p:nvSpPr>
        <p:spPr>
          <a:xfrm>
            <a:off x="1005840" y="4425696"/>
            <a:ext cx="256032" cy="256032"/>
          </a:xfrm>
          <a:prstGeom prst="ellipse">
            <a:avLst/>
          </a:prstGeom>
          <a:solidFill>
            <a:srgbClr val="F0F9FF"/>
          </a:solidFill>
          <a:ln w="12700">
            <a:solidFill>
              <a:srgbClr val="0EA5E9"/>
            </a:solidFill>
            <a:prstDash val="solid"/>
          </a:ln>
        </p:spPr>
      </p:sp>
      <p:sp>
        <p:nvSpPr>
          <p:cNvPr id="42" name="Text 39"/>
          <p:cNvSpPr/>
          <p:nvPr/>
        </p:nvSpPr>
        <p:spPr>
          <a:xfrm>
            <a:off x="1005840" y="4425696"/>
            <a:ext cx="256032" cy="256032"/>
          </a:xfrm>
          <a:prstGeom prst="rect">
            <a:avLst/>
          </a:prstGeom>
          <a:noFill/>
          <a:ln/>
        </p:spPr>
        <p:txBody>
          <a:bodyPr wrap="square" rtlCol="0" anchor="ctr"/>
          <a:lstStyle/>
          <a:p>
            <a:pPr algn="ctr" indent="0" marL="0">
              <a:buNone/>
            </a:pPr>
            <a:r>
              <a:rPr lang="en-US" sz="900" b="1" dirty="0">
                <a:solidFill>
                  <a:srgbClr val="075985"/>
                </a:solidFill>
                <a:latin typeface="Plus Jakarta Sans" pitchFamily="34" charset="0"/>
                <a:ea typeface="Plus Jakarta Sans" pitchFamily="34" charset="-122"/>
                <a:cs typeface="Plus Jakarta Sans" pitchFamily="34" charset="-120"/>
              </a:rPr>
              <a:t>✔</a:t>
            </a:r>
            <a:endParaRPr lang="en-US" sz="900" dirty="0"/>
          </a:p>
        </p:txBody>
      </p:sp>
      <p:sp>
        <p:nvSpPr>
          <p:cNvPr id="43" name="Text 40"/>
          <p:cNvSpPr/>
          <p:nvPr/>
        </p:nvSpPr>
        <p:spPr>
          <a:xfrm>
            <a:off x="1353312" y="4370832"/>
            <a:ext cx="4434840" cy="201168"/>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Robots.txt Directives</a:t>
            </a:r>
            <a:endParaRPr lang="en-US" sz="1100" dirty="0"/>
          </a:p>
        </p:txBody>
      </p:sp>
      <p:sp>
        <p:nvSpPr>
          <p:cNvPr id="44" name="Text 41"/>
          <p:cNvSpPr/>
          <p:nvPr/>
        </p:nvSpPr>
        <p:spPr>
          <a:xfrm>
            <a:off x="1353312" y="4572000"/>
            <a:ext cx="4434840" cy="201168"/>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Googlebot and Bingbot granted full catalog crawling access</a:t>
            </a:r>
            <a:endParaRPr lang="en-US" sz="850" dirty="0"/>
          </a:p>
        </p:txBody>
      </p:sp>
      <p:sp>
        <p:nvSpPr>
          <p:cNvPr id="45" name="Shape 42"/>
          <p:cNvSpPr/>
          <p:nvPr/>
        </p:nvSpPr>
        <p:spPr>
          <a:xfrm>
            <a:off x="1005840" y="4937760"/>
            <a:ext cx="256032" cy="256032"/>
          </a:xfrm>
          <a:prstGeom prst="ellipse">
            <a:avLst/>
          </a:prstGeom>
          <a:solidFill>
            <a:srgbClr val="F0F9FF"/>
          </a:solidFill>
          <a:ln w="12700">
            <a:solidFill>
              <a:srgbClr val="0EA5E9"/>
            </a:solidFill>
            <a:prstDash val="solid"/>
          </a:ln>
        </p:spPr>
      </p:sp>
      <p:sp>
        <p:nvSpPr>
          <p:cNvPr id="46" name="Text 43"/>
          <p:cNvSpPr/>
          <p:nvPr/>
        </p:nvSpPr>
        <p:spPr>
          <a:xfrm>
            <a:off x="1005840" y="4937760"/>
            <a:ext cx="256032" cy="256032"/>
          </a:xfrm>
          <a:prstGeom prst="rect">
            <a:avLst/>
          </a:prstGeom>
          <a:noFill/>
          <a:ln/>
        </p:spPr>
        <p:txBody>
          <a:bodyPr wrap="square" rtlCol="0" anchor="ctr"/>
          <a:lstStyle/>
          <a:p>
            <a:pPr algn="ctr" indent="0" marL="0">
              <a:buNone/>
            </a:pPr>
            <a:r>
              <a:rPr lang="en-US" sz="900" b="1" dirty="0">
                <a:solidFill>
                  <a:srgbClr val="075985"/>
                </a:solidFill>
                <a:latin typeface="Plus Jakarta Sans" pitchFamily="34" charset="0"/>
                <a:ea typeface="Plus Jakarta Sans" pitchFamily="34" charset="-122"/>
                <a:cs typeface="Plus Jakarta Sans" pitchFamily="34" charset="-120"/>
              </a:rPr>
              <a:t>✔</a:t>
            </a:r>
            <a:endParaRPr lang="en-US" sz="900" dirty="0"/>
          </a:p>
        </p:txBody>
      </p:sp>
      <p:sp>
        <p:nvSpPr>
          <p:cNvPr id="47" name="Text 44"/>
          <p:cNvSpPr/>
          <p:nvPr/>
        </p:nvSpPr>
        <p:spPr>
          <a:xfrm>
            <a:off x="1353312" y="4882896"/>
            <a:ext cx="4434840" cy="201168"/>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XML Sitemaps Index</a:t>
            </a:r>
            <a:endParaRPr lang="en-US" sz="1100" dirty="0"/>
          </a:p>
        </p:txBody>
      </p:sp>
      <p:sp>
        <p:nvSpPr>
          <p:cNvPr id="48" name="Text 45"/>
          <p:cNvSpPr/>
          <p:nvPr/>
        </p:nvSpPr>
        <p:spPr>
          <a:xfrm>
            <a:off x="1353312" y="5084064"/>
            <a:ext cx="4434840" cy="201168"/>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Fully validated XML index for products, PLPs, and CMS pages</a:t>
            </a:r>
            <a:endParaRPr lang="en-US" sz="850" dirty="0"/>
          </a:p>
        </p:txBody>
      </p:sp>
      <p:sp>
        <p:nvSpPr>
          <p:cNvPr id="49" name="Shape 46"/>
          <p:cNvSpPr/>
          <p:nvPr/>
        </p:nvSpPr>
        <p:spPr>
          <a:xfrm>
            <a:off x="1005840" y="5449824"/>
            <a:ext cx="256032" cy="256032"/>
          </a:xfrm>
          <a:prstGeom prst="ellipse">
            <a:avLst/>
          </a:prstGeom>
          <a:solidFill>
            <a:srgbClr val="F0F9FF"/>
          </a:solidFill>
          <a:ln w="12700">
            <a:solidFill>
              <a:srgbClr val="0EA5E9"/>
            </a:solidFill>
            <a:prstDash val="solid"/>
          </a:ln>
        </p:spPr>
      </p:sp>
      <p:sp>
        <p:nvSpPr>
          <p:cNvPr id="50" name="Text 47"/>
          <p:cNvSpPr/>
          <p:nvPr/>
        </p:nvSpPr>
        <p:spPr>
          <a:xfrm>
            <a:off x="1005840" y="5449824"/>
            <a:ext cx="256032" cy="256032"/>
          </a:xfrm>
          <a:prstGeom prst="rect">
            <a:avLst/>
          </a:prstGeom>
          <a:noFill/>
          <a:ln/>
        </p:spPr>
        <p:txBody>
          <a:bodyPr wrap="square" rtlCol="0" anchor="ctr"/>
          <a:lstStyle/>
          <a:p>
            <a:pPr algn="ctr" indent="0" marL="0">
              <a:buNone/>
            </a:pPr>
            <a:r>
              <a:rPr lang="en-US" sz="900" b="1" dirty="0">
                <a:solidFill>
                  <a:srgbClr val="075985"/>
                </a:solidFill>
                <a:latin typeface="Plus Jakarta Sans" pitchFamily="34" charset="0"/>
                <a:ea typeface="Plus Jakarta Sans" pitchFamily="34" charset="-122"/>
                <a:cs typeface="Plus Jakarta Sans" pitchFamily="34" charset="-120"/>
              </a:rPr>
              <a:t>✔</a:t>
            </a:r>
            <a:endParaRPr lang="en-US" sz="900" dirty="0"/>
          </a:p>
        </p:txBody>
      </p:sp>
      <p:sp>
        <p:nvSpPr>
          <p:cNvPr id="51" name="Text 48"/>
          <p:cNvSpPr/>
          <p:nvPr/>
        </p:nvSpPr>
        <p:spPr>
          <a:xfrm>
            <a:off x="1353312" y="5394960"/>
            <a:ext cx="4434840" cy="201168"/>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Server Header Status</a:t>
            </a:r>
            <a:endParaRPr lang="en-US" sz="1100" dirty="0"/>
          </a:p>
        </p:txBody>
      </p:sp>
      <p:sp>
        <p:nvSpPr>
          <p:cNvPr id="52" name="Text 49"/>
          <p:cNvSpPr/>
          <p:nvPr/>
        </p:nvSpPr>
        <p:spPr>
          <a:xfrm>
            <a:off x="1353312" y="5596128"/>
            <a:ext cx="4434840" cy="201168"/>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Clean HTTP 200 OK responses with zero redirect loops</a:t>
            </a:r>
            <a:endParaRPr lang="en-US" sz="850" dirty="0"/>
          </a:p>
        </p:txBody>
      </p:sp>
      <p:sp>
        <p:nvSpPr>
          <p:cNvPr id="53" name="Shape 50"/>
          <p:cNvSpPr/>
          <p:nvPr/>
        </p:nvSpPr>
        <p:spPr>
          <a:xfrm>
            <a:off x="6291072" y="3822192"/>
            <a:ext cx="5166360" cy="2176272"/>
          </a:xfrm>
          <a:prstGeom prst="roundRect">
            <a:avLst>
              <a:gd name="adj" fmla="val 4202"/>
            </a:avLst>
          </a:prstGeom>
          <a:solidFill>
            <a:srgbClr val="F8FAFC"/>
          </a:solidFill>
          <a:ln w="12700">
            <a:solidFill>
              <a:srgbClr val="E2E8F0"/>
            </a:solidFill>
            <a:prstDash val="solid"/>
          </a:ln>
        </p:spPr>
      </p:sp>
      <p:sp>
        <p:nvSpPr>
          <p:cNvPr id="54" name="Text 51"/>
          <p:cNvSpPr/>
          <p:nvPr/>
        </p:nvSpPr>
        <p:spPr>
          <a:xfrm>
            <a:off x="6565392" y="4005072"/>
            <a:ext cx="3520440" cy="237744"/>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SOCIAL PREVIEWS &amp; MEDIA METADATA</a:t>
            </a:r>
            <a:endParaRPr lang="en-US" sz="1000" dirty="0"/>
          </a:p>
        </p:txBody>
      </p:sp>
      <p:sp>
        <p:nvSpPr>
          <p:cNvPr id="55" name="Shape 52"/>
          <p:cNvSpPr/>
          <p:nvPr/>
        </p:nvSpPr>
        <p:spPr>
          <a:xfrm>
            <a:off x="10085832" y="3977640"/>
            <a:ext cx="1188720" cy="274320"/>
          </a:xfrm>
          <a:prstGeom prst="roundRect">
            <a:avLst>
              <a:gd name="adj" fmla="val 50000"/>
            </a:avLst>
          </a:prstGeom>
          <a:solidFill>
            <a:srgbClr val="EEF2FF"/>
          </a:solidFill>
          <a:ln w="12700">
            <a:solidFill>
              <a:srgbClr val="6366F1"/>
            </a:solidFill>
            <a:prstDash val="solid"/>
          </a:ln>
        </p:spPr>
      </p:sp>
      <p:sp>
        <p:nvSpPr>
          <p:cNvPr id="56" name="Text 53"/>
          <p:cNvSpPr/>
          <p:nvPr/>
        </p:nvSpPr>
        <p:spPr>
          <a:xfrm>
            <a:off x="10085832" y="3977640"/>
            <a:ext cx="1188720" cy="274320"/>
          </a:xfrm>
          <a:prstGeom prst="rect">
            <a:avLst/>
          </a:prstGeom>
          <a:noFill/>
          <a:ln/>
        </p:spPr>
        <p:txBody>
          <a:bodyPr wrap="square" rtlCol="0" anchor="ctr"/>
          <a:lstStyle/>
          <a:p>
            <a:pPr algn="ctr" indent="0" marL="0">
              <a:buNone/>
            </a:pPr>
            <a:r>
              <a:rPr lang="en-US" sz="850" b="1" dirty="0">
                <a:solidFill>
                  <a:srgbClr val="4338CA"/>
                </a:solidFill>
                <a:latin typeface="Plus Jakarta Sans" pitchFamily="34" charset="0"/>
                <a:ea typeface="Plus Jakarta Sans" pitchFamily="34" charset="-122"/>
                <a:cs typeface="Plus Jakarta Sans" pitchFamily="34" charset="-120"/>
              </a:rPr>
              <a:t>PREVIEWS VERIFIED</a:t>
            </a:r>
            <a:endParaRPr lang="en-US" sz="850" dirty="0"/>
          </a:p>
        </p:txBody>
      </p:sp>
      <p:sp>
        <p:nvSpPr>
          <p:cNvPr id="57" name="Shape 54"/>
          <p:cNvSpPr/>
          <p:nvPr/>
        </p:nvSpPr>
        <p:spPr>
          <a:xfrm>
            <a:off x="6565392" y="4425696"/>
            <a:ext cx="256032" cy="256032"/>
          </a:xfrm>
          <a:prstGeom prst="ellipse">
            <a:avLst/>
          </a:prstGeom>
          <a:solidFill>
            <a:srgbClr val="EEF2FF"/>
          </a:solidFill>
          <a:ln w="12700">
            <a:solidFill>
              <a:srgbClr val="6366F1"/>
            </a:solidFill>
            <a:prstDash val="solid"/>
          </a:ln>
        </p:spPr>
      </p:sp>
      <p:sp>
        <p:nvSpPr>
          <p:cNvPr id="58" name="Text 55"/>
          <p:cNvSpPr/>
          <p:nvPr/>
        </p:nvSpPr>
        <p:spPr>
          <a:xfrm>
            <a:off x="6565392" y="4425696"/>
            <a:ext cx="256032" cy="256032"/>
          </a:xfrm>
          <a:prstGeom prst="rect">
            <a:avLst/>
          </a:prstGeom>
          <a:noFill/>
          <a:ln/>
        </p:spPr>
        <p:txBody>
          <a:bodyPr wrap="square" rtlCol="0" anchor="ctr"/>
          <a:lstStyle/>
          <a:p>
            <a:pPr algn="ctr" indent="0" marL="0">
              <a:buNone/>
            </a:pPr>
            <a:r>
              <a:rPr lang="en-US" sz="900" b="1" dirty="0">
                <a:solidFill>
                  <a:srgbClr val="4338CA"/>
                </a:solidFill>
                <a:latin typeface="Plus Jakarta Sans" pitchFamily="34" charset="0"/>
                <a:ea typeface="Plus Jakarta Sans" pitchFamily="34" charset="-122"/>
                <a:cs typeface="Plus Jakarta Sans" pitchFamily="34" charset="-120"/>
              </a:rPr>
              <a:t>✔</a:t>
            </a:r>
            <a:endParaRPr lang="en-US" sz="900" dirty="0"/>
          </a:p>
        </p:txBody>
      </p:sp>
      <p:sp>
        <p:nvSpPr>
          <p:cNvPr id="59" name="Text 56"/>
          <p:cNvSpPr/>
          <p:nvPr/>
        </p:nvSpPr>
        <p:spPr>
          <a:xfrm>
            <a:off x="6912864" y="4370832"/>
            <a:ext cx="4434840" cy="201168"/>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OpenGraph Tags (og:image/title)</a:t>
            </a:r>
            <a:endParaRPr lang="en-US" sz="1100" dirty="0"/>
          </a:p>
        </p:txBody>
      </p:sp>
      <p:sp>
        <p:nvSpPr>
          <p:cNvPr id="60" name="Text 57"/>
          <p:cNvSpPr/>
          <p:nvPr/>
        </p:nvSpPr>
        <p:spPr>
          <a:xfrm>
            <a:off x="6912864" y="4572000"/>
            <a:ext cx="4434840" cy="201168"/>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High-resolution branded preview cards for social shares</a:t>
            </a:r>
            <a:endParaRPr lang="en-US" sz="850" dirty="0"/>
          </a:p>
        </p:txBody>
      </p:sp>
      <p:sp>
        <p:nvSpPr>
          <p:cNvPr id="61" name="Shape 58"/>
          <p:cNvSpPr/>
          <p:nvPr/>
        </p:nvSpPr>
        <p:spPr>
          <a:xfrm>
            <a:off x="6565392" y="4937760"/>
            <a:ext cx="256032" cy="256032"/>
          </a:xfrm>
          <a:prstGeom prst="ellipse">
            <a:avLst/>
          </a:prstGeom>
          <a:solidFill>
            <a:srgbClr val="EEF2FF"/>
          </a:solidFill>
          <a:ln w="12700">
            <a:solidFill>
              <a:srgbClr val="6366F1"/>
            </a:solidFill>
            <a:prstDash val="solid"/>
          </a:ln>
        </p:spPr>
      </p:sp>
      <p:sp>
        <p:nvSpPr>
          <p:cNvPr id="62" name="Text 59"/>
          <p:cNvSpPr/>
          <p:nvPr/>
        </p:nvSpPr>
        <p:spPr>
          <a:xfrm>
            <a:off x="6565392" y="4937760"/>
            <a:ext cx="256032" cy="256032"/>
          </a:xfrm>
          <a:prstGeom prst="rect">
            <a:avLst/>
          </a:prstGeom>
          <a:noFill/>
          <a:ln/>
        </p:spPr>
        <p:txBody>
          <a:bodyPr wrap="square" rtlCol="0" anchor="ctr"/>
          <a:lstStyle/>
          <a:p>
            <a:pPr algn="ctr" indent="0" marL="0">
              <a:buNone/>
            </a:pPr>
            <a:r>
              <a:rPr lang="en-US" sz="900" b="1" dirty="0">
                <a:solidFill>
                  <a:srgbClr val="4338CA"/>
                </a:solidFill>
                <a:latin typeface="Plus Jakarta Sans" pitchFamily="34" charset="0"/>
                <a:ea typeface="Plus Jakarta Sans" pitchFamily="34" charset="-122"/>
                <a:cs typeface="Plus Jakarta Sans" pitchFamily="34" charset="-120"/>
              </a:rPr>
              <a:t>✔</a:t>
            </a:r>
            <a:endParaRPr lang="en-US" sz="900" dirty="0"/>
          </a:p>
        </p:txBody>
      </p:sp>
      <p:sp>
        <p:nvSpPr>
          <p:cNvPr id="63" name="Text 60"/>
          <p:cNvSpPr/>
          <p:nvPr/>
        </p:nvSpPr>
        <p:spPr>
          <a:xfrm>
            <a:off x="6912864" y="4882896"/>
            <a:ext cx="4434840" cy="201168"/>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Twitter / X Card Meta</a:t>
            </a:r>
            <a:endParaRPr lang="en-US" sz="1100" dirty="0"/>
          </a:p>
        </p:txBody>
      </p:sp>
      <p:sp>
        <p:nvSpPr>
          <p:cNvPr id="64" name="Text 61"/>
          <p:cNvSpPr/>
          <p:nvPr/>
        </p:nvSpPr>
        <p:spPr>
          <a:xfrm>
            <a:off x="6912864" y="5084064"/>
            <a:ext cx="4434840" cy="201168"/>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Summary with large image tags verified across layouts</a:t>
            </a:r>
            <a:endParaRPr lang="en-US" sz="850" dirty="0"/>
          </a:p>
        </p:txBody>
      </p:sp>
      <p:sp>
        <p:nvSpPr>
          <p:cNvPr id="65" name="Shape 62"/>
          <p:cNvSpPr/>
          <p:nvPr/>
        </p:nvSpPr>
        <p:spPr>
          <a:xfrm>
            <a:off x="6565392" y="5449824"/>
            <a:ext cx="256032" cy="256032"/>
          </a:xfrm>
          <a:prstGeom prst="ellipse">
            <a:avLst/>
          </a:prstGeom>
          <a:solidFill>
            <a:srgbClr val="EEF2FF"/>
          </a:solidFill>
          <a:ln w="12700">
            <a:solidFill>
              <a:srgbClr val="6366F1"/>
            </a:solidFill>
            <a:prstDash val="solid"/>
          </a:ln>
        </p:spPr>
      </p:sp>
      <p:sp>
        <p:nvSpPr>
          <p:cNvPr id="66" name="Text 63"/>
          <p:cNvSpPr/>
          <p:nvPr/>
        </p:nvSpPr>
        <p:spPr>
          <a:xfrm>
            <a:off x="6565392" y="5449824"/>
            <a:ext cx="256032" cy="256032"/>
          </a:xfrm>
          <a:prstGeom prst="rect">
            <a:avLst/>
          </a:prstGeom>
          <a:noFill/>
          <a:ln/>
        </p:spPr>
        <p:txBody>
          <a:bodyPr wrap="square" rtlCol="0" anchor="ctr"/>
          <a:lstStyle/>
          <a:p>
            <a:pPr algn="ctr" indent="0" marL="0">
              <a:buNone/>
            </a:pPr>
            <a:r>
              <a:rPr lang="en-US" sz="900" b="1" dirty="0">
                <a:solidFill>
                  <a:srgbClr val="4338CA"/>
                </a:solidFill>
                <a:latin typeface="Plus Jakarta Sans" pitchFamily="34" charset="0"/>
                <a:ea typeface="Plus Jakarta Sans" pitchFamily="34" charset="-122"/>
                <a:cs typeface="Plus Jakarta Sans" pitchFamily="34" charset="-120"/>
              </a:rPr>
              <a:t>✔</a:t>
            </a:r>
            <a:endParaRPr lang="en-US" sz="900" dirty="0"/>
          </a:p>
        </p:txBody>
      </p:sp>
      <p:sp>
        <p:nvSpPr>
          <p:cNvPr id="67" name="Text 64"/>
          <p:cNvSpPr/>
          <p:nvPr/>
        </p:nvSpPr>
        <p:spPr>
          <a:xfrm>
            <a:off x="6912864" y="5394960"/>
            <a:ext cx="4434840" cy="201168"/>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Heading Hierarchy (H1-H4)</a:t>
            </a:r>
            <a:endParaRPr lang="en-US" sz="1100" dirty="0"/>
          </a:p>
        </p:txBody>
      </p:sp>
      <p:sp>
        <p:nvSpPr>
          <p:cNvPr id="68" name="Text 65"/>
          <p:cNvSpPr/>
          <p:nvPr/>
        </p:nvSpPr>
        <p:spPr>
          <a:xfrm>
            <a:off x="6912864" y="5596128"/>
            <a:ext cx="4434840" cy="201168"/>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Single clean &lt;h1&gt; tag per page with semantic sub-headers</a:t>
            </a:r>
            <a:endParaRPr lang="en-US" sz="850" dirty="0"/>
          </a:p>
        </p:txBody>
      </p:sp>
      <p:sp>
        <p:nvSpPr>
          <p:cNvPr id="69" name="Shape 66"/>
          <p:cNvSpPr/>
          <p:nvPr/>
        </p:nvSpPr>
        <p:spPr>
          <a:xfrm>
            <a:off x="731520" y="6217920"/>
            <a:ext cx="10725912" cy="384048"/>
          </a:xfrm>
          <a:prstGeom prst="roundRect">
            <a:avLst>
              <a:gd name="adj" fmla="val 19048"/>
            </a:avLst>
          </a:prstGeom>
          <a:solidFill>
            <a:srgbClr val="F1F5F9"/>
          </a:solidFill>
          <a:ln w="12700">
            <a:solidFill>
              <a:srgbClr val="E2E8F0"/>
            </a:solidFill>
            <a:prstDash val="solid"/>
          </a:ln>
        </p:spPr>
      </p:sp>
      <p:sp>
        <p:nvSpPr>
          <p:cNvPr id="70" name="Text 67"/>
          <p:cNvSpPr/>
          <p:nvPr/>
        </p:nvSpPr>
        <p:spPr>
          <a:xfrm>
            <a:off x="960120" y="6217920"/>
            <a:ext cx="10332720" cy="384048"/>
          </a:xfrm>
          <a:prstGeom prst="rect">
            <a:avLst/>
          </a:prstGeom>
          <a:noFill/>
          <a:ln/>
        </p:spPr>
        <p:txBody>
          <a:bodyPr wrap="square" rtlCol="0" anchor="ctr"/>
          <a:lstStyle/>
          <a:p>
            <a:pPr indent="0" marL="0">
              <a:buNone/>
            </a:pPr>
            <a:r>
              <a:rPr lang="en-US" sz="950" b="1" dirty="0">
                <a:solidFill>
                  <a:srgbClr val="334155"/>
                </a:solidFill>
                <a:latin typeface="Plus Jakarta Sans" pitchFamily="34" charset="0"/>
                <a:ea typeface="Plus Jakarta Sans" pitchFamily="34" charset="-122"/>
                <a:cs typeface="Plus Jakarta Sans" pitchFamily="34" charset="-120"/>
              </a:rPr>
              <a:t>✔  Technical SEO Rating: 100 / 100 • Complete JSON-LD Product Schema • Unrestricted Search Bot Crawlability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AI &amp; Voice Search Optimization</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GEO &amp; AEO (AI Engine Readiness)</a:t>
            </a:r>
            <a:endParaRPr lang="en-US" sz="2600" dirty="0"/>
          </a:p>
        </p:txBody>
      </p:sp>
      <p:sp>
        <p:nvSpPr>
          <p:cNvPr id="5" name="Shape 2"/>
          <p:cNvSpPr/>
          <p:nvPr/>
        </p:nvSpPr>
        <p:spPr>
          <a:xfrm>
            <a:off x="731520" y="1508760"/>
            <a:ext cx="5120640" cy="4526280"/>
          </a:xfrm>
          <a:prstGeom prst="roundRect">
            <a:avLst>
              <a:gd name="adj" fmla="val 2020"/>
            </a:avLst>
          </a:prstGeom>
          <a:solidFill>
            <a:srgbClr val="F8FAFC"/>
          </a:solidFill>
          <a:ln w="12700">
            <a:solidFill>
              <a:srgbClr val="E2E8F0"/>
            </a:solidFill>
            <a:prstDash val="solid"/>
          </a:ln>
        </p:spPr>
      </p:sp>
      <p:sp>
        <p:nvSpPr>
          <p:cNvPr id="6" name="Text 3"/>
          <p:cNvSpPr/>
          <p:nvPr/>
        </p:nvSpPr>
        <p:spPr>
          <a:xfrm>
            <a:off x="1005840" y="1691640"/>
            <a:ext cx="3200400" cy="256032"/>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AI SEARCH ENGINE CRAWLER ACCESS</a:t>
            </a:r>
            <a:endParaRPr lang="en-US" sz="1000" dirty="0"/>
          </a:p>
        </p:txBody>
      </p:sp>
      <p:sp>
        <p:nvSpPr>
          <p:cNvPr id="7" name="Shape 4"/>
          <p:cNvSpPr/>
          <p:nvPr/>
        </p:nvSpPr>
        <p:spPr>
          <a:xfrm>
            <a:off x="4343400" y="1664208"/>
            <a:ext cx="1280160" cy="292608"/>
          </a:xfrm>
          <a:prstGeom prst="roundRect">
            <a:avLst>
              <a:gd name="adj" fmla="val 50000"/>
            </a:avLst>
          </a:prstGeom>
          <a:solidFill>
            <a:srgbClr val="ECFDF5"/>
          </a:solidFill>
          <a:ln w="12700">
            <a:solidFill>
              <a:srgbClr val="10B981"/>
            </a:solidFill>
            <a:prstDash val="solid"/>
          </a:ln>
        </p:spPr>
      </p:sp>
      <p:sp>
        <p:nvSpPr>
          <p:cNvPr id="8" name="Text 5"/>
          <p:cNvSpPr/>
          <p:nvPr/>
        </p:nvSpPr>
        <p:spPr>
          <a:xfrm>
            <a:off x="4343400" y="1664208"/>
            <a:ext cx="1280160" cy="292608"/>
          </a:xfrm>
          <a:prstGeom prst="rect">
            <a:avLst/>
          </a:prstGeom>
          <a:noFill/>
          <a:ln/>
        </p:spPr>
        <p:txBody>
          <a:bodyPr wrap="square" rtlCol="0" anchor="ctr"/>
          <a:lstStyle/>
          <a:p>
            <a:pPr algn="ctr" indent="0" marL="0">
              <a:buNone/>
            </a:pPr>
            <a:r>
              <a:rPr lang="en-US" sz="950" b="1" dirty="0">
                <a:solidFill>
                  <a:srgbClr val="047857"/>
                </a:solidFill>
                <a:latin typeface="Plus Jakarta Sans" pitchFamily="34" charset="0"/>
                <a:ea typeface="Plus Jakarta Sans" pitchFamily="34" charset="-122"/>
                <a:cs typeface="Plus Jakarta Sans" pitchFamily="34" charset="-120"/>
              </a:rPr>
              <a:t>100% ALLOWED</a:t>
            </a:r>
            <a:endParaRPr lang="en-US" sz="950" dirty="0"/>
          </a:p>
        </p:txBody>
      </p:sp>
      <p:sp>
        <p:nvSpPr>
          <p:cNvPr id="9" name="Shape 6"/>
          <p:cNvSpPr/>
          <p:nvPr/>
        </p:nvSpPr>
        <p:spPr>
          <a:xfrm>
            <a:off x="1005840" y="2103120"/>
            <a:ext cx="4572000" cy="658368"/>
          </a:xfrm>
          <a:prstGeom prst="roundRect">
            <a:avLst>
              <a:gd name="adj" fmla="val 11111"/>
            </a:avLst>
          </a:prstGeom>
          <a:solidFill>
            <a:srgbClr val="FFFFFF"/>
          </a:solidFill>
          <a:ln w="12700">
            <a:solidFill>
              <a:srgbClr val="E2E8F0"/>
            </a:solidFill>
            <a:prstDash val="solid"/>
          </a:ln>
        </p:spPr>
      </p:sp>
      <p:sp>
        <p:nvSpPr>
          <p:cNvPr id="10" name="Shape 7"/>
          <p:cNvSpPr/>
          <p:nvPr/>
        </p:nvSpPr>
        <p:spPr>
          <a:xfrm>
            <a:off x="1143000" y="2267712"/>
            <a:ext cx="329184" cy="329184"/>
          </a:xfrm>
          <a:prstGeom prst="ellipse">
            <a:avLst/>
          </a:prstGeom>
          <a:solidFill>
            <a:srgbClr val="ECFDF5"/>
          </a:solidFill>
          <a:ln w="12700">
            <a:solidFill>
              <a:srgbClr val="10B981"/>
            </a:solidFill>
            <a:prstDash val="solid"/>
          </a:ln>
        </p:spPr>
      </p:sp>
      <p:sp>
        <p:nvSpPr>
          <p:cNvPr id="11" name="Text 8"/>
          <p:cNvSpPr/>
          <p:nvPr/>
        </p:nvSpPr>
        <p:spPr>
          <a:xfrm>
            <a:off x="1143000" y="2267712"/>
            <a:ext cx="329184" cy="329184"/>
          </a:xfrm>
          <a:prstGeom prst="rect">
            <a:avLst/>
          </a:prstGeom>
          <a:noFill/>
          <a:ln/>
        </p:spPr>
        <p:txBody>
          <a:bodyPr wrap="square" rtlCol="0" anchor="ctr"/>
          <a:lstStyle/>
          <a:p>
            <a:pPr algn="ctr" indent="0" marL="0">
              <a:buNone/>
            </a:pPr>
            <a:r>
              <a:rPr lang="en-US" sz="1100" b="1" dirty="0">
                <a:solidFill>
                  <a:srgbClr val="047857"/>
                </a:solidFill>
                <a:latin typeface="Plus Jakarta Sans" pitchFamily="34" charset="0"/>
                <a:ea typeface="Plus Jakarta Sans" pitchFamily="34" charset="-122"/>
                <a:cs typeface="Plus Jakarta Sans" pitchFamily="34" charset="-120"/>
              </a:rPr>
              <a:t>✔</a:t>
            </a:r>
            <a:endParaRPr lang="en-US" sz="1100" dirty="0"/>
          </a:p>
        </p:txBody>
      </p:sp>
      <p:sp>
        <p:nvSpPr>
          <p:cNvPr id="12" name="Text 9"/>
          <p:cNvSpPr/>
          <p:nvPr/>
        </p:nvSpPr>
        <p:spPr>
          <a:xfrm>
            <a:off x="1572768" y="2194560"/>
            <a:ext cx="2834640" cy="237744"/>
          </a:xfrm>
          <a:prstGeom prst="rect">
            <a:avLst/>
          </a:prstGeom>
          <a:noFill/>
          <a:ln/>
        </p:spPr>
        <p:txBody>
          <a:bodyPr wrap="square" rtlCol="0" anchor="ctr"/>
          <a:lstStyle/>
          <a:p>
            <a:pPr indent="0" marL="0">
              <a:buNone/>
            </a:pPr>
            <a:r>
              <a:rPr lang="en-US" sz="1200" b="1" dirty="0">
                <a:solidFill>
                  <a:srgbClr val="0F172A"/>
                </a:solidFill>
                <a:latin typeface="Outfit" pitchFamily="34" charset="0"/>
                <a:ea typeface="Outfit" pitchFamily="34" charset="-122"/>
                <a:cs typeface="Outfit" pitchFamily="34" charset="-120"/>
              </a:rPr>
              <a:t>OpenAI GPTBot</a:t>
            </a:r>
            <a:endParaRPr lang="en-US" sz="1200" dirty="0"/>
          </a:p>
        </p:txBody>
      </p:sp>
      <p:sp>
        <p:nvSpPr>
          <p:cNvPr id="13" name="Text 10"/>
          <p:cNvSpPr/>
          <p:nvPr/>
        </p:nvSpPr>
        <p:spPr>
          <a:xfrm>
            <a:off x="1572768" y="2432304"/>
            <a:ext cx="2834640" cy="237744"/>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Powers SearchGPT &amp; ChatGPT product search</a:t>
            </a:r>
            <a:endParaRPr lang="en-US" sz="850" dirty="0"/>
          </a:p>
        </p:txBody>
      </p:sp>
      <p:sp>
        <p:nvSpPr>
          <p:cNvPr id="14" name="Shape 11"/>
          <p:cNvSpPr/>
          <p:nvPr/>
        </p:nvSpPr>
        <p:spPr>
          <a:xfrm>
            <a:off x="4480560" y="2286000"/>
            <a:ext cx="960120" cy="274320"/>
          </a:xfrm>
          <a:prstGeom prst="roundRect">
            <a:avLst>
              <a:gd name="adj" fmla="val 50000"/>
            </a:avLst>
          </a:prstGeom>
          <a:solidFill>
            <a:srgbClr val="ECFDF5"/>
          </a:solidFill>
          <a:ln w="12700">
            <a:solidFill>
              <a:srgbClr val="10B981"/>
            </a:solidFill>
            <a:prstDash val="solid"/>
          </a:ln>
        </p:spPr>
      </p:sp>
      <p:sp>
        <p:nvSpPr>
          <p:cNvPr id="15" name="Text 12"/>
          <p:cNvSpPr/>
          <p:nvPr/>
        </p:nvSpPr>
        <p:spPr>
          <a:xfrm>
            <a:off x="4480560" y="2286000"/>
            <a:ext cx="960120" cy="274320"/>
          </a:xfrm>
          <a:prstGeom prst="rect">
            <a:avLst/>
          </a:prstGeom>
          <a:noFill/>
          <a:ln/>
        </p:spPr>
        <p:txBody>
          <a:bodyPr wrap="square" rtlCol="0" anchor="ctr"/>
          <a:lstStyle/>
          <a:p>
            <a:pPr algn="ctr" indent="0" marL="0">
              <a:buNone/>
            </a:pPr>
            <a:r>
              <a:rPr lang="en-US" sz="850" b="1" dirty="0">
                <a:solidFill>
                  <a:srgbClr val="047857"/>
                </a:solidFill>
                <a:latin typeface="Plus Jakarta Sans" pitchFamily="34" charset="0"/>
                <a:ea typeface="Plus Jakarta Sans" pitchFamily="34" charset="-122"/>
                <a:cs typeface="Plus Jakarta Sans" pitchFamily="34" charset="-120"/>
              </a:rPr>
              <a:t>ALLOWED</a:t>
            </a:r>
            <a:endParaRPr lang="en-US" sz="850" dirty="0"/>
          </a:p>
        </p:txBody>
      </p:sp>
      <p:sp>
        <p:nvSpPr>
          <p:cNvPr id="16" name="Shape 13"/>
          <p:cNvSpPr/>
          <p:nvPr/>
        </p:nvSpPr>
        <p:spPr>
          <a:xfrm>
            <a:off x="1005840" y="2852928"/>
            <a:ext cx="4572000" cy="658368"/>
          </a:xfrm>
          <a:prstGeom prst="roundRect">
            <a:avLst>
              <a:gd name="adj" fmla="val 11111"/>
            </a:avLst>
          </a:prstGeom>
          <a:solidFill>
            <a:srgbClr val="FFFFFF"/>
          </a:solidFill>
          <a:ln w="12700">
            <a:solidFill>
              <a:srgbClr val="E2E8F0"/>
            </a:solidFill>
            <a:prstDash val="solid"/>
          </a:ln>
        </p:spPr>
      </p:sp>
      <p:sp>
        <p:nvSpPr>
          <p:cNvPr id="17" name="Shape 14"/>
          <p:cNvSpPr/>
          <p:nvPr/>
        </p:nvSpPr>
        <p:spPr>
          <a:xfrm>
            <a:off x="1143000" y="3017520"/>
            <a:ext cx="329184" cy="329184"/>
          </a:xfrm>
          <a:prstGeom prst="ellipse">
            <a:avLst/>
          </a:prstGeom>
          <a:solidFill>
            <a:srgbClr val="ECFDF5"/>
          </a:solidFill>
          <a:ln w="12700">
            <a:solidFill>
              <a:srgbClr val="10B981"/>
            </a:solidFill>
            <a:prstDash val="solid"/>
          </a:ln>
        </p:spPr>
      </p:sp>
      <p:sp>
        <p:nvSpPr>
          <p:cNvPr id="18" name="Text 15"/>
          <p:cNvSpPr/>
          <p:nvPr/>
        </p:nvSpPr>
        <p:spPr>
          <a:xfrm>
            <a:off x="1143000" y="3017520"/>
            <a:ext cx="329184" cy="329184"/>
          </a:xfrm>
          <a:prstGeom prst="rect">
            <a:avLst/>
          </a:prstGeom>
          <a:noFill/>
          <a:ln/>
        </p:spPr>
        <p:txBody>
          <a:bodyPr wrap="square" rtlCol="0" anchor="ctr"/>
          <a:lstStyle/>
          <a:p>
            <a:pPr algn="ctr" indent="0" marL="0">
              <a:buNone/>
            </a:pPr>
            <a:r>
              <a:rPr lang="en-US" sz="1100" b="1" dirty="0">
                <a:solidFill>
                  <a:srgbClr val="047857"/>
                </a:solidFill>
                <a:latin typeface="Plus Jakarta Sans" pitchFamily="34" charset="0"/>
                <a:ea typeface="Plus Jakarta Sans" pitchFamily="34" charset="-122"/>
                <a:cs typeface="Plus Jakarta Sans" pitchFamily="34" charset="-120"/>
              </a:rPr>
              <a:t>✔</a:t>
            </a:r>
            <a:endParaRPr lang="en-US" sz="1100" dirty="0"/>
          </a:p>
        </p:txBody>
      </p:sp>
      <p:sp>
        <p:nvSpPr>
          <p:cNvPr id="19" name="Text 16"/>
          <p:cNvSpPr/>
          <p:nvPr/>
        </p:nvSpPr>
        <p:spPr>
          <a:xfrm>
            <a:off x="1572768" y="2944368"/>
            <a:ext cx="2834640" cy="237744"/>
          </a:xfrm>
          <a:prstGeom prst="rect">
            <a:avLst/>
          </a:prstGeom>
          <a:noFill/>
          <a:ln/>
        </p:spPr>
        <p:txBody>
          <a:bodyPr wrap="square" rtlCol="0" anchor="ctr"/>
          <a:lstStyle/>
          <a:p>
            <a:pPr indent="0" marL="0">
              <a:buNone/>
            </a:pPr>
            <a:r>
              <a:rPr lang="en-US" sz="1200" b="1" dirty="0">
                <a:solidFill>
                  <a:srgbClr val="0F172A"/>
                </a:solidFill>
                <a:latin typeface="Outfit" pitchFamily="34" charset="0"/>
                <a:ea typeface="Outfit" pitchFamily="34" charset="-122"/>
                <a:cs typeface="Outfit" pitchFamily="34" charset="-120"/>
              </a:rPr>
              <a:t>Google Gemini-Exchange</a:t>
            </a:r>
            <a:endParaRPr lang="en-US" sz="1200" dirty="0"/>
          </a:p>
        </p:txBody>
      </p:sp>
      <p:sp>
        <p:nvSpPr>
          <p:cNvPr id="20" name="Text 17"/>
          <p:cNvSpPr/>
          <p:nvPr/>
        </p:nvSpPr>
        <p:spPr>
          <a:xfrm>
            <a:off x="1572768" y="3182112"/>
            <a:ext cx="2834640" cy="237744"/>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Powers Google AI Overviews &amp; citation index</a:t>
            </a:r>
            <a:endParaRPr lang="en-US" sz="850" dirty="0"/>
          </a:p>
        </p:txBody>
      </p:sp>
      <p:sp>
        <p:nvSpPr>
          <p:cNvPr id="21" name="Shape 18"/>
          <p:cNvSpPr/>
          <p:nvPr/>
        </p:nvSpPr>
        <p:spPr>
          <a:xfrm>
            <a:off x="4480560" y="3035808"/>
            <a:ext cx="960120" cy="274320"/>
          </a:xfrm>
          <a:prstGeom prst="roundRect">
            <a:avLst>
              <a:gd name="adj" fmla="val 50000"/>
            </a:avLst>
          </a:prstGeom>
          <a:solidFill>
            <a:srgbClr val="ECFDF5"/>
          </a:solidFill>
          <a:ln w="12700">
            <a:solidFill>
              <a:srgbClr val="10B981"/>
            </a:solidFill>
            <a:prstDash val="solid"/>
          </a:ln>
        </p:spPr>
      </p:sp>
      <p:sp>
        <p:nvSpPr>
          <p:cNvPr id="22" name="Text 19"/>
          <p:cNvSpPr/>
          <p:nvPr/>
        </p:nvSpPr>
        <p:spPr>
          <a:xfrm>
            <a:off x="4480560" y="3035808"/>
            <a:ext cx="960120" cy="274320"/>
          </a:xfrm>
          <a:prstGeom prst="rect">
            <a:avLst/>
          </a:prstGeom>
          <a:noFill/>
          <a:ln/>
        </p:spPr>
        <p:txBody>
          <a:bodyPr wrap="square" rtlCol="0" anchor="ctr"/>
          <a:lstStyle/>
          <a:p>
            <a:pPr algn="ctr" indent="0" marL="0">
              <a:buNone/>
            </a:pPr>
            <a:r>
              <a:rPr lang="en-US" sz="850" b="1" dirty="0">
                <a:solidFill>
                  <a:srgbClr val="047857"/>
                </a:solidFill>
                <a:latin typeface="Plus Jakarta Sans" pitchFamily="34" charset="0"/>
                <a:ea typeface="Plus Jakarta Sans" pitchFamily="34" charset="-122"/>
                <a:cs typeface="Plus Jakarta Sans" pitchFamily="34" charset="-120"/>
              </a:rPr>
              <a:t>INDEXED</a:t>
            </a:r>
            <a:endParaRPr lang="en-US" sz="850" dirty="0"/>
          </a:p>
        </p:txBody>
      </p:sp>
      <p:sp>
        <p:nvSpPr>
          <p:cNvPr id="23" name="Shape 20"/>
          <p:cNvSpPr/>
          <p:nvPr/>
        </p:nvSpPr>
        <p:spPr>
          <a:xfrm>
            <a:off x="1005840" y="3602736"/>
            <a:ext cx="4572000" cy="658368"/>
          </a:xfrm>
          <a:prstGeom prst="roundRect">
            <a:avLst>
              <a:gd name="adj" fmla="val 11111"/>
            </a:avLst>
          </a:prstGeom>
          <a:solidFill>
            <a:srgbClr val="FFFFFF"/>
          </a:solidFill>
          <a:ln w="12700">
            <a:solidFill>
              <a:srgbClr val="E2E8F0"/>
            </a:solidFill>
            <a:prstDash val="solid"/>
          </a:ln>
        </p:spPr>
      </p:sp>
      <p:sp>
        <p:nvSpPr>
          <p:cNvPr id="24" name="Shape 21"/>
          <p:cNvSpPr/>
          <p:nvPr/>
        </p:nvSpPr>
        <p:spPr>
          <a:xfrm>
            <a:off x="1143000" y="3767328"/>
            <a:ext cx="329184" cy="329184"/>
          </a:xfrm>
          <a:prstGeom prst="ellipse">
            <a:avLst/>
          </a:prstGeom>
          <a:solidFill>
            <a:srgbClr val="F0F9FF"/>
          </a:solidFill>
          <a:ln w="12700">
            <a:solidFill>
              <a:srgbClr val="0EA5E9"/>
            </a:solidFill>
            <a:prstDash val="solid"/>
          </a:ln>
        </p:spPr>
      </p:sp>
      <p:sp>
        <p:nvSpPr>
          <p:cNvPr id="25" name="Text 22"/>
          <p:cNvSpPr/>
          <p:nvPr/>
        </p:nvSpPr>
        <p:spPr>
          <a:xfrm>
            <a:off x="1143000" y="3767328"/>
            <a:ext cx="329184" cy="329184"/>
          </a:xfrm>
          <a:prstGeom prst="rect">
            <a:avLst/>
          </a:prstGeom>
          <a:noFill/>
          <a:ln/>
        </p:spPr>
        <p:txBody>
          <a:bodyPr wrap="square" rtlCol="0" anchor="ctr"/>
          <a:lstStyle/>
          <a:p>
            <a:pPr algn="ctr" indent="0" marL="0">
              <a:buNone/>
            </a:pPr>
            <a:r>
              <a:rPr lang="en-US" sz="1100" b="1" dirty="0">
                <a:solidFill>
                  <a:srgbClr val="075985"/>
                </a:solidFill>
                <a:latin typeface="Plus Jakarta Sans" pitchFamily="34" charset="0"/>
                <a:ea typeface="Plus Jakarta Sans" pitchFamily="34" charset="-122"/>
                <a:cs typeface="Plus Jakarta Sans" pitchFamily="34" charset="-120"/>
              </a:rPr>
              <a:t>✔</a:t>
            </a:r>
            <a:endParaRPr lang="en-US" sz="1100" dirty="0"/>
          </a:p>
        </p:txBody>
      </p:sp>
      <p:sp>
        <p:nvSpPr>
          <p:cNvPr id="26" name="Text 23"/>
          <p:cNvSpPr/>
          <p:nvPr/>
        </p:nvSpPr>
        <p:spPr>
          <a:xfrm>
            <a:off x="1572768" y="3694176"/>
            <a:ext cx="2834640" cy="237744"/>
          </a:xfrm>
          <a:prstGeom prst="rect">
            <a:avLst/>
          </a:prstGeom>
          <a:noFill/>
          <a:ln/>
        </p:spPr>
        <p:txBody>
          <a:bodyPr wrap="square" rtlCol="0" anchor="ctr"/>
          <a:lstStyle/>
          <a:p>
            <a:pPr indent="0" marL="0">
              <a:buNone/>
            </a:pPr>
            <a:r>
              <a:rPr lang="en-US" sz="1200" b="1" dirty="0">
                <a:solidFill>
                  <a:srgbClr val="0F172A"/>
                </a:solidFill>
                <a:latin typeface="Outfit" pitchFamily="34" charset="0"/>
                <a:ea typeface="Outfit" pitchFamily="34" charset="-122"/>
                <a:cs typeface="Outfit" pitchFamily="34" charset="-120"/>
              </a:rPr>
              <a:t>PerplexityBot</a:t>
            </a:r>
            <a:endParaRPr lang="en-US" sz="1200" dirty="0"/>
          </a:p>
        </p:txBody>
      </p:sp>
      <p:sp>
        <p:nvSpPr>
          <p:cNvPr id="27" name="Text 24"/>
          <p:cNvSpPr/>
          <p:nvPr/>
        </p:nvSpPr>
        <p:spPr>
          <a:xfrm>
            <a:off x="1572768" y="3931920"/>
            <a:ext cx="2834640" cy="237744"/>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Powers Perplexity AI direct answer engine</a:t>
            </a:r>
            <a:endParaRPr lang="en-US" sz="850" dirty="0"/>
          </a:p>
        </p:txBody>
      </p:sp>
      <p:sp>
        <p:nvSpPr>
          <p:cNvPr id="28" name="Shape 25"/>
          <p:cNvSpPr/>
          <p:nvPr/>
        </p:nvSpPr>
        <p:spPr>
          <a:xfrm>
            <a:off x="4480560" y="3785616"/>
            <a:ext cx="960120" cy="274320"/>
          </a:xfrm>
          <a:prstGeom prst="roundRect">
            <a:avLst>
              <a:gd name="adj" fmla="val 50000"/>
            </a:avLst>
          </a:prstGeom>
          <a:solidFill>
            <a:srgbClr val="F0F9FF"/>
          </a:solidFill>
          <a:ln w="12700">
            <a:solidFill>
              <a:srgbClr val="0EA5E9"/>
            </a:solidFill>
            <a:prstDash val="solid"/>
          </a:ln>
        </p:spPr>
      </p:sp>
      <p:sp>
        <p:nvSpPr>
          <p:cNvPr id="29" name="Text 26"/>
          <p:cNvSpPr/>
          <p:nvPr/>
        </p:nvSpPr>
        <p:spPr>
          <a:xfrm>
            <a:off x="4480560" y="3785616"/>
            <a:ext cx="960120" cy="274320"/>
          </a:xfrm>
          <a:prstGeom prst="rect">
            <a:avLst/>
          </a:prstGeom>
          <a:noFill/>
          <a:ln/>
        </p:spPr>
        <p:txBody>
          <a:bodyPr wrap="square" rtlCol="0" anchor="ctr"/>
          <a:lstStyle/>
          <a:p>
            <a:pPr algn="ctr" indent="0" marL="0">
              <a:buNone/>
            </a:pPr>
            <a:r>
              <a:rPr lang="en-US" sz="850" b="1" dirty="0">
                <a:solidFill>
                  <a:srgbClr val="075985"/>
                </a:solidFill>
                <a:latin typeface="Plus Jakarta Sans" pitchFamily="34" charset="0"/>
                <a:ea typeface="Plus Jakarta Sans" pitchFamily="34" charset="-122"/>
                <a:cs typeface="Plus Jakarta Sans" pitchFamily="34" charset="-120"/>
              </a:rPr>
              <a:t>PERMITTED</a:t>
            </a:r>
            <a:endParaRPr lang="en-US" sz="850" dirty="0"/>
          </a:p>
        </p:txBody>
      </p:sp>
      <p:sp>
        <p:nvSpPr>
          <p:cNvPr id="30" name="Shape 27"/>
          <p:cNvSpPr/>
          <p:nvPr/>
        </p:nvSpPr>
        <p:spPr>
          <a:xfrm>
            <a:off x="1005840" y="4352544"/>
            <a:ext cx="4572000" cy="658368"/>
          </a:xfrm>
          <a:prstGeom prst="roundRect">
            <a:avLst>
              <a:gd name="adj" fmla="val 11111"/>
            </a:avLst>
          </a:prstGeom>
          <a:solidFill>
            <a:srgbClr val="FFFFFF"/>
          </a:solidFill>
          <a:ln w="12700">
            <a:solidFill>
              <a:srgbClr val="E2E8F0"/>
            </a:solidFill>
            <a:prstDash val="solid"/>
          </a:ln>
        </p:spPr>
      </p:sp>
      <p:sp>
        <p:nvSpPr>
          <p:cNvPr id="31" name="Shape 28"/>
          <p:cNvSpPr/>
          <p:nvPr/>
        </p:nvSpPr>
        <p:spPr>
          <a:xfrm>
            <a:off x="1143000" y="4517136"/>
            <a:ext cx="329184" cy="329184"/>
          </a:xfrm>
          <a:prstGeom prst="ellipse">
            <a:avLst/>
          </a:prstGeom>
          <a:solidFill>
            <a:srgbClr val="EEF2FF"/>
          </a:solidFill>
          <a:ln w="12700">
            <a:solidFill>
              <a:srgbClr val="6366F1"/>
            </a:solidFill>
            <a:prstDash val="solid"/>
          </a:ln>
        </p:spPr>
      </p:sp>
      <p:sp>
        <p:nvSpPr>
          <p:cNvPr id="32" name="Text 29"/>
          <p:cNvSpPr/>
          <p:nvPr/>
        </p:nvSpPr>
        <p:spPr>
          <a:xfrm>
            <a:off x="1143000" y="4517136"/>
            <a:ext cx="329184" cy="329184"/>
          </a:xfrm>
          <a:prstGeom prst="rect">
            <a:avLst/>
          </a:prstGeom>
          <a:noFill/>
          <a:ln/>
        </p:spPr>
        <p:txBody>
          <a:bodyPr wrap="square" rtlCol="0" anchor="ctr"/>
          <a:lstStyle/>
          <a:p>
            <a:pPr algn="ctr" indent="0" marL="0">
              <a:buNone/>
            </a:pPr>
            <a:r>
              <a:rPr lang="en-US" sz="1100" b="1" dirty="0">
                <a:solidFill>
                  <a:srgbClr val="4338CA"/>
                </a:solidFill>
                <a:latin typeface="Plus Jakarta Sans" pitchFamily="34" charset="0"/>
                <a:ea typeface="Plus Jakarta Sans" pitchFamily="34" charset="-122"/>
                <a:cs typeface="Plus Jakarta Sans" pitchFamily="34" charset="-120"/>
              </a:rPr>
              <a:t>✔</a:t>
            </a:r>
            <a:endParaRPr lang="en-US" sz="1100" dirty="0"/>
          </a:p>
        </p:txBody>
      </p:sp>
      <p:sp>
        <p:nvSpPr>
          <p:cNvPr id="33" name="Text 30"/>
          <p:cNvSpPr/>
          <p:nvPr/>
        </p:nvSpPr>
        <p:spPr>
          <a:xfrm>
            <a:off x="1572768" y="4443984"/>
            <a:ext cx="2834640" cy="237744"/>
          </a:xfrm>
          <a:prstGeom prst="rect">
            <a:avLst/>
          </a:prstGeom>
          <a:noFill/>
          <a:ln/>
        </p:spPr>
        <p:txBody>
          <a:bodyPr wrap="square" rtlCol="0" anchor="ctr"/>
          <a:lstStyle/>
          <a:p>
            <a:pPr indent="0" marL="0">
              <a:buNone/>
            </a:pPr>
            <a:r>
              <a:rPr lang="en-US" sz="1200" b="1" dirty="0">
                <a:solidFill>
                  <a:srgbClr val="0F172A"/>
                </a:solidFill>
                <a:latin typeface="Outfit" pitchFamily="34" charset="0"/>
                <a:ea typeface="Outfit" pitchFamily="34" charset="-122"/>
                <a:cs typeface="Outfit" pitchFamily="34" charset="-120"/>
              </a:rPr>
              <a:t>Anthropic ClaudeBot</a:t>
            </a:r>
            <a:endParaRPr lang="en-US" sz="1200" dirty="0"/>
          </a:p>
        </p:txBody>
      </p:sp>
      <p:sp>
        <p:nvSpPr>
          <p:cNvPr id="34" name="Text 31"/>
          <p:cNvSpPr/>
          <p:nvPr/>
        </p:nvSpPr>
        <p:spPr>
          <a:xfrm>
            <a:off x="1572768" y="4681728"/>
            <a:ext cx="2834640" cy="237744"/>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Powers Claude AI synthesis and extraction</a:t>
            </a:r>
            <a:endParaRPr lang="en-US" sz="850" dirty="0"/>
          </a:p>
        </p:txBody>
      </p:sp>
      <p:sp>
        <p:nvSpPr>
          <p:cNvPr id="35" name="Shape 32"/>
          <p:cNvSpPr/>
          <p:nvPr/>
        </p:nvSpPr>
        <p:spPr>
          <a:xfrm>
            <a:off x="4480560" y="4535424"/>
            <a:ext cx="960120" cy="274320"/>
          </a:xfrm>
          <a:prstGeom prst="roundRect">
            <a:avLst>
              <a:gd name="adj" fmla="val 50000"/>
            </a:avLst>
          </a:prstGeom>
          <a:solidFill>
            <a:srgbClr val="EEF2FF"/>
          </a:solidFill>
          <a:ln w="12700">
            <a:solidFill>
              <a:srgbClr val="6366F1"/>
            </a:solidFill>
            <a:prstDash val="solid"/>
          </a:ln>
        </p:spPr>
      </p:sp>
      <p:sp>
        <p:nvSpPr>
          <p:cNvPr id="36" name="Text 33"/>
          <p:cNvSpPr/>
          <p:nvPr/>
        </p:nvSpPr>
        <p:spPr>
          <a:xfrm>
            <a:off x="4480560" y="4535424"/>
            <a:ext cx="960120" cy="274320"/>
          </a:xfrm>
          <a:prstGeom prst="rect">
            <a:avLst/>
          </a:prstGeom>
          <a:noFill/>
          <a:ln/>
        </p:spPr>
        <p:txBody>
          <a:bodyPr wrap="square" rtlCol="0" anchor="ctr"/>
          <a:lstStyle/>
          <a:p>
            <a:pPr algn="ctr" indent="0" marL="0">
              <a:buNone/>
            </a:pPr>
            <a:r>
              <a:rPr lang="en-US" sz="850" b="1" dirty="0">
                <a:solidFill>
                  <a:srgbClr val="4338CA"/>
                </a:solidFill>
                <a:latin typeface="Plus Jakarta Sans" pitchFamily="34" charset="0"/>
                <a:ea typeface="Plus Jakarta Sans" pitchFamily="34" charset="-122"/>
                <a:cs typeface="Plus Jakarta Sans" pitchFamily="34" charset="-120"/>
              </a:rPr>
              <a:t>AUTHORIZED</a:t>
            </a:r>
            <a:endParaRPr lang="en-US" sz="850" dirty="0"/>
          </a:p>
        </p:txBody>
      </p:sp>
      <p:sp>
        <p:nvSpPr>
          <p:cNvPr id="37" name="Shape 34"/>
          <p:cNvSpPr/>
          <p:nvPr/>
        </p:nvSpPr>
        <p:spPr>
          <a:xfrm>
            <a:off x="1005840" y="5257800"/>
            <a:ext cx="4572000" cy="621792"/>
          </a:xfrm>
          <a:prstGeom prst="roundRect">
            <a:avLst>
              <a:gd name="adj" fmla="val 11765"/>
            </a:avLst>
          </a:prstGeom>
          <a:solidFill>
            <a:srgbClr val="F8FAFC"/>
          </a:solidFill>
          <a:ln w="12700">
            <a:solidFill>
              <a:srgbClr val="E2E8F0"/>
            </a:solidFill>
            <a:prstDash val="solid"/>
          </a:ln>
        </p:spPr>
      </p:sp>
      <p:sp>
        <p:nvSpPr>
          <p:cNvPr id="38" name="Text 35"/>
          <p:cNvSpPr/>
          <p:nvPr/>
        </p:nvSpPr>
        <p:spPr>
          <a:xfrm>
            <a:off x="1143000" y="5294376"/>
            <a:ext cx="4297680" cy="548640"/>
          </a:xfrm>
          <a:prstGeom prst="rect">
            <a:avLst/>
          </a:prstGeom>
          <a:noFill/>
          <a:ln/>
        </p:spPr>
        <p:txBody>
          <a:bodyPr wrap="square" rtlCol="0" anchor="ctr"/>
          <a:lstStyle/>
          <a:p>
            <a:pPr indent="0" marL="0">
              <a:lnSpc>
                <a:spcPts val="1300"/>
              </a:lnSpc>
              <a:buNone/>
            </a:pPr>
            <a:r>
              <a:rPr lang="en-US" sz="950" dirty="0">
                <a:solidFill>
                  <a:srgbClr val="334155"/>
                </a:solidFill>
                <a:latin typeface="Plus Jakarta Sans" pitchFamily="34" charset="0"/>
                <a:ea typeface="Plus Jakarta Sans" pitchFamily="34" charset="-122"/>
                <a:cs typeface="Plus Jakarta Sans" pitchFamily="34" charset="-120"/>
              </a:rPr>
              <a:t>✔  Your store's robots.txt allows leading AI engines to discover products and cite your prices directly in generative search responses.</a:t>
            </a:r>
            <a:endParaRPr lang="en-US" sz="950" dirty="0"/>
          </a:p>
        </p:txBody>
      </p:sp>
      <p:sp>
        <p:nvSpPr>
          <p:cNvPr id="39" name="Shape 36"/>
          <p:cNvSpPr/>
          <p:nvPr/>
        </p:nvSpPr>
        <p:spPr>
          <a:xfrm>
            <a:off x="6217920" y="1508760"/>
            <a:ext cx="5239512" cy="4526280"/>
          </a:xfrm>
          <a:prstGeom prst="roundRect">
            <a:avLst>
              <a:gd name="adj" fmla="val 2020"/>
            </a:avLst>
          </a:prstGeom>
          <a:solidFill>
            <a:srgbClr val="F8FAFC"/>
          </a:solidFill>
          <a:ln w="12700">
            <a:solidFill>
              <a:srgbClr val="E2E8F0"/>
            </a:solidFill>
            <a:prstDash val="solid"/>
          </a:ln>
        </p:spPr>
      </p:sp>
      <p:sp>
        <p:nvSpPr>
          <p:cNvPr id="40" name="Text 37"/>
          <p:cNvSpPr/>
          <p:nvPr/>
        </p:nvSpPr>
        <p:spPr>
          <a:xfrm>
            <a:off x="6492240" y="1691640"/>
            <a:ext cx="3200400" cy="256032"/>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VOICE READABILITY &amp; DIRECT ANSWERS</a:t>
            </a:r>
            <a:endParaRPr lang="en-US" sz="1000" dirty="0"/>
          </a:p>
        </p:txBody>
      </p:sp>
      <p:sp>
        <p:nvSpPr>
          <p:cNvPr id="41" name="Shape 38"/>
          <p:cNvSpPr/>
          <p:nvPr/>
        </p:nvSpPr>
        <p:spPr>
          <a:xfrm>
            <a:off x="9966960" y="1664208"/>
            <a:ext cx="1234440" cy="292608"/>
          </a:xfrm>
          <a:prstGeom prst="roundRect">
            <a:avLst>
              <a:gd name="adj" fmla="val 50000"/>
            </a:avLst>
          </a:prstGeom>
          <a:solidFill>
            <a:srgbClr val="F0F9FF"/>
          </a:solidFill>
          <a:ln w="12700">
            <a:solidFill>
              <a:srgbClr val="0EA5E9"/>
            </a:solidFill>
            <a:prstDash val="solid"/>
          </a:ln>
        </p:spPr>
      </p:sp>
      <p:sp>
        <p:nvSpPr>
          <p:cNvPr id="42" name="Text 39"/>
          <p:cNvSpPr/>
          <p:nvPr/>
        </p:nvSpPr>
        <p:spPr>
          <a:xfrm>
            <a:off x="9966960" y="1664208"/>
            <a:ext cx="1234440" cy="292608"/>
          </a:xfrm>
          <a:prstGeom prst="rect">
            <a:avLst/>
          </a:prstGeom>
          <a:noFill/>
          <a:ln/>
        </p:spPr>
        <p:txBody>
          <a:bodyPr wrap="square" rtlCol="0" anchor="ctr"/>
          <a:lstStyle/>
          <a:p>
            <a:pPr algn="ctr" indent="0" marL="0">
              <a:buNone/>
            </a:pPr>
            <a:r>
              <a:rPr lang="en-US" sz="950" b="1" dirty="0">
                <a:solidFill>
                  <a:srgbClr val="075985"/>
                </a:solidFill>
                <a:latin typeface="Plus Jakarta Sans" pitchFamily="34" charset="0"/>
                <a:ea typeface="Plus Jakarta Sans" pitchFamily="34" charset="-122"/>
                <a:cs typeface="Plus Jakarta Sans" pitchFamily="34" charset="-120"/>
              </a:rPr>
              <a:t>SCORE: 68.5</a:t>
            </a:r>
            <a:endParaRPr lang="en-US" sz="950" dirty="0"/>
          </a:p>
        </p:txBody>
      </p:sp>
      <p:sp>
        <p:nvSpPr>
          <p:cNvPr id="43" name="Text 40"/>
          <p:cNvSpPr/>
          <p:nvPr/>
        </p:nvSpPr>
        <p:spPr>
          <a:xfrm>
            <a:off x="6492240" y="2057400"/>
            <a:ext cx="3200400" cy="228600"/>
          </a:xfrm>
          <a:prstGeom prst="rect">
            <a:avLst/>
          </a:prstGeom>
          <a:noFill/>
          <a:ln/>
        </p:spPr>
        <p:txBody>
          <a:bodyPr wrap="square" rtlCol="0" anchor="ctr"/>
          <a:lstStyle/>
          <a:p>
            <a:pPr indent="0" marL="0">
              <a:buNone/>
            </a:pPr>
            <a:r>
              <a:rPr lang="en-US" sz="1200" b="1" dirty="0">
                <a:solidFill>
                  <a:srgbClr val="0F172A"/>
                </a:solidFill>
                <a:latin typeface="Outfit" pitchFamily="34" charset="0"/>
                <a:ea typeface="Outfit" pitchFamily="34" charset="-122"/>
                <a:cs typeface="Outfit" pitchFamily="34" charset="-120"/>
              </a:rPr>
              <a:t>Flesch Reading Ease Index</a:t>
            </a:r>
            <a:endParaRPr lang="en-US" sz="1200" dirty="0"/>
          </a:p>
        </p:txBody>
      </p:sp>
      <p:sp>
        <p:nvSpPr>
          <p:cNvPr id="44" name="Text 41"/>
          <p:cNvSpPr/>
          <p:nvPr/>
        </p:nvSpPr>
        <p:spPr>
          <a:xfrm>
            <a:off x="9235440" y="2057400"/>
            <a:ext cx="1965960" cy="228600"/>
          </a:xfrm>
          <a:prstGeom prst="rect">
            <a:avLst/>
          </a:prstGeom>
          <a:noFill/>
          <a:ln/>
        </p:spPr>
        <p:txBody>
          <a:bodyPr wrap="square" rtlCol="0" anchor="ctr"/>
          <a:lstStyle/>
          <a:p>
            <a:pPr algn="r" indent="0" marL="0">
              <a:buNone/>
            </a:pPr>
            <a:r>
              <a:rPr lang="en-US" sz="1050" b="1" dirty="0">
                <a:solidFill>
                  <a:srgbClr val="0EA5E9"/>
                </a:solidFill>
                <a:latin typeface="Plus Jakarta Sans" pitchFamily="34" charset="0"/>
                <a:ea typeface="Plus Jakarta Sans" pitchFamily="34" charset="-122"/>
                <a:cs typeface="Plus Jakarta Sans" pitchFamily="34" charset="-120"/>
              </a:rPr>
              <a:t>68.5 / 100 (Conversational)</a:t>
            </a:r>
            <a:endParaRPr lang="en-US" sz="1050" dirty="0"/>
          </a:p>
        </p:txBody>
      </p:sp>
      <p:sp>
        <p:nvSpPr>
          <p:cNvPr id="45" name="Shape 42"/>
          <p:cNvSpPr/>
          <p:nvPr/>
        </p:nvSpPr>
        <p:spPr>
          <a:xfrm>
            <a:off x="6492240" y="2340864"/>
            <a:ext cx="4709160" cy="146304"/>
          </a:xfrm>
          <a:prstGeom prst="roundRect">
            <a:avLst>
              <a:gd name="adj" fmla="val 50000"/>
            </a:avLst>
          </a:prstGeom>
          <a:solidFill>
            <a:srgbClr val="E2E8F0"/>
          </a:solidFill>
          <a:ln w="12700">
            <a:solidFill>
              <a:srgbClr val="E2E8F0"/>
            </a:solidFill>
            <a:prstDash val="solid"/>
          </a:ln>
        </p:spPr>
      </p:sp>
      <p:sp>
        <p:nvSpPr>
          <p:cNvPr id="46" name="Shape 43"/>
          <p:cNvSpPr/>
          <p:nvPr/>
        </p:nvSpPr>
        <p:spPr>
          <a:xfrm>
            <a:off x="6492240" y="2340864"/>
            <a:ext cx="3225775" cy="146304"/>
          </a:xfrm>
          <a:prstGeom prst="roundRect">
            <a:avLst>
              <a:gd name="adj" fmla="val 50000"/>
            </a:avLst>
          </a:prstGeom>
          <a:solidFill>
            <a:srgbClr val="0EA5E9"/>
          </a:solidFill>
          <a:ln w="12700">
            <a:solidFill>
              <a:srgbClr val="0EA5E9"/>
            </a:solidFill>
            <a:prstDash val="solid"/>
          </a:ln>
        </p:spPr>
      </p:sp>
      <p:sp>
        <p:nvSpPr>
          <p:cNvPr id="47" name="Shape 44"/>
          <p:cNvSpPr/>
          <p:nvPr/>
        </p:nvSpPr>
        <p:spPr>
          <a:xfrm>
            <a:off x="6492240" y="2697480"/>
            <a:ext cx="4709160" cy="694944"/>
          </a:xfrm>
          <a:prstGeom prst="roundRect">
            <a:avLst>
              <a:gd name="adj" fmla="val 10526"/>
            </a:avLst>
          </a:prstGeom>
          <a:solidFill>
            <a:srgbClr val="FFFFFF"/>
          </a:solidFill>
          <a:ln w="12700">
            <a:solidFill>
              <a:srgbClr val="E2E8F0"/>
            </a:solidFill>
            <a:prstDash val="solid"/>
          </a:ln>
        </p:spPr>
      </p:sp>
      <p:sp>
        <p:nvSpPr>
          <p:cNvPr id="48" name="Shape 45"/>
          <p:cNvSpPr/>
          <p:nvPr/>
        </p:nvSpPr>
        <p:spPr>
          <a:xfrm>
            <a:off x="6629400" y="2880360"/>
            <a:ext cx="329184" cy="329184"/>
          </a:xfrm>
          <a:prstGeom prst="ellipse">
            <a:avLst/>
          </a:prstGeom>
          <a:solidFill>
            <a:srgbClr val="F0F9FF"/>
          </a:solidFill>
          <a:ln w="12700">
            <a:solidFill>
              <a:srgbClr val="0EA5E9"/>
            </a:solidFill>
            <a:prstDash val="solid"/>
          </a:ln>
        </p:spPr>
      </p:sp>
      <p:sp>
        <p:nvSpPr>
          <p:cNvPr id="49" name="Text 46"/>
          <p:cNvSpPr/>
          <p:nvPr/>
        </p:nvSpPr>
        <p:spPr>
          <a:xfrm>
            <a:off x="6629400" y="2880360"/>
            <a:ext cx="329184" cy="329184"/>
          </a:xfrm>
          <a:prstGeom prst="rect">
            <a:avLst/>
          </a:prstGeom>
          <a:noFill/>
          <a:ln/>
        </p:spPr>
        <p:txBody>
          <a:bodyPr wrap="square" rtlCol="0" anchor="ctr"/>
          <a:lstStyle/>
          <a:p>
            <a:pPr algn="ctr" indent="0" marL="0">
              <a:buNone/>
            </a:pPr>
            <a:r>
              <a:rPr lang="en-US" sz="1100" b="1" dirty="0">
                <a:solidFill>
                  <a:srgbClr val="075985"/>
                </a:solidFill>
                <a:latin typeface="Plus Jakarta Sans" pitchFamily="34" charset="0"/>
                <a:ea typeface="Plus Jakarta Sans" pitchFamily="34" charset="-122"/>
                <a:cs typeface="Plus Jakarta Sans" pitchFamily="34" charset="-120"/>
              </a:rPr>
              <a:t>✔</a:t>
            </a:r>
            <a:endParaRPr lang="en-US" sz="1100" dirty="0"/>
          </a:p>
        </p:txBody>
      </p:sp>
      <p:sp>
        <p:nvSpPr>
          <p:cNvPr id="50" name="Text 47"/>
          <p:cNvSpPr/>
          <p:nvPr/>
        </p:nvSpPr>
        <p:spPr>
          <a:xfrm>
            <a:off x="7059168" y="2807208"/>
            <a:ext cx="4023360" cy="237744"/>
          </a:xfrm>
          <a:prstGeom prst="rect">
            <a:avLst/>
          </a:prstGeom>
          <a:noFill/>
          <a:ln/>
        </p:spPr>
        <p:txBody>
          <a:bodyPr wrap="square" rtlCol="0" anchor="ctr"/>
          <a:lstStyle/>
          <a:p>
            <a:pPr indent="0" marL="0">
              <a:buNone/>
            </a:pPr>
            <a:r>
              <a:rPr lang="en-US" sz="1150" b="1" dirty="0">
                <a:solidFill>
                  <a:srgbClr val="0F172A"/>
                </a:solidFill>
                <a:latin typeface="Outfit" pitchFamily="34" charset="0"/>
                <a:ea typeface="Outfit" pitchFamily="34" charset="-122"/>
                <a:cs typeface="Outfit" pitchFamily="34" charset="-120"/>
              </a:rPr>
              <a:t>Direct Answer Q&amp;A Format</a:t>
            </a:r>
            <a:endParaRPr lang="en-US" sz="1150" dirty="0"/>
          </a:p>
        </p:txBody>
      </p:sp>
      <p:sp>
        <p:nvSpPr>
          <p:cNvPr id="51" name="Text 48"/>
          <p:cNvSpPr/>
          <p:nvPr/>
        </p:nvSpPr>
        <p:spPr>
          <a:xfrm>
            <a:off x="7059168" y="3044952"/>
            <a:ext cx="4023360" cy="256032"/>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Clear FAQ structures formatted for voice assistant instant answers (Siri, Alexa)</a:t>
            </a:r>
            <a:endParaRPr lang="en-US" sz="850" dirty="0"/>
          </a:p>
        </p:txBody>
      </p:sp>
      <p:sp>
        <p:nvSpPr>
          <p:cNvPr id="52" name="Shape 49"/>
          <p:cNvSpPr/>
          <p:nvPr/>
        </p:nvSpPr>
        <p:spPr>
          <a:xfrm>
            <a:off x="6492240" y="3502152"/>
            <a:ext cx="4709160" cy="694944"/>
          </a:xfrm>
          <a:prstGeom prst="roundRect">
            <a:avLst>
              <a:gd name="adj" fmla="val 10526"/>
            </a:avLst>
          </a:prstGeom>
          <a:solidFill>
            <a:srgbClr val="FFFFFF"/>
          </a:solidFill>
          <a:ln w="12700">
            <a:solidFill>
              <a:srgbClr val="E2E8F0"/>
            </a:solidFill>
            <a:prstDash val="solid"/>
          </a:ln>
        </p:spPr>
      </p:sp>
      <p:sp>
        <p:nvSpPr>
          <p:cNvPr id="53" name="Shape 50"/>
          <p:cNvSpPr/>
          <p:nvPr/>
        </p:nvSpPr>
        <p:spPr>
          <a:xfrm>
            <a:off x="6629400" y="3685032"/>
            <a:ext cx="329184" cy="329184"/>
          </a:xfrm>
          <a:prstGeom prst="ellipse">
            <a:avLst/>
          </a:prstGeom>
          <a:solidFill>
            <a:srgbClr val="F0F9FF"/>
          </a:solidFill>
          <a:ln w="12700">
            <a:solidFill>
              <a:srgbClr val="0EA5E9"/>
            </a:solidFill>
            <a:prstDash val="solid"/>
          </a:ln>
        </p:spPr>
      </p:sp>
      <p:sp>
        <p:nvSpPr>
          <p:cNvPr id="54" name="Text 51"/>
          <p:cNvSpPr/>
          <p:nvPr/>
        </p:nvSpPr>
        <p:spPr>
          <a:xfrm>
            <a:off x="6629400" y="3685032"/>
            <a:ext cx="329184" cy="329184"/>
          </a:xfrm>
          <a:prstGeom prst="rect">
            <a:avLst/>
          </a:prstGeom>
          <a:noFill/>
          <a:ln/>
        </p:spPr>
        <p:txBody>
          <a:bodyPr wrap="square" rtlCol="0" anchor="ctr"/>
          <a:lstStyle/>
          <a:p>
            <a:pPr algn="ctr" indent="0" marL="0">
              <a:buNone/>
            </a:pPr>
            <a:r>
              <a:rPr lang="en-US" sz="1100" b="1" dirty="0">
                <a:solidFill>
                  <a:srgbClr val="075985"/>
                </a:solidFill>
                <a:latin typeface="Plus Jakarta Sans" pitchFamily="34" charset="0"/>
                <a:ea typeface="Plus Jakarta Sans" pitchFamily="34" charset="-122"/>
                <a:cs typeface="Plus Jakarta Sans" pitchFamily="34" charset="-120"/>
              </a:rPr>
              <a:t>✔</a:t>
            </a:r>
            <a:endParaRPr lang="en-US" sz="1100" dirty="0"/>
          </a:p>
        </p:txBody>
      </p:sp>
      <p:sp>
        <p:nvSpPr>
          <p:cNvPr id="55" name="Text 52"/>
          <p:cNvSpPr/>
          <p:nvPr/>
        </p:nvSpPr>
        <p:spPr>
          <a:xfrm>
            <a:off x="7059168" y="3611880"/>
            <a:ext cx="4023360" cy="237744"/>
          </a:xfrm>
          <a:prstGeom prst="rect">
            <a:avLst/>
          </a:prstGeom>
          <a:noFill/>
          <a:ln/>
        </p:spPr>
        <p:txBody>
          <a:bodyPr wrap="square" rtlCol="0" anchor="ctr"/>
          <a:lstStyle/>
          <a:p>
            <a:pPr indent="0" marL="0">
              <a:buNone/>
            </a:pPr>
            <a:r>
              <a:rPr lang="en-US" sz="1150" b="1" dirty="0">
                <a:solidFill>
                  <a:srgbClr val="0F172A"/>
                </a:solidFill>
                <a:latin typeface="Outfit" pitchFamily="34" charset="0"/>
                <a:ea typeface="Outfit" pitchFamily="34" charset="-122"/>
                <a:cs typeface="Outfit" pitchFamily="34" charset="-120"/>
              </a:rPr>
              <a:t>Conversational Query Matching</a:t>
            </a:r>
            <a:endParaRPr lang="en-US" sz="1150" dirty="0"/>
          </a:p>
        </p:txBody>
      </p:sp>
      <p:sp>
        <p:nvSpPr>
          <p:cNvPr id="56" name="Text 53"/>
          <p:cNvSpPr/>
          <p:nvPr/>
        </p:nvSpPr>
        <p:spPr>
          <a:xfrm>
            <a:off x="7059168" y="3849624"/>
            <a:ext cx="4023360" cy="256032"/>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Product descriptions written in natural language matching voice search patterns</a:t>
            </a:r>
            <a:endParaRPr lang="en-US" sz="850" dirty="0"/>
          </a:p>
        </p:txBody>
      </p:sp>
      <p:sp>
        <p:nvSpPr>
          <p:cNvPr id="57" name="Shape 54"/>
          <p:cNvSpPr/>
          <p:nvPr/>
        </p:nvSpPr>
        <p:spPr>
          <a:xfrm>
            <a:off x="6492240" y="4306824"/>
            <a:ext cx="4709160" cy="694944"/>
          </a:xfrm>
          <a:prstGeom prst="roundRect">
            <a:avLst>
              <a:gd name="adj" fmla="val 10526"/>
            </a:avLst>
          </a:prstGeom>
          <a:solidFill>
            <a:srgbClr val="FFFFFF"/>
          </a:solidFill>
          <a:ln w="12700">
            <a:solidFill>
              <a:srgbClr val="E2E8F0"/>
            </a:solidFill>
            <a:prstDash val="solid"/>
          </a:ln>
        </p:spPr>
      </p:sp>
      <p:sp>
        <p:nvSpPr>
          <p:cNvPr id="58" name="Shape 55"/>
          <p:cNvSpPr/>
          <p:nvPr/>
        </p:nvSpPr>
        <p:spPr>
          <a:xfrm>
            <a:off x="6629400" y="4489704"/>
            <a:ext cx="329184" cy="329184"/>
          </a:xfrm>
          <a:prstGeom prst="ellipse">
            <a:avLst/>
          </a:prstGeom>
          <a:solidFill>
            <a:srgbClr val="F0F9FF"/>
          </a:solidFill>
          <a:ln w="12700">
            <a:solidFill>
              <a:srgbClr val="0EA5E9"/>
            </a:solidFill>
            <a:prstDash val="solid"/>
          </a:ln>
        </p:spPr>
      </p:sp>
      <p:sp>
        <p:nvSpPr>
          <p:cNvPr id="59" name="Text 56"/>
          <p:cNvSpPr/>
          <p:nvPr/>
        </p:nvSpPr>
        <p:spPr>
          <a:xfrm>
            <a:off x="6629400" y="4489704"/>
            <a:ext cx="329184" cy="329184"/>
          </a:xfrm>
          <a:prstGeom prst="rect">
            <a:avLst/>
          </a:prstGeom>
          <a:noFill/>
          <a:ln/>
        </p:spPr>
        <p:txBody>
          <a:bodyPr wrap="square" rtlCol="0" anchor="ctr"/>
          <a:lstStyle/>
          <a:p>
            <a:pPr algn="ctr" indent="0" marL="0">
              <a:buNone/>
            </a:pPr>
            <a:r>
              <a:rPr lang="en-US" sz="1100" b="1" dirty="0">
                <a:solidFill>
                  <a:srgbClr val="075985"/>
                </a:solidFill>
                <a:latin typeface="Plus Jakarta Sans" pitchFamily="34" charset="0"/>
                <a:ea typeface="Plus Jakarta Sans" pitchFamily="34" charset="-122"/>
                <a:cs typeface="Plus Jakarta Sans" pitchFamily="34" charset="-120"/>
              </a:rPr>
              <a:t>✔</a:t>
            </a:r>
            <a:endParaRPr lang="en-US" sz="1100" dirty="0"/>
          </a:p>
        </p:txBody>
      </p:sp>
      <p:sp>
        <p:nvSpPr>
          <p:cNvPr id="60" name="Text 57"/>
          <p:cNvSpPr/>
          <p:nvPr/>
        </p:nvSpPr>
        <p:spPr>
          <a:xfrm>
            <a:off x="7059168" y="4416552"/>
            <a:ext cx="4023360" cy="237744"/>
          </a:xfrm>
          <a:prstGeom prst="rect">
            <a:avLst/>
          </a:prstGeom>
          <a:noFill/>
          <a:ln/>
        </p:spPr>
        <p:txBody>
          <a:bodyPr wrap="square" rtlCol="0" anchor="ctr"/>
          <a:lstStyle/>
          <a:p>
            <a:pPr indent="0" marL="0">
              <a:buNone/>
            </a:pPr>
            <a:r>
              <a:rPr lang="en-US" sz="1150" b="1" dirty="0">
                <a:solidFill>
                  <a:srgbClr val="0F172A"/>
                </a:solidFill>
                <a:latin typeface="Outfit" pitchFamily="34" charset="0"/>
                <a:ea typeface="Outfit" pitchFamily="34" charset="-122"/>
                <a:cs typeface="Outfit" pitchFamily="34" charset="-120"/>
              </a:rPr>
              <a:t>Tabular Specification Facts</a:t>
            </a:r>
            <a:endParaRPr lang="en-US" sz="1150" dirty="0"/>
          </a:p>
        </p:txBody>
      </p:sp>
      <p:sp>
        <p:nvSpPr>
          <p:cNvPr id="61" name="Text 58"/>
          <p:cNvSpPr/>
          <p:nvPr/>
        </p:nvSpPr>
        <p:spPr>
          <a:xfrm>
            <a:off x="7059168" y="4654296"/>
            <a:ext cx="4023360" cy="256032"/>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Clean HTML data tables enable effortless LLM feature and specification extraction</a:t>
            </a:r>
            <a:endParaRPr lang="en-US" sz="850" dirty="0"/>
          </a:p>
        </p:txBody>
      </p:sp>
      <p:sp>
        <p:nvSpPr>
          <p:cNvPr id="62" name="Shape 59"/>
          <p:cNvSpPr/>
          <p:nvPr/>
        </p:nvSpPr>
        <p:spPr>
          <a:xfrm>
            <a:off x="6492240" y="5257800"/>
            <a:ext cx="4709160" cy="621792"/>
          </a:xfrm>
          <a:prstGeom prst="roundRect">
            <a:avLst>
              <a:gd name="adj" fmla="val 11765"/>
            </a:avLst>
          </a:prstGeom>
          <a:solidFill>
            <a:srgbClr val="F8FAFC"/>
          </a:solidFill>
          <a:ln w="12700">
            <a:solidFill>
              <a:srgbClr val="E2E8F0"/>
            </a:solidFill>
            <a:prstDash val="solid"/>
          </a:ln>
        </p:spPr>
      </p:sp>
      <p:sp>
        <p:nvSpPr>
          <p:cNvPr id="63" name="Text 60"/>
          <p:cNvSpPr/>
          <p:nvPr/>
        </p:nvSpPr>
        <p:spPr>
          <a:xfrm>
            <a:off x="6629400" y="5294376"/>
            <a:ext cx="4434840" cy="548640"/>
          </a:xfrm>
          <a:prstGeom prst="rect">
            <a:avLst/>
          </a:prstGeom>
          <a:noFill/>
          <a:ln/>
        </p:spPr>
        <p:txBody>
          <a:bodyPr wrap="square" rtlCol="0" anchor="ctr"/>
          <a:lstStyle/>
          <a:p>
            <a:pPr indent="0" marL="0">
              <a:lnSpc>
                <a:spcPts val="1300"/>
              </a:lnSpc>
              <a:buNone/>
            </a:pPr>
            <a:r>
              <a:rPr lang="en-US" sz="950" dirty="0">
                <a:solidFill>
                  <a:srgbClr val="334155"/>
                </a:solidFill>
                <a:latin typeface="Plus Jakarta Sans" pitchFamily="34" charset="0"/>
                <a:ea typeface="Plus Jakarta Sans" pitchFamily="34" charset="-122"/>
                <a:cs typeface="Plus Jakarta Sans" pitchFamily="34" charset="-120"/>
              </a:rPr>
              <a:t>✔  Generative Engine Optimization (GEO) ensures your products appear as cited recommendations in ChatGPT, Perplexity, and Google AI Overviews.</a:t>
            </a:r>
            <a:endParaRPr lang="en-US" sz="950" dirty="0"/>
          </a:p>
        </p:txBody>
      </p:sp>
      <p:sp>
        <p:nvSpPr>
          <p:cNvPr id="64" name="Shape 61"/>
          <p:cNvSpPr/>
          <p:nvPr/>
        </p:nvSpPr>
        <p:spPr>
          <a:xfrm>
            <a:off x="731520" y="6217920"/>
            <a:ext cx="10725912" cy="384048"/>
          </a:xfrm>
          <a:prstGeom prst="roundRect">
            <a:avLst>
              <a:gd name="adj" fmla="val 19048"/>
            </a:avLst>
          </a:prstGeom>
          <a:solidFill>
            <a:srgbClr val="F1F5F9"/>
          </a:solidFill>
          <a:ln w="12700">
            <a:solidFill>
              <a:srgbClr val="E2E8F0"/>
            </a:solidFill>
            <a:prstDash val="solid"/>
          </a:ln>
        </p:spPr>
      </p:sp>
      <p:sp>
        <p:nvSpPr>
          <p:cNvPr id="65" name="Text 62"/>
          <p:cNvSpPr/>
          <p:nvPr/>
        </p:nvSpPr>
        <p:spPr>
          <a:xfrm>
            <a:off x="960120" y="6217920"/>
            <a:ext cx="10332720" cy="384048"/>
          </a:xfrm>
          <a:prstGeom prst="rect">
            <a:avLst/>
          </a:prstGeom>
          <a:noFill/>
          <a:ln/>
        </p:spPr>
        <p:txBody>
          <a:bodyPr wrap="square" rtlCol="0" anchor="ctr"/>
          <a:lstStyle/>
          <a:p>
            <a:pPr indent="0" marL="0">
              <a:buNone/>
            </a:pPr>
            <a:r>
              <a:rPr lang="en-US" sz="950" b="1" dirty="0">
                <a:solidFill>
                  <a:srgbClr val="334155"/>
                </a:solidFill>
                <a:latin typeface="Plus Jakarta Sans" pitchFamily="34" charset="0"/>
                <a:ea typeface="Plus Jakarta Sans" pitchFamily="34" charset="-122"/>
                <a:cs typeface="Plus Jakarta Sans" pitchFamily="34" charset="-120"/>
              </a:rPr>
              <a:t>✔  Generative Engine Optimization: SearchGPT &amp; Gemini Permitted • Voice-Optimized Readability • LLM-Ready Microdata</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Cybersecurity &amp; Storefront Protection</a:t>
            </a:r>
            <a:endParaRPr lang="en-US" sz="1300" dirty="0"/>
          </a:p>
        </p:txBody>
      </p:sp>
      <p:sp>
        <p:nvSpPr>
          <p:cNvPr id="4" name="Text 1"/>
          <p:cNvSpPr/>
          <p:nvPr/>
        </p:nvSpPr>
        <p:spPr>
          <a:xfrm>
            <a:off x="731520" y="731520"/>
            <a:ext cx="82296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Security Protection Check</a:t>
            </a:r>
            <a:endParaRPr lang="en-US" sz="2600" dirty="0"/>
          </a:p>
        </p:txBody>
      </p:sp>
      <p:sp>
        <p:nvSpPr>
          <p:cNvPr id="5" name="Text 2"/>
          <p:cNvSpPr/>
          <p:nvPr/>
        </p:nvSpPr>
        <p:spPr>
          <a:xfrm>
            <a:off x="731520" y="1280160"/>
            <a:ext cx="7772400" cy="365760"/>
          </a:xfrm>
          <a:prstGeom prst="rect">
            <a:avLst/>
          </a:prstGeom>
          <a:noFill/>
          <a:ln/>
        </p:spPr>
        <p:txBody>
          <a:bodyPr wrap="square" rtlCol="0" anchor="ctr"/>
          <a:lstStyle/>
          <a:p>
            <a:pPr indent="0" marL="0">
              <a:buNone/>
            </a:pPr>
            <a:r>
              <a:rPr lang="en-US" sz="1500" b="1" dirty="0">
                <a:solidFill>
                  <a:srgbClr val="10B981"/>
                </a:solidFill>
                <a:latin typeface="Plus Jakarta Sans" pitchFamily="34" charset="0"/>
                <a:ea typeface="Plus Jakarta Sans" pitchFamily="34" charset="-122"/>
                <a:cs typeface="Plus Jakarta Sans" pitchFamily="34" charset="-120"/>
              </a:rPr>
              <a:t>6 protection areas fixed this month</a:t>
            </a:r>
            <a:endParaRPr lang="en-US" sz="1500" dirty="0"/>
          </a:p>
        </p:txBody>
      </p:sp>
      <p:sp>
        <p:nvSpPr>
          <p:cNvPr id="6" name="Text 3"/>
          <p:cNvSpPr/>
          <p:nvPr/>
        </p:nvSpPr>
        <p:spPr>
          <a:xfrm>
            <a:off x="5212080" y="1783080"/>
            <a:ext cx="1188720" cy="274320"/>
          </a:xfrm>
          <a:prstGeom prst="rect">
            <a:avLst/>
          </a:prstGeom>
          <a:noFill/>
          <a:ln/>
        </p:spPr>
        <p:txBody>
          <a:bodyPr wrap="square" rtlCol="0" anchor="ctr"/>
          <a:lstStyle/>
          <a:p>
            <a:pPr algn="ctr" indent="0" marL="0">
              <a:buNone/>
            </a:pPr>
            <a:r>
              <a:rPr lang="en-US" sz="900" b="1" dirty="0">
                <a:solidFill>
                  <a:srgbClr val="64748B"/>
                </a:solidFill>
                <a:latin typeface="Plus Jakarta Sans" pitchFamily="34" charset="0"/>
                <a:ea typeface="Plus Jakarta Sans" pitchFamily="34" charset="-122"/>
                <a:cs typeface="Plus Jakarta Sans" pitchFamily="34" charset="-120"/>
              </a:rPr>
              <a:t>LAST MONTH</a:t>
            </a:r>
            <a:endParaRPr lang="en-US" sz="900" dirty="0"/>
          </a:p>
        </p:txBody>
      </p:sp>
      <p:sp>
        <p:nvSpPr>
          <p:cNvPr id="7" name="Text 4"/>
          <p:cNvSpPr/>
          <p:nvPr/>
        </p:nvSpPr>
        <p:spPr>
          <a:xfrm>
            <a:off x="6035040" y="1783080"/>
            <a:ext cx="1188720" cy="274320"/>
          </a:xfrm>
          <a:prstGeom prst="rect">
            <a:avLst/>
          </a:prstGeom>
          <a:noFill/>
          <a:ln/>
        </p:spPr>
        <p:txBody>
          <a:bodyPr wrap="square" rtlCol="0" anchor="ctr"/>
          <a:lstStyle/>
          <a:p>
            <a:pPr algn="ctr" indent="0" marL="0">
              <a:buNone/>
            </a:pPr>
            <a:r>
              <a:rPr lang="en-US" sz="900" b="1" dirty="0">
                <a:solidFill>
                  <a:srgbClr val="64748B"/>
                </a:solidFill>
                <a:latin typeface="Plus Jakarta Sans" pitchFamily="34" charset="0"/>
                <a:ea typeface="Plus Jakarta Sans" pitchFamily="34" charset="-122"/>
                <a:cs typeface="Plus Jakarta Sans" pitchFamily="34" charset="-120"/>
              </a:rPr>
              <a:t>THIS MONTH</a:t>
            </a:r>
            <a:endParaRPr lang="en-US" sz="900" dirty="0"/>
          </a:p>
        </p:txBody>
      </p:sp>
      <p:sp>
        <p:nvSpPr>
          <p:cNvPr id="8" name="Shape 5"/>
          <p:cNvSpPr/>
          <p:nvPr/>
        </p:nvSpPr>
        <p:spPr>
          <a:xfrm>
            <a:off x="731520" y="2148840"/>
            <a:ext cx="7040880" cy="566928"/>
          </a:xfrm>
          <a:prstGeom prst="rect">
            <a:avLst>
              <a:gd name="adj" fmla="val 12903"/>
            </a:avLst>
          </a:prstGeom>
          <a:solidFill>
            <a:srgbClr val="F8FAFC"/>
          </a:solidFill>
          <a:ln w="9525">
            <a:solidFill>
              <a:srgbClr val="E2E8F0"/>
            </a:solidFill>
            <a:prstDash val="solid"/>
          </a:ln>
        </p:spPr>
      </p:sp>
      <p:sp>
        <p:nvSpPr>
          <p:cNvPr id="9" name="Shape 6"/>
          <p:cNvSpPr/>
          <p:nvPr/>
        </p:nvSpPr>
        <p:spPr>
          <a:xfrm>
            <a:off x="731520" y="2148840"/>
            <a:ext cx="82296" cy="566928"/>
          </a:xfrm>
          <a:prstGeom prst="rect">
            <a:avLst/>
          </a:prstGeom>
          <a:solidFill>
            <a:srgbClr val="10B981"/>
          </a:solidFill>
          <a:ln w="12700">
            <a:solidFill>
              <a:srgbClr val="10B981"/>
            </a:solidFill>
            <a:prstDash val="solid"/>
          </a:ln>
        </p:spPr>
      </p:sp>
      <p:sp>
        <p:nvSpPr>
          <p:cNvPr id="10" name="Text 7"/>
          <p:cNvSpPr/>
          <p:nvPr/>
        </p:nvSpPr>
        <p:spPr>
          <a:xfrm>
            <a:off x="960120" y="2185416"/>
            <a:ext cx="4297680" cy="256032"/>
          </a:xfrm>
          <a:prstGeom prst="rect">
            <a:avLst/>
          </a:prstGeom>
          <a:noFill/>
          <a:ln/>
        </p:spPr>
        <p:txBody>
          <a:bodyPr wrap="square" rtlCol="0" anchor="ctr"/>
          <a:lstStyle/>
          <a:p>
            <a:pPr indent="0" marL="0">
              <a:buNone/>
            </a:pPr>
            <a:r>
              <a:rPr lang="en-US" sz="1300" b="1" dirty="0">
                <a:solidFill>
                  <a:srgbClr val="0F172A"/>
                </a:solidFill>
                <a:latin typeface="Outfit" pitchFamily="34" charset="0"/>
                <a:ea typeface="Outfit" pitchFamily="34" charset="-122"/>
                <a:cs typeface="Outfit" pitchFamily="34" charset="-120"/>
              </a:rPr>
              <a:t>Outside tools tamper check</a:t>
            </a:r>
            <a:endParaRPr lang="en-US" sz="1300" dirty="0"/>
          </a:p>
        </p:txBody>
      </p:sp>
      <p:sp>
        <p:nvSpPr>
          <p:cNvPr id="11" name="Text 8"/>
          <p:cNvSpPr/>
          <p:nvPr/>
        </p:nvSpPr>
        <p:spPr>
          <a:xfrm>
            <a:off x="960120" y="2432304"/>
            <a:ext cx="4480560" cy="219456"/>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Stops a hacked third-party tool from reaching your shoppers</a:t>
            </a:r>
            <a:endParaRPr lang="en-US" sz="1000" dirty="0"/>
          </a:p>
        </p:txBody>
      </p:sp>
      <p:sp>
        <p:nvSpPr>
          <p:cNvPr id="12" name="Shape 9"/>
          <p:cNvSpPr/>
          <p:nvPr/>
        </p:nvSpPr>
        <p:spPr>
          <a:xfrm>
            <a:off x="5504688" y="2286000"/>
            <a:ext cx="237744" cy="237744"/>
          </a:xfrm>
          <a:prstGeom prst="ellipse">
            <a:avLst/>
          </a:prstGeom>
          <a:solidFill>
            <a:srgbClr val="DC2626"/>
          </a:solidFill>
          <a:ln w="19050">
            <a:solidFill>
              <a:srgbClr val="FFFFFF"/>
            </a:solidFill>
            <a:prstDash val="solid"/>
          </a:ln>
        </p:spPr>
      </p:sp>
      <p:sp>
        <p:nvSpPr>
          <p:cNvPr id="13" name="Text 10"/>
          <p:cNvSpPr/>
          <p:nvPr/>
        </p:nvSpPr>
        <p:spPr>
          <a:xfrm>
            <a:off x="5806440" y="2240280"/>
            <a:ext cx="457200" cy="329184"/>
          </a:xfrm>
          <a:prstGeom prst="rect">
            <a:avLst/>
          </a:prstGeom>
          <a:noFill/>
          <a:ln/>
        </p:spPr>
        <p:txBody>
          <a:bodyPr wrap="square" rtlCol="0" anchor="ctr"/>
          <a:lstStyle/>
          <a:p>
            <a:pPr algn="ctr" indent="0" marL="0">
              <a:buNone/>
            </a:pPr>
            <a:r>
              <a:rPr lang="en-US" sz="1600" dirty="0">
                <a:solidFill>
                  <a:srgbClr val="64748B"/>
                </a:solidFill>
                <a:latin typeface="Plus Jakarta Sans" pitchFamily="34" charset="0"/>
                <a:ea typeface="Plus Jakarta Sans" pitchFamily="34" charset="-122"/>
                <a:cs typeface="Plus Jakarta Sans" pitchFamily="34" charset="-120"/>
              </a:rPr>
              <a:t>→</a:t>
            </a:r>
            <a:endParaRPr lang="en-US" sz="1600" dirty="0"/>
          </a:p>
        </p:txBody>
      </p:sp>
      <p:sp>
        <p:nvSpPr>
          <p:cNvPr id="14" name="Shape 11"/>
          <p:cNvSpPr/>
          <p:nvPr/>
        </p:nvSpPr>
        <p:spPr>
          <a:xfrm>
            <a:off x="6327648" y="2286000"/>
            <a:ext cx="237744" cy="237744"/>
          </a:xfrm>
          <a:prstGeom prst="ellipse">
            <a:avLst/>
          </a:prstGeom>
          <a:solidFill>
            <a:srgbClr val="10B981"/>
          </a:solidFill>
          <a:ln w="19050">
            <a:solidFill>
              <a:srgbClr val="FFFFFF"/>
            </a:solidFill>
            <a:prstDash val="solid"/>
          </a:ln>
        </p:spPr>
      </p:sp>
      <p:sp>
        <p:nvSpPr>
          <p:cNvPr id="15" name="Shape 12"/>
          <p:cNvSpPr/>
          <p:nvPr/>
        </p:nvSpPr>
        <p:spPr>
          <a:xfrm>
            <a:off x="6675120" y="2267712"/>
            <a:ext cx="1005840" cy="274320"/>
          </a:xfrm>
          <a:prstGeom prst="roundRect">
            <a:avLst>
              <a:gd name="adj" fmla="val 40000"/>
            </a:avLst>
          </a:prstGeom>
          <a:solidFill>
            <a:srgbClr val="ECFDF5"/>
          </a:solidFill>
          <a:ln w="9525">
            <a:solidFill>
              <a:srgbClr val="10B981"/>
            </a:solidFill>
            <a:prstDash val="solid"/>
          </a:ln>
        </p:spPr>
      </p:sp>
      <p:sp>
        <p:nvSpPr>
          <p:cNvPr id="16" name="Text 13"/>
          <p:cNvSpPr/>
          <p:nvPr/>
        </p:nvSpPr>
        <p:spPr>
          <a:xfrm>
            <a:off x="6675120" y="2267712"/>
            <a:ext cx="1005840" cy="274320"/>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Fixed</a:t>
            </a:r>
            <a:endParaRPr lang="en-US" sz="900" dirty="0"/>
          </a:p>
        </p:txBody>
      </p:sp>
      <p:sp>
        <p:nvSpPr>
          <p:cNvPr id="17" name="Shape 14"/>
          <p:cNvSpPr/>
          <p:nvPr/>
        </p:nvSpPr>
        <p:spPr>
          <a:xfrm>
            <a:off x="731520" y="2807208"/>
            <a:ext cx="7040880" cy="566928"/>
          </a:xfrm>
          <a:prstGeom prst="rect">
            <a:avLst>
              <a:gd name="adj" fmla="val 12903"/>
            </a:avLst>
          </a:prstGeom>
          <a:solidFill>
            <a:srgbClr val="FFFFFF"/>
          </a:solidFill>
          <a:ln w="9525">
            <a:solidFill>
              <a:srgbClr val="E2E8F0"/>
            </a:solidFill>
            <a:prstDash val="solid"/>
          </a:ln>
        </p:spPr>
      </p:sp>
      <p:sp>
        <p:nvSpPr>
          <p:cNvPr id="18" name="Shape 15"/>
          <p:cNvSpPr/>
          <p:nvPr/>
        </p:nvSpPr>
        <p:spPr>
          <a:xfrm>
            <a:off x="731520" y="2807208"/>
            <a:ext cx="82296" cy="566928"/>
          </a:xfrm>
          <a:prstGeom prst="rect">
            <a:avLst/>
          </a:prstGeom>
          <a:solidFill>
            <a:srgbClr val="10B981"/>
          </a:solidFill>
          <a:ln w="12700">
            <a:solidFill>
              <a:srgbClr val="10B981"/>
            </a:solidFill>
            <a:prstDash val="solid"/>
          </a:ln>
        </p:spPr>
      </p:sp>
      <p:sp>
        <p:nvSpPr>
          <p:cNvPr id="19" name="Text 16"/>
          <p:cNvSpPr/>
          <p:nvPr/>
        </p:nvSpPr>
        <p:spPr>
          <a:xfrm>
            <a:off x="960120" y="2843784"/>
            <a:ext cx="4297680" cy="256032"/>
          </a:xfrm>
          <a:prstGeom prst="rect">
            <a:avLst/>
          </a:prstGeom>
          <a:noFill/>
          <a:ln/>
        </p:spPr>
        <p:txBody>
          <a:bodyPr wrap="square" rtlCol="0" anchor="ctr"/>
          <a:lstStyle/>
          <a:p>
            <a:pPr indent="0" marL="0">
              <a:buNone/>
            </a:pPr>
            <a:r>
              <a:rPr lang="en-US" sz="1300" b="1" dirty="0">
                <a:solidFill>
                  <a:srgbClr val="0F172A"/>
                </a:solidFill>
                <a:latin typeface="Outfit" pitchFamily="34" charset="0"/>
                <a:ea typeface="Outfit" pitchFamily="34" charset="-122"/>
                <a:cs typeface="Outfit" pitchFamily="34" charset="-120"/>
              </a:rPr>
              <a:t>Page safety rules</a:t>
            </a:r>
            <a:endParaRPr lang="en-US" sz="1300" dirty="0"/>
          </a:p>
        </p:txBody>
      </p:sp>
      <p:sp>
        <p:nvSpPr>
          <p:cNvPr id="20" name="Text 17"/>
          <p:cNvSpPr/>
          <p:nvPr/>
        </p:nvSpPr>
        <p:spPr>
          <a:xfrm>
            <a:off x="960120" y="3090672"/>
            <a:ext cx="4480560" cy="219456"/>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Blocks harmful code from running on your pages</a:t>
            </a:r>
            <a:endParaRPr lang="en-US" sz="1000" dirty="0"/>
          </a:p>
        </p:txBody>
      </p:sp>
      <p:sp>
        <p:nvSpPr>
          <p:cNvPr id="21" name="Shape 18"/>
          <p:cNvSpPr/>
          <p:nvPr/>
        </p:nvSpPr>
        <p:spPr>
          <a:xfrm>
            <a:off x="5504688" y="2944368"/>
            <a:ext cx="237744" cy="237744"/>
          </a:xfrm>
          <a:prstGeom prst="ellipse">
            <a:avLst/>
          </a:prstGeom>
          <a:solidFill>
            <a:srgbClr val="DC2626"/>
          </a:solidFill>
          <a:ln w="19050">
            <a:solidFill>
              <a:srgbClr val="FFFFFF"/>
            </a:solidFill>
            <a:prstDash val="solid"/>
          </a:ln>
        </p:spPr>
      </p:sp>
      <p:sp>
        <p:nvSpPr>
          <p:cNvPr id="22" name="Text 19"/>
          <p:cNvSpPr/>
          <p:nvPr/>
        </p:nvSpPr>
        <p:spPr>
          <a:xfrm>
            <a:off x="5806440" y="2898648"/>
            <a:ext cx="457200" cy="329184"/>
          </a:xfrm>
          <a:prstGeom prst="rect">
            <a:avLst/>
          </a:prstGeom>
          <a:noFill/>
          <a:ln/>
        </p:spPr>
        <p:txBody>
          <a:bodyPr wrap="square" rtlCol="0" anchor="ctr"/>
          <a:lstStyle/>
          <a:p>
            <a:pPr algn="ctr" indent="0" marL="0">
              <a:buNone/>
            </a:pPr>
            <a:r>
              <a:rPr lang="en-US" sz="1600" dirty="0">
                <a:solidFill>
                  <a:srgbClr val="64748B"/>
                </a:solidFill>
                <a:latin typeface="Plus Jakarta Sans" pitchFamily="34" charset="0"/>
                <a:ea typeface="Plus Jakarta Sans" pitchFamily="34" charset="-122"/>
                <a:cs typeface="Plus Jakarta Sans" pitchFamily="34" charset="-120"/>
              </a:rPr>
              <a:t>→</a:t>
            </a:r>
            <a:endParaRPr lang="en-US" sz="1600" dirty="0"/>
          </a:p>
        </p:txBody>
      </p:sp>
      <p:sp>
        <p:nvSpPr>
          <p:cNvPr id="23" name="Shape 20"/>
          <p:cNvSpPr/>
          <p:nvPr/>
        </p:nvSpPr>
        <p:spPr>
          <a:xfrm>
            <a:off x="6327648" y="2944368"/>
            <a:ext cx="237744" cy="237744"/>
          </a:xfrm>
          <a:prstGeom prst="ellipse">
            <a:avLst/>
          </a:prstGeom>
          <a:solidFill>
            <a:srgbClr val="10B981"/>
          </a:solidFill>
          <a:ln w="19050">
            <a:solidFill>
              <a:srgbClr val="FFFFFF"/>
            </a:solidFill>
            <a:prstDash val="solid"/>
          </a:ln>
        </p:spPr>
      </p:sp>
      <p:sp>
        <p:nvSpPr>
          <p:cNvPr id="24" name="Shape 21"/>
          <p:cNvSpPr/>
          <p:nvPr/>
        </p:nvSpPr>
        <p:spPr>
          <a:xfrm>
            <a:off x="6675120" y="2926080"/>
            <a:ext cx="1005840" cy="274320"/>
          </a:xfrm>
          <a:prstGeom prst="roundRect">
            <a:avLst>
              <a:gd name="adj" fmla="val 40000"/>
            </a:avLst>
          </a:prstGeom>
          <a:solidFill>
            <a:srgbClr val="ECFDF5"/>
          </a:solidFill>
          <a:ln w="9525">
            <a:solidFill>
              <a:srgbClr val="10B981"/>
            </a:solidFill>
            <a:prstDash val="solid"/>
          </a:ln>
        </p:spPr>
      </p:sp>
      <p:sp>
        <p:nvSpPr>
          <p:cNvPr id="25" name="Text 22"/>
          <p:cNvSpPr/>
          <p:nvPr/>
        </p:nvSpPr>
        <p:spPr>
          <a:xfrm>
            <a:off x="6675120" y="2926080"/>
            <a:ext cx="1005840" cy="274320"/>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Fixed</a:t>
            </a:r>
            <a:endParaRPr lang="en-US" sz="900" dirty="0"/>
          </a:p>
        </p:txBody>
      </p:sp>
      <p:sp>
        <p:nvSpPr>
          <p:cNvPr id="26" name="Shape 23"/>
          <p:cNvSpPr/>
          <p:nvPr/>
        </p:nvSpPr>
        <p:spPr>
          <a:xfrm>
            <a:off x="731520" y="3465576"/>
            <a:ext cx="7040880" cy="566928"/>
          </a:xfrm>
          <a:prstGeom prst="rect">
            <a:avLst>
              <a:gd name="adj" fmla="val 12903"/>
            </a:avLst>
          </a:prstGeom>
          <a:solidFill>
            <a:srgbClr val="F8FAFC"/>
          </a:solidFill>
          <a:ln w="9525">
            <a:solidFill>
              <a:srgbClr val="E2E8F0"/>
            </a:solidFill>
            <a:prstDash val="solid"/>
          </a:ln>
        </p:spPr>
      </p:sp>
      <p:sp>
        <p:nvSpPr>
          <p:cNvPr id="27" name="Shape 24"/>
          <p:cNvSpPr/>
          <p:nvPr/>
        </p:nvSpPr>
        <p:spPr>
          <a:xfrm>
            <a:off x="731520" y="3465576"/>
            <a:ext cx="82296" cy="566928"/>
          </a:xfrm>
          <a:prstGeom prst="rect">
            <a:avLst/>
          </a:prstGeom>
          <a:solidFill>
            <a:srgbClr val="10B981"/>
          </a:solidFill>
          <a:ln w="12700">
            <a:solidFill>
              <a:srgbClr val="10B981"/>
            </a:solidFill>
            <a:prstDash val="solid"/>
          </a:ln>
        </p:spPr>
      </p:sp>
      <p:sp>
        <p:nvSpPr>
          <p:cNvPr id="28" name="Text 25"/>
          <p:cNvSpPr/>
          <p:nvPr/>
        </p:nvSpPr>
        <p:spPr>
          <a:xfrm>
            <a:off x="960120" y="3502152"/>
            <a:ext cx="4297680" cy="256032"/>
          </a:xfrm>
          <a:prstGeom prst="rect">
            <a:avLst/>
          </a:prstGeom>
          <a:noFill/>
          <a:ln/>
        </p:spPr>
        <p:txBody>
          <a:bodyPr wrap="square" rtlCol="0" anchor="ctr"/>
          <a:lstStyle/>
          <a:p>
            <a:pPr indent="0" marL="0">
              <a:buNone/>
            </a:pPr>
            <a:r>
              <a:rPr lang="en-US" sz="1300" b="1" dirty="0">
                <a:solidFill>
                  <a:srgbClr val="0F172A"/>
                </a:solidFill>
                <a:latin typeface="Outfit" pitchFamily="34" charset="0"/>
                <a:ea typeface="Outfit" pitchFamily="34" charset="-122"/>
                <a:cs typeface="Outfit" pitchFamily="34" charset="-120"/>
              </a:rPr>
              <a:t>Secure connection</a:t>
            </a:r>
            <a:endParaRPr lang="en-US" sz="1300" dirty="0"/>
          </a:p>
        </p:txBody>
      </p:sp>
      <p:sp>
        <p:nvSpPr>
          <p:cNvPr id="29" name="Text 26"/>
          <p:cNvSpPr/>
          <p:nvPr/>
        </p:nvSpPr>
        <p:spPr>
          <a:xfrm>
            <a:off x="960120" y="3749040"/>
            <a:ext cx="4480560" cy="219456"/>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Keeps visitors on the protected version of your site</a:t>
            </a:r>
            <a:endParaRPr lang="en-US" sz="1000" dirty="0"/>
          </a:p>
        </p:txBody>
      </p:sp>
      <p:sp>
        <p:nvSpPr>
          <p:cNvPr id="30" name="Shape 27"/>
          <p:cNvSpPr/>
          <p:nvPr/>
        </p:nvSpPr>
        <p:spPr>
          <a:xfrm>
            <a:off x="5504688" y="3602736"/>
            <a:ext cx="237744" cy="237744"/>
          </a:xfrm>
          <a:prstGeom prst="ellipse">
            <a:avLst/>
          </a:prstGeom>
          <a:solidFill>
            <a:srgbClr val="F59E0B"/>
          </a:solidFill>
          <a:ln w="19050">
            <a:solidFill>
              <a:srgbClr val="FFFFFF"/>
            </a:solidFill>
            <a:prstDash val="solid"/>
          </a:ln>
        </p:spPr>
      </p:sp>
      <p:sp>
        <p:nvSpPr>
          <p:cNvPr id="31" name="Text 28"/>
          <p:cNvSpPr/>
          <p:nvPr/>
        </p:nvSpPr>
        <p:spPr>
          <a:xfrm>
            <a:off x="5806440" y="3557016"/>
            <a:ext cx="457200" cy="329184"/>
          </a:xfrm>
          <a:prstGeom prst="rect">
            <a:avLst/>
          </a:prstGeom>
          <a:noFill/>
          <a:ln/>
        </p:spPr>
        <p:txBody>
          <a:bodyPr wrap="square" rtlCol="0" anchor="ctr"/>
          <a:lstStyle/>
          <a:p>
            <a:pPr algn="ctr" indent="0" marL="0">
              <a:buNone/>
            </a:pPr>
            <a:r>
              <a:rPr lang="en-US" sz="1600" dirty="0">
                <a:solidFill>
                  <a:srgbClr val="64748B"/>
                </a:solidFill>
                <a:latin typeface="Plus Jakarta Sans" pitchFamily="34" charset="0"/>
                <a:ea typeface="Plus Jakarta Sans" pitchFamily="34" charset="-122"/>
                <a:cs typeface="Plus Jakarta Sans" pitchFamily="34" charset="-120"/>
              </a:rPr>
              <a:t>→</a:t>
            </a:r>
            <a:endParaRPr lang="en-US" sz="1600" dirty="0"/>
          </a:p>
        </p:txBody>
      </p:sp>
      <p:sp>
        <p:nvSpPr>
          <p:cNvPr id="32" name="Shape 29"/>
          <p:cNvSpPr/>
          <p:nvPr/>
        </p:nvSpPr>
        <p:spPr>
          <a:xfrm>
            <a:off x="6327648" y="3602736"/>
            <a:ext cx="237744" cy="237744"/>
          </a:xfrm>
          <a:prstGeom prst="ellipse">
            <a:avLst/>
          </a:prstGeom>
          <a:solidFill>
            <a:srgbClr val="10B981"/>
          </a:solidFill>
          <a:ln w="19050">
            <a:solidFill>
              <a:srgbClr val="FFFFFF"/>
            </a:solidFill>
            <a:prstDash val="solid"/>
          </a:ln>
        </p:spPr>
      </p:sp>
      <p:sp>
        <p:nvSpPr>
          <p:cNvPr id="33" name="Shape 30"/>
          <p:cNvSpPr/>
          <p:nvPr/>
        </p:nvSpPr>
        <p:spPr>
          <a:xfrm>
            <a:off x="6675120" y="3584448"/>
            <a:ext cx="1005840" cy="274320"/>
          </a:xfrm>
          <a:prstGeom prst="roundRect">
            <a:avLst>
              <a:gd name="adj" fmla="val 40000"/>
            </a:avLst>
          </a:prstGeom>
          <a:solidFill>
            <a:srgbClr val="ECFDF5"/>
          </a:solidFill>
          <a:ln w="9525">
            <a:solidFill>
              <a:srgbClr val="10B981"/>
            </a:solidFill>
            <a:prstDash val="solid"/>
          </a:ln>
        </p:spPr>
      </p:sp>
      <p:sp>
        <p:nvSpPr>
          <p:cNvPr id="34" name="Text 31"/>
          <p:cNvSpPr/>
          <p:nvPr/>
        </p:nvSpPr>
        <p:spPr>
          <a:xfrm>
            <a:off x="6675120" y="3584448"/>
            <a:ext cx="1005840" cy="274320"/>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Fixed</a:t>
            </a:r>
            <a:endParaRPr lang="en-US" sz="900" dirty="0"/>
          </a:p>
        </p:txBody>
      </p:sp>
      <p:sp>
        <p:nvSpPr>
          <p:cNvPr id="35" name="Shape 32"/>
          <p:cNvSpPr/>
          <p:nvPr/>
        </p:nvSpPr>
        <p:spPr>
          <a:xfrm>
            <a:off x="731520" y="4123944"/>
            <a:ext cx="7040880" cy="566928"/>
          </a:xfrm>
          <a:prstGeom prst="rect">
            <a:avLst>
              <a:gd name="adj" fmla="val 12903"/>
            </a:avLst>
          </a:prstGeom>
          <a:solidFill>
            <a:srgbClr val="FFFFFF"/>
          </a:solidFill>
          <a:ln w="9525">
            <a:solidFill>
              <a:srgbClr val="E2E8F0"/>
            </a:solidFill>
            <a:prstDash val="solid"/>
          </a:ln>
        </p:spPr>
      </p:sp>
      <p:sp>
        <p:nvSpPr>
          <p:cNvPr id="36" name="Shape 33"/>
          <p:cNvSpPr/>
          <p:nvPr/>
        </p:nvSpPr>
        <p:spPr>
          <a:xfrm>
            <a:off x="731520" y="4123944"/>
            <a:ext cx="82296" cy="566928"/>
          </a:xfrm>
          <a:prstGeom prst="rect">
            <a:avLst/>
          </a:prstGeom>
          <a:solidFill>
            <a:srgbClr val="10B981"/>
          </a:solidFill>
          <a:ln w="12700">
            <a:solidFill>
              <a:srgbClr val="10B981"/>
            </a:solidFill>
            <a:prstDash val="solid"/>
          </a:ln>
        </p:spPr>
      </p:sp>
      <p:sp>
        <p:nvSpPr>
          <p:cNvPr id="37" name="Text 34"/>
          <p:cNvSpPr/>
          <p:nvPr/>
        </p:nvSpPr>
        <p:spPr>
          <a:xfrm>
            <a:off x="960120" y="4160520"/>
            <a:ext cx="4297680" cy="256032"/>
          </a:xfrm>
          <a:prstGeom prst="rect">
            <a:avLst/>
          </a:prstGeom>
          <a:noFill/>
          <a:ln/>
        </p:spPr>
        <p:txBody>
          <a:bodyPr wrap="square" rtlCol="0" anchor="ctr"/>
          <a:lstStyle/>
          <a:p>
            <a:pPr indent="0" marL="0">
              <a:buNone/>
            </a:pPr>
            <a:r>
              <a:rPr lang="en-US" sz="1300" b="1" dirty="0">
                <a:solidFill>
                  <a:srgbClr val="0F172A"/>
                </a:solidFill>
                <a:latin typeface="Outfit" pitchFamily="34" charset="0"/>
                <a:ea typeface="Outfit" pitchFamily="34" charset="-122"/>
                <a:cs typeface="Outfit" pitchFamily="34" charset="-120"/>
              </a:rPr>
              <a:t>Shopper login protection</a:t>
            </a:r>
            <a:endParaRPr lang="en-US" sz="1300" dirty="0"/>
          </a:p>
        </p:txBody>
      </p:sp>
      <p:sp>
        <p:nvSpPr>
          <p:cNvPr id="38" name="Text 35"/>
          <p:cNvSpPr/>
          <p:nvPr/>
        </p:nvSpPr>
        <p:spPr>
          <a:xfrm>
            <a:off x="960120" y="4407408"/>
            <a:ext cx="4480560" cy="219456"/>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Keeps customer sessions from being hijacked</a:t>
            </a:r>
            <a:endParaRPr lang="en-US" sz="1000" dirty="0"/>
          </a:p>
        </p:txBody>
      </p:sp>
      <p:sp>
        <p:nvSpPr>
          <p:cNvPr id="39" name="Shape 36"/>
          <p:cNvSpPr/>
          <p:nvPr/>
        </p:nvSpPr>
        <p:spPr>
          <a:xfrm>
            <a:off x="5504688" y="4261104"/>
            <a:ext cx="237744" cy="237744"/>
          </a:xfrm>
          <a:prstGeom prst="ellipse">
            <a:avLst/>
          </a:prstGeom>
          <a:solidFill>
            <a:srgbClr val="F59E0B"/>
          </a:solidFill>
          <a:ln w="19050">
            <a:solidFill>
              <a:srgbClr val="FFFFFF"/>
            </a:solidFill>
            <a:prstDash val="solid"/>
          </a:ln>
        </p:spPr>
      </p:sp>
      <p:sp>
        <p:nvSpPr>
          <p:cNvPr id="40" name="Text 37"/>
          <p:cNvSpPr/>
          <p:nvPr/>
        </p:nvSpPr>
        <p:spPr>
          <a:xfrm>
            <a:off x="5806440" y="4215384"/>
            <a:ext cx="457200" cy="329184"/>
          </a:xfrm>
          <a:prstGeom prst="rect">
            <a:avLst/>
          </a:prstGeom>
          <a:noFill/>
          <a:ln/>
        </p:spPr>
        <p:txBody>
          <a:bodyPr wrap="square" rtlCol="0" anchor="ctr"/>
          <a:lstStyle/>
          <a:p>
            <a:pPr algn="ctr" indent="0" marL="0">
              <a:buNone/>
            </a:pPr>
            <a:r>
              <a:rPr lang="en-US" sz="1600" dirty="0">
                <a:solidFill>
                  <a:srgbClr val="64748B"/>
                </a:solidFill>
                <a:latin typeface="Plus Jakarta Sans" pitchFamily="34" charset="0"/>
                <a:ea typeface="Plus Jakarta Sans" pitchFamily="34" charset="-122"/>
                <a:cs typeface="Plus Jakarta Sans" pitchFamily="34" charset="-120"/>
              </a:rPr>
              <a:t>→</a:t>
            </a:r>
            <a:endParaRPr lang="en-US" sz="1600" dirty="0"/>
          </a:p>
        </p:txBody>
      </p:sp>
      <p:sp>
        <p:nvSpPr>
          <p:cNvPr id="41" name="Shape 38"/>
          <p:cNvSpPr/>
          <p:nvPr/>
        </p:nvSpPr>
        <p:spPr>
          <a:xfrm>
            <a:off x="6327648" y="4261104"/>
            <a:ext cx="237744" cy="237744"/>
          </a:xfrm>
          <a:prstGeom prst="ellipse">
            <a:avLst/>
          </a:prstGeom>
          <a:solidFill>
            <a:srgbClr val="10B981"/>
          </a:solidFill>
          <a:ln w="19050">
            <a:solidFill>
              <a:srgbClr val="FFFFFF"/>
            </a:solidFill>
            <a:prstDash val="solid"/>
          </a:ln>
        </p:spPr>
      </p:sp>
      <p:sp>
        <p:nvSpPr>
          <p:cNvPr id="42" name="Shape 39"/>
          <p:cNvSpPr/>
          <p:nvPr/>
        </p:nvSpPr>
        <p:spPr>
          <a:xfrm>
            <a:off x="6675120" y="4242816"/>
            <a:ext cx="1005840" cy="274320"/>
          </a:xfrm>
          <a:prstGeom prst="roundRect">
            <a:avLst>
              <a:gd name="adj" fmla="val 40000"/>
            </a:avLst>
          </a:prstGeom>
          <a:solidFill>
            <a:srgbClr val="ECFDF5"/>
          </a:solidFill>
          <a:ln w="9525">
            <a:solidFill>
              <a:srgbClr val="10B981"/>
            </a:solidFill>
            <a:prstDash val="solid"/>
          </a:ln>
        </p:spPr>
      </p:sp>
      <p:sp>
        <p:nvSpPr>
          <p:cNvPr id="43" name="Text 40"/>
          <p:cNvSpPr/>
          <p:nvPr/>
        </p:nvSpPr>
        <p:spPr>
          <a:xfrm>
            <a:off x="6675120" y="4242816"/>
            <a:ext cx="1005840" cy="274320"/>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Fixed</a:t>
            </a:r>
            <a:endParaRPr lang="en-US" sz="900" dirty="0"/>
          </a:p>
        </p:txBody>
      </p:sp>
      <p:sp>
        <p:nvSpPr>
          <p:cNvPr id="44" name="Shape 41"/>
          <p:cNvSpPr/>
          <p:nvPr/>
        </p:nvSpPr>
        <p:spPr>
          <a:xfrm>
            <a:off x="731520" y="4782312"/>
            <a:ext cx="7040880" cy="566928"/>
          </a:xfrm>
          <a:prstGeom prst="rect">
            <a:avLst>
              <a:gd name="adj" fmla="val 12903"/>
            </a:avLst>
          </a:prstGeom>
          <a:solidFill>
            <a:srgbClr val="F8FAFC"/>
          </a:solidFill>
          <a:ln w="9525">
            <a:solidFill>
              <a:srgbClr val="E2E8F0"/>
            </a:solidFill>
            <a:prstDash val="solid"/>
          </a:ln>
        </p:spPr>
      </p:sp>
      <p:sp>
        <p:nvSpPr>
          <p:cNvPr id="45" name="Shape 42"/>
          <p:cNvSpPr/>
          <p:nvPr/>
        </p:nvSpPr>
        <p:spPr>
          <a:xfrm>
            <a:off x="731520" y="4782312"/>
            <a:ext cx="82296" cy="566928"/>
          </a:xfrm>
          <a:prstGeom prst="rect">
            <a:avLst/>
          </a:prstGeom>
          <a:solidFill>
            <a:srgbClr val="10B981"/>
          </a:solidFill>
          <a:ln w="12700">
            <a:solidFill>
              <a:srgbClr val="10B981"/>
            </a:solidFill>
            <a:prstDash val="solid"/>
          </a:ln>
        </p:spPr>
      </p:sp>
      <p:sp>
        <p:nvSpPr>
          <p:cNvPr id="46" name="Text 43"/>
          <p:cNvSpPr/>
          <p:nvPr/>
        </p:nvSpPr>
        <p:spPr>
          <a:xfrm>
            <a:off x="960120" y="4818888"/>
            <a:ext cx="4297680" cy="256032"/>
          </a:xfrm>
          <a:prstGeom prst="rect">
            <a:avLst/>
          </a:prstGeom>
          <a:noFill/>
          <a:ln/>
        </p:spPr>
        <p:txBody>
          <a:bodyPr wrap="square" rtlCol="0" anchor="ctr"/>
          <a:lstStyle/>
          <a:p>
            <a:pPr indent="0" marL="0">
              <a:buNone/>
            </a:pPr>
            <a:r>
              <a:rPr lang="en-US" sz="1300" b="1" dirty="0">
                <a:solidFill>
                  <a:srgbClr val="0F172A"/>
                </a:solidFill>
                <a:latin typeface="Outfit" pitchFamily="34" charset="0"/>
                <a:ea typeface="Outfit" pitchFamily="34" charset="-122"/>
                <a:cs typeface="Outfit" pitchFamily="34" charset="-120"/>
              </a:rPr>
              <a:t>Visitor privacy settings</a:t>
            </a:r>
            <a:endParaRPr lang="en-US" sz="1300" dirty="0"/>
          </a:p>
        </p:txBody>
      </p:sp>
      <p:sp>
        <p:nvSpPr>
          <p:cNvPr id="47" name="Text 44"/>
          <p:cNvSpPr/>
          <p:nvPr/>
        </p:nvSpPr>
        <p:spPr>
          <a:xfrm>
            <a:off x="960120" y="5065776"/>
            <a:ext cx="4480560" cy="219456"/>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Limits what other websites can see or do</a:t>
            </a:r>
            <a:endParaRPr lang="en-US" sz="1000" dirty="0"/>
          </a:p>
        </p:txBody>
      </p:sp>
      <p:sp>
        <p:nvSpPr>
          <p:cNvPr id="48" name="Shape 45"/>
          <p:cNvSpPr/>
          <p:nvPr/>
        </p:nvSpPr>
        <p:spPr>
          <a:xfrm>
            <a:off x="5504688" y="4919472"/>
            <a:ext cx="237744" cy="237744"/>
          </a:xfrm>
          <a:prstGeom prst="ellipse">
            <a:avLst/>
          </a:prstGeom>
          <a:solidFill>
            <a:srgbClr val="F59E0B"/>
          </a:solidFill>
          <a:ln w="19050">
            <a:solidFill>
              <a:srgbClr val="FFFFFF"/>
            </a:solidFill>
            <a:prstDash val="solid"/>
          </a:ln>
        </p:spPr>
      </p:sp>
      <p:sp>
        <p:nvSpPr>
          <p:cNvPr id="49" name="Text 46"/>
          <p:cNvSpPr/>
          <p:nvPr/>
        </p:nvSpPr>
        <p:spPr>
          <a:xfrm>
            <a:off x="5806440" y="4873752"/>
            <a:ext cx="457200" cy="329184"/>
          </a:xfrm>
          <a:prstGeom prst="rect">
            <a:avLst/>
          </a:prstGeom>
          <a:noFill/>
          <a:ln/>
        </p:spPr>
        <p:txBody>
          <a:bodyPr wrap="square" rtlCol="0" anchor="ctr"/>
          <a:lstStyle/>
          <a:p>
            <a:pPr algn="ctr" indent="0" marL="0">
              <a:buNone/>
            </a:pPr>
            <a:r>
              <a:rPr lang="en-US" sz="1600" dirty="0">
                <a:solidFill>
                  <a:srgbClr val="64748B"/>
                </a:solidFill>
                <a:latin typeface="Plus Jakarta Sans" pitchFamily="34" charset="0"/>
                <a:ea typeface="Plus Jakarta Sans" pitchFamily="34" charset="-122"/>
                <a:cs typeface="Plus Jakarta Sans" pitchFamily="34" charset="-120"/>
              </a:rPr>
              <a:t>→</a:t>
            </a:r>
            <a:endParaRPr lang="en-US" sz="1600" dirty="0"/>
          </a:p>
        </p:txBody>
      </p:sp>
      <p:sp>
        <p:nvSpPr>
          <p:cNvPr id="50" name="Shape 47"/>
          <p:cNvSpPr/>
          <p:nvPr/>
        </p:nvSpPr>
        <p:spPr>
          <a:xfrm>
            <a:off x="6327648" y="4919472"/>
            <a:ext cx="237744" cy="237744"/>
          </a:xfrm>
          <a:prstGeom prst="ellipse">
            <a:avLst/>
          </a:prstGeom>
          <a:solidFill>
            <a:srgbClr val="10B981"/>
          </a:solidFill>
          <a:ln w="19050">
            <a:solidFill>
              <a:srgbClr val="FFFFFF"/>
            </a:solidFill>
            <a:prstDash val="solid"/>
          </a:ln>
        </p:spPr>
      </p:sp>
      <p:sp>
        <p:nvSpPr>
          <p:cNvPr id="51" name="Shape 48"/>
          <p:cNvSpPr/>
          <p:nvPr/>
        </p:nvSpPr>
        <p:spPr>
          <a:xfrm>
            <a:off x="6675120" y="4901184"/>
            <a:ext cx="1005840" cy="274320"/>
          </a:xfrm>
          <a:prstGeom prst="roundRect">
            <a:avLst>
              <a:gd name="adj" fmla="val 40000"/>
            </a:avLst>
          </a:prstGeom>
          <a:solidFill>
            <a:srgbClr val="ECFDF5"/>
          </a:solidFill>
          <a:ln w="9525">
            <a:solidFill>
              <a:srgbClr val="10B981"/>
            </a:solidFill>
            <a:prstDash val="solid"/>
          </a:ln>
        </p:spPr>
      </p:sp>
      <p:sp>
        <p:nvSpPr>
          <p:cNvPr id="52" name="Text 49"/>
          <p:cNvSpPr/>
          <p:nvPr/>
        </p:nvSpPr>
        <p:spPr>
          <a:xfrm>
            <a:off x="6675120" y="4901184"/>
            <a:ext cx="1005840" cy="274320"/>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Fixed</a:t>
            </a:r>
            <a:endParaRPr lang="en-US" sz="900" dirty="0"/>
          </a:p>
        </p:txBody>
      </p:sp>
      <p:sp>
        <p:nvSpPr>
          <p:cNvPr id="53" name="Shape 50"/>
          <p:cNvSpPr/>
          <p:nvPr/>
        </p:nvSpPr>
        <p:spPr>
          <a:xfrm>
            <a:off x="731520" y="5440680"/>
            <a:ext cx="7040880" cy="566928"/>
          </a:xfrm>
          <a:prstGeom prst="rect">
            <a:avLst>
              <a:gd name="adj" fmla="val 12903"/>
            </a:avLst>
          </a:prstGeom>
          <a:solidFill>
            <a:srgbClr val="FFFFFF"/>
          </a:solidFill>
          <a:ln w="9525">
            <a:solidFill>
              <a:srgbClr val="E2E8F0"/>
            </a:solidFill>
            <a:prstDash val="solid"/>
          </a:ln>
        </p:spPr>
      </p:sp>
      <p:sp>
        <p:nvSpPr>
          <p:cNvPr id="54" name="Shape 51"/>
          <p:cNvSpPr/>
          <p:nvPr/>
        </p:nvSpPr>
        <p:spPr>
          <a:xfrm>
            <a:off x="731520" y="5440680"/>
            <a:ext cx="82296" cy="566928"/>
          </a:xfrm>
          <a:prstGeom prst="rect">
            <a:avLst/>
          </a:prstGeom>
          <a:solidFill>
            <a:srgbClr val="10B981"/>
          </a:solidFill>
          <a:ln w="12700">
            <a:solidFill>
              <a:srgbClr val="10B981"/>
            </a:solidFill>
            <a:prstDash val="solid"/>
          </a:ln>
        </p:spPr>
      </p:sp>
      <p:sp>
        <p:nvSpPr>
          <p:cNvPr id="55" name="Text 52"/>
          <p:cNvSpPr/>
          <p:nvPr/>
        </p:nvSpPr>
        <p:spPr>
          <a:xfrm>
            <a:off x="960120" y="5477256"/>
            <a:ext cx="4297680" cy="256032"/>
          </a:xfrm>
          <a:prstGeom prst="rect">
            <a:avLst/>
          </a:prstGeom>
          <a:noFill/>
          <a:ln/>
        </p:spPr>
        <p:txBody>
          <a:bodyPr wrap="square" rtlCol="0" anchor="ctr"/>
          <a:lstStyle/>
          <a:p>
            <a:pPr indent="0" marL="0">
              <a:buNone/>
            </a:pPr>
            <a:r>
              <a:rPr lang="en-US" sz="1300" b="1" dirty="0">
                <a:solidFill>
                  <a:srgbClr val="0F172A"/>
                </a:solidFill>
                <a:latin typeface="Outfit" pitchFamily="34" charset="0"/>
                <a:ea typeface="Outfit" pitchFamily="34" charset="-122"/>
                <a:cs typeface="Outfit" pitchFamily="34" charset="-120"/>
              </a:rPr>
              <a:t>Up-to-date site components</a:t>
            </a:r>
            <a:endParaRPr lang="en-US" sz="1300" dirty="0"/>
          </a:p>
        </p:txBody>
      </p:sp>
      <p:sp>
        <p:nvSpPr>
          <p:cNvPr id="56" name="Text 53"/>
          <p:cNvSpPr/>
          <p:nvPr/>
        </p:nvSpPr>
        <p:spPr>
          <a:xfrm>
            <a:off x="960120" y="5724144"/>
            <a:ext cx="4480560" cy="219456"/>
          </a:xfrm>
          <a:prstGeom prst="rect">
            <a:avLst/>
          </a:prstGeom>
          <a:noFill/>
          <a:ln/>
        </p:spPr>
        <p:txBody>
          <a:bodyPr wrap="square" rtlCol="0" anchor="ctr"/>
          <a:lstStyle/>
          <a:p>
            <a:pPr indent="0" marL="0">
              <a:buNone/>
            </a:pPr>
            <a:r>
              <a:rPr lang="en-US" sz="1000" dirty="0">
                <a:solidFill>
                  <a:srgbClr val="64748B"/>
                </a:solidFill>
                <a:latin typeface="Plus Jakarta Sans" pitchFamily="34" charset="0"/>
                <a:ea typeface="Plus Jakarta Sans" pitchFamily="34" charset="-122"/>
                <a:cs typeface="Plus Jakarta Sans" pitchFamily="34" charset="-120"/>
              </a:rPr>
              <a:t>Closes publicly known weaknesses in old software</a:t>
            </a:r>
            <a:endParaRPr lang="en-US" sz="1000" dirty="0"/>
          </a:p>
        </p:txBody>
      </p:sp>
      <p:sp>
        <p:nvSpPr>
          <p:cNvPr id="57" name="Shape 54"/>
          <p:cNvSpPr/>
          <p:nvPr/>
        </p:nvSpPr>
        <p:spPr>
          <a:xfrm>
            <a:off x="5504688" y="5577840"/>
            <a:ext cx="237744" cy="237744"/>
          </a:xfrm>
          <a:prstGeom prst="ellipse">
            <a:avLst/>
          </a:prstGeom>
          <a:solidFill>
            <a:srgbClr val="F59E0B"/>
          </a:solidFill>
          <a:ln w="19050">
            <a:solidFill>
              <a:srgbClr val="FFFFFF"/>
            </a:solidFill>
            <a:prstDash val="solid"/>
          </a:ln>
        </p:spPr>
      </p:sp>
      <p:sp>
        <p:nvSpPr>
          <p:cNvPr id="58" name="Text 55"/>
          <p:cNvSpPr/>
          <p:nvPr/>
        </p:nvSpPr>
        <p:spPr>
          <a:xfrm>
            <a:off x="5806440" y="5532120"/>
            <a:ext cx="457200" cy="329184"/>
          </a:xfrm>
          <a:prstGeom prst="rect">
            <a:avLst/>
          </a:prstGeom>
          <a:noFill/>
          <a:ln/>
        </p:spPr>
        <p:txBody>
          <a:bodyPr wrap="square" rtlCol="0" anchor="ctr"/>
          <a:lstStyle/>
          <a:p>
            <a:pPr algn="ctr" indent="0" marL="0">
              <a:buNone/>
            </a:pPr>
            <a:r>
              <a:rPr lang="en-US" sz="1600" dirty="0">
                <a:solidFill>
                  <a:srgbClr val="64748B"/>
                </a:solidFill>
                <a:latin typeface="Plus Jakarta Sans" pitchFamily="34" charset="0"/>
                <a:ea typeface="Plus Jakarta Sans" pitchFamily="34" charset="-122"/>
                <a:cs typeface="Plus Jakarta Sans" pitchFamily="34" charset="-120"/>
              </a:rPr>
              <a:t>→</a:t>
            </a:r>
            <a:endParaRPr lang="en-US" sz="1600" dirty="0"/>
          </a:p>
        </p:txBody>
      </p:sp>
      <p:sp>
        <p:nvSpPr>
          <p:cNvPr id="59" name="Shape 56"/>
          <p:cNvSpPr/>
          <p:nvPr/>
        </p:nvSpPr>
        <p:spPr>
          <a:xfrm>
            <a:off x="6327648" y="5577840"/>
            <a:ext cx="237744" cy="237744"/>
          </a:xfrm>
          <a:prstGeom prst="ellipse">
            <a:avLst/>
          </a:prstGeom>
          <a:solidFill>
            <a:srgbClr val="10B981"/>
          </a:solidFill>
          <a:ln w="19050">
            <a:solidFill>
              <a:srgbClr val="FFFFFF"/>
            </a:solidFill>
            <a:prstDash val="solid"/>
          </a:ln>
        </p:spPr>
      </p:sp>
      <p:sp>
        <p:nvSpPr>
          <p:cNvPr id="60" name="Shape 57"/>
          <p:cNvSpPr/>
          <p:nvPr/>
        </p:nvSpPr>
        <p:spPr>
          <a:xfrm>
            <a:off x="6675120" y="5559552"/>
            <a:ext cx="1005840" cy="274320"/>
          </a:xfrm>
          <a:prstGeom prst="roundRect">
            <a:avLst>
              <a:gd name="adj" fmla="val 40000"/>
            </a:avLst>
          </a:prstGeom>
          <a:solidFill>
            <a:srgbClr val="ECFDF5"/>
          </a:solidFill>
          <a:ln w="9525">
            <a:solidFill>
              <a:srgbClr val="10B981"/>
            </a:solidFill>
            <a:prstDash val="solid"/>
          </a:ln>
        </p:spPr>
      </p:sp>
      <p:sp>
        <p:nvSpPr>
          <p:cNvPr id="61" name="Text 58"/>
          <p:cNvSpPr/>
          <p:nvPr/>
        </p:nvSpPr>
        <p:spPr>
          <a:xfrm>
            <a:off x="6675120" y="5559552"/>
            <a:ext cx="1005840" cy="274320"/>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Fixed</a:t>
            </a:r>
            <a:endParaRPr lang="en-US" sz="900" dirty="0"/>
          </a:p>
        </p:txBody>
      </p:sp>
      <p:sp>
        <p:nvSpPr>
          <p:cNvPr id="62" name="Text 59"/>
          <p:cNvSpPr/>
          <p:nvPr/>
        </p:nvSpPr>
        <p:spPr>
          <a:xfrm>
            <a:off x="8229600" y="1783080"/>
            <a:ext cx="3474720" cy="274320"/>
          </a:xfrm>
          <a:prstGeom prst="rect">
            <a:avLst/>
          </a:prstGeom>
          <a:noFill/>
          <a:ln/>
        </p:spPr>
        <p:txBody>
          <a:bodyPr wrap="square" rtlCol="0" anchor="ctr"/>
          <a:lstStyle/>
          <a:p>
            <a:pPr algn="ctr" indent="0" marL="0">
              <a:buNone/>
            </a:pPr>
            <a:r>
              <a:rPr lang="en-US" sz="900" b="1" dirty="0">
                <a:solidFill>
                  <a:srgbClr val="64748B"/>
                </a:solidFill>
                <a:latin typeface="Plus Jakarta Sans" pitchFamily="34" charset="0"/>
                <a:ea typeface="Plus Jakarta Sans" pitchFamily="34" charset="-122"/>
                <a:cs typeface="Plus Jakarta Sans" pitchFamily="34" charset="-120"/>
              </a:rPr>
              <a:t>OPEN ISSUES BY PRIORITY</a:t>
            </a:r>
            <a:endParaRPr lang="en-US" sz="900" dirty="0"/>
          </a:p>
        </p:txBody>
      </p:sp>
      <p:graphicFrame>
        <p:nvGraphicFramePr>
          <p:cNvPr id="63" name="Chart 0" descr=""/>
          <p:cNvGraphicFramePr/>
          <p:nvPr/>
        </p:nvGraphicFramePr>
        <p:xfrm>
          <a:off x="8229600" y="2057400"/>
          <a:ext cx="3474720" cy="2743200"/>
        </p:xfrm>
        <a:graphic xmlns:a="http://schemas.openxmlformats.org/drawingml/2006/main">
          <a:graphicData uri="http://schemas.openxmlformats.org/drawingml/2006/chart">
            <c:chart xmlns:c="http://schemas.openxmlformats.org/drawingml/2006/chart" r:id="rId2"/>
          </a:graphicData>
        </a:graphic>
      </p:graphicFrame>
      <p:sp>
        <p:nvSpPr>
          <p:cNvPr id="64" name="Text 60"/>
          <p:cNvSpPr/>
          <p:nvPr/>
        </p:nvSpPr>
        <p:spPr>
          <a:xfrm>
            <a:off x="8229600" y="2926080"/>
            <a:ext cx="3474720" cy="640080"/>
          </a:xfrm>
          <a:prstGeom prst="rect">
            <a:avLst/>
          </a:prstGeom>
          <a:noFill/>
          <a:ln/>
        </p:spPr>
        <p:txBody>
          <a:bodyPr wrap="square" rtlCol="0" anchor="ctr"/>
          <a:lstStyle/>
          <a:p>
            <a:pPr algn="ctr" indent="0" marL="0">
              <a:buNone/>
            </a:pPr>
            <a:r>
              <a:rPr lang="en-US" sz="4000" b="1" dirty="0">
                <a:solidFill>
                  <a:srgbClr val="0F172A"/>
                </a:solidFill>
                <a:latin typeface="Outfit" pitchFamily="34" charset="0"/>
                <a:ea typeface="Outfit" pitchFamily="34" charset="-122"/>
                <a:cs typeface="Outfit" pitchFamily="34" charset="-120"/>
              </a:rPr>
              <a:t>1</a:t>
            </a:r>
            <a:endParaRPr lang="en-US" sz="4000" dirty="0"/>
          </a:p>
        </p:txBody>
      </p:sp>
      <p:sp>
        <p:nvSpPr>
          <p:cNvPr id="65" name="Text 61"/>
          <p:cNvSpPr/>
          <p:nvPr/>
        </p:nvSpPr>
        <p:spPr>
          <a:xfrm>
            <a:off x="8229600" y="3520440"/>
            <a:ext cx="3474720" cy="274320"/>
          </a:xfrm>
          <a:prstGeom prst="rect">
            <a:avLst/>
          </a:prstGeom>
          <a:noFill/>
          <a:ln/>
        </p:spPr>
        <p:txBody>
          <a:bodyPr wrap="square" rtlCol="0" anchor="ctr"/>
          <a:lstStyle/>
          <a:p>
            <a:pPr algn="ctr" indent="0" marL="0">
              <a:buNone/>
            </a:pPr>
            <a:r>
              <a:rPr lang="en-US" sz="1100" dirty="0">
                <a:solidFill>
                  <a:srgbClr val="64748B"/>
                </a:solidFill>
                <a:latin typeface="Plus Jakarta Sans" pitchFamily="34" charset="0"/>
                <a:ea typeface="Plus Jakarta Sans" pitchFamily="34" charset="-122"/>
                <a:cs typeface="Plus Jakarta Sans" pitchFamily="34" charset="-120"/>
              </a:rPr>
              <a:t>open issues</a:t>
            </a:r>
            <a:endParaRPr lang="en-US" sz="1100" dirty="0"/>
          </a:p>
        </p:txBody>
      </p:sp>
      <p:sp>
        <p:nvSpPr>
          <p:cNvPr id="66" name="Shape 62"/>
          <p:cNvSpPr/>
          <p:nvPr/>
        </p:nvSpPr>
        <p:spPr>
          <a:xfrm>
            <a:off x="8503920" y="4846320"/>
            <a:ext cx="146304" cy="146304"/>
          </a:xfrm>
          <a:prstGeom prst="ellipse">
            <a:avLst/>
          </a:prstGeom>
          <a:solidFill>
            <a:srgbClr val="DC2626"/>
          </a:solidFill>
          <a:ln w="12700">
            <a:solidFill>
              <a:srgbClr val="DC2626"/>
            </a:solidFill>
            <a:prstDash val="solid"/>
          </a:ln>
        </p:spPr>
      </p:sp>
      <p:sp>
        <p:nvSpPr>
          <p:cNvPr id="67" name="Text 63"/>
          <p:cNvSpPr/>
          <p:nvPr/>
        </p:nvSpPr>
        <p:spPr>
          <a:xfrm>
            <a:off x="8686800" y="4773168"/>
            <a:ext cx="914400" cy="274320"/>
          </a:xfrm>
          <a:prstGeom prst="rect">
            <a:avLst/>
          </a:prstGeom>
          <a:noFill/>
          <a:ln/>
        </p:spPr>
        <p:txBody>
          <a:bodyPr wrap="square" rtlCol="0" anchor="ct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Urgent 0</a:t>
            </a:r>
            <a:endParaRPr lang="en-US" sz="1000" dirty="0"/>
          </a:p>
        </p:txBody>
      </p:sp>
      <p:sp>
        <p:nvSpPr>
          <p:cNvPr id="68" name="Shape 64"/>
          <p:cNvSpPr/>
          <p:nvPr/>
        </p:nvSpPr>
        <p:spPr>
          <a:xfrm>
            <a:off x="9601200" y="4846320"/>
            <a:ext cx="146304" cy="146304"/>
          </a:xfrm>
          <a:prstGeom prst="ellipse">
            <a:avLst/>
          </a:prstGeom>
          <a:solidFill>
            <a:srgbClr val="F59E0B"/>
          </a:solidFill>
          <a:ln w="12700">
            <a:solidFill>
              <a:srgbClr val="F59E0B"/>
            </a:solidFill>
            <a:prstDash val="solid"/>
          </a:ln>
        </p:spPr>
      </p:sp>
      <p:sp>
        <p:nvSpPr>
          <p:cNvPr id="69" name="Text 65"/>
          <p:cNvSpPr/>
          <p:nvPr/>
        </p:nvSpPr>
        <p:spPr>
          <a:xfrm>
            <a:off x="9784080" y="4773168"/>
            <a:ext cx="914400" cy="274320"/>
          </a:xfrm>
          <a:prstGeom prst="rect">
            <a:avLst/>
          </a:prstGeom>
          <a:noFill/>
          <a:ln/>
        </p:spPr>
        <p:txBody>
          <a:bodyPr wrap="square" rtlCol="0" anchor="ct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Medium 1</a:t>
            </a:r>
            <a:endParaRPr lang="en-US" sz="1000" dirty="0"/>
          </a:p>
        </p:txBody>
      </p:sp>
      <p:sp>
        <p:nvSpPr>
          <p:cNvPr id="70" name="Shape 66"/>
          <p:cNvSpPr/>
          <p:nvPr/>
        </p:nvSpPr>
        <p:spPr>
          <a:xfrm>
            <a:off x="10698480" y="4846320"/>
            <a:ext cx="146304" cy="146304"/>
          </a:xfrm>
          <a:prstGeom prst="ellipse">
            <a:avLst/>
          </a:prstGeom>
          <a:solidFill>
            <a:srgbClr val="94A3B8"/>
          </a:solidFill>
          <a:ln w="12700">
            <a:solidFill>
              <a:srgbClr val="94A3B8"/>
            </a:solidFill>
            <a:prstDash val="solid"/>
          </a:ln>
        </p:spPr>
      </p:sp>
      <p:sp>
        <p:nvSpPr>
          <p:cNvPr id="71" name="Text 67"/>
          <p:cNvSpPr/>
          <p:nvPr/>
        </p:nvSpPr>
        <p:spPr>
          <a:xfrm>
            <a:off x="10881360" y="4773168"/>
            <a:ext cx="914400" cy="274320"/>
          </a:xfrm>
          <a:prstGeom prst="rect">
            <a:avLst/>
          </a:prstGeom>
          <a:noFill/>
          <a:ln/>
        </p:spPr>
        <p:txBody>
          <a:bodyPr wrap="square" rtlCol="0" anchor="ct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Minor 0</a:t>
            </a:r>
            <a:endParaRPr lang="en-US" sz="1000" dirty="0"/>
          </a:p>
        </p:txBody>
      </p:sp>
      <p:sp>
        <p:nvSpPr>
          <p:cNvPr id="72" name="Shape 68"/>
          <p:cNvSpPr/>
          <p:nvPr/>
        </p:nvSpPr>
        <p:spPr>
          <a:xfrm>
            <a:off x="8229600" y="5257800"/>
            <a:ext cx="3474720" cy="868680"/>
          </a:xfrm>
          <a:prstGeom prst="roundRect">
            <a:avLst>
              <a:gd name="adj" fmla="val 10526"/>
            </a:avLst>
          </a:prstGeom>
          <a:solidFill>
            <a:srgbClr val="ECFDF5"/>
          </a:solidFill>
          <a:ln w="12700">
            <a:solidFill>
              <a:srgbClr val="86EFAC"/>
            </a:solidFill>
            <a:prstDash val="solid"/>
          </a:ln>
        </p:spPr>
      </p:sp>
      <p:sp>
        <p:nvSpPr>
          <p:cNvPr id="73" name="Text 69"/>
          <p:cNvSpPr/>
          <p:nvPr/>
        </p:nvSpPr>
        <p:spPr>
          <a:xfrm>
            <a:off x="8366760" y="5285232"/>
            <a:ext cx="3200400" cy="822960"/>
          </a:xfrm>
          <a:prstGeom prst="rect">
            <a:avLst/>
          </a:prstGeom>
          <a:noFill/>
          <a:ln/>
        </p:spPr>
        <p:txBody>
          <a:bodyPr wrap="square" rtlCol="0" anchor="ctr"/>
          <a:lstStyle/>
          <a:p>
            <a:pPr indent="0" marL="0">
              <a:lnSpc>
                <a:spcPts val="1400"/>
              </a:lnSpc>
              <a:buNone/>
            </a:pPr>
            <a:r>
              <a:rPr lang="en-US" sz="1100" b="1" dirty="0">
                <a:solidFill>
                  <a:srgbClr val="166534"/>
                </a:solidFill>
                <a:latin typeface="Plus Jakarta Sans" pitchFamily="34" charset="0"/>
                <a:ea typeface="Plus Jakarta Sans" pitchFamily="34" charset="-122"/>
                <a:cs typeface="Plus Jakarta Sans" pitchFamily="34" charset="-120"/>
              </a:rPr>
              <a:t>No urgent items. The remaining items are routine tightening we will schedule.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Infrastructure Security</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DNS Configurations &amp; SSL Certificate Validity</a:t>
            </a:r>
            <a:endParaRPr lang="en-US" sz="2600" dirty="0"/>
          </a:p>
        </p:txBody>
      </p:sp>
      <p:sp>
        <p:nvSpPr>
          <p:cNvPr id="5" name="Shape 2"/>
          <p:cNvSpPr/>
          <p:nvPr/>
        </p:nvSpPr>
        <p:spPr>
          <a:xfrm>
            <a:off x="731520" y="1508760"/>
            <a:ext cx="5120640" cy="4526280"/>
          </a:xfrm>
          <a:prstGeom prst="roundRect">
            <a:avLst>
              <a:gd name="adj" fmla="val 2020"/>
            </a:avLst>
          </a:prstGeom>
          <a:solidFill>
            <a:srgbClr val="F8FAFC"/>
          </a:solidFill>
          <a:ln w="12700">
            <a:solidFill>
              <a:srgbClr val="E2E8F0"/>
            </a:solidFill>
            <a:prstDash val="solid"/>
          </a:ln>
        </p:spPr>
      </p:sp>
      <p:sp>
        <p:nvSpPr>
          <p:cNvPr id="6" name="Text 3"/>
          <p:cNvSpPr/>
          <p:nvPr/>
        </p:nvSpPr>
        <p:spPr>
          <a:xfrm>
            <a:off x="1005840" y="1691640"/>
            <a:ext cx="3200400" cy="256032"/>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SSL CERTIFICATE INTEGRITY &amp; ENCRYPTION</a:t>
            </a:r>
            <a:endParaRPr lang="en-US" sz="1000" dirty="0"/>
          </a:p>
        </p:txBody>
      </p:sp>
      <p:graphicFrame>
        <p:nvGraphicFramePr>
          <p:cNvPr id="7" name="Chart 0" descr=""/>
          <p:cNvGraphicFramePr/>
          <p:nvPr/>
        </p:nvGraphicFramePr>
        <p:xfrm>
          <a:off x="1005840" y="1965960"/>
          <a:ext cx="4572000" cy="210312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1005840" y="2606040"/>
            <a:ext cx="4572000" cy="502920"/>
          </a:xfrm>
          <a:prstGeom prst="rect">
            <a:avLst/>
          </a:prstGeom>
          <a:noFill/>
          <a:ln/>
        </p:spPr>
        <p:txBody>
          <a:bodyPr wrap="square" rtlCol="0" anchor="ctr"/>
          <a:lstStyle/>
          <a:p>
            <a:pPr algn="ctr" indent="0" marL="0">
              <a:buNone/>
            </a:pPr>
            <a:r>
              <a:rPr lang="en-US" sz="3400" b="1" dirty="0">
                <a:solidFill>
                  <a:srgbClr val="0F172A"/>
                </a:solidFill>
                <a:latin typeface="Outfit" pitchFamily="34" charset="0"/>
                <a:ea typeface="Outfit" pitchFamily="34" charset="-122"/>
                <a:cs typeface="Outfit" pitchFamily="34" charset="-120"/>
              </a:rPr>
              <a:t>57 DAYS</a:t>
            </a:r>
            <a:endParaRPr lang="en-US" sz="3400" dirty="0"/>
          </a:p>
        </p:txBody>
      </p:sp>
      <p:sp>
        <p:nvSpPr>
          <p:cNvPr id="9" name="Text 5"/>
          <p:cNvSpPr/>
          <p:nvPr/>
        </p:nvSpPr>
        <p:spPr>
          <a:xfrm>
            <a:off x="1005840" y="3108960"/>
            <a:ext cx="4572000" cy="228600"/>
          </a:xfrm>
          <a:prstGeom prst="rect">
            <a:avLst/>
          </a:prstGeom>
          <a:noFill/>
          <a:ln/>
        </p:spPr>
        <p:txBody>
          <a:bodyPr wrap="square" rtlCol="0" anchor="ctr"/>
          <a:lstStyle/>
          <a:p>
            <a:pPr algn="ctr" indent="0" marL="0">
              <a:buNone/>
            </a:pPr>
            <a:r>
              <a:rPr lang="en-US" sz="850" b="1" dirty="0">
                <a:solidFill>
                  <a:srgbClr val="64748B"/>
                </a:solidFill>
                <a:latin typeface="Plus Jakarta Sans" pitchFamily="34" charset="0"/>
                <a:ea typeface="Plus Jakarta Sans" pitchFamily="34" charset="-122"/>
                <a:cs typeface="Plus Jakarta Sans" pitchFamily="34" charset="-120"/>
              </a:rPr>
              <a:t>VALID UNTIL EXPIRY</a:t>
            </a:r>
            <a:endParaRPr lang="en-US" sz="850" dirty="0"/>
          </a:p>
        </p:txBody>
      </p:sp>
      <p:sp>
        <p:nvSpPr>
          <p:cNvPr id="10" name="Shape 6"/>
          <p:cNvSpPr/>
          <p:nvPr/>
        </p:nvSpPr>
        <p:spPr>
          <a:xfrm>
            <a:off x="1737360" y="4251960"/>
            <a:ext cx="3108960" cy="310896"/>
          </a:xfrm>
          <a:prstGeom prst="roundRect">
            <a:avLst>
              <a:gd name="adj" fmla="val 50000"/>
            </a:avLst>
          </a:prstGeom>
          <a:solidFill>
            <a:srgbClr val="ECFDF5"/>
          </a:solidFill>
          <a:ln w="12700">
            <a:solidFill>
              <a:srgbClr val="10B981"/>
            </a:solidFill>
            <a:prstDash val="solid"/>
          </a:ln>
        </p:spPr>
      </p:sp>
      <p:sp>
        <p:nvSpPr>
          <p:cNvPr id="11" name="Text 7"/>
          <p:cNvSpPr/>
          <p:nvPr/>
        </p:nvSpPr>
        <p:spPr>
          <a:xfrm>
            <a:off x="1737360" y="4251960"/>
            <a:ext cx="3108960" cy="310896"/>
          </a:xfrm>
          <a:prstGeom prst="rect">
            <a:avLst/>
          </a:prstGeom>
          <a:noFill/>
          <a:ln/>
        </p:spPr>
        <p:txBody>
          <a:bodyPr wrap="square" rtlCol="0" anchor="ctr"/>
          <a:lstStyle/>
          <a:p>
            <a:pPr algn="ctr" indent="0" marL="0">
              <a:buNone/>
            </a:pPr>
            <a:r>
              <a:rPr lang="en-US" sz="950" b="1" dirty="0">
                <a:solidFill>
                  <a:srgbClr val="047857"/>
                </a:solidFill>
                <a:latin typeface="Plus Jakarta Sans" pitchFamily="34" charset="0"/>
                <a:ea typeface="Plus Jakarta Sans" pitchFamily="34" charset="-122"/>
                <a:cs typeface="Plus Jakarta Sans" pitchFamily="34" charset="-120"/>
              </a:rPr>
              <a:t>VALID 256-BIT TLS ENCRYPTION</a:t>
            </a:r>
            <a:endParaRPr lang="en-US" sz="950" dirty="0"/>
          </a:p>
        </p:txBody>
      </p:sp>
      <p:sp>
        <p:nvSpPr>
          <p:cNvPr id="12" name="Shape 8"/>
          <p:cNvSpPr/>
          <p:nvPr/>
        </p:nvSpPr>
        <p:spPr>
          <a:xfrm>
            <a:off x="960120" y="4709160"/>
            <a:ext cx="1417320" cy="1051560"/>
          </a:xfrm>
          <a:prstGeom prst="roundRect">
            <a:avLst>
              <a:gd name="adj" fmla="val 6957"/>
            </a:avLst>
          </a:prstGeom>
          <a:solidFill>
            <a:srgbClr val="F8FAFC"/>
          </a:solidFill>
          <a:ln w="12700">
            <a:solidFill>
              <a:srgbClr val="E2E8F0"/>
            </a:solidFill>
            <a:prstDash val="solid"/>
          </a:ln>
        </p:spPr>
      </p:sp>
      <p:sp>
        <p:nvSpPr>
          <p:cNvPr id="13" name="Text 9"/>
          <p:cNvSpPr/>
          <p:nvPr/>
        </p:nvSpPr>
        <p:spPr>
          <a:xfrm>
            <a:off x="960120" y="4818888"/>
            <a:ext cx="1417320" cy="201168"/>
          </a:xfrm>
          <a:prstGeom prst="rect">
            <a:avLst/>
          </a:prstGeom>
          <a:noFill/>
          <a:ln/>
        </p:spPr>
        <p:txBody>
          <a:bodyPr wrap="square" rtlCol="0" anchor="ctr"/>
          <a:lstStyle/>
          <a:p>
            <a:pPr algn="ctr" indent="0" marL="0">
              <a:buNone/>
            </a:pPr>
            <a:r>
              <a:rPr lang="en-US" sz="800" b="1" dirty="0">
                <a:solidFill>
                  <a:srgbClr val="64748B"/>
                </a:solidFill>
                <a:latin typeface="Plus Jakarta Sans" pitchFamily="34" charset="0"/>
                <a:ea typeface="Plus Jakarta Sans" pitchFamily="34" charset="-122"/>
                <a:cs typeface="Plus Jakarta Sans" pitchFamily="34" charset="-120"/>
              </a:rPr>
              <a:t>ISSUING AUTHORITY</a:t>
            </a:r>
            <a:endParaRPr lang="en-US" sz="800" dirty="0"/>
          </a:p>
        </p:txBody>
      </p:sp>
      <p:sp>
        <p:nvSpPr>
          <p:cNvPr id="14" name="Text 10"/>
          <p:cNvSpPr/>
          <p:nvPr/>
        </p:nvSpPr>
        <p:spPr>
          <a:xfrm>
            <a:off x="960120" y="5038344"/>
            <a:ext cx="1417320" cy="365760"/>
          </a:xfrm>
          <a:prstGeom prst="rect">
            <a:avLst/>
          </a:prstGeom>
          <a:noFill/>
          <a:ln/>
        </p:spPr>
        <p:txBody>
          <a:bodyPr wrap="square" rtlCol="0" anchor="ctr"/>
          <a:lstStyle/>
          <a:p>
            <a:pPr algn="ctr" indent="0" marL="0">
              <a:buNone/>
            </a:pPr>
            <a:r>
              <a:rPr lang="en-US" sz="1100" b="1" dirty="0">
                <a:solidFill>
                  <a:srgbClr val="0F172A"/>
                </a:solidFill>
                <a:latin typeface="Outfit" pitchFamily="34" charset="0"/>
                <a:ea typeface="Outfit" pitchFamily="34" charset="-122"/>
                <a:cs typeface="Outfit" pitchFamily="34" charset="-120"/>
              </a:rPr>
              <a:t>Google Trust Services</a:t>
            </a:r>
            <a:endParaRPr lang="en-US" sz="1100" dirty="0"/>
          </a:p>
        </p:txBody>
      </p:sp>
      <p:sp>
        <p:nvSpPr>
          <p:cNvPr id="15" name="Text 11"/>
          <p:cNvSpPr/>
          <p:nvPr/>
        </p:nvSpPr>
        <p:spPr>
          <a:xfrm>
            <a:off x="960120" y="5422392"/>
            <a:ext cx="1417320" cy="201168"/>
          </a:xfrm>
          <a:prstGeom prst="rect">
            <a:avLst/>
          </a:prstGeom>
          <a:noFill/>
          <a:ln/>
        </p:spPr>
        <p:txBody>
          <a:bodyPr wrap="square" rtlCol="0" anchor="ctr"/>
          <a:lstStyle/>
          <a:p>
            <a:pPr algn="ctr" indent="0" marL="0">
              <a:buNone/>
            </a:pPr>
            <a:r>
              <a:rPr lang="en-US" sz="800" dirty="0">
                <a:solidFill>
                  <a:srgbClr val="64748B"/>
                </a:solidFill>
                <a:latin typeface="Plus Jakarta Sans" pitchFamily="34" charset="0"/>
                <a:ea typeface="Plus Jakarta Sans" pitchFamily="34" charset="-122"/>
                <a:cs typeface="Plus Jakarta Sans" pitchFamily="34" charset="-120"/>
              </a:rPr>
              <a:t>Trusted Root CA</a:t>
            </a:r>
            <a:endParaRPr lang="en-US" sz="800" dirty="0"/>
          </a:p>
        </p:txBody>
      </p:sp>
      <p:sp>
        <p:nvSpPr>
          <p:cNvPr id="16" name="Shape 12"/>
          <p:cNvSpPr/>
          <p:nvPr/>
        </p:nvSpPr>
        <p:spPr>
          <a:xfrm>
            <a:off x="2560320" y="4709160"/>
            <a:ext cx="1417320" cy="1051560"/>
          </a:xfrm>
          <a:prstGeom prst="roundRect">
            <a:avLst>
              <a:gd name="adj" fmla="val 6957"/>
            </a:avLst>
          </a:prstGeom>
          <a:solidFill>
            <a:srgbClr val="F8FAFC"/>
          </a:solidFill>
          <a:ln w="12700">
            <a:solidFill>
              <a:srgbClr val="E2E8F0"/>
            </a:solidFill>
            <a:prstDash val="solid"/>
          </a:ln>
        </p:spPr>
      </p:sp>
      <p:sp>
        <p:nvSpPr>
          <p:cNvPr id="17" name="Text 13"/>
          <p:cNvSpPr/>
          <p:nvPr/>
        </p:nvSpPr>
        <p:spPr>
          <a:xfrm>
            <a:off x="2560320" y="4818888"/>
            <a:ext cx="1417320" cy="201168"/>
          </a:xfrm>
          <a:prstGeom prst="rect">
            <a:avLst/>
          </a:prstGeom>
          <a:noFill/>
          <a:ln/>
        </p:spPr>
        <p:txBody>
          <a:bodyPr wrap="square" rtlCol="0" anchor="ctr"/>
          <a:lstStyle/>
          <a:p>
            <a:pPr algn="ctr" indent="0" marL="0">
              <a:buNone/>
            </a:pPr>
            <a:r>
              <a:rPr lang="en-US" sz="800" b="1" dirty="0">
                <a:solidFill>
                  <a:srgbClr val="64748B"/>
                </a:solidFill>
                <a:latin typeface="Plus Jakarta Sans" pitchFamily="34" charset="0"/>
                <a:ea typeface="Plus Jakarta Sans" pitchFamily="34" charset="-122"/>
                <a:cs typeface="Plus Jakarta Sans" pitchFamily="34" charset="-120"/>
              </a:rPr>
              <a:t>EXPIRATION DATE</a:t>
            </a:r>
            <a:endParaRPr lang="en-US" sz="800" dirty="0"/>
          </a:p>
        </p:txBody>
      </p:sp>
      <p:sp>
        <p:nvSpPr>
          <p:cNvPr id="18" name="Text 14"/>
          <p:cNvSpPr/>
          <p:nvPr/>
        </p:nvSpPr>
        <p:spPr>
          <a:xfrm>
            <a:off x="2560320" y="5038344"/>
            <a:ext cx="1417320" cy="365760"/>
          </a:xfrm>
          <a:prstGeom prst="rect">
            <a:avLst/>
          </a:prstGeom>
          <a:noFill/>
          <a:ln/>
        </p:spPr>
        <p:txBody>
          <a:bodyPr wrap="square" rtlCol="0" anchor="ctr"/>
          <a:lstStyle/>
          <a:p>
            <a:pPr algn="ctr" indent="0" marL="0">
              <a:buNone/>
            </a:pPr>
            <a:r>
              <a:rPr lang="en-US" sz="1100" b="1" dirty="0">
                <a:solidFill>
                  <a:srgbClr val="0F172A"/>
                </a:solidFill>
                <a:latin typeface="Outfit" pitchFamily="34" charset="0"/>
                <a:ea typeface="Outfit" pitchFamily="34" charset="-122"/>
                <a:cs typeface="Outfit" pitchFamily="34" charset="-120"/>
              </a:rPr>
              <a:t>Dec 11 13:15:21 2026 GMT</a:t>
            </a:r>
            <a:endParaRPr lang="en-US" sz="1100" dirty="0"/>
          </a:p>
        </p:txBody>
      </p:sp>
      <p:sp>
        <p:nvSpPr>
          <p:cNvPr id="19" name="Text 15"/>
          <p:cNvSpPr/>
          <p:nvPr/>
        </p:nvSpPr>
        <p:spPr>
          <a:xfrm>
            <a:off x="2560320" y="5422392"/>
            <a:ext cx="1417320" cy="201168"/>
          </a:xfrm>
          <a:prstGeom prst="rect">
            <a:avLst/>
          </a:prstGeom>
          <a:noFill/>
          <a:ln/>
        </p:spPr>
        <p:txBody>
          <a:bodyPr wrap="square" rtlCol="0" anchor="ctr"/>
          <a:lstStyle/>
          <a:p>
            <a:pPr algn="ctr" indent="0" marL="0">
              <a:buNone/>
            </a:pPr>
            <a:r>
              <a:rPr lang="en-US" sz="800" dirty="0">
                <a:solidFill>
                  <a:srgbClr val="64748B"/>
                </a:solidFill>
                <a:latin typeface="Plus Jakarta Sans" pitchFamily="34" charset="0"/>
                <a:ea typeface="Plus Jakarta Sans" pitchFamily="34" charset="-122"/>
                <a:cs typeface="Plus Jakarta Sans" pitchFamily="34" charset="-120"/>
              </a:rPr>
              <a:t>Auto-Renewal Active</a:t>
            </a:r>
            <a:endParaRPr lang="en-US" sz="800" dirty="0"/>
          </a:p>
        </p:txBody>
      </p:sp>
      <p:sp>
        <p:nvSpPr>
          <p:cNvPr id="20" name="Shape 16"/>
          <p:cNvSpPr/>
          <p:nvPr/>
        </p:nvSpPr>
        <p:spPr>
          <a:xfrm>
            <a:off x="4160520" y="4709160"/>
            <a:ext cx="1417320" cy="1051560"/>
          </a:xfrm>
          <a:prstGeom prst="roundRect">
            <a:avLst>
              <a:gd name="adj" fmla="val 6957"/>
            </a:avLst>
          </a:prstGeom>
          <a:solidFill>
            <a:srgbClr val="F8FAFC"/>
          </a:solidFill>
          <a:ln w="12700">
            <a:solidFill>
              <a:srgbClr val="E2E8F0"/>
            </a:solidFill>
            <a:prstDash val="solid"/>
          </a:ln>
        </p:spPr>
      </p:sp>
      <p:sp>
        <p:nvSpPr>
          <p:cNvPr id="21" name="Text 17"/>
          <p:cNvSpPr/>
          <p:nvPr/>
        </p:nvSpPr>
        <p:spPr>
          <a:xfrm>
            <a:off x="4160520" y="4818888"/>
            <a:ext cx="1417320" cy="201168"/>
          </a:xfrm>
          <a:prstGeom prst="rect">
            <a:avLst/>
          </a:prstGeom>
          <a:noFill/>
          <a:ln/>
        </p:spPr>
        <p:txBody>
          <a:bodyPr wrap="square" rtlCol="0" anchor="ctr"/>
          <a:lstStyle/>
          <a:p>
            <a:pPr algn="ctr" indent="0" marL="0">
              <a:buNone/>
            </a:pPr>
            <a:r>
              <a:rPr lang="en-US" sz="800" b="1" dirty="0">
                <a:solidFill>
                  <a:srgbClr val="64748B"/>
                </a:solidFill>
                <a:latin typeface="Plus Jakarta Sans" pitchFamily="34" charset="0"/>
                <a:ea typeface="Plus Jakarta Sans" pitchFamily="34" charset="-122"/>
                <a:cs typeface="Plus Jakarta Sans" pitchFamily="34" charset="-120"/>
              </a:rPr>
              <a:t>DOMAIN COVERAGE</a:t>
            </a:r>
            <a:endParaRPr lang="en-US" sz="800" dirty="0"/>
          </a:p>
        </p:txBody>
      </p:sp>
      <p:sp>
        <p:nvSpPr>
          <p:cNvPr id="22" name="Text 18"/>
          <p:cNvSpPr/>
          <p:nvPr/>
        </p:nvSpPr>
        <p:spPr>
          <a:xfrm>
            <a:off x="4160520" y="5038344"/>
            <a:ext cx="1417320" cy="365760"/>
          </a:xfrm>
          <a:prstGeom prst="rect">
            <a:avLst/>
          </a:prstGeom>
          <a:noFill/>
          <a:ln/>
        </p:spPr>
        <p:txBody>
          <a:bodyPr wrap="square" rtlCol="0" anchor="ctr"/>
          <a:lstStyle/>
          <a:p>
            <a:pPr algn="ctr" indent="0" marL="0">
              <a:buNone/>
            </a:pPr>
            <a:r>
              <a:rPr lang="en-US" sz="1100" b="1" dirty="0">
                <a:solidFill>
                  <a:srgbClr val="0F172A"/>
                </a:solidFill>
                <a:latin typeface="Outfit" pitchFamily="34" charset="0"/>
                <a:ea typeface="Outfit" pitchFamily="34" charset="-122"/>
                <a:cs typeface="Outfit" pitchFamily="34" charset="-120"/>
              </a:rPr>
              <a:t>Verified SAN</a:t>
            </a:r>
            <a:endParaRPr lang="en-US" sz="1100" dirty="0"/>
          </a:p>
        </p:txBody>
      </p:sp>
      <p:sp>
        <p:nvSpPr>
          <p:cNvPr id="23" name="Text 19"/>
          <p:cNvSpPr/>
          <p:nvPr/>
        </p:nvSpPr>
        <p:spPr>
          <a:xfrm>
            <a:off x="4160520" y="5422392"/>
            <a:ext cx="1417320" cy="201168"/>
          </a:xfrm>
          <a:prstGeom prst="rect">
            <a:avLst/>
          </a:prstGeom>
          <a:noFill/>
          <a:ln/>
        </p:spPr>
        <p:txBody>
          <a:bodyPr wrap="square" rtlCol="0" anchor="ctr"/>
          <a:lstStyle/>
          <a:p>
            <a:pPr algn="ctr" indent="0" marL="0">
              <a:buNone/>
            </a:pPr>
            <a:r>
              <a:rPr lang="en-US" sz="800" dirty="0">
                <a:solidFill>
                  <a:srgbClr val="64748B"/>
                </a:solidFill>
                <a:latin typeface="Plus Jakarta Sans" pitchFamily="34" charset="0"/>
                <a:ea typeface="Plus Jakarta Sans" pitchFamily="34" charset="-122"/>
                <a:cs typeface="Plus Jakarta Sans" pitchFamily="34" charset="-120"/>
              </a:rPr>
              <a:t>partsconnexion.com</a:t>
            </a:r>
            <a:endParaRPr lang="en-US" sz="800" dirty="0"/>
          </a:p>
        </p:txBody>
      </p:sp>
      <p:sp>
        <p:nvSpPr>
          <p:cNvPr id="24" name="Shape 20"/>
          <p:cNvSpPr/>
          <p:nvPr/>
        </p:nvSpPr>
        <p:spPr>
          <a:xfrm>
            <a:off x="6217920" y="1508760"/>
            <a:ext cx="5239512" cy="4526280"/>
          </a:xfrm>
          <a:prstGeom prst="roundRect">
            <a:avLst>
              <a:gd name="adj" fmla="val 2020"/>
            </a:avLst>
          </a:prstGeom>
          <a:solidFill>
            <a:srgbClr val="F8FAFC"/>
          </a:solidFill>
          <a:ln w="12700">
            <a:solidFill>
              <a:srgbClr val="E2E8F0"/>
            </a:solidFill>
            <a:prstDash val="solid"/>
          </a:ln>
        </p:spPr>
      </p:sp>
      <p:sp>
        <p:nvSpPr>
          <p:cNvPr id="25" name="Text 21"/>
          <p:cNvSpPr/>
          <p:nvPr/>
        </p:nvSpPr>
        <p:spPr>
          <a:xfrm>
            <a:off x="6492240" y="1691640"/>
            <a:ext cx="3474720" cy="256032"/>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DNS &amp; EMAIL AUTHENTICATION DEFENSE</a:t>
            </a:r>
            <a:endParaRPr lang="en-US" sz="1000" dirty="0"/>
          </a:p>
        </p:txBody>
      </p:sp>
      <p:sp>
        <p:nvSpPr>
          <p:cNvPr id="26" name="Shape 22"/>
          <p:cNvSpPr/>
          <p:nvPr/>
        </p:nvSpPr>
        <p:spPr>
          <a:xfrm>
            <a:off x="10058400" y="1664208"/>
            <a:ext cx="1143000" cy="292608"/>
          </a:xfrm>
          <a:prstGeom prst="roundRect">
            <a:avLst>
              <a:gd name="adj" fmla="val 50000"/>
            </a:avLst>
          </a:prstGeom>
          <a:solidFill>
            <a:srgbClr val="ECFDF5"/>
          </a:solidFill>
          <a:ln w="12700">
            <a:solidFill>
              <a:srgbClr val="10B981"/>
            </a:solidFill>
            <a:prstDash val="solid"/>
          </a:ln>
        </p:spPr>
      </p:sp>
      <p:sp>
        <p:nvSpPr>
          <p:cNvPr id="27" name="Text 23"/>
          <p:cNvSpPr/>
          <p:nvPr/>
        </p:nvSpPr>
        <p:spPr>
          <a:xfrm>
            <a:off x="10058400" y="1664208"/>
            <a:ext cx="1143000" cy="292608"/>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CONFIG HEALTHY</a:t>
            </a:r>
            <a:endParaRPr lang="en-US" sz="900" dirty="0"/>
          </a:p>
        </p:txBody>
      </p:sp>
      <p:sp>
        <p:nvSpPr>
          <p:cNvPr id="28" name="Shape 24"/>
          <p:cNvSpPr/>
          <p:nvPr/>
        </p:nvSpPr>
        <p:spPr>
          <a:xfrm>
            <a:off x="6492240" y="1993392"/>
            <a:ext cx="4709160" cy="585216"/>
          </a:xfrm>
          <a:prstGeom prst="roundRect">
            <a:avLst>
              <a:gd name="adj" fmla="val 12500"/>
            </a:avLst>
          </a:prstGeom>
          <a:solidFill>
            <a:srgbClr val="FFFFFF"/>
          </a:solidFill>
          <a:ln w="12700">
            <a:solidFill>
              <a:srgbClr val="E2E8F0"/>
            </a:solidFill>
            <a:prstDash val="solid"/>
          </a:ln>
        </p:spPr>
      </p:sp>
      <p:sp>
        <p:nvSpPr>
          <p:cNvPr id="29" name="Shape 25"/>
          <p:cNvSpPr/>
          <p:nvPr/>
        </p:nvSpPr>
        <p:spPr>
          <a:xfrm>
            <a:off x="6629400" y="2121408"/>
            <a:ext cx="329184" cy="329184"/>
          </a:xfrm>
          <a:prstGeom prst="ellipse">
            <a:avLst/>
          </a:prstGeom>
          <a:solidFill>
            <a:srgbClr val="ECFDF5"/>
          </a:solidFill>
          <a:ln w="12700">
            <a:solidFill>
              <a:srgbClr val="10B981"/>
            </a:solidFill>
            <a:prstDash val="solid"/>
          </a:ln>
        </p:spPr>
      </p:sp>
      <p:sp>
        <p:nvSpPr>
          <p:cNvPr id="30" name="Text 26"/>
          <p:cNvSpPr/>
          <p:nvPr/>
        </p:nvSpPr>
        <p:spPr>
          <a:xfrm>
            <a:off x="6629400" y="2121408"/>
            <a:ext cx="329184" cy="329184"/>
          </a:xfrm>
          <a:prstGeom prst="rect">
            <a:avLst/>
          </a:prstGeom>
          <a:noFill/>
          <a:ln/>
        </p:spPr>
        <p:txBody>
          <a:bodyPr wrap="square" rtlCol="0" anchor="ctr"/>
          <a:lstStyle/>
          <a:p>
            <a:pPr algn="ctr" indent="0" marL="0">
              <a:buNone/>
            </a:pPr>
            <a:r>
              <a:rPr lang="en-US" sz="1100" b="1" dirty="0">
                <a:solidFill>
                  <a:srgbClr val="047857"/>
                </a:solidFill>
                <a:latin typeface="Plus Jakarta Sans" pitchFamily="34" charset="0"/>
                <a:ea typeface="Plus Jakarta Sans" pitchFamily="34" charset="-122"/>
                <a:cs typeface="Plus Jakarta Sans" pitchFamily="34" charset="-120"/>
              </a:rPr>
              <a:t>✔</a:t>
            </a:r>
            <a:endParaRPr lang="en-US" sz="1100" dirty="0"/>
          </a:p>
        </p:txBody>
      </p:sp>
      <p:sp>
        <p:nvSpPr>
          <p:cNvPr id="31" name="Text 27"/>
          <p:cNvSpPr/>
          <p:nvPr/>
        </p:nvSpPr>
        <p:spPr>
          <a:xfrm>
            <a:off x="7059168" y="2066544"/>
            <a:ext cx="2926080" cy="219456"/>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Sender Policy Framework (SPF)</a:t>
            </a:r>
            <a:endParaRPr lang="en-US" sz="1100" dirty="0"/>
          </a:p>
        </p:txBody>
      </p:sp>
      <p:sp>
        <p:nvSpPr>
          <p:cNvPr id="32" name="Text 28"/>
          <p:cNvSpPr/>
          <p:nvPr/>
        </p:nvSpPr>
        <p:spPr>
          <a:xfrm>
            <a:off x="7059168" y="2286000"/>
            <a:ext cx="2926080" cy="219456"/>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Authorized mail server record blocks spoofed outbound sender headers</a:t>
            </a:r>
            <a:endParaRPr lang="en-US" sz="850" dirty="0"/>
          </a:p>
        </p:txBody>
      </p:sp>
      <p:sp>
        <p:nvSpPr>
          <p:cNvPr id="33" name="Shape 29"/>
          <p:cNvSpPr/>
          <p:nvPr/>
        </p:nvSpPr>
        <p:spPr>
          <a:xfrm>
            <a:off x="10058400" y="2148840"/>
            <a:ext cx="1051560" cy="256032"/>
          </a:xfrm>
          <a:prstGeom prst="roundRect">
            <a:avLst>
              <a:gd name="adj" fmla="val 50000"/>
            </a:avLst>
          </a:prstGeom>
          <a:solidFill>
            <a:srgbClr val="ECFDF5"/>
          </a:solidFill>
          <a:ln w="12700">
            <a:solidFill>
              <a:srgbClr val="10B981"/>
            </a:solidFill>
            <a:prstDash val="solid"/>
          </a:ln>
        </p:spPr>
      </p:sp>
      <p:sp>
        <p:nvSpPr>
          <p:cNvPr id="34" name="Text 30"/>
          <p:cNvSpPr/>
          <p:nvPr/>
        </p:nvSpPr>
        <p:spPr>
          <a:xfrm>
            <a:off x="10058400" y="2148840"/>
            <a:ext cx="1051560" cy="256032"/>
          </a:xfrm>
          <a:prstGeom prst="rect">
            <a:avLst/>
          </a:prstGeom>
          <a:noFill/>
          <a:ln/>
        </p:spPr>
        <p:txBody>
          <a:bodyPr wrap="square" rtlCol="0" anchor="ctr"/>
          <a:lstStyle/>
          <a:p>
            <a:pPr algn="ctr" indent="0" marL="0">
              <a:buNone/>
            </a:pPr>
            <a:r>
              <a:rPr lang="en-US" sz="850" b="1" dirty="0">
                <a:solidFill>
                  <a:srgbClr val="047857"/>
                </a:solidFill>
                <a:latin typeface="Plus Jakarta Sans" pitchFamily="34" charset="0"/>
                <a:ea typeface="Plus Jakarta Sans" pitchFamily="34" charset="-122"/>
                <a:cs typeface="Plus Jakarta Sans" pitchFamily="34" charset="-120"/>
              </a:rPr>
              <a:t>PROTECTED</a:t>
            </a:r>
            <a:endParaRPr lang="en-US" sz="850" dirty="0"/>
          </a:p>
        </p:txBody>
      </p:sp>
      <p:sp>
        <p:nvSpPr>
          <p:cNvPr id="35" name="Shape 31"/>
          <p:cNvSpPr/>
          <p:nvPr/>
        </p:nvSpPr>
        <p:spPr>
          <a:xfrm>
            <a:off x="6492240" y="2651760"/>
            <a:ext cx="4709160" cy="585216"/>
          </a:xfrm>
          <a:prstGeom prst="roundRect">
            <a:avLst>
              <a:gd name="adj" fmla="val 12500"/>
            </a:avLst>
          </a:prstGeom>
          <a:solidFill>
            <a:srgbClr val="FFFFFF"/>
          </a:solidFill>
          <a:ln w="12700">
            <a:solidFill>
              <a:srgbClr val="E2E8F0"/>
            </a:solidFill>
            <a:prstDash val="solid"/>
          </a:ln>
        </p:spPr>
      </p:sp>
      <p:sp>
        <p:nvSpPr>
          <p:cNvPr id="36" name="Shape 32"/>
          <p:cNvSpPr/>
          <p:nvPr/>
        </p:nvSpPr>
        <p:spPr>
          <a:xfrm>
            <a:off x="6629400" y="2779776"/>
            <a:ext cx="329184" cy="329184"/>
          </a:xfrm>
          <a:prstGeom prst="ellipse">
            <a:avLst/>
          </a:prstGeom>
          <a:solidFill>
            <a:srgbClr val="ECFDF5"/>
          </a:solidFill>
          <a:ln w="12700">
            <a:solidFill>
              <a:srgbClr val="10B981"/>
            </a:solidFill>
            <a:prstDash val="solid"/>
          </a:ln>
        </p:spPr>
      </p:sp>
      <p:sp>
        <p:nvSpPr>
          <p:cNvPr id="37" name="Text 33"/>
          <p:cNvSpPr/>
          <p:nvPr/>
        </p:nvSpPr>
        <p:spPr>
          <a:xfrm>
            <a:off x="6629400" y="2779776"/>
            <a:ext cx="329184" cy="329184"/>
          </a:xfrm>
          <a:prstGeom prst="rect">
            <a:avLst/>
          </a:prstGeom>
          <a:noFill/>
          <a:ln/>
        </p:spPr>
        <p:txBody>
          <a:bodyPr wrap="square" rtlCol="0" anchor="ctr"/>
          <a:lstStyle/>
          <a:p>
            <a:pPr algn="ctr" indent="0" marL="0">
              <a:buNone/>
            </a:pPr>
            <a:r>
              <a:rPr lang="en-US" sz="1100" b="1" dirty="0">
                <a:solidFill>
                  <a:srgbClr val="047857"/>
                </a:solidFill>
                <a:latin typeface="Plus Jakarta Sans" pitchFamily="34" charset="0"/>
                <a:ea typeface="Plus Jakarta Sans" pitchFamily="34" charset="-122"/>
                <a:cs typeface="Plus Jakarta Sans" pitchFamily="34" charset="-120"/>
              </a:rPr>
              <a:t>✔</a:t>
            </a:r>
            <a:endParaRPr lang="en-US" sz="1100" dirty="0"/>
          </a:p>
        </p:txBody>
      </p:sp>
      <p:sp>
        <p:nvSpPr>
          <p:cNvPr id="38" name="Text 34"/>
          <p:cNvSpPr/>
          <p:nvPr/>
        </p:nvSpPr>
        <p:spPr>
          <a:xfrm>
            <a:off x="7059168" y="2724912"/>
            <a:ext cx="2926080" cy="219456"/>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DomainKeys Identified Mail (DKIM)</a:t>
            </a:r>
            <a:endParaRPr lang="en-US" sz="1100" dirty="0"/>
          </a:p>
        </p:txBody>
      </p:sp>
      <p:sp>
        <p:nvSpPr>
          <p:cNvPr id="39" name="Text 35"/>
          <p:cNvSpPr/>
          <p:nvPr/>
        </p:nvSpPr>
        <p:spPr>
          <a:xfrm>
            <a:off x="7059168" y="2944368"/>
            <a:ext cx="2926080" cy="219456"/>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Digital key signs order confirmation receipts for 100% inbox placement</a:t>
            </a:r>
            <a:endParaRPr lang="en-US" sz="850" dirty="0"/>
          </a:p>
        </p:txBody>
      </p:sp>
      <p:sp>
        <p:nvSpPr>
          <p:cNvPr id="40" name="Shape 36"/>
          <p:cNvSpPr/>
          <p:nvPr/>
        </p:nvSpPr>
        <p:spPr>
          <a:xfrm>
            <a:off x="10058400" y="2807208"/>
            <a:ext cx="1051560" cy="256032"/>
          </a:xfrm>
          <a:prstGeom prst="roundRect">
            <a:avLst>
              <a:gd name="adj" fmla="val 50000"/>
            </a:avLst>
          </a:prstGeom>
          <a:solidFill>
            <a:srgbClr val="ECFDF5"/>
          </a:solidFill>
          <a:ln w="12700">
            <a:solidFill>
              <a:srgbClr val="10B981"/>
            </a:solidFill>
            <a:prstDash val="solid"/>
          </a:ln>
        </p:spPr>
      </p:sp>
      <p:sp>
        <p:nvSpPr>
          <p:cNvPr id="41" name="Text 37"/>
          <p:cNvSpPr/>
          <p:nvPr/>
        </p:nvSpPr>
        <p:spPr>
          <a:xfrm>
            <a:off x="10058400" y="2807208"/>
            <a:ext cx="1051560" cy="256032"/>
          </a:xfrm>
          <a:prstGeom prst="rect">
            <a:avLst/>
          </a:prstGeom>
          <a:noFill/>
          <a:ln/>
        </p:spPr>
        <p:txBody>
          <a:bodyPr wrap="square" rtlCol="0" anchor="ctr"/>
          <a:lstStyle/>
          <a:p>
            <a:pPr algn="ctr" indent="0" marL="0">
              <a:buNone/>
            </a:pPr>
            <a:r>
              <a:rPr lang="en-US" sz="850" b="1" dirty="0">
                <a:solidFill>
                  <a:srgbClr val="047857"/>
                </a:solidFill>
                <a:latin typeface="Plus Jakarta Sans" pitchFamily="34" charset="0"/>
                <a:ea typeface="Plus Jakarta Sans" pitchFamily="34" charset="-122"/>
                <a:cs typeface="Plus Jakarta Sans" pitchFamily="34" charset="-120"/>
              </a:rPr>
              <a:t>VERIFIED</a:t>
            </a:r>
            <a:endParaRPr lang="en-US" sz="850" dirty="0"/>
          </a:p>
        </p:txBody>
      </p:sp>
      <p:sp>
        <p:nvSpPr>
          <p:cNvPr id="42" name="Shape 38"/>
          <p:cNvSpPr/>
          <p:nvPr/>
        </p:nvSpPr>
        <p:spPr>
          <a:xfrm>
            <a:off x="6492240" y="3310128"/>
            <a:ext cx="4709160" cy="585216"/>
          </a:xfrm>
          <a:prstGeom prst="roundRect">
            <a:avLst>
              <a:gd name="adj" fmla="val 12500"/>
            </a:avLst>
          </a:prstGeom>
          <a:solidFill>
            <a:srgbClr val="FFFFFF"/>
          </a:solidFill>
          <a:ln w="12700">
            <a:solidFill>
              <a:srgbClr val="E2E8F0"/>
            </a:solidFill>
            <a:prstDash val="solid"/>
          </a:ln>
        </p:spPr>
      </p:sp>
      <p:sp>
        <p:nvSpPr>
          <p:cNvPr id="43" name="Shape 39"/>
          <p:cNvSpPr/>
          <p:nvPr/>
        </p:nvSpPr>
        <p:spPr>
          <a:xfrm>
            <a:off x="6629400" y="3438144"/>
            <a:ext cx="329184" cy="329184"/>
          </a:xfrm>
          <a:prstGeom prst="ellipse">
            <a:avLst/>
          </a:prstGeom>
          <a:solidFill>
            <a:srgbClr val="ECFDF5"/>
          </a:solidFill>
          <a:ln w="12700">
            <a:solidFill>
              <a:srgbClr val="10B981"/>
            </a:solidFill>
            <a:prstDash val="solid"/>
          </a:ln>
        </p:spPr>
      </p:sp>
      <p:sp>
        <p:nvSpPr>
          <p:cNvPr id="44" name="Text 40"/>
          <p:cNvSpPr/>
          <p:nvPr/>
        </p:nvSpPr>
        <p:spPr>
          <a:xfrm>
            <a:off x="6629400" y="3438144"/>
            <a:ext cx="329184" cy="329184"/>
          </a:xfrm>
          <a:prstGeom prst="rect">
            <a:avLst/>
          </a:prstGeom>
          <a:noFill/>
          <a:ln/>
        </p:spPr>
        <p:txBody>
          <a:bodyPr wrap="square" rtlCol="0" anchor="ctr"/>
          <a:lstStyle/>
          <a:p>
            <a:pPr algn="ctr" indent="0" marL="0">
              <a:buNone/>
            </a:pPr>
            <a:r>
              <a:rPr lang="en-US" sz="1100" b="1" dirty="0">
                <a:solidFill>
                  <a:srgbClr val="047857"/>
                </a:solidFill>
                <a:latin typeface="Plus Jakarta Sans" pitchFamily="34" charset="0"/>
                <a:ea typeface="Plus Jakarta Sans" pitchFamily="34" charset="-122"/>
                <a:cs typeface="Plus Jakarta Sans" pitchFamily="34" charset="-120"/>
              </a:rPr>
              <a:t>✔</a:t>
            </a:r>
            <a:endParaRPr lang="en-US" sz="1100" dirty="0"/>
          </a:p>
        </p:txBody>
      </p:sp>
      <p:sp>
        <p:nvSpPr>
          <p:cNvPr id="45" name="Text 41"/>
          <p:cNvSpPr/>
          <p:nvPr/>
        </p:nvSpPr>
        <p:spPr>
          <a:xfrm>
            <a:off x="7059168" y="3383280"/>
            <a:ext cx="2926080" cy="219456"/>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Domain Message Authentication (DMARC)</a:t>
            </a:r>
            <a:endParaRPr lang="en-US" sz="1100" dirty="0"/>
          </a:p>
        </p:txBody>
      </p:sp>
      <p:sp>
        <p:nvSpPr>
          <p:cNvPr id="46" name="Text 42"/>
          <p:cNvSpPr/>
          <p:nvPr/>
        </p:nvSpPr>
        <p:spPr>
          <a:xfrm>
            <a:off x="7059168" y="3602736"/>
            <a:ext cx="2926080" cy="219456"/>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Enforces quarantine/rejection of spoofed phishing attempts</a:t>
            </a:r>
            <a:endParaRPr lang="en-US" sz="850" dirty="0"/>
          </a:p>
        </p:txBody>
      </p:sp>
      <p:sp>
        <p:nvSpPr>
          <p:cNvPr id="47" name="Shape 43"/>
          <p:cNvSpPr/>
          <p:nvPr/>
        </p:nvSpPr>
        <p:spPr>
          <a:xfrm>
            <a:off x="10058400" y="3465576"/>
            <a:ext cx="1051560" cy="256032"/>
          </a:xfrm>
          <a:prstGeom prst="roundRect">
            <a:avLst>
              <a:gd name="adj" fmla="val 50000"/>
            </a:avLst>
          </a:prstGeom>
          <a:solidFill>
            <a:srgbClr val="ECFDF5"/>
          </a:solidFill>
          <a:ln w="12700">
            <a:solidFill>
              <a:srgbClr val="10B981"/>
            </a:solidFill>
            <a:prstDash val="solid"/>
          </a:ln>
        </p:spPr>
      </p:sp>
      <p:sp>
        <p:nvSpPr>
          <p:cNvPr id="48" name="Text 44"/>
          <p:cNvSpPr/>
          <p:nvPr/>
        </p:nvSpPr>
        <p:spPr>
          <a:xfrm>
            <a:off x="10058400" y="3465576"/>
            <a:ext cx="1051560" cy="256032"/>
          </a:xfrm>
          <a:prstGeom prst="rect">
            <a:avLst/>
          </a:prstGeom>
          <a:noFill/>
          <a:ln/>
        </p:spPr>
        <p:txBody>
          <a:bodyPr wrap="square" rtlCol="0" anchor="ctr"/>
          <a:lstStyle/>
          <a:p>
            <a:pPr algn="ctr" indent="0" marL="0">
              <a:buNone/>
            </a:pPr>
            <a:r>
              <a:rPr lang="en-US" sz="850" b="1" dirty="0">
                <a:solidFill>
                  <a:srgbClr val="047857"/>
                </a:solidFill>
                <a:latin typeface="Plus Jakarta Sans" pitchFamily="34" charset="0"/>
                <a:ea typeface="Plus Jakarta Sans" pitchFamily="34" charset="-122"/>
                <a:cs typeface="Plus Jakarta Sans" pitchFamily="34" charset="-120"/>
              </a:rPr>
              <a:t>ENFORCED</a:t>
            </a:r>
            <a:endParaRPr lang="en-US" sz="850" dirty="0"/>
          </a:p>
        </p:txBody>
      </p:sp>
      <p:sp>
        <p:nvSpPr>
          <p:cNvPr id="49" name="Shape 45"/>
          <p:cNvSpPr/>
          <p:nvPr/>
        </p:nvSpPr>
        <p:spPr>
          <a:xfrm>
            <a:off x="6492240" y="3968496"/>
            <a:ext cx="4709160" cy="585216"/>
          </a:xfrm>
          <a:prstGeom prst="roundRect">
            <a:avLst>
              <a:gd name="adj" fmla="val 12500"/>
            </a:avLst>
          </a:prstGeom>
          <a:solidFill>
            <a:srgbClr val="FFFFFF"/>
          </a:solidFill>
          <a:ln w="12700">
            <a:solidFill>
              <a:srgbClr val="E2E8F0"/>
            </a:solidFill>
            <a:prstDash val="solid"/>
          </a:ln>
        </p:spPr>
      </p:sp>
      <p:sp>
        <p:nvSpPr>
          <p:cNvPr id="50" name="Shape 46"/>
          <p:cNvSpPr/>
          <p:nvPr/>
        </p:nvSpPr>
        <p:spPr>
          <a:xfrm>
            <a:off x="6629400" y="4096512"/>
            <a:ext cx="329184" cy="329184"/>
          </a:xfrm>
          <a:prstGeom prst="ellipse">
            <a:avLst/>
          </a:prstGeom>
          <a:solidFill>
            <a:srgbClr val="ECFDF5"/>
          </a:solidFill>
          <a:ln w="12700">
            <a:solidFill>
              <a:srgbClr val="10B981"/>
            </a:solidFill>
            <a:prstDash val="solid"/>
          </a:ln>
        </p:spPr>
      </p:sp>
      <p:sp>
        <p:nvSpPr>
          <p:cNvPr id="51" name="Text 47"/>
          <p:cNvSpPr/>
          <p:nvPr/>
        </p:nvSpPr>
        <p:spPr>
          <a:xfrm>
            <a:off x="6629400" y="4096512"/>
            <a:ext cx="329184" cy="329184"/>
          </a:xfrm>
          <a:prstGeom prst="rect">
            <a:avLst/>
          </a:prstGeom>
          <a:noFill/>
          <a:ln/>
        </p:spPr>
        <p:txBody>
          <a:bodyPr wrap="square" rtlCol="0" anchor="ctr"/>
          <a:lstStyle/>
          <a:p>
            <a:pPr algn="ctr" indent="0" marL="0">
              <a:buNone/>
            </a:pPr>
            <a:r>
              <a:rPr lang="en-US" sz="1100" b="1" dirty="0">
                <a:solidFill>
                  <a:srgbClr val="047857"/>
                </a:solidFill>
                <a:latin typeface="Plus Jakarta Sans" pitchFamily="34" charset="0"/>
                <a:ea typeface="Plus Jakarta Sans" pitchFamily="34" charset="-122"/>
                <a:cs typeface="Plus Jakarta Sans" pitchFamily="34" charset="-120"/>
              </a:rPr>
              <a:t>✔</a:t>
            </a:r>
            <a:endParaRPr lang="en-US" sz="1100" dirty="0"/>
          </a:p>
        </p:txBody>
      </p:sp>
      <p:sp>
        <p:nvSpPr>
          <p:cNvPr id="52" name="Text 48"/>
          <p:cNvSpPr/>
          <p:nvPr/>
        </p:nvSpPr>
        <p:spPr>
          <a:xfrm>
            <a:off x="7059168" y="4041648"/>
            <a:ext cx="2926080" cy="219456"/>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Email Server Blacklist (DNSBL)</a:t>
            </a:r>
            <a:endParaRPr lang="en-US" sz="1100" dirty="0"/>
          </a:p>
        </p:txBody>
      </p:sp>
      <p:sp>
        <p:nvSpPr>
          <p:cNvPr id="53" name="Text 49"/>
          <p:cNvSpPr/>
          <p:nvPr/>
        </p:nvSpPr>
        <p:spPr>
          <a:xfrm>
            <a:off x="7059168" y="4261104"/>
            <a:ext cx="2926080" cy="219456"/>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Mail server IPs verified clean across major global spam databases</a:t>
            </a:r>
            <a:endParaRPr lang="en-US" sz="850" dirty="0"/>
          </a:p>
        </p:txBody>
      </p:sp>
      <p:sp>
        <p:nvSpPr>
          <p:cNvPr id="54" name="Shape 50"/>
          <p:cNvSpPr/>
          <p:nvPr/>
        </p:nvSpPr>
        <p:spPr>
          <a:xfrm>
            <a:off x="10058400" y="4123944"/>
            <a:ext cx="1051560" cy="256032"/>
          </a:xfrm>
          <a:prstGeom prst="roundRect">
            <a:avLst>
              <a:gd name="adj" fmla="val 50000"/>
            </a:avLst>
          </a:prstGeom>
          <a:solidFill>
            <a:srgbClr val="ECFDF5"/>
          </a:solidFill>
          <a:ln w="12700">
            <a:solidFill>
              <a:srgbClr val="10B981"/>
            </a:solidFill>
            <a:prstDash val="solid"/>
          </a:ln>
        </p:spPr>
      </p:sp>
      <p:sp>
        <p:nvSpPr>
          <p:cNvPr id="55" name="Text 51"/>
          <p:cNvSpPr/>
          <p:nvPr/>
        </p:nvSpPr>
        <p:spPr>
          <a:xfrm>
            <a:off x="10058400" y="4123944"/>
            <a:ext cx="1051560" cy="256032"/>
          </a:xfrm>
          <a:prstGeom prst="rect">
            <a:avLst/>
          </a:prstGeom>
          <a:noFill/>
          <a:ln/>
        </p:spPr>
        <p:txBody>
          <a:bodyPr wrap="square" rtlCol="0" anchor="ctr"/>
          <a:lstStyle/>
          <a:p>
            <a:pPr algn="ctr" indent="0" marL="0">
              <a:buNone/>
            </a:pPr>
            <a:r>
              <a:rPr lang="en-US" sz="850" b="1" dirty="0">
                <a:solidFill>
                  <a:srgbClr val="047857"/>
                </a:solidFill>
                <a:latin typeface="Plus Jakarta Sans" pitchFamily="34" charset="0"/>
                <a:ea typeface="Plus Jakarta Sans" pitchFamily="34" charset="-122"/>
                <a:cs typeface="Plus Jakarta Sans" pitchFamily="34" charset="-120"/>
              </a:rPr>
              <a:t>CLEAN</a:t>
            </a:r>
            <a:endParaRPr lang="en-US" sz="850" dirty="0"/>
          </a:p>
        </p:txBody>
      </p:sp>
      <p:sp>
        <p:nvSpPr>
          <p:cNvPr id="56" name="Shape 52"/>
          <p:cNvSpPr/>
          <p:nvPr/>
        </p:nvSpPr>
        <p:spPr>
          <a:xfrm>
            <a:off x="6492240" y="4626864"/>
            <a:ext cx="4709160" cy="585216"/>
          </a:xfrm>
          <a:prstGeom prst="roundRect">
            <a:avLst>
              <a:gd name="adj" fmla="val 12500"/>
            </a:avLst>
          </a:prstGeom>
          <a:solidFill>
            <a:srgbClr val="FFFFFF"/>
          </a:solidFill>
          <a:ln w="12700">
            <a:solidFill>
              <a:srgbClr val="E2E8F0"/>
            </a:solidFill>
            <a:prstDash val="solid"/>
          </a:ln>
        </p:spPr>
      </p:sp>
      <p:sp>
        <p:nvSpPr>
          <p:cNvPr id="57" name="Shape 53"/>
          <p:cNvSpPr/>
          <p:nvPr/>
        </p:nvSpPr>
        <p:spPr>
          <a:xfrm>
            <a:off x="6629400" y="4754880"/>
            <a:ext cx="329184" cy="329184"/>
          </a:xfrm>
          <a:prstGeom prst="ellipse">
            <a:avLst/>
          </a:prstGeom>
          <a:solidFill>
            <a:srgbClr val="F0F9FF"/>
          </a:solidFill>
          <a:ln w="12700">
            <a:solidFill>
              <a:srgbClr val="0EA5E9"/>
            </a:solidFill>
            <a:prstDash val="solid"/>
          </a:ln>
        </p:spPr>
      </p:sp>
      <p:sp>
        <p:nvSpPr>
          <p:cNvPr id="58" name="Text 54"/>
          <p:cNvSpPr/>
          <p:nvPr/>
        </p:nvSpPr>
        <p:spPr>
          <a:xfrm>
            <a:off x="6629400" y="4754880"/>
            <a:ext cx="329184" cy="329184"/>
          </a:xfrm>
          <a:prstGeom prst="rect">
            <a:avLst/>
          </a:prstGeom>
          <a:noFill/>
          <a:ln/>
        </p:spPr>
        <p:txBody>
          <a:bodyPr wrap="square" rtlCol="0" anchor="ctr"/>
          <a:lstStyle/>
          <a:p>
            <a:pPr algn="ctr" indent="0" marL="0">
              <a:buNone/>
            </a:pPr>
            <a:r>
              <a:rPr lang="en-US" sz="1100" b="1" dirty="0">
                <a:solidFill>
                  <a:srgbClr val="075985"/>
                </a:solidFill>
                <a:latin typeface="Plus Jakarta Sans" pitchFamily="34" charset="0"/>
                <a:ea typeface="Plus Jakarta Sans" pitchFamily="34" charset="-122"/>
                <a:cs typeface="Plus Jakarta Sans" pitchFamily="34" charset="-120"/>
              </a:rPr>
              <a:t>✔</a:t>
            </a:r>
            <a:endParaRPr lang="en-US" sz="1100" dirty="0"/>
          </a:p>
        </p:txBody>
      </p:sp>
      <p:sp>
        <p:nvSpPr>
          <p:cNvPr id="59" name="Text 55"/>
          <p:cNvSpPr/>
          <p:nvPr/>
        </p:nvSpPr>
        <p:spPr>
          <a:xfrm>
            <a:off x="7059168" y="4700016"/>
            <a:ext cx="2926080" cy="219456"/>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Anycast DNS &amp; A Records</a:t>
            </a:r>
            <a:endParaRPr lang="en-US" sz="1100" dirty="0"/>
          </a:p>
        </p:txBody>
      </p:sp>
      <p:sp>
        <p:nvSpPr>
          <p:cNvPr id="60" name="Text 56"/>
          <p:cNvSpPr/>
          <p:nvPr/>
        </p:nvSpPr>
        <p:spPr>
          <a:xfrm>
            <a:off x="7059168" y="4919472"/>
            <a:ext cx="2926080" cy="219456"/>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Global edge nameservers resolve DNS lookups with sub-20ms latency</a:t>
            </a:r>
            <a:endParaRPr lang="en-US" sz="850" dirty="0"/>
          </a:p>
        </p:txBody>
      </p:sp>
      <p:sp>
        <p:nvSpPr>
          <p:cNvPr id="61" name="Shape 57"/>
          <p:cNvSpPr/>
          <p:nvPr/>
        </p:nvSpPr>
        <p:spPr>
          <a:xfrm>
            <a:off x="10058400" y="4782312"/>
            <a:ext cx="1051560" cy="256032"/>
          </a:xfrm>
          <a:prstGeom prst="roundRect">
            <a:avLst>
              <a:gd name="adj" fmla="val 50000"/>
            </a:avLst>
          </a:prstGeom>
          <a:solidFill>
            <a:srgbClr val="F0F9FF"/>
          </a:solidFill>
          <a:ln w="12700">
            <a:solidFill>
              <a:srgbClr val="0EA5E9"/>
            </a:solidFill>
            <a:prstDash val="solid"/>
          </a:ln>
        </p:spPr>
      </p:sp>
      <p:sp>
        <p:nvSpPr>
          <p:cNvPr id="62" name="Text 58"/>
          <p:cNvSpPr/>
          <p:nvPr/>
        </p:nvSpPr>
        <p:spPr>
          <a:xfrm>
            <a:off x="10058400" y="4782312"/>
            <a:ext cx="1051560" cy="256032"/>
          </a:xfrm>
          <a:prstGeom prst="rect">
            <a:avLst/>
          </a:prstGeom>
          <a:noFill/>
          <a:ln/>
        </p:spPr>
        <p:txBody>
          <a:bodyPr wrap="square" rtlCol="0" anchor="ctr"/>
          <a:lstStyle/>
          <a:p>
            <a:pPr algn="ctr" indent="0" marL="0">
              <a:buNone/>
            </a:pPr>
            <a:r>
              <a:rPr lang="en-US" sz="850" b="1" dirty="0">
                <a:solidFill>
                  <a:srgbClr val="075985"/>
                </a:solidFill>
                <a:latin typeface="Plus Jakarta Sans" pitchFamily="34" charset="0"/>
                <a:ea typeface="Plus Jakarta Sans" pitchFamily="34" charset="-122"/>
                <a:cs typeface="Plus Jakarta Sans" pitchFamily="34" charset="-120"/>
              </a:rPr>
              <a:t>RESOLVED</a:t>
            </a:r>
            <a:endParaRPr lang="en-US" sz="850" dirty="0"/>
          </a:p>
        </p:txBody>
      </p:sp>
      <p:sp>
        <p:nvSpPr>
          <p:cNvPr id="63" name="Shape 59"/>
          <p:cNvSpPr/>
          <p:nvPr/>
        </p:nvSpPr>
        <p:spPr>
          <a:xfrm>
            <a:off x="6492240" y="5257800"/>
            <a:ext cx="4709160" cy="621792"/>
          </a:xfrm>
          <a:prstGeom prst="roundRect">
            <a:avLst>
              <a:gd name="adj" fmla="val 11765"/>
            </a:avLst>
          </a:prstGeom>
          <a:solidFill>
            <a:srgbClr val="F8FAFC"/>
          </a:solidFill>
          <a:ln w="12700">
            <a:solidFill>
              <a:srgbClr val="E2E8F0"/>
            </a:solidFill>
            <a:prstDash val="solid"/>
          </a:ln>
        </p:spPr>
      </p:sp>
      <p:sp>
        <p:nvSpPr>
          <p:cNvPr id="64" name="Text 60"/>
          <p:cNvSpPr/>
          <p:nvPr/>
        </p:nvSpPr>
        <p:spPr>
          <a:xfrm>
            <a:off x="6629400" y="5294376"/>
            <a:ext cx="4434840" cy="548640"/>
          </a:xfrm>
          <a:prstGeom prst="rect">
            <a:avLst/>
          </a:prstGeom>
          <a:noFill/>
          <a:ln/>
        </p:spPr>
        <p:txBody>
          <a:bodyPr wrap="square" rtlCol="0" anchor="ctr"/>
          <a:lstStyle/>
          <a:p>
            <a:pPr indent="0" marL="0">
              <a:lnSpc>
                <a:spcPts val="1300"/>
              </a:lnSpc>
              <a:buNone/>
            </a:pPr>
            <a:r>
              <a:rPr lang="en-US" sz="950" dirty="0">
                <a:solidFill>
                  <a:srgbClr val="334155"/>
                </a:solidFill>
                <a:latin typeface="Plus Jakarta Sans" pitchFamily="34" charset="0"/>
                <a:ea typeface="Plus Jakarta Sans" pitchFamily="34" charset="-122"/>
                <a:cs typeface="Plus Jakarta Sans" pitchFamily="34" charset="-120"/>
              </a:rPr>
              <a:t>✔  Complete DNS and email authentication setup protects brand reputation and ensures customer receipts land in inboxes, not spam.</a:t>
            </a:r>
            <a:endParaRPr lang="en-US" sz="950" dirty="0"/>
          </a:p>
        </p:txBody>
      </p:sp>
      <p:sp>
        <p:nvSpPr>
          <p:cNvPr id="65" name="Shape 61"/>
          <p:cNvSpPr/>
          <p:nvPr/>
        </p:nvSpPr>
        <p:spPr>
          <a:xfrm>
            <a:off x="731520" y="6217920"/>
            <a:ext cx="10725912" cy="384048"/>
          </a:xfrm>
          <a:prstGeom prst="roundRect">
            <a:avLst>
              <a:gd name="adj" fmla="val 19048"/>
            </a:avLst>
          </a:prstGeom>
          <a:solidFill>
            <a:srgbClr val="F1F5F9"/>
          </a:solidFill>
          <a:ln w="12700">
            <a:solidFill>
              <a:srgbClr val="E2E8F0"/>
            </a:solidFill>
            <a:prstDash val="solid"/>
          </a:ln>
        </p:spPr>
      </p:sp>
      <p:sp>
        <p:nvSpPr>
          <p:cNvPr id="66" name="Text 62"/>
          <p:cNvSpPr/>
          <p:nvPr/>
        </p:nvSpPr>
        <p:spPr>
          <a:xfrm>
            <a:off x="960120" y="6217920"/>
            <a:ext cx="10332720" cy="384048"/>
          </a:xfrm>
          <a:prstGeom prst="rect">
            <a:avLst/>
          </a:prstGeom>
          <a:noFill/>
          <a:ln/>
        </p:spPr>
        <p:txBody>
          <a:bodyPr wrap="square" rtlCol="0" anchor="ctr"/>
          <a:lstStyle/>
          <a:p>
            <a:pPr indent="0" marL="0">
              <a:buNone/>
            </a:pPr>
            <a:r>
              <a:rPr lang="en-US" sz="950" b="1" dirty="0">
                <a:solidFill>
                  <a:srgbClr val="334155"/>
                </a:solidFill>
                <a:latin typeface="Plus Jakarta Sans" pitchFamily="34" charset="0"/>
                <a:ea typeface="Plus Jakarta Sans" pitchFamily="34" charset="-122"/>
                <a:cs typeface="Plus Jakarta Sans" pitchFamily="34" charset="-120"/>
              </a:rPr>
              <a:t>✔  Infrastructure Defense: 256-bit TLS Active • Email Spoofing Defense (SPF/DKIM/DMARC) • Anycast DNS Resolution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Sitemap &amp; Navigation Audit</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Sitemap Integrity &amp; Broken Link Audit</a:t>
            </a:r>
            <a:endParaRPr lang="en-US" sz="2600" dirty="0"/>
          </a:p>
        </p:txBody>
      </p:sp>
      <p:sp>
        <p:nvSpPr>
          <p:cNvPr id="5" name="Shape 2"/>
          <p:cNvSpPr/>
          <p:nvPr/>
        </p:nvSpPr>
        <p:spPr>
          <a:xfrm>
            <a:off x="731520" y="1508760"/>
            <a:ext cx="5120640" cy="4526280"/>
          </a:xfrm>
          <a:prstGeom prst="roundRect">
            <a:avLst>
              <a:gd name="adj" fmla="val 2020"/>
            </a:avLst>
          </a:prstGeom>
          <a:solidFill>
            <a:srgbClr val="F8FAFC"/>
          </a:solidFill>
          <a:ln w="12700">
            <a:solidFill>
              <a:srgbClr val="E2E8F0"/>
            </a:solidFill>
            <a:prstDash val="solid"/>
          </a:ln>
        </p:spPr>
      </p:sp>
      <p:sp>
        <p:nvSpPr>
          <p:cNvPr id="6" name="Text 3"/>
          <p:cNvSpPr/>
          <p:nvPr/>
        </p:nvSpPr>
        <p:spPr>
          <a:xfrm>
            <a:off x="1005840" y="1691640"/>
            <a:ext cx="3200400" cy="256032"/>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STOREFRONT CATALOG SCOPE &amp; SITEMAPS</a:t>
            </a:r>
            <a:endParaRPr lang="en-US" sz="1000" dirty="0"/>
          </a:p>
        </p:txBody>
      </p:sp>
      <p:sp>
        <p:nvSpPr>
          <p:cNvPr id="7" name="Shape 4"/>
          <p:cNvSpPr/>
          <p:nvPr/>
        </p:nvSpPr>
        <p:spPr>
          <a:xfrm>
            <a:off x="4343400" y="1664208"/>
            <a:ext cx="1280160" cy="292608"/>
          </a:xfrm>
          <a:prstGeom prst="roundRect">
            <a:avLst>
              <a:gd name="adj" fmla="val 50000"/>
            </a:avLst>
          </a:prstGeom>
          <a:solidFill>
            <a:srgbClr val="ECFDF5"/>
          </a:solidFill>
          <a:ln w="12700">
            <a:solidFill>
              <a:srgbClr val="10B981"/>
            </a:solidFill>
            <a:prstDash val="solid"/>
          </a:ln>
        </p:spPr>
      </p:sp>
      <p:sp>
        <p:nvSpPr>
          <p:cNvPr id="8" name="Text 5"/>
          <p:cNvSpPr/>
          <p:nvPr/>
        </p:nvSpPr>
        <p:spPr>
          <a:xfrm>
            <a:off x="4343400" y="1664208"/>
            <a:ext cx="1280160" cy="292608"/>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CATALOG INDEXED</a:t>
            </a:r>
            <a:endParaRPr lang="en-US" sz="900" dirty="0"/>
          </a:p>
        </p:txBody>
      </p:sp>
      <p:sp>
        <p:nvSpPr>
          <p:cNvPr id="9" name="Text 6"/>
          <p:cNvSpPr/>
          <p:nvPr/>
        </p:nvSpPr>
        <p:spPr>
          <a:xfrm>
            <a:off x="1005840" y="1965960"/>
            <a:ext cx="4389120" cy="685800"/>
          </a:xfrm>
          <a:prstGeom prst="rect">
            <a:avLst/>
          </a:prstGeom>
          <a:noFill/>
          <a:ln/>
        </p:spPr>
        <p:txBody>
          <a:bodyPr wrap="square" rtlCol="0" anchor="ctr"/>
          <a:lstStyle/>
          <a:p>
            <a:pPr indent="0" marL="0">
              <a:buNone/>
            </a:pPr>
            <a:r>
              <a:rPr lang="en-US" sz="4800" b="1" dirty="0">
                <a:solidFill>
                  <a:srgbClr val="0EA5E9"/>
                </a:solidFill>
                <a:latin typeface="Outfit" pitchFamily="34" charset="0"/>
                <a:ea typeface="Outfit" pitchFamily="34" charset="-122"/>
                <a:cs typeface="Outfit" pitchFamily="34" charset="-120"/>
              </a:rPr>
              <a:t>10,705+ URLs</a:t>
            </a:r>
            <a:endParaRPr lang="en-US" sz="4800" dirty="0"/>
          </a:p>
        </p:txBody>
      </p:sp>
      <p:sp>
        <p:nvSpPr>
          <p:cNvPr id="10" name="Text 7"/>
          <p:cNvSpPr/>
          <p:nvPr/>
        </p:nvSpPr>
        <p:spPr>
          <a:xfrm>
            <a:off x="1005840" y="2697480"/>
            <a:ext cx="4389120" cy="320040"/>
          </a:xfrm>
          <a:prstGeom prst="rect">
            <a:avLst/>
          </a:prstGeom>
          <a:noFill/>
          <a:ln/>
        </p:spPr>
        <p:txBody>
          <a:bodyPr wrap="square" rtlCol="0" anchor="ctr"/>
          <a:lstStyle/>
          <a:p>
            <a:pPr indent="0" marL="0">
              <a:buNone/>
            </a:pPr>
            <a:r>
              <a:rPr lang="en-US" sz="1100" dirty="0">
                <a:solidFill>
                  <a:srgbClr val="64748B"/>
                </a:solidFill>
                <a:latin typeface="Plus Jakarta Sans" pitchFamily="34" charset="0"/>
                <a:ea typeface="Plus Jakarta Sans" pitchFamily="34" charset="-122"/>
                <a:cs typeface="Plus Jakarta Sans" pitchFamily="34" charset="-120"/>
              </a:rPr>
              <a:t>Indexed in active sitemap files across all product and category routes.</a:t>
            </a:r>
            <a:endParaRPr lang="en-US" sz="1100" dirty="0"/>
          </a:p>
        </p:txBody>
      </p:sp>
      <p:sp>
        <p:nvSpPr>
          <p:cNvPr id="11" name="Shape 8"/>
          <p:cNvSpPr/>
          <p:nvPr/>
        </p:nvSpPr>
        <p:spPr>
          <a:xfrm>
            <a:off x="1005840" y="3154680"/>
            <a:ext cx="4572000" cy="585216"/>
          </a:xfrm>
          <a:prstGeom prst="roundRect">
            <a:avLst>
              <a:gd name="adj" fmla="val 12500"/>
            </a:avLst>
          </a:prstGeom>
          <a:solidFill>
            <a:srgbClr val="FFFFFF"/>
          </a:solidFill>
          <a:ln w="12700">
            <a:solidFill>
              <a:srgbClr val="E2E8F0"/>
            </a:solidFill>
            <a:prstDash val="solid"/>
          </a:ln>
        </p:spPr>
      </p:sp>
      <p:sp>
        <p:nvSpPr>
          <p:cNvPr id="12" name="Shape 9"/>
          <p:cNvSpPr/>
          <p:nvPr/>
        </p:nvSpPr>
        <p:spPr>
          <a:xfrm>
            <a:off x="1143000" y="3291840"/>
            <a:ext cx="310896" cy="310896"/>
          </a:xfrm>
          <a:prstGeom prst="ellipse">
            <a:avLst/>
          </a:prstGeom>
          <a:solidFill>
            <a:srgbClr val="F0F9FF"/>
          </a:solidFill>
          <a:ln w="12700">
            <a:solidFill>
              <a:srgbClr val="0EA5E9"/>
            </a:solidFill>
            <a:prstDash val="solid"/>
          </a:ln>
        </p:spPr>
      </p:sp>
      <p:sp>
        <p:nvSpPr>
          <p:cNvPr id="13" name="Text 10"/>
          <p:cNvSpPr/>
          <p:nvPr/>
        </p:nvSpPr>
        <p:spPr>
          <a:xfrm>
            <a:off x="1143000" y="3291840"/>
            <a:ext cx="310896" cy="310896"/>
          </a:xfrm>
          <a:prstGeom prst="rect">
            <a:avLst/>
          </a:prstGeom>
          <a:noFill/>
          <a:ln/>
        </p:spPr>
        <p:txBody>
          <a:bodyPr wrap="square" rtlCol="0" anchor="ctr"/>
          <a:lstStyle/>
          <a:p>
            <a:pPr algn="ctr" indent="0" marL="0">
              <a:buNone/>
            </a:pPr>
            <a:r>
              <a:rPr lang="en-US" sz="1000" b="1" dirty="0">
                <a:solidFill>
                  <a:srgbClr val="075985"/>
                </a:solidFill>
                <a:latin typeface="Plus Jakarta Sans" pitchFamily="34" charset="0"/>
                <a:ea typeface="Plus Jakarta Sans" pitchFamily="34" charset="-122"/>
                <a:cs typeface="Plus Jakarta Sans" pitchFamily="34" charset="-120"/>
              </a:rPr>
              <a:t>✔</a:t>
            </a:r>
            <a:endParaRPr lang="en-US" sz="1000" dirty="0"/>
          </a:p>
        </p:txBody>
      </p:sp>
      <p:sp>
        <p:nvSpPr>
          <p:cNvPr id="14" name="Text 11"/>
          <p:cNvSpPr/>
          <p:nvPr/>
        </p:nvSpPr>
        <p:spPr>
          <a:xfrm>
            <a:off x="1554480" y="3227832"/>
            <a:ext cx="3840480" cy="219456"/>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Product Detail Pages (PDP)</a:t>
            </a:r>
            <a:endParaRPr lang="en-US" sz="1100" dirty="0"/>
          </a:p>
        </p:txBody>
      </p:sp>
      <p:sp>
        <p:nvSpPr>
          <p:cNvPr id="15" name="Text 12"/>
          <p:cNvSpPr/>
          <p:nvPr/>
        </p:nvSpPr>
        <p:spPr>
          <a:xfrm>
            <a:off x="1554480" y="3447288"/>
            <a:ext cx="3840480" cy="237744"/>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Full catalog of individual SKU pages mapped for Google Shopping</a:t>
            </a:r>
            <a:endParaRPr lang="en-US" sz="850" dirty="0"/>
          </a:p>
        </p:txBody>
      </p:sp>
      <p:sp>
        <p:nvSpPr>
          <p:cNvPr id="16" name="Shape 13"/>
          <p:cNvSpPr/>
          <p:nvPr/>
        </p:nvSpPr>
        <p:spPr>
          <a:xfrm>
            <a:off x="1005840" y="3813048"/>
            <a:ext cx="4572000" cy="585216"/>
          </a:xfrm>
          <a:prstGeom prst="roundRect">
            <a:avLst>
              <a:gd name="adj" fmla="val 12500"/>
            </a:avLst>
          </a:prstGeom>
          <a:solidFill>
            <a:srgbClr val="FFFFFF"/>
          </a:solidFill>
          <a:ln w="12700">
            <a:solidFill>
              <a:srgbClr val="E2E8F0"/>
            </a:solidFill>
            <a:prstDash val="solid"/>
          </a:ln>
        </p:spPr>
      </p:sp>
      <p:sp>
        <p:nvSpPr>
          <p:cNvPr id="17" name="Shape 14"/>
          <p:cNvSpPr/>
          <p:nvPr/>
        </p:nvSpPr>
        <p:spPr>
          <a:xfrm>
            <a:off x="1143000" y="3950208"/>
            <a:ext cx="310896" cy="310896"/>
          </a:xfrm>
          <a:prstGeom prst="ellipse">
            <a:avLst/>
          </a:prstGeom>
          <a:solidFill>
            <a:srgbClr val="F0F9FF"/>
          </a:solidFill>
          <a:ln w="12700">
            <a:solidFill>
              <a:srgbClr val="0EA5E9"/>
            </a:solidFill>
            <a:prstDash val="solid"/>
          </a:ln>
        </p:spPr>
      </p:sp>
      <p:sp>
        <p:nvSpPr>
          <p:cNvPr id="18" name="Text 15"/>
          <p:cNvSpPr/>
          <p:nvPr/>
        </p:nvSpPr>
        <p:spPr>
          <a:xfrm>
            <a:off x="1143000" y="3950208"/>
            <a:ext cx="310896" cy="310896"/>
          </a:xfrm>
          <a:prstGeom prst="rect">
            <a:avLst/>
          </a:prstGeom>
          <a:noFill/>
          <a:ln/>
        </p:spPr>
        <p:txBody>
          <a:bodyPr wrap="square" rtlCol="0" anchor="ctr"/>
          <a:lstStyle/>
          <a:p>
            <a:pPr algn="ctr" indent="0" marL="0">
              <a:buNone/>
            </a:pPr>
            <a:r>
              <a:rPr lang="en-US" sz="1000" b="1" dirty="0">
                <a:solidFill>
                  <a:srgbClr val="075985"/>
                </a:solidFill>
                <a:latin typeface="Plus Jakarta Sans" pitchFamily="34" charset="0"/>
                <a:ea typeface="Plus Jakarta Sans" pitchFamily="34" charset="-122"/>
                <a:cs typeface="Plus Jakarta Sans" pitchFamily="34" charset="-120"/>
              </a:rPr>
              <a:t>✔</a:t>
            </a:r>
            <a:endParaRPr lang="en-US" sz="1000" dirty="0"/>
          </a:p>
        </p:txBody>
      </p:sp>
      <p:sp>
        <p:nvSpPr>
          <p:cNvPr id="19" name="Text 16"/>
          <p:cNvSpPr/>
          <p:nvPr/>
        </p:nvSpPr>
        <p:spPr>
          <a:xfrm>
            <a:off x="1554480" y="3886200"/>
            <a:ext cx="3840480" cy="219456"/>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Collection &amp; Category Grids</a:t>
            </a:r>
            <a:endParaRPr lang="en-US" sz="1100" dirty="0"/>
          </a:p>
        </p:txBody>
      </p:sp>
      <p:sp>
        <p:nvSpPr>
          <p:cNvPr id="20" name="Text 17"/>
          <p:cNvSpPr/>
          <p:nvPr/>
        </p:nvSpPr>
        <p:spPr>
          <a:xfrm>
            <a:off x="1554480" y="4105656"/>
            <a:ext cx="3840480" cy="237744"/>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Category hierarchies and sub-category taxonomies fully indexed</a:t>
            </a:r>
            <a:endParaRPr lang="en-US" sz="850" dirty="0"/>
          </a:p>
        </p:txBody>
      </p:sp>
      <p:sp>
        <p:nvSpPr>
          <p:cNvPr id="21" name="Shape 18"/>
          <p:cNvSpPr/>
          <p:nvPr/>
        </p:nvSpPr>
        <p:spPr>
          <a:xfrm>
            <a:off x="1005840" y="4471416"/>
            <a:ext cx="4572000" cy="585216"/>
          </a:xfrm>
          <a:prstGeom prst="roundRect">
            <a:avLst>
              <a:gd name="adj" fmla="val 12500"/>
            </a:avLst>
          </a:prstGeom>
          <a:solidFill>
            <a:srgbClr val="FFFFFF"/>
          </a:solidFill>
          <a:ln w="12700">
            <a:solidFill>
              <a:srgbClr val="E2E8F0"/>
            </a:solidFill>
            <a:prstDash val="solid"/>
          </a:ln>
        </p:spPr>
      </p:sp>
      <p:sp>
        <p:nvSpPr>
          <p:cNvPr id="22" name="Shape 19"/>
          <p:cNvSpPr/>
          <p:nvPr/>
        </p:nvSpPr>
        <p:spPr>
          <a:xfrm>
            <a:off x="1143000" y="4608576"/>
            <a:ext cx="310896" cy="310896"/>
          </a:xfrm>
          <a:prstGeom prst="ellipse">
            <a:avLst/>
          </a:prstGeom>
          <a:solidFill>
            <a:srgbClr val="F0F9FF"/>
          </a:solidFill>
          <a:ln w="12700">
            <a:solidFill>
              <a:srgbClr val="0EA5E9"/>
            </a:solidFill>
            <a:prstDash val="solid"/>
          </a:ln>
        </p:spPr>
      </p:sp>
      <p:sp>
        <p:nvSpPr>
          <p:cNvPr id="23" name="Text 20"/>
          <p:cNvSpPr/>
          <p:nvPr/>
        </p:nvSpPr>
        <p:spPr>
          <a:xfrm>
            <a:off x="1143000" y="4608576"/>
            <a:ext cx="310896" cy="310896"/>
          </a:xfrm>
          <a:prstGeom prst="rect">
            <a:avLst/>
          </a:prstGeom>
          <a:noFill/>
          <a:ln/>
        </p:spPr>
        <p:txBody>
          <a:bodyPr wrap="square" rtlCol="0" anchor="ctr"/>
          <a:lstStyle/>
          <a:p>
            <a:pPr algn="ctr" indent="0" marL="0">
              <a:buNone/>
            </a:pPr>
            <a:r>
              <a:rPr lang="en-US" sz="1000" b="1" dirty="0">
                <a:solidFill>
                  <a:srgbClr val="075985"/>
                </a:solidFill>
                <a:latin typeface="Plus Jakarta Sans" pitchFamily="34" charset="0"/>
                <a:ea typeface="Plus Jakarta Sans" pitchFamily="34" charset="-122"/>
                <a:cs typeface="Plus Jakarta Sans" pitchFamily="34" charset="-120"/>
              </a:rPr>
              <a:t>✔</a:t>
            </a:r>
            <a:endParaRPr lang="en-US" sz="1000" dirty="0"/>
          </a:p>
        </p:txBody>
      </p:sp>
      <p:sp>
        <p:nvSpPr>
          <p:cNvPr id="24" name="Text 21"/>
          <p:cNvSpPr/>
          <p:nvPr/>
        </p:nvSpPr>
        <p:spPr>
          <a:xfrm>
            <a:off x="1554480" y="4544568"/>
            <a:ext cx="3840480" cy="219456"/>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CMS &amp; Informational Pages</a:t>
            </a:r>
            <a:endParaRPr lang="en-US" sz="1100" dirty="0"/>
          </a:p>
        </p:txBody>
      </p:sp>
      <p:sp>
        <p:nvSpPr>
          <p:cNvPr id="25" name="Text 22"/>
          <p:cNvSpPr/>
          <p:nvPr/>
        </p:nvSpPr>
        <p:spPr>
          <a:xfrm>
            <a:off x="1554480" y="4764024"/>
            <a:ext cx="3840480" cy="237744"/>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Contact, shipping, policies, and editorial content verified</a:t>
            </a:r>
            <a:endParaRPr lang="en-US" sz="850" dirty="0"/>
          </a:p>
        </p:txBody>
      </p:sp>
      <p:sp>
        <p:nvSpPr>
          <p:cNvPr id="26" name="Shape 23"/>
          <p:cNvSpPr/>
          <p:nvPr/>
        </p:nvSpPr>
        <p:spPr>
          <a:xfrm>
            <a:off x="1005840" y="5257800"/>
            <a:ext cx="4572000" cy="621792"/>
          </a:xfrm>
          <a:prstGeom prst="roundRect">
            <a:avLst>
              <a:gd name="adj" fmla="val 11765"/>
            </a:avLst>
          </a:prstGeom>
          <a:solidFill>
            <a:srgbClr val="F8FAFC"/>
          </a:solidFill>
          <a:ln w="12700">
            <a:solidFill>
              <a:srgbClr val="E2E8F0"/>
            </a:solidFill>
            <a:prstDash val="solid"/>
          </a:ln>
        </p:spPr>
      </p:sp>
      <p:sp>
        <p:nvSpPr>
          <p:cNvPr id="27" name="Text 24"/>
          <p:cNvSpPr/>
          <p:nvPr/>
        </p:nvSpPr>
        <p:spPr>
          <a:xfrm>
            <a:off x="1143000" y="5294376"/>
            <a:ext cx="4297680" cy="548640"/>
          </a:xfrm>
          <a:prstGeom prst="rect">
            <a:avLst/>
          </a:prstGeom>
          <a:noFill/>
          <a:ln/>
        </p:spPr>
        <p:txBody>
          <a:bodyPr wrap="square" rtlCol="0" anchor="ctr"/>
          <a:lstStyle/>
          <a:p>
            <a:pPr indent="0" marL="0">
              <a:lnSpc>
                <a:spcPts val="1300"/>
              </a:lnSpc>
              <a:buNone/>
            </a:pPr>
            <a:r>
              <a:rPr lang="en-US" sz="950" dirty="0">
                <a:solidFill>
                  <a:srgbClr val="334155"/>
                </a:solidFill>
                <a:latin typeface="Plus Jakarta Sans" pitchFamily="34" charset="0"/>
                <a:ea typeface="Plus Jakarta Sans" pitchFamily="34" charset="-122"/>
                <a:cs typeface="Plus Jakarta Sans" pitchFamily="34" charset="-120"/>
              </a:rPr>
              <a:t>✔  A representative sample of 26 core templates was systematically validated with zero crawling roadblocks.</a:t>
            </a:r>
            <a:endParaRPr lang="en-US" sz="950" dirty="0"/>
          </a:p>
        </p:txBody>
      </p:sp>
      <p:sp>
        <p:nvSpPr>
          <p:cNvPr id="28" name="Shape 25"/>
          <p:cNvSpPr/>
          <p:nvPr/>
        </p:nvSpPr>
        <p:spPr>
          <a:xfrm>
            <a:off x="6217920" y="1508760"/>
            <a:ext cx="5239512" cy="4526280"/>
          </a:xfrm>
          <a:prstGeom prst="roundRect">
            <a:avLst>
              <a:gd name="adj" fmla="val 2020"/>
            </a:avLst>
          </a:prstGeom>
          <a:solidFill>
            <a:srgbClr val="F8FAFC"/>
          </a:solidFill>
          <a:ln w="12700">
            <a:solidFill>
              <a:srgbClr val="E2E8F0"/>
            </a:solidFill>
            <a:prstDash val="solid"/>
          </a:ln>
        </p:spPr>
      </p:sp>
      <p:sp>
        <p:nvSpPr>
          <p:cNvPr id="29" name="Text 26"/>
          <p:cNvSpPr/>
          <p:nvPr/>
        </p:nvSpPr>
        <p:spPr>
          <a:xfrm>
            <a:off x="6492240" y="1691640"/>
            <a:ext cx="3200400" cy="256032"/>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BROKEN LINK &amp; STATUS CODE AUDIT</a:t>
            </a:r>
            <a:endParaRPr lang="en-US" sz="1000" dirty="0"/>
          </a:p>
        </p:txBody>
      </p:sp>
      <p:sp>
        <p:nvSpPr>
          <p:cNvPr id="30" name="Shape 27"/>
          <p:cNvSpPr/>
          <p:nvPr/>
        </p:nvSpPr>
        <p:spPr>
          <a:xfrm>
            <a:off x="9875520" y="1664208"/>
            <a:ext cx="1325880" cy="292608"/>
          </a:xfrm>
          <a:prstGeom prst="roundRect">
            <a:avLst>
              <a:gd name="adj" fmla="val 50000"/>
            </a:avLst>
          </a:prstGeom>
          <a:solidFill>
            <a:srgbClr val="ECFDF5"/>
          </a:solidFill>
          <a:ln w="12700">
            <a:solidFill>
              <a:srgbClr val="10B981"/>
            </a:solidFill>
            <a:prstDash val="solid"/>
          </a:ln>
        </p:spPr>
      </p:sp>
      <p:sp>
        <p:nvSpPr>
          <p:cNvPr id="31" name="Text 28"/>
          <p:cNvSpPr/>
          <p:nvPr/>
        </p:nvSpPr>
        <p:spPr>
          <a:xfrm>
            <a:off x="9875520" y="1664208"/>
            <a:ext cx="1325880" cy="292608"/>
          </a:xfrm>
          <a:prstGeom prst="rect">
            <a:avLst/>
          </a:prstGeom>
          <a:noFill/>
          <a:ln/>
        </p:spPr>
        <p:txBody>
          <a:bodyPr wrap="square" rtlCol="0" anchor="ctr"/>
          <a:lstStyle/>
          <a:p>
            <a:pPr algn="ctr" indent="0" marL="0">
              <a:buNone/>
            </a:pPr>
            <a:r>
              <a:rPr lang="en-US" sz="950" b="1" dirty="0">
                <a:solidFill>
                  <a:srgbClr val="047857"/>
                </a:solidFill>
                <a:latin typeface="Plus Jakarta Sans" pitchFamily="34" charset="0"/>
                <a:ea typeface="Plus Jakarta Sans" pitchFamily="34" charset="-122"/>
                <a:cs typeface="Plus Jakarta Sans" pitchFamily="34" charset="-120"/>
              </a:rPr>
              <a:t>100% HEALTHY</a:t>
            </a:r>
            <a:endParaRPr lang="en-US" sz="950" dirty="0"/>
          </a:p>
        </p:txBody>
      </p:sp>
      <p:sp>
        <p:nvSpPr>
          <p:cNvPr id="32" name="Text 29"/>
          <p:cNvSpPr/>
          <p:nvPr/>
        </p:nvSpPr>
        <p:spPr>
          <a:xfrm>
            <a:off x="6492240" y="1965960"/>
            <a:ext cx="4389120" cy="685800"/>
          </a:xfrm>
          <a:prstGeom prst="rect">
            <a:avLst/>
          </a:prstGeom>
          <a:noFill/>
          <a:ln/>
        </p:spPr>
        <p:txBody>
          <a:bodyPr wrap="square" rtlCol="0" anchor="ctr"/>
          <a:lstStyle/>
          <a:p>
            <a:pPr indent="0" marL="0">
              <a:buNone/>
            </a:pPr>
            <a:r>
              <a:rPr lang="en-US" sz="4800" b="1" dirty="0">
                <a:solidFill>
                  <a:srgbClr val="10B981"/>
                </a:solidFill>
                <a:latin typeface="Outfit" pitchFamily="34" charset="0"/>
                <a:ea typeface="Outfit" pitchFamily="34" charset="-122"/>
                <a:cs typeface="Outfit" pitchFamily="34" charset="-120"/>
              </a:rPr>
              <a:t>0</a:t>
            </a:r>
            <a:endParaRPr lang="en-US" sz="4800" dirty="0"/>
          </a:p>
        </p:txBody>
      </p:sp>
      <p:sp>
        <p:nvSpPr>
          <p:cNvPr id="33" name="Text 30"/>
          <p:cNvSpPr/>
          <p:nvPr/>
        </p:nvSpPr>
        <p:spPr>
          <a:xfrm>
            <a:off x="6492240" y="2697480"/>
            <a:ext cx="4389120" cy="320040"/>
          </a:xfrm>
          <a:prstGeom prst="rect">
            <a:avLst/>
          </a:prstGeom>
          <a:noFill/>
          <a:ln/>
        </p:spPr>
        <p:txBody>
          <a:bodyPr wrap="square" rtlCol="0" anchor="ctr"/>
          <a:lstStyle/>
          <a:p>
            <a:pPr indent="0" marL="0">
              <a:buNone/>
            </a:pPr>
            <a:r>
              <a:rPr lang="en-US" sz="1100" dirty="0">
                <a:solidFill>
                  <a:srgbClr val="64748B"/>
                </a:solidFill>
                <a:latin typeface="Plus Jakarta Sans" pitchFamily="34" charset="0"/>
                <a:ea typeface="Plus Jakarta Sans" pitchFamily="34" charset="-122"/>
                <a:cs typeface="Plus Jakarta Sans" pitchFamily="34" charset="-120"/>
              </a:rPr>
              <a:t>Broken links (404 / 500 status codes) detected in audited storefront sample.</a:t>
            </a:r>
            <a:endParaRPr lang="en-US" sz="1100" dirty="0"/>
          </a:p>
        </p:txBody>
      </p:sp>
      <p:sp>
        <p:nvSpPr>
          <p:cNvPr id="34" name="Shape 31"/>
          <p:cNvSpPr/>
          <p:nvPr/>
        </p:nvSpPr>
        <p:spPr>
          <a:xfrm>
            <a:off x="6492240" y="3154680"/>
            <a:ext cx="4709160" cy="585216"/>
          </a:xfrm>
          <a:prstGeom prst="roundRect">
            <a:avLst>
              <a:gd name="adj" fmla="val 12500"/>
            </a:avLst>
          </a:prstGeom>
          <a:solidFill>
            <a:srgbClr val="FFFFFF"/>
          </a:solidFill>
          <a:ln w="12700">
            <a:solidFill>
              <a:srgbClr val="E2E8F0"/>
            </a:solidFill>
            <a:prstDash val="solid"/>
          </a:ln>
        </p:spPr>
      </p:sp>
      <p:sp>
        <p:nvSpPr>
          <p:cNvPr id="35" name="Shape 32"/>
          <p:cNvSpPr/>
          <p:nvPr/>
        </p:nvSpPr>
        <p:spPr>
          <a:xfrm>
            <a:off x="6629400" y="3291840"/>
            <a:ext cx="310896" cy="310896"/>
          </a:xfrm>
          <a:prstGeom prst="ellipse">
            <a:avLst/>
          </a:prstGeom>
          <a:solidFill>
            <a:srgbClr val="ECFDF5"/>
          </a:solidFill>
          <a:ln w="12700">
            <a:solidFill>
              <a:srgbClr val="10B981"/>
            </a:solidFill>
            <a:prstDash val="solid"/>
          </a:ln>
        </p:spPr>
      </p:sp>
      <p:sp>
        <p:nvSpPr>
          <p:cNvPr id="36" name="Text 33"/>
          <p:cNvSpPr/>
          <p:nvPr/>
        </p:nvSpPr>
        <p:spPr>
          <a:xfrm>
            <a:off x="6629400" y="3291840"/>
            <a:ext cx="310896" cy="310896"/>
          </a:xfrm>
          <a:prstGeom prst="rect">
            <a:avLst/>
          </a:prstGeom>
          <a:noFill/>
          <a:ln/>
        </p:spPr>
        <p:txBody>
          <a:bodyPr wrap="square" rtlCol="0" anchor="ctr"/>
          <a:lstStyle/>
          <a:p>
            <a:pPr algn="ctr" indent="0" marL="0">
              <a:buNone/>
            </a:pPr>
            <a:r>
              <a:rPr lang="en-US" sz="1000" b="1" dirty="0">
                <a:solidFill>
                  <a:srgbClr val="047857"/>
                </a:solidFill>
                <a:latin typeface="Plus Jakarta Sans" pitchFamily="34" charset="0"/>
                <a:ea typeface="Plus Jakarta Sans" pitchFamily="34" charset="-122"/>
                <a:cs typeface="Plus Jakarta Sans" pitchFamily="34" charset="-120"/>
              </a:rPr>
              <a:t>✔</a:t>
            </a:r>
            <a:endParaRPr lang="en-US" sz="1000" dirty="0"/>
          </a:p>
        </p:txBody>
      </p:sp>
      <p:sp>
        <p:nvSpPr>
          <p:cNvPr id="37" name="Text 34"/>
          <p:cNvSpPr/>
          <p:nvPr/>
        </p:nvSpPr>
        <p:spPr>
          <a:xfrm>
            <a:off x="7040880" y="3227832"/>
            <a:ext cx="3931920" cy="219456"/>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Internal Link Routing</a:t>
            </a:r>
            <a:endParaRPr lang="en-US" sz="1100" dirty="0"/>
          </a:p>
        </p:txBody>
      </p:sp>
      <p:sp>
        <p:nvSpPr>
          <p:cNvPr id="38" name="Text 35"/>
          <p:cNvSpPr/>
          <p:nvPr/>
        </p:nvSpPr>
        <p:spPr>
          <a:xfrm>
            <a:off x="7040880" y="3447288"/>
            <a:ext cx="3931920" cy="237744"/>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Zero orphaned pages or dead navigation links found in the sample</a:t>
            </a:r>
            <a:endParaRPr lang="en-US" sz="850" dirty="0"/>
          </a:p>
        </p:txBody>
      </p:sp>
      <p:sp>
        <p:nvSpPr>
          <p:cNvPr id="39" name="Shape 36"/>
          <p:cNvSpPr/>
          <p:nvPr/>
        </p:nvSpPr>
        <p:spPr>
          <a:xfrm>
            <a:off x="6492240" y="3813048"/>
            <a:ext cx="4709160" cy="585216"/>
          </a:xfrm>
          <a:prstGeom prst="roundRect">
            <a:avLst>
              <a:gd name="adj" fmla="val 12500"/>
            </a:avLst>
          </a:prstGeom>
          <a:solidFill>
            <a:srgbClr val="FFFFFF"/>
          </a:solidFill>
          <a:ln w="12700">
            <a:solidFill>
              <a:srgbClr val="E2E8F0"/>
            </a:solidFill>
            <a:prstDash val="solid"/>
          </a:ln>
        </p:spPr>
      </p:sp>
      <p:sp>
        <p:nvSpPr>
          <p:cNvPr id="40" name="Shape 37"/>
          <p:cNvSpPr/>
          <p:nvPr/>
        </p:nvSpPr>
        <p:spPr>
          <a:xfrm>
            <a:off x="6629400" y="3950208"/>
            <a:ext cx="310896" cy="310896"/>
          </a:xfrm>
          <a:prstGeom prst="ellipse">
            <a:avLst/>
          </a:prstGeom>
          <a:solidFill>
            <a:srgbClr val="ECFDF5"/>
          </a:solidFill>
          <a:ln w="12700">
            <a:solidFill>
              <a:srgbClr val="10B981"/>
            </a:solidFill>
            <a:prstDash val="solid"/>
          </a:ln>
        </p:spPr>
      </p:sp>
      <p:sp>
        <p:nvSpPr>
          <p:cNvPr id="41" name="Text 38"/>
          <p:cNvSpPr/>
          <p:nvPr/>
        </p:nvSpPr>
        <p:spPr>
          <a:xfrm>
            <a:off x="6629400" y="3950208"/>
            <a:ext cx="310896" cy="310896"/>
          </a:xfrm>
          <a:prstGeom prst="rect">
            <a:avLst/>
          </a:prstGeom>
          <a:noFill/>
          <a:ln/>
        </p:spPr>
        <p:txBody>
          <a:bodyPr wrap="square" rtlCol="0" anchor="ctr"/>
          <a:lstStyle/>
          <a:p>
            <a:pPr algn="ctr" indent="0" marL="0">
              <a:buNone/>
            </a:pPr>
            <a:r>
              <a:rPr lang="en-US" sz="1000" b="1" dirty="0">
                <a:solidFill>
                  <a:srgbClr val="047857"/>
                </a:solidFill>
                <a:latin typeface="Plus Jakarta Sans" pitchFamily="34" charset="0"/>
                <a:ea typeface="Plus Jakarta Sans" pitchFamily="34" charset="-122"/>
                <a:cs typeface="Plus Jakarta Sans" pitchFamily="34" charset="-120"/>
              </a:rPr>
              <a:t>✔</a:t>
            </a:r>
            <a:endParaRPr lang="en-US" sz="1000" dirty="0"/>
          </a:p>
        </p:txBody>
      </p:sp>
      <p:sp>
        <p:nvSpPr>
          <p:cNvPr id="42" name="Text 39"/>
          <p:cNvSpPr/>
          <p:nvPr/>
        </p:nvSpPr>
        <p:spPr>
          <a:xfrm>
            <a:off x="7040880" y="3886200"/>
            <a:ext cx="3931920" cy="219456"/>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Canonical Consistency</a:t>
            </a:r>
            <a:endParaRPr lang="en-US" sz="1100" dirty="0"/>
          </a:p>
        </p:txBody>
      </p:sp>
      <p:sp>
        <p:nvSpPr>
          <p:cNvPr id="43" name="Text 40"/>
          <p:cNvSpPr/>
          <p:nvPr/>
        </p:nvSpPr>
        <p:spPr>
          <a:xfrm>
            <a:off x="7040880" y="4105656"/>
            <a:ext cx="3931920" cy="237744"/>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All destination URLs match canonical declarations without redirects</a:t>
            </a:r>
            <a:endParaRPr lang="en-US" sz="850" dirty="0"/>
          </a:p>
        </p:txBody>
      </p:sp>
      <p:sp>
        <p:nvSpPr>
          <p:cNvPr id="44" name="Shape 41"/>
          <p:cNvSpPr/>
          <p:nvPr/>
        </p:nvSpPr>
        <p:spPr>
          <a:xfrm>
            <a:off x="6492240" y="4471416"/>
            <a:ext cx="4709160" cy="585216"/>
          </a:xfrm>
          <a:prstGeom prst="roundRect">
            <a:avLst>
              <a:gd name="adj" fmla="val 12500"/>
            </a:avLst>
          </a:prstGeom>
          <a:solidFill>
            <a:srgbClr val="FFFFFF"/>
          </a:solidFill>
          <a:ln w="12700">
            <a:solidFill>
              <a:srgbClr val="E2E8F0"/>
            </a:solidFill>
            <a:prstDash val="solid"/>
          </a:ln>
        </p:spPr>
      </p:sp>
      <p:sp>
        <p:nvSpPr>
          <p:cNvPr id="45" name="Shape 42"/>
          <p:cNvSpPr/>
          <p:nvPr/>
        </p:nvSpPr>
        <p:spPr>
          <a:xfrm>
            <a:off x="6629400" y="4608576"/>
            <a:ext cx="310896" cy="310896"/>
          </a:xfrm>
          <a:prstGeom prst="ellipse">
            <a:avLst/>
          </a:prstGeom>
          <a:solidFill>
            <a:srgbClr val="ECFDF5"/>
          </a:solidFill>
          <a:ln w="12700">
            <a:solidFill>
              <a:srgbClr val="10B981"/>
            </a:solidFill>
            <a:prstDash val="solid"/>
          </a:ln>
        </p:spPr>
      </p:sp>
      <p:sp>
        <p:nvSpPr>
          <p:cNvPr id="46" name="Text 43"/>
          <p:cNvSpPr/>
          <p:nvPr/>
        </p:nvSpPr>
        <p:spPr>
          <a:xfrm>
            <a:off x="6629400" y="4608576"/>
            <a:ext cx="310896" cy="310896"/>
          </a:xfrm>
          <a:prstGeom prst="rect">
            <a:avLst/>
          </a:prstGeom>
          <a:noFill/>
          <a:ln/>
        </p:spPr>
        <p:txBody>
          <a:bodyPr wrap="square" rtlCol="0" anchor="ctr"/>
          <a:lstStyle/>
          <a:p>
            <a:pPr algn="ctr" indent="0" marL="0">
              <a:buNone/>
            </a:pPr>
            <a:r>
              <a:rPr lang="en-US" sz="1000" b="1" dirty="0">
                <a:solidFill>
                  <a:srgbClr val="047857"/>
                </a:solidFill>
                <a:latin typeface="Plus Jakarta Sans" pitchFamily="34" charset="0"/>
                <a:ea typeface="Plus Jakarta Sans" pitchFamily="34" charset="-122"/>
                <a:cs typeface="Plus Jakarta Sans" pitchFamily="34" charset="-120"/>
              </a:rPr>
              <a:t>✔</a:t>
            </a:r>
            <a:endParaRPr lang="en-US" sz="1000" dirty="0"/>
          </a:p>
        </p:txBody>
      </p:sp>
      <p:sp>
        <p:nvSpPr>
          <p:cNvPr id="47" name="Text 44"/>
          <p:cNvSpPr/>
          <p:nvPr/>
        </p:nvSpPr>
        <p:spPr>
          <a:xfrm>
            <a:off x="7040880" y="4544568"/>
            <a:ext cx="3931920" cy="219456"/>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Media &amp; Asset Resolution</a:t>
            </a:r>
            <a:endParaRPr lang="en-US" sz="1100" dirty="0"/>
          </a:p>
        </p:txBody>
      </p:sp>
      <p:sp>
        <p:nvSpPr>
          <p:cNvPr id="48" name="Text 45"/>
          <p:cNvSpPr/>
          <p:nvPr/>
        </p:nvSpPr>
        <p:spPr>
          <a:xfrm>
            <a:off x="7040880" y="4764024"/>
            <a:ext cx="3931920" cy="237744"/>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Product images and scripts load cleanly without 404 missing assets</a:t>
            </a:r>
            <a:endParaRPr lang="en-US" sz="850" dirty="0"/>
          </a:p>
        </p:txBody>
      </p:sp>
      <p:sp>
        <p:nvSpPr>
          <p:cNvPr id="49" name="Shape 46"/>
          <p:cNvSpPr/>
          <p:nvPr/>
        </p:nvSpPr>
        <p:spPr>
          <a:xfrm>
            <a:off x="6492240" y="5257800"/>
            <a:ext cx="4709160" cy="621792"/>
          </a:xfrm>
          <a:prstGeom prst="roundRect">
            <a:avLst>
              <a:gd name="adj" fmla="val 11765"/>
            </a:avLst>
          </a:prstGeom>
          <a:solidFill>
            <a:srgbClr val="F8FAFC"/>
          </a:solidFill>
          <a:ln w="12700">
            <a:solidFill>
              <a:srgbClr val="E2E8F0"/>
            </a:solidFill>
            <a:prstDash val="solid"/>
          </a:ln>
        </p:spPr>
      </p:sp>
      <p:sp>
        <p:nvSpPr>
          <p:cNvPr id="50" name="Text 47"/>
          <p:cNvSpPr/>
          <p:nvPr/>
        </p:nvSpPr>
        <p:spPr>
          <a:xfrm>
            <a:off x="6629400" y="5294376"/>
            <a:ext cx="4434840" cy="548640"/>
          </a:xfrm>
          <a:prstGeom prst="rect">
            <a:avLst/>
          </a:prstGeom>
          <a:noFill/>
          <a:ln/>
        </p:spPr>
        <p:txBody>
          <a:bodyPr wrap="square" rtlCol="0" anchor="ctr"/>
          <a:lstStyle/>
          <a:p>
            <a:pPr indent="0" marL="0">
              <a:lnSpc>
                <a:spcPts val="1300"/>
              </a:lnSpc>
              <a:buNone/>
            </a:pPr>
            <a:r>
              <a:rPr lang="en-US" sz="950" dirty="0">
                <a:solidFill>
                  <a:srgbClr val="334155"/>
                </a:solidFill>
                <a:latin typeface="Plus Jakarta Sans" pitchFamily="34" charset="0"/>
                <a:ea typeface="Plus Jakarta Sans" pitchFamily="34" charset="-122"/>
                <a:cs typeface="Plus Jakarta Sans" pitchFamily="34" charset="-120"/>
              </a:rPr>
              <a:t>✔  100% Success Rate. Zero broken links protect customer shopping journeys and preserve Google crawl budget.</a:t>
            </a:r>
            <a:endParaRPr lang="en-US" sz="950" dirty="0"/>
          </a:p>
        </p:txBody>
      </p:sp>
      <p:sp>
        <p:nvSpPr>
          <p:cNvPr id="51" name="Shape 48"/>
          <p:cNvSpPr/>
          <p:nvPr/>
        </p:nvSpPr>
        <p:spPr>
          <a:xfrm>
            <a:off x="731520" y="6217920"/>
            <a:ext cx="10725912" cy="384048"/>
          </a:xfrm>
          <a:prstGeom prst="roundRect">
            <a:avLst>
              <a:gd name="adj" fmla="val 19048"/>
            </a:avLst>
          </a:prstGeom>
          <a:solidFill>
            <a:srgbClr val="F1F5F9"/>
          </a:solidFill>
          <a:ln w="12700">
            <a:solidFill>
              <a:srgbClr val="E2E8F0"/>
            </a:solidFill>
            <a:prstDash val="solid"/>
          </a:ln>
        </p:spPr>
      </p:sp>
      <p:sp>
        <p:nvSpPr>
          <p:cNvPr id="52" name="Text 49"/>
          <p:cNvSpPr/>
          <p:nvPr/>
        </p:nvSpPr>
        <p:spPr>
          <a:xfrm>
            <a:off x="960120" y="6217920"/>
            <a:ext cx="10332720" cy="384048"/>
          </a:xfrm>
          <a:prstGeom prst="rect">
            <a:avLst/>
          </a:prstGeom>
          <a:noFill/>
          <a:ln/>
        </p:spPr>
        <p:txBody>
          <a:bodyPr wrap="square" rtlCol="0" anchor="ctr"/>
          <a:lstStyle/>
          <a:p>
            <a:pPr indent="0" marL="0">
              <a:buNone/>
            </a:pPr>
            <a:r>
              <a:rPr lang="en-US" sz="950" b="1" dirty="0">
                <a:solidFill>
                  <a:srgbClr val="334155"/>
                </a:solidFill>
                <a:latin typeface="Plus Jakarta Sans" pitchFamily="34" charset="0"/>
                <a:ea typeface="Plus Jakarta Sans" pitchFamily="34" charset="-122"/>
                <a:cs typeface="Plus Jakarta Sans" pitchFamily="34" charset="-120"/>
              </a:rPr>
              <a:t>✔  Sitemap &amp; Link Integrity: 10,705+ URLs Indexed • Zero 404 Dead Links • 100% Clean Navigation Paths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UI/UX Layout Testing</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Multi-Device Layout &amp; Viewport Verification</a:t>
            </a:r>
            <a:endParaRPr lang="en-US" sz="2600" dirty="0"/>
          </a:p>
        </p:txBody>
      </p:sp>
      <p:sp>
        <p:nvSpPr>
          <p:cNvPr id="5" name="Shape 2"/>
          <p:cNvSpPr/>
          <p:nvPr/>
        </p:nvSpPr>
        <p:spPr>
          <a:xfrm>
            <a:off x="731520" y="1508760"/>
            <a:ext cx="3429000" cy="4526280"/>
          </a:xfrm>
          <a:prstGeom prst="roundRect">
            <a:avLst>
              <a:gd name="adj" fmla="val 2667"/>
            </a:avLst>
          </a:prstGeom>
          <a:solidFill>
            <a:srgbClr val="F8FAFC"/>
          </a:solidFill>
          <a:ln w="12700">
            <a:solidFill>
              <a:srgbClr val="E2E8F0"/>
            </a:solidFill>
            <a:prstDash val="solid"/>
          </a:ln>
        </p:spPr>
      </p:sp>
      <p:sp>
        <p:nvSpPr>
          <p:cNvPr id="6" name="Text 3"/>
          <p:cNvSpPr/>
          <p:nvPr/>
        </p:nvSpPr>
        <p:spPr>
          <a:xfrm>
            <a:off x="960120" y="1691640"/>
            <a:ext cx="1965960" cy="237744"/>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DESKTOP VIEWPORT</a:t>
            </a:r>
            <a:endParaRPr lang="en-US" sz="1100" dirty="0"/>
          </a:p>
        </p:txBody>
      </p:sp>
      <p:sp>
        <p:nvSpPr>
          <p:cNvPr id="7" name="Shape 4"/>
          <p:cNvSpPr/>
          <p:nvPr/>
        </p:nvSpPr>
        <p:spPr>
          <a:xfrm>
            <a:off x="2926080" y="1664208"/>
            <a:ext cx="1051560" cy="274320"/>
          </a:xfrm>
          <a:prstGeom prst="roundRect">
            <a:avLst>
              <a:gd name="adj" fmla="val 50000"/>
            </a:avLst>
          </a:prstGeom>
          <a:solidFill>
            <a:srgbClr val="ECFDF5"/>
          </a:solidFill>
          <a:ln w="12700">
            <a:solidFill>
              <a:srgbClr val="10B981"/>
            </a:solidFill>
            <a:prstDash val="solid"/>
          </a:ln>
        </p:spPr>
      </p:sp>
      <p:sp>
        <p:nvSpPr>
          <p:cNvPr id="8" name="Text 5"/>
          <p:cNvSpPr/>
          <p:nvPr/>
        </p:nvSpPr>
        <p:spPr>
          <a:xfrm>
            <a:off x="2926080" y="1664208"/>
            <a:ext cx="1051560" cy="274320"/>
          </a:xfrm>
          <a:prstGeom prst="rect">
            <a:avLst/>
          </a:prstGeom>
          <a:noFill/>
          <a:ln/>
        </p:spPr>
        <p:txBody>
          <a:bodyPr wrap="square" rtlCol="0" anchor="ctr"/>
          <a:lstStyle/>
          <a:p>
            <a:pPr algn="ctr" indent="0" marL="0">
              <a:buNone/>
            </a:pPr>
            <a:r>
              <a:rPr lang="en-US" sz="850" b="1" dirty="0">
                <a:solidFill>
                  <a:srgbClr val="047857"/>
                </a:solidFill>
                <a:latin typeface="Plus Jakarta Sans" pitchFamily="34" charset="0"/>
                <a:ea typeface="Plus Jakarta Sans" pitchFamily="34" charset="-122"/>
                <a:cs typeface="Plus Jakarta Sans" pitchFamily="34" charset="-120"/>
              </a:rPr>
              <a:t>100% FLUID</a:t>
            </a:r>
            <a:endParaRPr lang="en-US" sz="850" dirty="0"/>
          </a:p>
        </p:txBody>
      </p:sp>
      <p:sp>
        <p:nvSpPr>
          <p:cNvPr id="9" name="Text 6"/>
          <p:cNvSpPr/>
          <p:nvPr/>
        </p:nvSpPr>
        <p:spPr>
          <a:xfrm>
            <a:off x="960120" y="1947672"/>
            <a:ext cx="2971800" cy="219456"/>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1280 × 800 px (Standard Laptop &amp; PC)</a:t>
            </a:r>
            <a:endParaRPr lang="en-US" sz="850" dirty="0"/>
          </a:p>
        </p:txBody>
      </p:sp>
      <p:sp>
        <p:nvSpPr>
          <p:cNvPr id="10" name="Shape 7"/>
          <p:cNvSpPr/>
          <p:nvPr/>
        </p:nvSpPr>
        <p:spPr>
          <a:xfrm>
            <a:off x="960120" y="2313432"/>
            <a:ext cx="2971800" cy="731520"/>
          </a:xfrm>
          <a:prstGeom prst="roundRect">
            <a:avLst>
              <a:gd name="adj" fmla="val 10000"/>
            </a:avLst>
          </a:prstGeom>
          <a:solidFill>
            <a:srgbClr val="FFFFFF"/>
          </a:solidFill>
          <a:ln w="12700">
            <a:solidFill>
              <a:srgbClr val="E2E8F0"/>
            </a:solidFill>
            <a:prstDash val="solid"/>
          </a:ln>
        </p:spPr>
      </p:sp>
      <p:sp>
        <p:nvSpPr>
          <p:cNvPr id="11" name="Shape 8"/>
          <p:cNvSpPr/>
          <p:nvPr/>
        </p:nvSpPr>
        <p:spPr>
          <a:xfrm>
            <a:off x="1078992" y="2514600"/>
            <a:ext cx="310896" cy="310896"/>
          </a:xfrm>
          <a:prstGeom prst="ellipse">
            <a:avLst/>
          </a:prstGeom>
          <a:solidFill>
            <a:srgbClr val="ECFDF5"/>
          </a:solidFill>
          <a:ln w="12700">
            <a:solidFill>
              <a:srgbClr val="10B981"/>
            </a:solidFill>
            <a:prstDash val="solid"/>
          </a:ln>
        </p:spPr>
      </p:sp>
      <p:sp>
        <p:nvSpPr>
          <p:cNvPr id="12" name="Text 9"/>
          <p:cNvSpPr/>
          <p:nvPr/>
        </p:nvSpPr>
        <p:spPr>
          <a:xfrm>
            <a:off x="1078992" y="2514600"/>
            <a:ext cx="310896" cy="310896"/>
          </a:xfrm>
          <a:prstGeom prst="rect">
            <a:avLst/>
          </a:prstGeom>
          <a:noFill/>
          <a:ln/>
        </p:spPr>
        <p:txBody>
          <a:bodyPr wrap="square" rtlCol="0" anchor="ctr"/>
          <a:lstStyle/>
          <a:p>
            <a:pPr algn="ctr" indent="0" marL="0">
              <a:buNone/>
            </a:pPr>
            <a:r>
              <a:rPr lang="en-US" sz="1000" b="1" dirty="0">
                <a:solidFill>
                  <a:srgbClr val="047857"/>
                </a:solidFill>
                <a:latin typeface="Plus Jakarta Sans" pitchFamily="34" charset="0"/>
                <a:ea typeface="Plus Jakarta Sans" pitchFamily="34" charset="-122"/>
                <a:cs typeface="Plus Jakarta Sans" pitchFamily="34" charset="-120"/>
              </a:rPr>
              <a:t>✔</a:t>
            </a:r>
            <a:endParaRPr lang="en-US" sz="1000" dirty="0"/>
          </a:p>
        </p:txBody>
      </p:sp>
      <p:sp>
        <p:nvSpPr>
          <p:cNvPr id="13" name="Text 10"/>
          <p:cNvSpPr/>
          <p:nvPr/>
        </p:nvSpPr>
        <p:spPr>
          <a:xfrm>
            <a:off x="1481328" y="2423160"/>
            <a:ext cx="2423160" cy="237744"/>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Header &amp; Mega-Menu</a:t>
            </a:r>
            <a:endParaRPr lang="en-US" sz="1100" dirty="0"/>
          </a:p>
        </p:txBody>
      </p:sp>
      <p:sp>
        <p:nvSpPr>
          <p:cNvPr id="14" name="Text 11"/>
          <p:cNvSpPr/>
          <p:nvPr/>
        </p:nvSpPr>
        <p:spPr>
          <a:xfrm>
            <a:off x="1481328" y="2660904"/>
            <a:ext cx="2423160" cy="310896"/>
          </a:xfrm>
          <a:prstGeom prst="rect">
            <a:avLst/>
          </a:prstGeom>
          <a:noFill/>
          <a:ln/>
        </p:spPr>
        <p:txBody>
          <a:bodyPr wrap="square" rtlCol="0" anchor="ctr"/>
          <a:lstStyle/>
          <a:p>
            <a:pPr indent="0" marL="0">
              <a:lnSpc>
                <a:spcPts val="1100"/>
              </a:lnSpc>
              <a:buNone/>
            </a:pPr>
            <a:r>
              <a:rPr lang="en-US" sz="850" dirty="0">
                <a:solidFill>
                  <a:srgbClr val="64748B"/>
                </a:solidFill>
                <a:latin typeface="Plus Jakarta Sans" pitchFamily="34" charset="0"/>
                <a:ea typeface="Plus Jakarta Sans" pitchFamily="34" charset="-122"/>
                <a:cs typeface="Plus Jakarta Sans" pitchFamily="34" charset="-120"/>
              </a:rPr>
              <a:t>Hover states align without content clipping</a:t>
            </a:r>
            <a:endParaRPr lang="en-US" sz="850" dirty="0"/>
          </a:p>
        </p:txBody>
      </p:sp>
      <p:sp>
        <p:nvSpPr>
          <p:cNvPr id="15" name="Shape 12"/>
          <p:cNvSpPr/>
          <p:nvPr/>
        </p:nvSpPr>
        <p:spPr>
          <a:xfrm>
            <a:off x="960120" y="3154680"/>
            <a:ext cx="2971800" cy="731520"/>
          </a:xfrm>
          <a:prstGeom prst="roundRect">
            <a:avLst>
              <a:gd name="adj" fmla="val 10000"/>
            </a:avLst>
          </a:prstGeom>
          <a:solidFill>
            <a:srgbClr val="FFFFFF"/>
          </a:solidFill>
          <a:ln w="12700">
            <a:solidFill>
              <a:srgbClr val="E2E8F0"/>
            </a:solidFill>
            <a:prstDash val="solid"/>
          </a:ln>
        </p:spPr>
      </p:sp>
      <p:sp>
        <p:nvSpPr>
          <p:cNvPr id="16" name="Shape 13"/>
          <p:cNvSpPr/>
          <p:nvPr/>
        </p:nvSpPr>
        <p:spPr>
          <a:xfrm>
            <a:off x="1078992" y="3355848"/>
            <a:ext cx="310896" cy="310896"/>
          </a:xfrm>
          <a:prstGeom prst="ellipse">
            <a:avLst/>
          </a:prstGeom>
          <a:solidFill>
            <a:srgbClr val="ECFDF5"/>
          </a:solidFill>
          <a:ln w="12700">
            <a:solidFill>
              <a:srgbClr val="10B981"/>
            </a:solidFill>
            <a:prstDash val="solid"/>
          </a:ln>
        </p:spPr>
      </p:sp>
      <p:sp>
        <p:nvSpPr>
          <p:cNvPr id="17" name="Text 14"/>
          <p:cNvSpPr/>
          <p:nvPr/>
        </p:nvSpPr>
        <p:spPr>
          <a:xfrm>
            <a:off x="1078992" y="3355848"/>
            <a:ext cx="310896" cy="310896"/>
          </a:xfrm>
          <a:prstGeom prst="rect">
            <a:avLst/>
          </a:prstGeom>
          <a:noFill/>
          <a:ln/>
        </p:spPr>
        <p:txBody>
          <a:bodyPr wrap="square" rtlCol="0" anchor="ctr"/>
          <a:lstStyle/>
          <a:p>
            <a:pPr algn="ctr" indent="0" marL="0">
              <a:buNone/>
            </a:pPr>
            <a:r>
              <a:rPr lang="en-US" sz="1000" b="1" dirty="0">
                <a:solidFill>
                  <a:srgbClr val="047857"/>
                </a:solidFill>
                <a:latin typeface="Plus Jakarta Sans" pitchFamily="34" charset="0"/>
                <a:ea typeface="Plus Jakarta Sans" pitchFamily="34" charset="-122"/>
                <a:cs typeface="Plus Jakarta Sans" pitchFamily="34" charset="-120"/>
              </a:rPr>
              <a:t>✔</a:t>
            </a:r>
            <a:endParaRPr lang="en-US" sz="1000" dirty="0"/>
          </a:p>
        </p:txBody>
      </p:sp>
      <p:sp>
        <p:nvSpPr>
          <p:cNvPr id="18" name="Text 15"/>
          <p:cNvSpPr/>
          <p:nvPr/>
        </p:nvSpPr>
        <p:spPr>
          <a:xfrm>
            <a:off x="1481328" y="3264408"/>
            <a:ext cx="2423160" cy="237744"/>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Product Grids (4-Col)</a:t>
            </a:r>
            <a:endParaRPr lang="en-US" sz="1100" dirty="0"/>
          </a:p>
        </p:txBody>
      </p:sp>
      <p:sp>
        <p:nvSpPr>
          <p:cNvPr id="19" name="Text 16"/>
          <p:cNvSpPr/>
          <p:nvPr/>
        </p:nvSpPr>
        <p:spPr>
          <a:xfrm>
            <a:off x="1481328" y="3502152"/>
            <a:ext cx="2423160" cy="310896"/>
          </a:xfrm>
          <a:prstGeom prst="rect">
            <a:avLst/>
          </a:prstGeom>
          <a:noFill/>
          <a:ln/>
        </p:spPr>
        <p:txBody>
          <a:bodyPr wrap="square" rtlCol="0" anchor="ctr"/>
          <a:lstStyle/>
          <a:p>
            <a:pPr indent="0" marL="0">
              <a:lnSpc>
                <a:spcPts val="1100"/>
              </a:lnSpc>
              <a:buNone/>
            </a:pPr>
            <a:r>
              <a:rPr lang="en-US" sz="850" dirty="0">
                <a:solidFill>
                  <a:srgbClr val="64748B"/>
                </a:solidFill>
                <a:latin typeface="Plus Jakarta Sans" pitchFamily="34" charset="0"/>
                <a:ea typeface="Plus Jakarta Sans" pitchFamily="34" charset="-122"/>
                <a:cs typeface="Plus Jakarta Sans" pitchFamily="34" charset="-120"/>
              </a:rPr>
              <a:t>Equal card heights and aligned pricing</a:t>
            </a:r>
            <a:endParaRPr lang="en-US" sz="850" dirty="0"/>
          </a:p>
        </p:txBody>
      </p:sp>
      <p:sp>
        <p:nvSpPr>
          <p:cNvPr id="20" name="Shape 17"/>
          <p:cNvSpPr/>
          <p:nvPr/>
        </p:nvSpPr>
        <p:spPr>
          <a:xfrm>
            <a:off x="960120" y="3995928"/>
            <a:ext cx="2971800" cy="731520"/>
          </a:xfrm>
          <a:prstGeom prst="roundRect">
            <a:avLst>
              <a:gd name="adj" fmla="val 10000"/>
            </a:avLst>
          </a:prstGeom>
          <a:solidFill>
            <a:srgbClr val="FFFFFF"/>
          </a:solidFill>
          <a:ln w="12700">
            <a:solidFill>
              <a:srgbClr val="E2E8F0"/>
            </a:solidFill>
            <a:prstDash val="solid"/>
          </a:ln>
        </p:spPr>
      </p:sp>
      <p:sp>
        <p:nvSpPr>
          <p:cNvPr id="21" name="Shape 18"/>
          <p:cNvSpPr/>
          <p:nvPr/>
        </p:nvSpPr>
        <p:spPr>
          <a:xfrm>
            <a:off x="1078992" y="4197096"/>
            <a:ext cx="310896" cy="310896"/>
          </a:xfrm>
          <a:prstGeom prst="ellipse">
            <a:avLst/>
          </a:prstGeom>
          <a:solidFill>
            <a:srgbClr val="ECFDF5"/>
          </a:solidFill>
          <a:ln w="12700">
            <a:solidFill>
              <a:srgbClr val="10B981"/>
            </a:solidFill>
            <a:prstDash val="solid"/>
          </a:ln>
        </p:spPr>
      </p:sp>
      <p:sp>
        <p:nvSpPr>
          <p:cNvPr id="22" name="Text 19"/>
          <p:cNvSpPr/>
          <p:nvPr/>
        </p:nvSpPr>
        <p:spPr>
          <a:xfrm>
            <a:off x="1078992" y="4197096"/>
            <a:ext cx="310896" cy="310896"/>
          </a:xfrm>
          <a:prstGeom prst="rect">
            <a:avLst/>
          </a:prstGeom>
          <a:noFill/>
          <a:ln/>
        </p:spPr>
        <p:txBody>
          <a:bodyPr wrap="square" rtlCol="0" anchor="ctr"/>
          <a:lstStyle/>
          <a:p>
            <a:pPr algn="ctr" indent="0" marL="0">
              <a:buNone/>
            </a:pPr>
            <a:r>
              <a:rPr lang="en-US" sz="1000" b="1" dirty="0">
                <a:solidFill>
                  <a:srgbClr val="047857"/>
                </a:solidFill>
                <a:latin typeface="Plus Jakarta Sans" pitchFamily="34" charset="0"/>
                <a:ea typeface="Plus Jakarta Sans" pitchFamily="34" charset="-122"/>
                <a:cs typeface="Plus Jakarta Sans" pitchFamily="34" charset="-120"/>
              </a:rPr>
              <a:t>✔</a:t>
            </a:r>
            <a:endParaRPr lang="en-US" sz="1000" dirty="0"/>
          </a:p>
        </p:txBody>
      </p:sp>
      <p:sp>
        <p:nvSpPr>
          <p:cNvPr id="23" name="Text 20"/>
          <p:cNvSpPr/>
          <p:nvPr/>
        </p:nvSpPr>
        <p:spPr>
          <a:xfrm>
            <a:off x="1481328" y="4105656"/>
            <a:ext cx="2423160" cy="237744"/>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Cart &amp; Quick View Modals</a:t>
            </a:r>
            <a:endParaRPr lang="en-US" sz="1100" dirty="0"/>
          </a:p>
        </p:txBody>
      </p:sp>
      <p:sp>
        <p:nvSpPr>
          <p:cNvPr id="24" name="Text 21"/>
          <p:cNvSpPr/>
          <p:nvPr/>
        </p:nvSpPr>
        <p:spPr>
          <a:xfrm>
            <a:off x="1481328" y="4343400"/>
            <a:ext cx="2423160" cy="310896"/>
          </a:xfrm>
          <a:prstGeom prst="rect">
            <a:avLst/>
          </a:prstGeom>
          <a:noFill/>
          <a:ln/>
        </p:spPr>
        <p:txBody>
          <a:bodyPr wrap="square" rtlCol="0" anchor="ctr"/>
          <a:lstStyle/>
          <a:p>
            <a:pPr indent="0" marL="0">
              <a:lnSpc>
                <a:spcPts val="1100"/>
              </a:lnSpc>
              <a:buNone/>
            </a:pPr>
            <a:r>
              <a:rPr lang="en-US" sz="850" dirty="0">
                <a:solidFill>
                  <a:srgbClr val="64748B"/>
                </a:solidFill>
                <a:latin typeface="Plus Jakarta Sans" pitchFamily="34" charset="0"/>
                <a:ea typeface="Plus Jakarta Sans" pitchFamily="34" charset="-122"/>
                <a:cs typeface="Plus Jakarta Sans" pitchFamily="34" charset="-120"/>
              </a:rPr>
              <a:t>Overlay displays cleanly with proper z-index</a:t>
            </a:r>
            <a:endParaRPr lang="en-US" sz="850" dirty="0"/>
          </a:p>
        </p:txBody>
      </p:sp>
      <p:sp>
        <p:nvSpPr>
          <p:cNvPr id="25" name="Shape 22"/>
          <p:cNvSpPr/>
          <p:nvPr/>
        </p:nvSpPr>
        <p:spPr>
          <a:xfrm>
            <a:off x="960120" y="4837176"/>
            <a:ext cx="2971800" cy="731520"/>
          </a:xfrm>
          <a:prstGeom prst="roundRect">
            <a:avLst>
              <a:gd name="adj" fmla="val 10000"/>
            </a:avLst>
          </a:prstGeom>
          <a:solidFill>
            <a:srgbClr val="FFFFFF"/>
          </a:solidFill>
          <a:ln w="12700">
            <a:solidFill>
              <a:srgbClr val="E2E8F0"/>
            </a:solidFill>
            <a:prstDash val="solid"/>
          </a:ln>
        </p:spPr>
      </p:sp>
      <p:sp>
        <p:nvSpPr>
          <p:cNvPr id="26" name="Shape 23"/>
          <p:cNvSpPr/>
          <p:nvPr/>
        </p:nvSpPr>
        <p:spPr>
          <a:xfrm>
            <a:off x="1078992" y="5038344"/>
            <a:ext cx="310896" cy="310896"/>
          </a:xfrm>
          <a:prstGeom prst="ellipse">
            <a:avLst/>
          </a:prstGeom>
          <a:solidFill>
            <a:srgbClr val="ECFDF5"/>
          </a:solidFill>
          <a:ln w="12700">
            <a:solidFill>
              <a:srgbClr val="10B981"/>
            </a:solidFill>
            <a:prstDash val="solid"/>
          </a:ln>
        </p:spPr>
      </p:sp>
      <p:sp>
        <p:nvSpPr>
          <p:cNvPr id="27" name="Text 24"/>
          <p:cNvSpPr/>
          <p:nvPr/>
        </p:nvSpPr>
        <p:spPr>
          <a:xfrm>
            <a:off x="1078992" y="5038344"/>
            <a:ext cx="310896" cy="310896"/>
          </a:xfrm>
          <a:prstGeom prst="rect">
            <a:avLst/>
          </a:prstGeom>
          <a:noFill/>
          <a:ln/>
        </p:spPr>
        <p:txBody>
          <a:bodyPr wrap="square" rtlCol="0" anchor="ctr"/>
          <a:lstStyle/>
          <a:p>
            <a:pPr algn="ctr" indent="0" marL="0">
              <a:buNone/>
            </a:pPr>
            <a:r>
              <a:rPr lang="en-US" sz="1000" b="1" dirty="0">
                <a:solidFill>
                  <a:srgbClr val="047857"/>
                </a:solidFill>
                <a:latin typeface="Plus Jakarta Sans" pitchFamily="34" charset="0"/>
                <a:ea typeface="Plus Jakarta Sans" pitchFamily="34" charset="-122"/>
                <a:cs typeface="Plus Jakarta Sans" pitchFamily="34" charset="-120"/>
              </a:rPr>
              <a:t>✔</a:t>
            </a:r>
            <a:endParaRPr lang="en-US" sz="1000" dirty="0"/>
          </a:p>
        </p:txBody>
      </p:sp>
      <p:sp>
        <p:nvSpPr>
          <p:cNvPr id="28" name="Text 25"/>
          <p:cNvSpPr/>
          <p:nvPr/>
        </p:nvSpPr>
        <p:spPr>
          <a:xfrm>
            <a:off x="1481328" y="4946904"/>
            <a:ext cx="2423160" cy="237744"/>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Zero Horizontal Overflow</a:t>
            </a:r>
            <a:endParaRPr lang="en-US" sz="1100" dirty="0"/>
          </a:p>
        </p:txBody>
      </p:sp>
      <p:sp>
        <p:nvSpPr>
          <p:cNvPr id="29" name="Text 26"/>
          <p:cNvSpPr/>
          <p:nvPr/>
        </p:nvSpPr>
        <p:spPr>
          <a:xfrm>
            <a:off x="1481328" y="5184648"/>
            <a:ext cx="2423160" cy="310896"/>
          </a:xfrm>
          <a:prstGeom prst="rect">
            <a:avLst/>
          </a:prstGeom>
          <a:noFill/>
          <a:ln/>
        </p:spPr>
        <p:txBody>
          <a:bodyPr wrap="square" rtlCol="0" anchor="ctr"/>
          <a:lstStyle/>
          <a:p>
            <a:pPr indent="0" marL="0">
              <a:lnSpc>
                <a:spcPts val="1100"/>
              </a:lnSpc>
              <a:buNone/>
            </a:pPr>
            <a:r>
              <a:rPr lang="en-US" sz="850" dirty="0">
                <a:solidFill>
                  <a:srgbClr val="64748B"/>
                </a:solidFill>
                <a:latin typeface="Plus Jakarta Sans" pitchFamily="34" charset="0"/>
                <a:ea typeface="Plus Jakarta Sans" pitchFamily="34" charset="-122"/>
                <a:cs typeface="Plus Jakarta Sans" pitchFamily="34" charset="-120"/>
              </a:rPr>
              <a:t>scrollWidth matches innerWidth exactly</a:t>
            </a:r>
            <a:endParaRPr lang="en-US" sz="850" dirty="0"/>
          </a:p>
        </p:txBody>
      </p:sp>
      <p:sp>
        <p:nvSpPr>
          <p:cNvPr id="30" name="Shape 27"/>
          <p:cNvSpPr/>
          <p:nvPr/>
        </p:nvSpPr>
        <p:spPr>
          <a:xfrm>
            <a:off x="4379976" y="1508760"/>
            <a:ext cx="3429000" cy="4526280"/>
          </a:xfrm>
          <a:prstGeom prst="roundRect">
            <a:avLst>
              <a:gd name="adj" fmla="val 2667"/>
            </a:avLst>
          </a:prstGeom>
          <a:solidFill>
            <a:srgbClr val="F8FAFC"/>
          </a:solidFill>
          <a:ln w="12700">
            <a:solidFill>
              <a:srgbClr val="E2E8F0"/>
            </a:solidFill>
            <a:prstDash val="solid"/>
          </a:ln>
        </p:spPr>
      </p:sp>
      <p:sp>
        <p:nvSpPr>
          <p:cNvPr id="31" name="Text 28"/>
          <p:cNvSpPr/>
          <p:nvPr/>
        </p:nvSpPr>
        <p:spPr>
          <a:xfrm>
            <a:off x="4608576" y="1691640"/>
            <a:ext cx="1965960" cy="237744"/>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TABLET VIEWPORT</a:t>
            </a:r>
            <a:endParaRPr lang="en-US" sz="1100" dirty="0"/>
          </a:p>
        </p:txBody>
      </p:sp>
      <p:sp>
        <p:nvSpPr>
          <p:cNvPr id="32" name="Shape 29"/>
          <p:cNvSpPr/>
          <p:nvPr/>
        </p:nvSpPr>
        <p:spPr>
          <a:xfrm>
            <a:off x="6574536" y="1664208"/>
            <a:ext cx="1051560" cy="274320"/>
          </a:xfrm>
          <a:prstGeom prst="roundRect">
            <a:avLst>
              <a:gd name="adj" fmla="val 50000"/>
            </a:avLst>
          </a:prstGeom>
          <a:solidFill>
            <a:srgbClr val="F0F9FF"/>
          </a:solidFill>
          <a:ln w="12700">
            <a:solidFill>
              <a:srgbClr val="0EA5E9"/>
            </a:solidFill>
            <a:prstDash val="solid"/>
          </a:ln>
        </p:spPr>
      </p:sp>
      <p:sp>
        <p:nvSpPr>
          <p:cNvPr id="33" name="Text 30"/>
          <p:cNvSpPr/>
          <p:nvPr/>
        </p:nvSpPr>
        <p:spPr>
          <a:xfrm>
            <a:off x="6574536" y="1664208"/>
            <a:ext cx="1051560" cy="274320"/>
          </a:xfrm>
          <a:prstGeom prst="rect">
            <a:avLst/>
          </a:prstGeom>
          <a:noFill/>
          <a:ln/>
        </p:spPr>
        <p:txBody>
          <a:bodyPr wrap="square" rtlCol="0" anchor="ctr"/>
          <a:lstStyle/>
          <a:p>
            <a:pPr algn="ctr" indent="0" marL="0">
              <a:buNone/>
            </a:pPr>
            <a:r>
              <a:rPr lang="en-US" sz="850" b="1" dirty="0">
                <a:solidFill>
                  <a:srgbClr val="075985"/>
                </a:solidFill>
                <a:latin typeface="Plus Jakarta Sans" pitchFamily="34" charset="0"/>
                <a:ea typeface="Plus Jakarta Sans" pitchFamily="34" charset="-122"/>
                <a:cs typeface="Plus Jakarta Sans" pitchFamily="34" charset="-120"/>
              </a:rPr>
              <a:t>100% RESPONSIVE</a:t>
            </a:r>
            <a:endParaRPr lang="en-US" sz="850" dirty="0"/>
          </a:p>
        </p:txBody>
      </p:sp>
      <p:sp>
        <p:nvSpPr>
          <p:cNvPr id="34" name="Text 31"/>
          <p:cNvSpPr/>
          <p:nvPr/>
        </p:nvSpPr>
        <p:spPr>
          <a:xfrm>
            <a:off x="4608576" y="1947672"/>
            <a:ext cx="2971800" cy="219456"/>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768 × 1024 px (iPad &amp; Tablet)</a:t>
            </a:r>
            <a:endParaRPr lang="en-US" sz="850" dirty="0"/>
          </a:p>
        </p:txBody>
      </p:sp>
      <p:sp>
        <p:nvSpPr>
          <p:cNvPr id="35" name="Shape 32"/>
          <p:cNvSpPr/>
          <p:nvPr/>
        </p:nvSpPr>
        <p:spPr>
          <a:xfrm>
            <a:off x="4608576" y="2313432"/>
            <a:ext cx="2971800" cy="731520"/>
          </a:xfrm>
          <a:prstGeom prst="roundRect">
            <a:avLst>
              <a:gd name="adj" fmla="val 10000"/>
            </a:avLst>
          </a:prstGeom>
          <a:solidFill>
            <a:srgbClr val="FFFFFF"/>
          </a:solidFill>
          <a:ln w="12700">
            <a:solidFill>
              <a:srgbClr val="E2E8F0"/>
            </a:solidFill>
            <a:prstDash val="solid"/>
          </a:ln>
        </p:spPr>
      </p:sp>
      <p:sp>
        <p:nvSpPr>
          <p:cNvPr id="36" name="Shape 33"/>
          <p:cNvSpPr/>
          <p:nvPr/>
        </p:nvSpPr>
        <p:spPr>
          <a:xfrm>
            <a:off x="4727448" y="2514600"/>
            <a:ext cx="310896" cy="310896"/>
          </a:xfrm>
          <a:prstGeom prst="ellipse">
            <a:avLst/>
          </a:prstGeom>
          <a:solidFill>
            <a:srgbClr val="F0F9FF"/>
          </a:solidFill>
          <a:ln w="12700">
            <a:solidFill>
              <a:srgbClr val="0EA5E9"/>
            </a:solidFill>
            <a:prstDash val="solid"/>
          </a:ln>
        </p:spPr>
      </p:sp>
      <p:sp>
        <p:nvSpPr>
          <p:cNvPr id="37" name="Text 34"/>
          <p:cNvSpPr/>
          <p:nvPr/>
        </p:nvSpPr>
        <p:spPr>
          <a:xfrm>
            <a:off x="4727448" y="2514600"/>
            <a:ext cx="310896" cy="310896"/>
          </a:xfrm>
          <a:prstGeom prst="rect">
            <a:avLst/>
          </a:prstGeom>
          <a:noFill/>
          <a:ln/>
        </p:spPr>
        <p:txBody>
          <a:bodyPr wrap="square" rtlCol="0" anchor="ctr"/>
          <a:lstStyle/>
          <a:p>
            <a:pPr algn="ctr" indent="0" marL="0">
              <a:buNone/>
            </a:pPr>
            <a:r>
              <a:rPr lang="en-US" sz="1000" b="1" dirty="0">
                <a:solidFill>
                  <a:srgbClr val="075985"/>
                </a:solidFill>
                <a:latin typeface="Plus Jakarta Sans" pitchFamily="34" charset="0"/>
                <a:ea typeface="Plus Jakarta Sans" pitchFamily="34" charset="-122"/>
                <a:cs typeface="Plus Jakarta Sans" pitchFamily="34" charset="-120"/>
              </a:rPr>
              <a:t>✔</a:t>
            </a:r>
            <a:endParaRPr lang="en-US" sz="1000" dirty="0"/>
          </a:p>
        </p:txBody>
      </p:sp>
      <p:sp>
        <p:nvSpPr>
          <p:cNvPr id="38" name="Text 35"/>
          <p:cNvSpPr/>
          <p:nvPr/>
        </p:nvSpPr>
        <p:spPr>
          <a:xfrm>
            <a:off x="5129784" y="2423160"/>
            <a:ext cx="2423160" cy="237744"/>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2-Column Grid Reflow</a:t>
            </a:r>
            <a:endParaRPr lang="en-US" sz="1100" dirty="0"/>
          </a:p>
        </p:txBody>
      </p:sp>
      <p:sp>
        <p:nvSpPr>
          <p:cNvPr id="39" name="Text 36"/>
          <p:cNvSpPr/>
          <p:nvPr/>
        </p:nvSpPr>
        <p:spPr>
          <a:xfrm>
            <a:off x="5129784" y="2660904"/>
            <a:ext cx="2423160" cy="310896"/>
          </a:xfrm>
          <a:prstGeom prst="rect">
            <a:avLst/>
          </a:prstGeom>
          <a:noFill/>
          <a:ln/>
        </p:spPr>
        <p:txBody>
          <a:bodyPr wrap="square" rtlCol="0" anchor="ctr"/>
          <a:lstStyle/>
          <a:p>
            <a:pPr indent="0" marL="0">
              <a:lnSpc>
                <a:spcPts val="1100"/>
              </a:lnSpc>
              <a:buNone/>
            </a:pPr>
            <a:r>
              <a:rPr lang="en-US" sz="850" dirty="0">
                <a:solidFill>
                  <a:srgbClr val="64748B"/>
                </a:solidFill>
                <a:latin typeface="Plus Jakarta Sans" pitchFamily="34" charset="0"/>
                <a:ea typeface="Plus Jakarta Sans" pitchFamily="34" charset="-122"/>
                <a:cs typeface="Plus Jakarta Sans" pitchFamily="34" charset="-120"/>
              </a:rPr>
              <a:t>Product cards stack cleanly without horizontal scroll</a:t>
            </a:r>
            <a:endParaRPr lang="en-US" sz="850" dirty="0"/>
          </a:p>
        </p:txBody>
      </p:sp>
      <p:sp>
        <p:nvSpPr>
          <p:cNvPr id="40" name="Shape 37"/>
          <p:cNvSpPr/>
          <p:nvPr/>
        </p:nvSpPr>
        <p:spPr>
          <a:xfrm>
            <a:off x="4608576" y="3154680"/>
            <a:ext cx="2971800" cy="731520"/>
          </a:xfrm>
          <a:prstGeom prst="roundRect">
            <a:avLst>
              <a:gd name="adj" fmla="val 10000"/>
            </a:avLst>
          </a:prstGeom>
          <a:solidFill>
            <a:srgbClr val="FFFFFF"/>
          </a:solidFill>
          <a:ln w="12700">
            <a:solidFill>
              <a:srgbClr val="E2E8F0"/>
            </a:solidFill>
            <a:prstDash val="solid"/>
          </a:ln>
        </p:spPr>
      </p:sp>
      <p:sp>
        <p:nvSpPr>
          <p:cNvPr id="41" name="Shape 38"/>
          <p:cNvSpPr/>
          <p:nvPr/>
        </p:nvSpPr>
        <p:spPr>
          <a:xfrm>
            <a:off x="4727448" y="3355848"/>
            <a:ext cx="310896" cy="310896"/>
          </a:xfrm>
          <a:prstGeom prst="ellipse">
            <a:avLst/>
          </a:prstGeom>
          <a:solidFill>
            <a:srgbClr val="F0F9FF"/>
          </a:solidFill>
          <a:ln w="12700">
            <a:solidFill>
              <a:srgbClr val="0EA5E9"/>
            </a:solidFill>
            <a:prstDash val="solid"/>
          </a:ln>
        </p:spPr>
      </p:sp>
      <p:sp>
        <p:nvSpPr>
          <p:cNvPr id="42" name="Text 39"/>
          <p:cNvSpPr/>
          <p:nvPr/>
        </p:nvSpPr>
        <p:spPr>
          <a:xfrm>
            <a:off x="4727448" y="3355848"/>
            <a:ext cx="310896" cy="310896"/>
          </a:xfrm>
          <a:prstGeom prst="rect">
            <a:avLst/>
          </a:prstGeom>
          <a:noFill/>
          <a:ln/>
        </p:spPr>
        <p:txBody>
          <a:bodyPr wrap="square" rtlCol="0" anchor="ctr"/>
          <a:lstStyle/>
          <a:p>
            <a:pPr algn="ctr" indent="0" marL="0">
              <a:buNone/>
            </a:pPr>
            <a:r>
              <a:rPr lang="en-US" sz="1000" b="1" dirty="0">
                <a:solidFill>
                  <a:srgbClr val="075985"/>
                </a:solidFill>
                <a:latin typeface="Plus Jakarta Sans" pitchFamily="34" charset="0"/>
                <a:ea typeface="Plus Jakarta Sans" pitchFamily="34" charset="-122"/>
                <a:cs typeface="Plus Jakarta Sans" pitchFamily="34" charset="-120"/>
              </a:rPr>
              <a:t>✔</a:t>
            </a:r>
            <a:endParaRPr lang="en-US" sz="1000" dirty="0"/>
          </a:p>
        </p:txBody>
      </p:sp>
      <p:sp>
        <p:nvSpPr>
          <p:cNvPr id="43" name="Text 40"/>
          <p:cNvSpPr/>
          <p:nvPr/>
        </p:nvSpPr>
        <p:spPr>
          <a:xfrm>
            <a:off x="5129784" y="3264408"/>
            <a:ext cx="2423160" cy="237744"/>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Touch-Friendly Buttons</a:t>
            </a:r>
            <a:endParaRPr lang="en-US" sz="1100" dirty="0"/>
          </a:p>
        </p:txBody>
      </p:sp>
      <p:sp>
        <p:nvSpPr>
          <p:cNvPr id="44" name="Text 41"/>
          <p:cNvSpPr/>
          <p:nvPr/>
        </p:nvSpPr>
        <p:spPr>
          <a:xfrm>
            <a:off x="5129784" y="3502152"/>
            <a:ext cx="2423160" cy="310896"/>
          </a:xfrm>
          <a:prstGeom prst="rect">
            <a:avLst/>
          </a:prstGeom>
          <a:noFill/>
          <a:ln/>
        </p:spPr>
        <p:txBody>
          <a:bodyPr wrap="square" rtlCol="0" anchor="ctr"/>
          <a:lstStyle/>
          <a:p>
            <a:pPr indent="0" marL="0">
              <a:lnSpc>
                <a:spcPts val="1100"/>
              </a:lnSpc>
              <a:buNone/>
            </a:pPr>
            <a:r>
              <a:rPr lang="en-US" sz="850" dirty="0">
                <a:solidFill>
                  <a:srgbClr val="64748B"/>
                </a:solidFill>
                <a:latin typeface="Plus Jakarta Sans" pitchFamily="34" charset="0"/>
                <a:ea typeface="Plus Jakarta Sans" pitchFamily="34" charset="-122"/>
                <a:cs typeface="Plus Jakarta Sans" pitchFamily="34" charset="-120"/>
              </a:rPr>
              <a:t>Tap targets exceed 48px standard spacing</a:t>
            </a:r>
            <a:endParaRPr lang="en-US" sz="850" dirty="0"/>
          </a:p>
        </p:txBody>
      </p:sp>
      <p:sp>
        <p:nvSpPr>
          <p:cNvPr id="45" name="Shape 42"/>
          <p:cNvSpPr/>
          <p:nvPr/>
        </p:nvSpPr>
        <p:spPr>
          <a:xfrm>
            <a:off x="4608576" y="3995928"/>
            <a:ext cx="2971800" cy="731520"/>
          </a:xfrm>
          <a:prstGeom prst="roundRect">
            <a:avLst>
              <a:gd name="adj" fmla="val 10000"/>
            </a:avLst>
          </a:prstGeom>
          <a:solidFill>
            <a:srgbClr val="FFFFFF"/>
          </a:solidFill>
          <a:ln w="12700">
            <a:solidFill>
              <a:srgbClr val="E2E8F0"/>
            </a:solidFill>
            <a:prstDash val="solid"/>
          </a:ln>
        </p:spPr>
      </p:sp>
      <p:sp>
        <p:nvSpPr>
          <p:cNvPr id="46" name="Shape 43"/>
          <p:cNvSpPr/>
          <p:nvPr/>
        </p:nvSpPr>
        <p:spPr>
          <a:xfrm>
            <a:off x="4727448" y="4197096"/>
            <a:ext cx="310896" cy="310896"/>
          </a:xfrm>
          <a:prstGeom prst="ellipse">
            <a:avLst/>
          </a:prstGeom>
          <a:solidFill>
            <a:srgbClr val="F0F9FF"/>
          </a:solidFill>
          <a:ln w="12700">
            <a:solidFill>
              <a:srgbClr val="0EA5E9"/>
            </a:solidFill>
            <a:prstDash val="solid"/>
          </a:ln>
        </p:spPr>
      </p:sp>
      <p:sp>
        <p:nvSpPr>
          <p:cNvPr id="47" name="Text 44"/>
          <p:cNvSpPr/>
          <p:nvPr/>
        </p:nvSpPr>
        <p:spPr>
          <a:xfrm>
            <a:off x="4727448" y="4197096"/>
            <a:ext cx="310896" cy="310896"/>
          </a:xfrm>
          <a:prstGeom prst="rect">
            <a:avLst/>
          </a:prstGeom>
          <a:noFill/>
          <a:ln/>
        </p:spPr>
        <p:txBody>
          <a:bodyPr wrap="square" rtlCol="0" anchor="ctr"/>
          <a:lstStyle/>
          <a:p>
            <a:pPr algn="ctr" indent="0" marL="0">
              <a:buNone/>
            </a:pPr>
            <a:r>
              <a:rPr lang="en-US" sz="1000" b="1" dirty="0">
                <a:solidFill>
                  <a:srgbClr val="075985"/>
                </a:solidFill>
                <a:latin typeface="Plus Jakarta Sans" pitchFamily="34" charset="0"/>
                <a:ea typeface="Plus Jakarta Sans" pitchFamily="34" charset="-122"/>
                <a:cs typeface="Plus Jakarta Sans" pitchFamily="34" charset="-120"/>
              </a:rPr>
              <a:t>✔</a:t>
            </a:r>
            <a:endParaRPr lang="en-US" sz="1000" dirty="0"/>
          </a:p>
        </p:txBody>
      </p:sp>
      <p:sp>
        <p:nvSpPr>
          <p:cNvPr id="48" name="Text 45"/>
          <p:cNvSpPr/>
          <p:nvPr/>
        </p:nvSpPr>
        <p:spPr>
          <a:xfrm>
            <a:off x="5129784" y="4105656"/>
            <a:ext cx="2423160" cy="237744"/>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Drawer Menu Navigation</a:t>
            </a:r>
            <a:endParaRPr lang="en-US" sz="1100" dirty="0"/>
          </a:p>
        </p:txBody>
      </p:sp>
      <p:sp>
        <p:nvSpPr>
          <p:cNvPr id="49" name="Text 46"/>
          <p:cNvSpPr/>
          <p:nvPr/>
        </p:nvSpPr>
        <p:spPr>
          <a:xfrm>
            <a:off x="5129784" y="4343400"/>
            <a:ext cx="2423160" cy="310896"/>
          </a:xfrm>
          <a:prstGeom prst="rect">
            <a:avLst/>
          </a:prstGeom>
          <a:noFill/>
          <a:ln/>
        </p:spPr>
        <p:txBody>
          <a:bodyPr wrap="square" rtlCol="0" anchor="ctr"/>
          <a:lstStyle/>
          <a:p>
            <a:pPr indent="0" marL="0">
              <a:lnSpc>
                <a:spcPts val="1100"/>
              </a:lnSpc>
              <a:buNone/>
            </a:pPr>
            <a:r>
              <a:rPr lang="en-US" sz="850" dirty="0">
                <a:solidFill>
                  <a:srgbClr val="64748B"/>
                </a:solidFill>
                <a:latin typeface="Plus Jakarta Sans" pitchFamily="34" charset="0"/>
                <a:ea typeface="Plus Jakarta Sans" pitchFamily="34" charset="-122"/>
                <a:cs typeface="Plus Jakarta Sans" pitchFamily="34" charset="-120"/>
              </a:rPr>
              <a:t>Collapsible menu toggles smoothly</a:t>
            </a:r>
            <a:endParaRPr lang="en-US" sz="850" dirty="0"/>
          </a:p>
        </p:txBody>
      </p:sp>
      <p:sp>
        <p:nvSpPr>
          <p:cNvPr id="50" name="Shape 47"/>
          <p:cNvSpPr/>
          <p:nvPr/>
        </p:nvSpPr>
        <p:spPr>
          <a:xfrm>
            <a:off x="4608576" y="4837176"/>
            <a:ext cx="2971800" cy="731520"/>
          </a:xfrm>
          <a:prstGeom prst="roundRect">
            <a:avLst>
              <a:gd name="adj" fmla="val 10000"/>
            </a:avLst>
          </a:prstGeom>
          <a:solidFill>
            <a:srgbClr val="FFFFFF"/>
          </a:solidFill>
          <a:ln w="12700">
            <a:solidFill>
              <a:srgbClr val="E2E8F0"/>
            </a:solidFill>
            <a:prstDash val="solid"/>
          </a:ln>
        </p:spPr>
      </p:sp>
      <p:sp>
        <p:nvSpPr>
          <p:cNvPr id="51" name="Shape 48"/>
          <p:cNvSpPr/>
          <p:nvPr/>
        </p:nvSpPr>
        <p:spPr>
          <a:xfrm>
            <a:off x="4727448" y="5038344"/>
            <a:ext cx="310896" cy="310896"/>
          </a:xfrm>
          <a:prstGeom prst="ellipse">
            <a:avLst/>
          </a:prstGeom>
          <a:solidFill>
            <a:srgbClr val="F0F9FF"/>
          </a:solidFill>
          <a:ln w="12700">
            <a:solidFill>
              <a:srgbClr val="0EA5E9"/>
            </a:solidFill>
            <a:prstDash val="solid"/>
          </a:ln>
        </p:spPr>
      </p:sp>
      <p:sp>
        <p:nvSpPr>
          <p:cNvPr id="52" name="Text 49"/>
          <p:cNvSpPr/>
          <p:nvPr/>
        </p:nvSpPr>
        <p:spPr>
          <a:xfrm>
            <a:off x="4727448" y="5038344"/>
            <a:ext cx="310896" cy="310896"/>
          </a:xfrm>
          <a:prstGeom prst="rect">
            <a:avLst/>
          </a:prstGeom>
          <a:noFill/>
          <a:ln/>
        </p:spPr>
        <p:txBody>
          <a:bodyPr wrap="square" rtlCol="0" anchor="ctr"/>
          <a:lstStyle/>
          <a:p>
            <a:pPr algn="ctr" indent="0" marL="0">
              <a:buNone/>
            </a:pPr>
            <a:r>
              <a:rPr lang="en-US" sz="1000" b="1" dirty="0">
                <a:solidFill>
                  <a:srgbClr val="075985"/>
                </a:solidFill>
                <a:latin typeface="Plus Jakarta Sans" pitchFamily="34" charset="0"/>
                <a:ea typeface="Plus Jakarta Sans" pitchFamily="34" charset="-122"/>
                <a:cs typeface="Plus Jakarta Sans" pitchFamily="34" charset="-120"/>
              </a:rPr>
              <a:t>✔</a:t>
            </a:r>
            <a:endParaRPr lang="en-US" sz="1000" dirty="0"/>
          </a:p>
        </p:txBody>
      </p:sp>
      <p:sp>
        <p:nvSpPr>
          <p:cNvPr id="53" name="Text 50"/>
          <p:cNvSpPr/>
          <p:nvPr/>
        </p:nvSpPr>
        <p:spPr>
          <a:xfrm>
            <a:off x="5129784" y="4946904"/>
            <a:ext cx="2423160" cy="237744"/>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Orientation Transitions</a:t>
            </a:r>
            <a:endParaRPr lang="en-US" sz="1100" dirty="0"/>
          </a:p>
        </p:txBody>
      </p:sp>
      <p:sp>
        <p:nvSpPr>
          <p:cNvPr id="54" name="Text 51"/>
          <p:cNvSpPr/>
          <p:nvPr/>
        </p:nvSpPr>
        <p:spPr>
          <a:xfrm>
            <a:off x="5129784" y="5184648"/>
            <a:ext cx="2423160" cy="310896"/>
          </a:xfrm>
          <a:prstGeom prst="rect">
            <a:avLst/>
          </a:prstGeom>
          <a:noFill/>
          <a:ln/>
        </p:spPr>
        <p:txBody>
          <a:bodyPr wrap="square" rtlCol="0" anchor="ctr"/>
          <a:lstStyle/>
          <a:p>
            <a:pPr indent="0" marL="0">
              <a:lnSpc>
                <a:spcPts val="1100"/>
              </a:lnSpc>
              <a:buNone/>
            </a:pPr>
            <a:r>
              <a:rPr lang="en-US" sz="850" dirty="0">
                <a:solidFill>
                  <a:srgbClr val="64748B"/>
                </a:solidFill>
                <a:latin typeface="Plus Jakarta Sans" pitchFamily="34" charset="0"/>
                <a:ea typeface="Plus Jakarta Sans" pitchFamily="34" charset="-122"/>
                <a:cs typeface="Plus Jakarta Sans" pitchFamily="34" charset="-120"/>
              </a:rPr>
              <a:t>Portrait and landscape render stably</a:t>
            </a:r>
            <a:endParaRPr lang="en-US" sz="850" dirty="0"/>
          </a:p>
        </p:txBody>
      </p:sp>
      <p:sp>
        <p:nvSpPr>
          <p:cNvPr id="55" name="Shape 52"/>
          <p:cNvSpPr/>
          <p:nvPr/>
        </p:nvSpPr>
        <p:spPr>
          <a:xfrm>
            <a:off x="8028432" y="1508760"/>
            <a:ext cx="3429000" cy="4526280"/>
          </a:xfrm>
          <a:prstGeom prst="roundRect">
            <a:avLst>
              <a:gd name="adj" fmla="val 2667"/>
            </a:avLst>
          </a:prstGeom>
          <a:solidFill>
            <a:srgbClr val="F8FAFC"/>
          </a:solidFill>
          <a:ln w="12700">
            <a:solidFill>
              <a:srgbClr val="E2E8F0"/>
            </a:solidFill>
            <a:prstDash val="solid"/>
          </a:ln>
        </p:spPr>
      </p:sp>
      <p:sp>
        <p:nvSpPr>
          <p:cNvPr id="56" name="Text 53"/>
          <p:cNvSpPr/>
          <p:nvPr/>
        </p:nvSpPr>
        <p:spPr>
          <a:xfrm>
            <a:off x="8257032" y="1691640"/>
            <a:ext cx="1965960" cy="237744"/>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MOBILE VIEWPORT</a:t>
            </a:r>
            <a:endParaRPr lang="en-US" sz="1100" dirty="0"/>
          </a:p>
        </p:txBody>
      </p:sp>
      <p:sp>
        <p:nvSpPr>
          <p:cNvPr id="57" name="Shape 54"/>
          <p:cNvSpPr/>
          <p:nvPr/>
        </p:nvSpPr>
        <p:spPr>
          <a:xfrm>
            <a:off x="10222992" y="1664208"/>
            <a:ext cx="1051560" cy="274320"/>
          </a:xfrm>
          <a:prstGeom prst="roundRect">
            <a:avLst>
              <a:gd name="adj" fmla="val 50000"/>
            </a:avLst>
          </a:prstGeom>
          <a:solidFill>
            <a:srgbClr val="EEF2FF"/>
          </a:solidFill>
          <a:ln w="12700">
            <a:solidFill>
              <a:srgbClr val="6366F1"/>
            </a:solidFill>
            <a:prstDash val="solid"/>
          </a:ln>
        </p:spPr>
      </p:sp>
      <p:sp>
        <p:nvSpPr>
          <p:cNvPr id="58" name="Text 55"/>
          <p:cNvSpPr/>
          <p:nvPr/>
        </p:nvSpPr>
        <p:spPr>
          <a:xfrm>
            <a:off x="10222992" y="1664208"/>
            <a:ext cx="1051560" cy="274320"/>
          </a:xfrm>
          <a:prstGeom prst="rect">
            <a:avLst/>
          </a:prstGeom>
          <a:noFill/>
          <a:ln/>
        </p:spPr>
        <p:txBody>
          <a:bodyPr wrap="square" rtlCol="0" anchor="ctr"/>
          <a:lstStyle/>
          <a:p>
            <a:pPr algn="ctr" indent="0" marL="0">
              <a:buNone/>
            </a:pPr>
            <a:r>
              <a:rPr lang="en-US" sz="850" b="1" dirty="0">
                <a:solidFill>
                  <a:srgbClr val="4338CA"/>
                </a:solidFill>
                <a:latin typeface="Plus Jakarta Sans" pitchFamily="34" charset="0"/>
                <a:ea typeface="Plus Jakarta Sans" pitchFamily="34" charset="-122"/>
                <a:cs typeface="Plus Jakarta Sans" pitchFamily="34" charset="-120"/>
              </a:rPr>
              <a:t>100% COMPLIANT</a:t>
            </a:r>
            <a:endParaRPr lang="en-US" sz="850" dirty="0"/>
          </a:p>
        </p:txBody>
      </p:sp>
      <p:sp>
        <p:nvSpPr>
          <p:cNvPr id="59" name="Text 56"/>
          <p:cNvSpPr/>
          <p:nvPr/>
        </p:nvSpPr>
        <p:spPr>
          <a:xfrm>
            <a:off x="8257032" y="1947672"/>
            <a:ext cx="2971800" cy="219456"/>
          </a:xfrm>
          <a:prstGeom prst="rect">
            <a:avLst/>
          </a:prstGeom>
          <a:noFill/>
          <a:ln/>
        </p:spPr>
        <p:txBody>
          <a:bodyPr wrap="square" rtlCol="0" anchor="ctr"/>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375 × 667 px (iPhone / Android)</a:t>
            </a:r>
            <a:endParaRPr lang="en-US" sz="850" dirty="0"/>
          </a:p>
        </p:txBody>
      </p:sp>
      <p:sp>
        <p:nvSpPr>
          <p:cNvPr id="60" name="Shape 57"/>
          <p:cNvSpPr/>
          <p:nvPr/>
        </p:nvSpPr>
        <p:spPr>
          <a:xfrm>
            <a:off x="8257032" y="2313432"/>
            <a:ext cx="2971800" cy="731520"/>
          </a:xfrm>
          <a:prstGeom prst="roundRect">
            <a:avLst>
              <a:gd name="adj" fmla="val 10000"/>
            </a:avLst>
          </a:prstGeom>
          <a:solidFill>
            <a:srgbClr val="FFFFFF"/>
          </a:solidFill>
          <a:ln w="12700">
            <a:solidFill>
              <a:srgbClr val="E2E8F0"/>
            </a:solidFill>
            <a:prstDash val="solid"/>
          </a:ln>
        </p:spPr>
      </p:sp>
      <p:sp>
        <p:nvSpPr>
          <p:cNvPr id="61" name="Shape 58"/>
          <p:cNvSpPr/>
          <p:nvPr/>
        </p:nvSpPr>
        <p:spPr>
          <a:xfrm>
            <a:off x="8375904" y="2514600"/>
            <a:ext cx="310896" cy="310896"/>
          </a:xfrm>
          <a:prstGeom prst="ellipse">
            <a:avLst/>
          </a:prstGeom>
          <a:solidFill>
            <a:srgbClr val="EEF2FF"/>
          </a:solidFill>
          <a:ln w="12700">
            <a:solidFill>
              <a:srgbClr val="6366F1"/>
            </a:solidFill>
            <a:prstDash val="solid"/>
          </a:ln>
        </p:spPr>
      </p:sp>
      <p:sp>
        <p:nvSpPr>
          <p:cNvPr id="62" name="Text 59"/>
          <p:cNvSpPr/>
          <p:nvPr/>
        </p:nvSpPr>
        <p:spPr>
          <a:xfrm>
            <a:off x="8375904" y="2514600"/>
            <a:ext cx="310896" cy="310896"/>
          </a:xfrm>
          <a:prstGeom prst="rect">
            <a:avLst/>
          </a:prstGeom>
          <a:noFill/>
          <a:ln/>
        </p:spPr>
        <p:txBody>
          <a:bodyPr wrap="square" rtlCol="0" anchor="ctr"/>
          <a:lstStyle/>
          <a:p>
            <a:pPr algn="ctr" indent="0" marL="0">
              <a:buNone/>
            </a:pPr>
            <a:r>
              <a:rPr lang="en-US" sz="1000" b="1" dirty="0">
                <a:solidFill>
                  <a:srgbClr val="4338CA"/>
                </a:solidFill>
                <a:latin typeface="Plus Jakarta Sans" pitchFamily="34" charset="0"/>
                <a:ea typeface="Plus Jakarta Sans" pitchFamily="34" charset="-122"/>
                <a:cs typeface="Plus Jakarta Sans" pitchFamily="34" charset="-120"/>
              </a:rPr>
              <a:t>✔</a:t>
            </a:r>
            <a:endParaRPr lang="en-US" sz="1000" dirty="0"/>
          </a:p>
        </p:txBody>
      </p:sp>
      <p:sp>
        <p:nvSpPr>
          <p:cNvPr id="63" name="Text 60"/>
          <p:cNvSpPr/>
          <p:nvPr/>
        </p:nvSpPr>
        <p:spPr>
          <a:xfrm>
            <a:off x="8778240" y="2423160"/>
            <a:ext cx="2423160" cy="237744"/>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Sticky Add to Cart</a:t>
            </a:r>
            <a:endParaRPr lang="en-US" sz="1100" dirty="0"/>
          </a:p>
        </p:txBody>
      </p:sp>
      <p:sp>
        <p:nvSpPr>
          <p:cNvPr id="64" name="Text 61"/>
          <p:cNvSpPr/>
          <p:nvPr/>
        </p:nvSpPr>
        <p:spPr>
          <a:xfrm>
            <a:off x="8778240" y="2660904"/>
            <a:ext cx="2423160" cy="310896"/>
          </a:xfrm>
          <a:prstGeom prst="rect">
            <a:avLst/>
          </a:prstGeom>
          <a:noFill/>
          <a:ln/>
        </p:spPr>
        <p:txBody>
          <a:bodyPr wrap="square" rtlCol="0" anchor="ctr"/>
          <a:lstStyle/>
          <a:p>
            <a:pPr indent="0" marL="0">
              <a:lnSpc>
                <a:spcPts val="1100"/>
              </a:lnSpc>
              <a:buNone/>
            </a:pPr>
            <a:r>
              <a:rPr lang="en-US" sz="850" dirty="0">
                <a:solidFill>
                  <a:srgbClr val="64748B"/>
                </a:solidFill>
                <a:latin typeface="Plus Jakarta Sans" pitchFamily="34" charset="0"/>
                <a:ea typeface="Plus Jakarta Sans" pitchFamily="34" charset="-122"/>
                <a:cs typeface="Plus Jakarta Sans" pitchFamily="34" charset="-120"/>
              </a:rPr>
              <a:t>Action button stays accessible and unblocked</a:t>
            </a:r>
            <a:endParaRPr lang="en-US" sz="850" dirty="0"/>
          </a:p>
        </p:txBody>
      </p:sp>
      <p:sp>
        <p:nvSpPr>
          <p:cNvPr id="65" name="Shape 62"/>
          <p:cNvSpPr/>
          <p:nvPr/>
        </p:nvSpPr>
        <p:spPr>
          <a:xfrm>
            <a:off x="8257032" y="3154680"/>
            <a:ext cx="2971800" cy="731520"/>
          </a:xfrm>
          <a:prstGeom prst="roundRect">
            <a:avLst>
              <a:gd name="adj" fmla="val 10000"/>
            </a:avLst>
          </a:prstGeom>
          <a:solidFill>
            <a:srgbClr val="FFFFFF"/>
          </a:solidFill>
          <a:ln w="12700">
            <a:solidFill>
              <a:srgbClr val="E2E8F0"/>
            </a:solidFill>
            <a:prstDash val="solid"/>
          </a:ln>
        </p:spPr>
      </p:sp>
      <p:sp>
        <p:nvSpPr>
          <p:cNvPr id="66" name="Shape 63"/>
          <p:cNvSpPr/>
          <p:nvPr/>
        </p:nvSpPr>
        <p:spPr>
          <a:xfrm>
            <a:off x="8375904" y="3355848"/>
            <a:ext cx="310896" cy="310896"/>
          </a:xfrm>
          <a:prstGeom prst="ellipse">
            <a:avLst/>
          </a:prstGeom>
          <a:solidFill>
            <a:srgbClr val="EEF2FF"/>
          </a:solidFill>
          <a:ln w="12700">
            <a:solidFill>
              <a:srgbClr val="6366F1"/>
            </a:solidFill>
            <a:prstDash val="solid"/>
          </a:ln>
        </p:spPr>
      </p:sp>
      <p:sp>
        <p:nvSpPr>
          <p:cNvPr id="67" name="Text 64"/>
          <p:cNvSpPr/>
          <p:nvPr/>
        </p:nvSpPr>
        <p:spPr>
          <a:xfrm>
            <a:off x="8375904" y="3355848"/>
            <a:ext cx="310896" cy="310896"/>
          </a:xfrm>
          <a:prstGeom prst="rect">
            <a:avLst/>
          </a:prstGeom>
          <a:noFill/>
          <a:ln/>
        </p:spPr>
        <p:txBody>
          <a:bodyPr wrap="square" rtlCol="0" anchor="ctr"/>
          <a:lstStyle/>
          <a:p>
            <a:pPr algn="ctr" indent="0" marL="0">
              <a:buNone/>
            </a:pPr>
            <a:r>
              <a:rPr lang="en-US" sz="1000" b="1" dirty="0">
                <a:solidFill>
                  <a:srgbClr val="4338CA"/>
                </a:solidFill>
                <a:latin typeface="Plus Jakarta Sans" pitchFamily="34" charset="0"/>
                <a:ea typeface="Plus Jakarta Sans" pitchFamily="34" charset="-122"/>
                <a:cs typeface="Plus Jakarta Sans" pitchFamily="34" charset="-120"/>
              </a:rPr>
              <a:t>✔</a:t>
            </a:r>
            <a:endParaRPr lang="en-US" sz="1000" dirty="0"/>
          </a:p>
        </p:txBody>
      </p:sp>
      <p:sp>
        <p:nvSpPr>
          <p:cNvPr id="68" name="Text 65"/>
          <p:cNvSpPr/>
          <p:nvPr/>
        </p:nvSpPr>
        <p:spPr>
          <a:xfrm>
            <a:off x="8778240" y="3264408"/>
            <a:ext cx="2423160" cy="237744"/>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Mobile Mini-Cart Slide</a:t>
            </a:r>
            <a:endParaRPr lang="en-US" sz="1100" dirty="0"/>
          </a:p>
        </p:txBody>
      </p:sp>
      <p:sp>
        <p:nvSpPr>
          <p:cNvPr id="69" name="Text 66"/>
          <p:cNvSpPr/>
          <p:nvPr/>
        </p:nvSpPr>
        <p:spPr>
          <a:xfrm>
            <a:off x="8778240" y="3502152"/>
            <a:ext cx="2423160" cy="310896"/>
          </a:xfrm>
          <a:prstGeom prst="rect">
            <a:avLst/>
          </a:prstGeom>
          <a:noFill/>
          <a:ln/>
        </p:spPr>
        <p:txBody>
          <a:bodyPr wrap="square" rtlCol="0" anchor="ctr"/>
          <a:lstStyle/>
          <a:p>
            <a:pPr indent="0" marL="0">
              <a:lnSpc>
                <a:spcPts val="1100"/>
              </a:lnSpc>
              <a:buNone/>
            </a:pPr>
            <a:r>
              <a:rPr lang="en-US" sz="850" dirty="0">
                <a:solidFill>
                  <a:srgbClr val="64748B"/>
                </a:solidFill>
                <a:latin typeface="Plus Jakarta Sans" pitchFamily="34" charset="0"/>
                <a:ea typeface="Plus Jakarta Sans" pitchFamily="34" charset="-122"/>
                <a:cs typeface="Plus Jakarta Sans" pitchFamily="34" charset="-120"/>
              </a:rPr>
              <a:t>Drawer glides smoothly without scroll lock</a:t>
            </a:r>
            <a:endParaRPr lang="en-US" sz="850" dirty="0"/>
          </a:p>
        </p:txBody>
      </p:sp>
      <p:sp>
        <p:nvSpPr>
          <p:cNvPr id="70" name="Shape 67"/>
          <p:cNvSpPr/>
          <p:nvPr/>
        </p:nvSpPr>
        <p:spPr>
          <a:xfrm>
            <a:off x="8257032" y="3995928"/>
            <a:ext cx="2971800" cy="731520"/>
          </a:xfrm>
          <a:prstGeom prst="roundRect">
            <a:avLst>
              <a:gd name="adj" fmla="val 10000"/>
            </a:avLst>
          </a:prstGeom>
          <a:solidFill>
            <a:srgbClr val="FFFFFF"/>
          </a:solidFill>
          <a:ln w="12700">
            <a:solidFill>
              <a:srgbClr val="E2E8F0"/>
            </a:solidFill>
            <a:prstDash val="solid"/>
          </a:ln>
        </p:spPr>
      </p:sp>
      <p:sp>
        <p:nvSpPr>
          <p:cNvPr id="71" name="Shape 68"/>
          <p:cNvSpPr/>
          <p:nvPr/>
        </p:nvSpPr>
        <p:spPr>
          <a:xfrm>
            <a:off x="8375904" y="4197096"/>
            <a:ext cx="310896" cy="310896"/>
          </a:xfrm>
          <a:prstGeom prst="ellipse">
            <a:avLst/>
          </a:prstGeom>
          <a:solidFill>
            <a:srgbClr val="EEF2FF"/>
          </a:solidFill>
          <a:ln w="12700">
            <a:solidFill>
              <a:srgbClr val="6366F1"/>
            </a:solidFill>
            <a:prstDash val="solid"/>
          </a:ln>
        </p:spPr>
      </p:sp>
      <p:sp>
        <p:nvSpPr>
          <p:cNvPr id="72" name="Text 69"/>
          <p:cNvSpPr/>
          <p:nvPr/>
        </p:nvSpPr>
        <p:spPr>
          <a:xfrm>
            <a:off x="8375904" y="4197096"/>
            <a:ext cx="310896" cy="310896"/>
          </a:xfrm>
          <a:prstGeom prst="rect">
            <a:avLst/>
          </a:prstGeom>
          <a:noFill/>
          <a:ln/>
        </p:spPr>
        <p:txBody>
          <a:bodyPr wrap="square" rtlCol="0" anchor="ctr"/>
          <a:lstStyle/>
          <a:p>
            <a:pPr algn="ctr" indent="0" marL="0">
              <a:buNone/>
            </a:pPr>
            <a:r>
              <a:rPr lang="en-US" sz="1000" b="1" dirty="0">
                <a:solidFill>
                  <a:srgbClr val="4338CA"/>
                </a:solidFill>
                <a:latin typeface="Plus Jakarta Sans" pitchFamily="34" charset="0"/>
                <a:ea typeface="Plus Jakarta Sans" pitchFamily="34" charset="-122"/>
                <a:cs typeface="Plus Jakarta Sans" pitchFamily="34" charset="-120"/>
              </a:rPr>
              <a:t>✔</a:t>
            </a:r>
            <a:endParaRPr lang="en-US" sz="1000" dirty="0"/>
          </a:p>
        </p:txBody>
      </p:sp>
      <p:sp>
        <p:nvSpPr>
          <p:cNvPr id="73" name="Text 70"/>
          <p:cNvSpPr/>
          <p:nvPr/>
        </p:nvSpPr>
        <p:spPr>
          <a:xfrm>
            <a:off x="8778240" y="4105656"/>
            <a:ext cx="2423160" cy="237744"/>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Legible Font Scaling</a:t>
            </a:r>
            <a:endParaRPr lang="en-US" sz="1100" dirty="0"/>
          </a:p>
        </p:txBody>
      </p:sp>
      <p:sp>
        <p:nvSpPr>
          <p:cNvPr id="74" name="Text 71"/>
          <p:cNvSpPr/>
          <p:nvPr/>
        </p:nvSpPr>
        <p:spPr>
          <a:xfrm>
            <a:off x="8778240" y="4343400"/>
            <a:ext cx="2423160" cy="310896"/>
          </a:xfrm>
          <a:prstGeom prst="rect">
            <a:avLst/>
          </a:prstGeom>
          <a:noFill/>
          <a:ln/>
        </p:spPr>
        <p:txBody>
          <a:bodyPr wrap="square" rtlCol="0" anchor="ctr"/>
          <a:lstStyle/>
          <a:p>
            <a:pPr indent="0" marL="0">
              <a:lnSpc>
                <a:spcPts val="1100"/>
              </a:lnSpc>
              <a:buNone/>
            </a:pPr>
            <a:r>
              <a:rPr lang="en-US" sz="850" dirty="0">
                <a:solidFill>
                  <a:srgbClr val="64748B"/>
                </a:solidFill>
                <a:latin typeface="Plus Jakarta Sans" pitchFamily="34" charset="0"/>
                <a:ea typeface="Plus Jakarta Sans" pitchFamily="34" charset="-122"/>
                <a:cs typeface="Plus Jakarta Sans" pitchFamily="34" charset="-120"/>
              </a:rPr>
              <a:t>Zero pinch-to-zoom needed for body copy</a:t>
            </a:r>
            <a:endParaRPr lang="en-US" sz="850" dirty="0"/>
          </a:p>
        </p:txBody>
      </p:sp>
      <p:sp>
        <p:nvSpPr>
          <p:cNvPr id="75" name="Shape 72"/>
          <p:cNvSpPr/>
          <p:nvPr/>
        </p:nvSpPr>
        <p:spPr>
          <a:xfrm>
            <a:off x="8257032" y="4837176"/>
            <a:ext cx="2971800" cy="731520"/>
          </a:xfrm>
          <a:prstGeom prst="roundRect">
            <a:avLst>
              <a:gd name="adj" fmla="val 10000"/>
            </a:avLst>
          </a:prstGeom>
          <a:solidFill>
            <a:srgbClr val="FFFFFF"/>
          </a:solidFill>
          <a:ln w="12700">
            <a:solidFill>
              <a:srgbClr val="E2E8F0"/>
            </a:solidFill>
            <a:prstDash val="solid"/>
          </a:ln>
        </p:spPr>
      </p:sp>
      <p:sp>
        <p:nvSpPr>
          <p:cNvPr id="76" name="Shape 73"/>
          <p:cNvSpPr/>
          <p:nvPr/>
        </p:nvSpPr>
        <p:spPr>
          <a:xfrm>
            <a:off x="8375904" y="5038344"/>
            <a:ext cx="310896" cy="310896"/>
          </a:xfrm>
          <a:prstGeom prst="ellipse">
            <a:avLst/>
          </a:prstGeom>
          <a:solidFill>
            <a:srgbClr val="EEF2FF"/>
          </a:solidFill>
          <a:ln w="12700">
            <a:solidFill>
              <a:srgbClr val="6366F1"/>
            </a:solidFill>
            <a:prstDash val="solid"/>
          </a:ln>
        </p:spPr>
      </p:sp>
      <p:sp>
        <p:nvSpPr>
          <p:cNvPr id="77" name="Text 74"/>
          <p:cNvSpPr/>
          <p:nvPr/>
        </p:nvSpPr>
        <p:spPr>
          <a:xfrm>
            <a:off x="8375904" y="5038344"/>
            <a:ext cx="310896" cy="310896"/>
          </a:xfrm>
          <a:prstGeom prst="rect">
            <a:avLst/>
          </a:prstGeom>
          <a:noFill/>
          <a:ln/>
        </p:spPr>
        <p:txBody>
          <a:bodyPr wrap="square" rtlCol="0" anchor="ctr"/>
          <a:lstStyle/>
          <a:p>
            <a:pPr algn="ctr" indent="0" marL="0">
              <a:buNone/>
            </a:pPr>
            <a:r>
              <a:rPr lang="en-US" sz="1000" b="1" dirty="0">
                <a:solidFill>
                  <a:srgbClr val="4338CA"/>
                </a:solidFill>
                <a:latin typeface="Plus Jakarta Sans" pitchFamily="34" charset="0"/>
                <a:ea typeface="Plus Jakarta Sans" pitchFamily="34" charset="-122"/>
                <a:cs typeface="Plus Jakarta Sans" pitchFamily="34" charset="-120"/>
              </a:rPr>
              <a:t>✔</a:t>
            </a:r>
            <a:endParaRPr lang="en-US" sz="1000" dirty="0"/>
          </a:p>
        </p:txBody>
      </p:sp>
      <p:sp>
        <p:nvSpPr>
          <p:cNvPr id="78" name="Text 75"/>
          <p:cNvSpPr/>
          <p:nvPr/>
        </p:nvSpPr>
        <p:spPr>
          <a:xfrm>
            <a:off x="8778240" y="4946904"/>
            <a:ext cx="2423160" cy="237744"/>
          </a:xfrm>
          <a:prstGeom prst="rect">
            <a:avLst/>
          </a:prstGeom>
          <a:noFill/>
          <a:ln/>
        </p:spPr>
        <p:txBody>
          <a:bodyPr wrap="square" rtlCol="0" anchor="ctr"/>
          <a:lstStyle/>
          <a:p>
            <a:pPr indent="0" marL="0">
              <a:buNone/>
            </a:pPr>
            <a:r>
              <a:rPr lang="en-US" sz="1100" b="1" dirty="0">
                <a:solidFill>
                  <a:srgbClr val="0F172A"/>
                </a:solidFill>
                <a:latin typeface="Outfit" pitchFamily="34" charset="0"/>
                <a:ea typeface="Outfit" pitchFamily="34" charset="-122"/>
                <a:cs typeface="Outfit" pitchFamily="34" charset="-120"/>
              </a:rPr>
              <a:t>Single-Column Checkout</a:t>
            </a:r>
            <a:endParaRPr lang="en-US" sz="1100" dirty="0"/>
          </a:p>
        </p:txBody>
      </p:sp>
      <p:sp>
        <p:nvSpPr>
          <p:cNvPr id="79" name="Text 76"/>
          <p:cNvSpPr/>
          <p:nvPr/>
        </p:nvSpPr>
        <p:spPr>
          <a:xfrm>
            <a:off x="8778240" y="5184648"/>
            <a:ext cx="2423160" cy="310896"/>
          </a:xfrm>
          <a:prstGeom prst="rect">
            <a:avLst/>
          </a:prstGeom>
          <a:noFill/>
          <a:ln/>
        </p:spPr>
        <p:txBody>
          <a:bodyPr wrap="square" rtlCol="0" anchor="ctr"/>
          <a:lstStyle/>
          <a:p>
            <a:pPr indent="0" marL="0">
              <a:lnSpc>
                <a:spcPts val="1100"/>
              </a:lnSpc>
              <a:buNone/>
            </a:pPr>
            <a:r>
              <a:rPr lang="en-US" sz="850" dirty="0">
                <a:solidFill>
                  <a:srgbClr val="64748B"/>
                </a:solidFill>
                <a:latin typeface="Plus Jakarta Sans" pitchFamily="34" charset="0"/>
                <a:ea typeface="Plus Jakarta Sans" pitchFamily="34" charset="-122"/>
                <a:cs typeface="Plus Jakarta Sans" pitchFamily="34" charset="-120"/>
              </a:rPr>
              <a:t>Frictionless form entry on small screens</a:t>
            </a:r>
            <a:endParaRPr lang="en-US" sz="850" dirty="0"/>
          </a:p>
        </p:txBody>
      </p:sp>
      <p:sp>
        <p:nvSpPr>
          <p:cNvPr id="80" name="Shape 77"/>
          <p:cNvSpPr/>
          <p:nvPr/>
        </p:nvSpPr>
        <p:spPr>
          <a:xfrm>
            <a:off x="731520" y="6217920"/>
            <a:ext cx="10725912" cy="384048"/>
          </a:xfrm>
          <a:prstGeom prst="roundRect">
            <a:avLst>
              <a:gd name="adj" fmla="val 19048"/>
            </a:avLst>
          </a:prstGeom>
          <a:solidFill>
            <a:srgbClr val="F1F5F9"/>
          </a:solidFill>
          <a:ln w="12700">
            <a:solidFill>
              <a:srgbClr val="E2E8F0"/>
            </a:solidFill>
            <a:prstDash val="solid"/>
          </a:ln>
        </p:spPr>
      </p:sp>
      <p:sp>
        <p:nvSpPr>
          <p:cNvPr id="81" name="Text 78"/>
          <p:cNvSpPr/>
          <p:nvPr/>
        </p:nvSpPr>
        <p:spPr>
          <a:xfrm>
            <a:off x="960120" y="6217920"/>
            <a:ext cx="10332720" cy="384048"/>
          </a:xfrm>
          <a:prstGeom prst="rect">
            <a:avLst/>
          </a:prstGeom>
          <a:noFill/>
          <a:ln/>
        </p:spPr>
        <p:txBody>
          <a:bodyPr wrap="square" rtlCol="0" anchor="ctr"/>
          <a:lstStyle/>
          <a:p>
            <a:pPr indent="0" marL="0">
              <a:buNone/>
            </a:pPr>
            <a:r>
              <a:rPr lang="en-US" sz="950" b="1" dirty="0">
                <a:solidFill>
                  <a:srgbClr val="334155"/>
                </a:solidFill>
                <a:latin typeface="Plus Jakarta Sans" pitchFamily="34" charset="0"/>
                <a:ea typeface="Plus Jakarta Sans" pitchFamily="34" charset="-122"/>
                <a:cs typeface="Plus Jakarta Sans" pitchFamily="34" charset="-120"/>
              </a:rPr>
              <a:t>✔  Responsive UX Matrix: Tested across Desktop, Tablet &amp; Mobile • Zero Layout Shifts • 100% Fluid Breakpoints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Functional Verification</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Cross-Browser Compatibility &amp; Filter Checks</a:t>
            </a:r>
            <a:endParaRPr lang="en-US" sz="2600" dirty="0"/>
          </a:p>
        </p:txBody>
      </p:sp>
      <p:sp>
        <p:nvSpPr>
          <p:cNvPr id="5" name="Shape 2"/>
          <p:cNvSpPr/>
          <p:nvPr/>
        </p:nvSpPr>
        <p:spPr>
          <a:xfrm>
            <a:off x="731520" y="1508760"/>
            <a:ext cx="10725912" cy="4526280"/>
          </a:xfrm>
          <a:prstGeom prst="roundRect">
            <a:avLst>
              <a:gd name="adj" fmla="val 2020"/>
            </a:avLst>
          </a:prstGeom>
          <a:solidFill>
            <a:srgbClr val="F8FAFC"/>
          </a:solidFill>
          <a:ln w="12700">
            <a:solidFill>
              <a:srgbClr val="E2E8F0"/>
            </a:solidFill>
            <a:prstDash val="solid"/>
          </a:ln>
        </p:spPr>
      </p:sp>
      <p:sp>
        <p:nvSpPr>
          <p:cNvPr id="6" name="Text 3"/>
          <p:cNvSpPr/>
          <p:nvPr/>
        </p:nvSpPr>
        <p:spPr>
          <a:xfrm>
            <a:off x="1005840" y="1691640"/>
            <a:ext cx="4572000" cy="256032"/>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CROSS-BROWSER ENGINE COMPATIBILITY MATRIX</a:t>
            </a:r>
            <a:endParaRPr lang="en-US" sz="1000" dirty="0"/>
          </a:p>
        </p:txBody>
      </p:sp>
      <p:sp>
        <p:nvSpPr>
          <p:cNvPr id="7" name="Shape 4"/>
          <p:cNvSpPr/>
          <p:nvPr/>
        </p:nvSpPr>
        <p:spPr>
          <a:xfrm>
            <a:off x="10058400" y="1664208"/>
            <a:ext cx="1143000" cy="292608"/>
          </a:xfrm>
          <a:prstGeom prst="roundRect">
            <a:avLst>
              <a:gd name="adj" fmla="val 50000"/>
            </a:avLst>
          </a:prstGeom>
          <a:solidFill>
            <a:srgbClr val="ECFDF5"/>
          </a:solidFill>
          <a:ln w="12700">
            <a:solidFill>
              <a:srgbClr val="10B981"/>
            </a:solidFill>
            <a:prstDash val="solid"/>
          </a:ln>
        </p:spPr>
      </p:sp>
      <p:sp>
        <p:nvSpPr>
          <p:cNvPr id="8" name="Text 5"/>
          <p:cNvSpPr/>
          <p:nvPr/>
        </p:nvSpPr>
        <p:spPr>
          <a:xfrm>
            <a:off x="10058400" y="1664208"/>
            <a:ext cx="1143000" cy="292608"/>
          </a:xfrm>
          <a:prstGeom prst="rect">
            <a:avLst/>
          </a:prstGeom>
          <a:noFill/>
          <a:ln/>
        </p:spPr>
        <p:txBody>
          <a:bodyPr wrap="square" rtlCol="0" anchor="ctr"/>
          <a:lstStyle/>
          <a:p>
            <a:pPr algn="ctr" indent="0" marL="0">
              <a:buNone/>
            </a:pPr>
            <a:r>
              <a:rPr lang="en-US" sz="900" b="1" dirty="0">
                <a:solidFill>
                  <a:srgbClr val="047857"/>
                </a:solidFill>
                <a:latin typeface="Plus Jakarta Sans" pitchFamily="34" charset="0"/>
                <a:ea typeface="Plus Jakarta Sans" pitchFamily="34" charset="-122"/>
                <a:cs typeface="Plus Jakarta Sans" pitchFamily="34" charset="-120"/>
              </a:rPr>
              <a:t>100% PASS</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1005840" y="2057400"/>
          <a:ext cx="10177272" cy="2103120"/>
        </p:xfrm>
        <a:graphic>
          <a:graphicData uri="http://schemas.openxmlformats.org/drawingml/2006/table">
            <a:tbl>
              <a:tblPr/>
              <a:tblGrid>
                <a:gridCol w="2544318"/>
                <a:gridCol w="2544318"/>
                <a:gridCol w="2544318"/>
                <a:gridCol w="2544318"/>
              </a:tblGrid>
              <a:tr h="420624">
                <a:tc>
                  <a:txBody>
                    <a:bodyPr/>
                    <a:lstStyle/>
                    <a:p>
                      <a:pPr indent="0" marL="0">
                        <a:buNone/>
                      </a:pPr>
                      <a:r>
                        <a:rPr lang="en-US" sz="1100" b="1" dirty="0">
                          <a:solidFill>
                            <a:srgbClr val="000000"/>
                          </a:solidFill>
                          <a:latin typeface="Plus Jakarta Sans" pitchFamily="34" charset="0"/>
                          <a:ea typeface="Plus Jakarta Sans" pitchFamily="34" charset="-122"/>
                          <a:cs typeface="Plus Jakarta Sans" pitchFamily="34" charset="-120"/>
                        </a:rPr>
                        <a:t>Target Browser</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b="1" dirty="0">
                          <a:solidFill>
                            <a:srgbClr val="000000"/>
                          </a:solidFill>
                          <a:latin typeface="Plus Jakarta Sans" pitchFamily="34" charset="0"/>
                          <a:ea typeface="Plus Jakarta Sans" pitchFamily="34" charset="-122"/>
                          <a:cs typeface="Plus Jakarta Sans" pitchFamily="34" charset="-120"/>
                        </a:rPr>
                        <a:t>Feature Checked</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b="1" dirty="0">
                          <a:solidFill>
                            <a:srgbClr val="000000"/>
                          </a:solidFill>
                          <a:latin typeface="Plus Jakarta Sans" pitchFamily="34" charset="0"/>
                          <a:ea typeface="Plus Jakarta Sans" pitchFamily="34" charset="-122"/>
                          <a:cs typeface="Plus Jakarta Sans" pitchFamily="34" charset="-120"/>
                        </a:rPr>
                        <a:t>Status</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b="1" dirty="0">
                          <a:solidFill>
                            <a:srgbClr val="000000"/>
                          </a:solidFill>
                          <a:latin typeface="Plus Jakarta Sans" pitchFamily="34" charset="0"/>
                          <a:ea typeface="Plus Jakarta Sans" pitchFamily="34" charset="-122"/>
                          <a:cs typeface="Plus Jakarta Sans" pitchFamily="34" charset="-120"/>
                        </a:rPr>
                        <a:t>Notes</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420624">
                <a:tc>
                  <a:txBody>
                    <a:bodyPr/>
                    <a:lstStyle/>
                    <a:p>
                      <a:pPr indent="0" marL="0">
                        <a:buNone/>
                      </a:pPr>
                      <a:r>
                        <a:rPr lang="en-US" sz="1100" dirty="0">
                          <a:solidFill>
                            <a:srgbClr val="000000"/>
                          </a:solidFill>
                          <a:latin typeface="Plus Jakarta Sans" pitchFamily="34" charset="0"/>
                          <a:ea typeface="Plus Jakarta Sans" pitchFamily="34" charset="-122"/>
                          <a:cs typeface="Plus Jakarta Sans" pitchFamily="34" charset="-120"/>
                        </a:rPr>
                        <a:t>Google Chrome</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000000"/>
                          </a:solidFill>
                          <a:latin typeface="Plus Jakarta Sans" pitchFamily="34" charset="0"/>
                          <a:ea typeface="Plus Jakarta Sans" pitchFamily="34" charset="-122"/>
                          <a:cs typeface="Plus Jakarta Sans" pitchFamily="34" charset="-120"/>
                        </a:rPr>
                        <a:t>Catalog, PLP Navigation</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0B981"/>
                          </a:solidFill>
                          <a:latin typeface="Plus Jakarta Sans" pitchFamily="34" charset="0"/>
                          <a:ea typeface="Plus Jakarta Sans" pitchFamily="34" charset="-122"/>
                          <a:cs typeface="Plus Jakarta Sans" pitchFamily="34" charset="-120"/>
                        </a:rPr>
                        <a:t>PASS</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000000"/>
                          </a:solidFill>
                          <a:latin typeface="Plus Jakarta Sans" pitchFamily="34" charset="0"/>
                          <a:ea typeface="Plus Jakarta Sans" pitchFamily="34" charset="-122"/>
                          <a:cs typeface="Plus Jakarta Sans" pitchFamily="34" charset="-120"/>
                        </a:rPr>
                        <a:t>Renders smoothly without visual clipping.</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20624">
                <a:tc>
                  <a:txBody>
                    <a:bodyPr/>
                    <a:lstStyle/>
                    <a:p>
                      <a:pPr indent="0" marL="0">
                        <a:buNone/>
                      </a:pPr>
                      <a:r>
                        <a:rPr lang="en-US" sz="1100" dirty="0">
                          <a:solidFill>
                            <a:srgbClr val="000000"/>
                          </a:solidFill>
                          <a:latin typeface="Plus Jakarta Sans" pitchFamily="34" charset="0"/>
                          <a:ea typeface="Plus Jakarta Sans" pitchFamily="34" charset="-122"/>
                          <a:cs typeface="Plus Jakarta Sans" pitchFamily="34" charset="-120"/>
                        </a:rPr>
                        <a:t>Mozilla Firefox</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000000"/>
                          </a:solidFill>
                          <a:latin typeface="Plus Jakarta Sans" pitchFamily="34" charset="0"/>
                          <a:ea typeface="Plus Jakarta Sans" pitchFamily="34" charset="-122"/>
                          <a:cs typeface="Plus Jakarta Sans" pitchFamily="34" charset="-120"/>
                        </a:rPr>
                        <a:t>Sitemap Links, Media</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0B981"/>
                          </a:solidFill>
                          <a:latin typeface="Plus Jakarta Sans" pitchFamily="34" charset="0"/>
                          <a:ea typeface="Plus Jakarta Sans" pitchFamily="34" charset="-122"/>
                          <a:cs typeface="Plus Jakarta Sans" pitchFamily="34" charset="-120"/>
                        </a:rPr>
                        <a:t>PASS</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000000"/>
                          </a:solidFill>
                          <a:latin typeface="Plus Jakarta Sans" pitchFamily="34" charset="0"/>
                          <a:ea typeface="Plus Jakarta Sans" pitchFamily="34" charset="-122"/>
                          <a:cs typeface="Plus Jakarta Sans" pitchFamily="34" charset="-120"/>
                        </a:rPr>
                        <a:t>Layout constraints fully respected.</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20624">
                <a:tc>
                  <a:txBody>
                    <a:bodyPr/>
                    <a:lstStyle/>
                    <a:p>
                      <a:pPr indent="0" marL="0">
                        <a:buNone/>
                      </a:pPr>
                      <a:r>
                        <a:rPr lang="en-US" sz="1100" dirty="0">
                          <a:solidFill>
                            <a:srgbClr val="000000"/>
                          </a:solidFill>
                          <a:latin typeface="Plus Jakarta Sans" pitchFamily="34" charset="0"/>
                          <a:ea typeface="Plus Jakarta Sans" pitchFamily="34" charset="-122"/>
                          <a:cs typeface="Plus Jakarta Sans" pitchFamily="34" charset="-120"/>
                        </a:rPr>
                        <a:t>Apple Safari</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000000"/>
                          </a:solidFill>
                          <a:latin typeface="Plus Jakarta Sans" pitchFamily="34" charset="0"/>
                          <a:ea typeface="Plus Jakarta Sans" pitchFamily="34" charset="-122"/>
                          <a:cs typeface="Plus Jakarta Sans" pitchFamily="34" charset="-120"/>
                        </a:rPr>
                        <a:t>Catalog Navigation</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0B981"/>
                          </a:solidFill>
                          <a:latin typeface="Plus Jakarta Sans" pitchFamily="34" charset="0"/>
                          <a:ea typeface="Plus Jakarta Sans" pitchFamily="34" charset="-122"/>
                          <a:cs typeface="Plus Jakarta Sans" pitchFamily="34" charset="-120"/>
                        </a:rPr>
                        <a:t>PASS</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000000"/>
                          </a:solidFill>
                          <a:latin typeface="Plus Jakarta Sans" pitchFamily="34" charset="0"/>
                          <a:ea typeface="Plus Jakarta Sans" pitchFamily="34" charset="-122"/>
                          <a:cs typeface="Plus Jakarta Sans" pitchFamily="34" charset="-120"/>
                        </a:rPr>
                        <a:t>Webkit engines render CSS rules cleanly.</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20624">
                <a:tc>
                  <a:txBody>
                    <a:bodyPr/>
                    <a:lstStyle/>
                    <a:p>
                      <a:pPr indent="0" marL="0">
                        <a:buNone/>
                      </a:pPr>
                      <a:r>
                        <a:rPr lang="en-US" sz="1100" dirty="0">
                          <a:solidFill>
                            <a:srgbClr val="000000"/>
                          </a:solidFill>
                          <a:latin typeface="Plus Jakarta Sans" pitchFamily="34" charset="0"/>
                          <a:ea typeface="Plus Jakarta Sans" pitchFamily="34" charset="-122"/>
                          <a:cs typeface="Plus Jakarta Sans" pitchFamily="34" charset="-120"/>
                        </a:rPr>
                        <a:t>Microsoft Edge</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000000"/>
                          </a:solidFill>
                          <a:latin typeface="Plus Jakarta Sans" pitchFamily="34" charset="0"/>
                          <a:ea typeface="Plus Jakarta Sans" pitchFamily="34" charset="-122"/>
                          <a:cs typeface="Plus Jakarta Sans" pitchFamily="34" charset="-120"/>
                        </a:rPr>
                        <a:t>Layered Filter Links</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0B981"/>
                          </a:solidFill>
                          <a:latin typeface="Plus Jakarta Sans" pitchFamily="34" charset="0"/>
                          <a:ea typeface="Plus Jakarta Sans" pitchFamily="34" charset="-122"/>
                          <a:cs typeface="Plus Jakarta Sans" pitchFamily="34" charset="-120"/>
                        </a:rPr>
                        <a:t>PASS</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000000"/>
                          </a:solidFill>
                          <a:latin typeface="Plus Jakarta Sans" pitchFamily="34" charset="0"/>
                          <a:ea typeface="Plus Jakarta Sans" pitchFamily="34" charset="-122"/>
                          <a:cs typeface="Plus Jakarta Sans" pitchFamily="34" charset="-120"/>
                        </a:rPr>
                        <a:t>Navigation &amp; filter links fully functional.</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10" name="Shape 6"/>
          <p:cNvSpPr/>
          <p:nvPr/>
        </p:nvSpPr>
        <p:spPr>
          <a:xfrm>
            <a:off x="1005840" y="4389120"/>
            <a:ext cx="10177272" cy="1417320"/>
          </a:xfrm>
          <a:prstGeom prst="roundRect">
            <a:avLst>
              <a:gd name="adj" fmla="val 5161"/>
            </a:avLst>
          </a:prstGeom>
          <a:solidFill>
            <a:srgbClr val="F8FAFC"/>
          </a:solidFill>
          <a:ln w="12700">
            <a:solidFill>
              <a:srgbClr val="E2E8F0"/>
            </a:solidFill>
            <a:prstDash val="solid"/>
          </a:ln>
        </p:spPr>
      </p:sp>
      <p:sp>
        <p:nvSpPr>
          <p:cNvPr id="11" name="Text 7"/>
          <p:cNvSpPr/>
          <p:nvPr/>
        </p:nvSpPr>
        <p:spPr>
          <a:xfrm>
            <a:off x="1188720" y="4526280"/>
            <a:ext cx="5486400" cy="228600"/>
          </a:xfrm>
          <a:prstGeom prst="rect">
            <a:avLst/>
          </a:prstGeom>
          <a:noFill/>
          <a:ln/>
        </p:spPr>
        <p:txBody>
          <a:bodyPr wrap="square" rtlCol="0" anchor="ctr"/>
          <a:lstStyle/>
          <a:p>
            <a:pPr indent="0" marL="0">
              <a:buNone/>
            </a:pPr>
            <a:r>
              <a:rPr lang="en-US" sz="1000" b="1" dirty="0">
                <a:solidFill>
                  <a:srgbClr val="0F172A"/>
                </a:solidFill>
                <a:latin typeface="Outfit" pitchFamily="34" charset="0"/>
                <a:ea typeface="Outfit" pitchFamily="34" charset="-122"/>
                <a:cs typeface="Outfit" pitchFamily="34" charset="-120"/>
              </a:rPr>
              <a:t>LAYERED FILTER &amp; CATALOG NAVIGATION VALIDATION</a:t>
            </a:r>
            <a:endParaRPr lang="en-US" sz="1000" dirty="0"/>
          </a:p>
        </p:txBody>
      </p:sp>
      <p:sp>
        <p:nvSpPr>
          <p:cNvPr id="12" name="Text 8"/>
          <p:cNvSpPr/>
          <p:nvPr/>
        </p:nvSpPr>
        <p:spPr>
          <a:xfrm>
            <a:off x="1188720" y="4800600"/>
            <a:ext cx="9784080" cy="868680"/>
          </a:xfrm>
          <a:prstGeom prst="rect">
            <a:avLst/>
          </a:prstGeom>
          <a:noFill/>
          <a:ln/>
        </p:spPr>
        <p:txBody>
          <a:bodyPr wrap="square" rtlCol="0" anchor="ctr"/>
          <a:lstStyle/>
          <a:p>
            <a:pPr indent="0" marL="0">
              <a:lnSpc>
                <a:spcPts val="1500"/>
              </a:lnSpc>
              <a:buNone/>
            </a:pPr>
            <a:r>
              <a:rPr lang="en-US" sz="1050" dirty="0">
                <a:solidFill>
                  <a:srgbClr val="64748B"/>
                </a:solidFill>
                <a:latin typeface="Plus Jakarta Sans" pitchFamily="34" charset="0"/>
                <a:ea typeface="Plus Jakarta Sans" pitchFamily="34" charset="-122"/>
                <a:cs typeface="Plus Jakarta Sans" pitchFamily="34" charset="-120"/>
              </a:rPr>
              <a:t>Layered navigation filters (category sidebar filters) were programmatically triggered across browser rendering engines. Click interactions on abstract category filter attributes update the product grid dynamically and navigate correctly to corresponding sub-URLs without routing errors, script exceptions, or layout displacement.</a:t>
            </a:r>
            <a:endParaRPr lang="en-US" sz="1050" dirty="0"/>
          </a:p>
        </p:txBody>
      </p:sp>
      <p:sp>
        <p:nvSpPr>
          <p:cNvPr id="13" name="Shape 9"/>
          <p:cNvSpPr/>
          <p:nvPr/>
        </p:nvSpPr>
        <p:spPr>
          <a:xfrm>
            <a:off x="731520" y="6217920"/>
            <a:ext cx="10725912" cy="384048"/>
          </a:xfrm>
          <a:prstGeom prst="roundRect">
            <a:avLst>
              <a:gd name="adj" fmla="val 19048"/>
            </a:avLst>
          </a:prstGeom>
          <a:solidFill>
            <a:srgbClr val="F1F5F9"/>
          </a:solidFill>
          <a:ln w="12700">
            <a:solidFill>
              <a:srgbClr val="E2E8F0"/>
            </a:solidFill>
            <a:prstDash val="solid"/>
          </a:ln>
        </p:spPr>
      </p:sp>
      <p:sp>
        <p:nvSpPr>
          <p:cNvPr id="14" name="Text 10"/>
          <p:cNvSpPr/>
          <p:nvPr/>
        </p:nvSpPr>
        <p:spPr>
          <a:xfrm>
            <a:off x="960120" y="6217920"/>
            <a:ext cx="10332720" cy="384048"/>
          </a:xfrm>
          <a:prstGeom prst="rect">
            <a:avLst/>
          </a:prstGeom>
          <a:noFill/>
          <a:ln/>
        </p:spPr>
        <p:txBody>
          <a:bodyPr wrap="square" rtlCol="0" anchor="ctr"/>
          <a:lstStyle/>
          <a:p>
            <a:pPr indent="0" marL="0">
              <a:buNone/>
            </a:pPr>
            <a:r>
              <a:rPr lang="en-US" sz="950" b="1" dirty="0">
                <a:solidFill>
                  <a:srgbClr val="334155"/>
                </a:solidFill>
                <a:latin typeface="Plus Jakarta Sans" pitchFamily="34" charset="0"/>
                <a:ea typeface="Plus Jakarta Sans" pitchFamily="34" charset="-122"/>
                <a:cs typeface="Plus Jakarta Sans" pitchFamily="34" charset="-120"/>
              </a:rPr>
              <a:t>✔  Cross-Browser Certification: Chrome, Firefox, Safari &amp; Edge Tested • Layered Navigation Operational • Zero UI Discrepancies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Diagnostics &amp; Tracking</a:t>
            </a:r>
            <a:endParaRPr lang="en-US" sz="1300" dirty="0"/>
          </a:p>
        </p:txBody>
      </p:sp>
      <p:sp>
        <p:nvSpPr>
          <p:cNvPr id="4" name="Text 1"/>
          <p:cNvSpPr/>
          <p:nvPr/>
        </p:nvSpPr>
        <p:spPr>
          <a:xfrm>
            <a:off x="731520" y="731520"/>
            <a:ext cx="877824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Analytics Tags &amp; Console Health Monitoring</a:t>
            </a:r>
            <a:endParaRPr lang="en-US" sz="2600" dirty="0"/>
          </a:p>
        </p:txBody>
      </p:sp>
      <p:sp>
        <p:nvSpPr>
          <p:cNvPr id="5" name="Text 2"/>
          <p:cNvSpPr/>
          <p:nvPr/>
        </p:nvSpPr>
        <p:spPr>
          <a:xfrm>
            <a:off x="731520" y="1325880"/>
            <a:ext cx="8229600" cy="365760"/>
          </a:xfrm>
          <a:prstGeom prst="rect">
            <a:avLst/>
          </a:prstGeom>
          <a:noFill/>
          <a:ln/>
        </p:spPr>
        <p:txBody>
          <a:bodyPr wrap="square" rtlCol="0" anchor="ctr"/>
          <a:lstStyle/>
          <a:p>
            <a:pPr indent="0" marL="0">
              <a:buNone/>
            </a:pPr>
            <a:r>
              <a:rPr lang="en-US" sz="1500" b="1" dirty="0">
                <a:solidFill>
                  <a:srgbClr val="10B981"/>
                </a:solidFill>
                <a:latin typeface="Plus Jakarta Sans" pitchFamily="34" charset="0"/>
                <a:ea typeface="Plus Jakarta Sans" pitchFamily="34" charset="-122"/>
                <a:cs typeface="Plus Jakarta Sans" pitchFamily="34" charset="-120"/>
              </a:rPr>
              <a:t>Your tracking is live and your pages are loading cleanly.</a:t>
            </a:r>
            <a:endParaRPr lang="en-US" sz="1500" dirty="0"/>
          </a:p>
        </p:txBody>
      </p:sp>
      <p:sp>
        <p:nvSpPr>
          <p:cNvPr id="6" name="Shape 3"/>
          <p:cNvSpPr/>
          <p:nvPr/>
        </p:nvSpPr>
        <p:spPr>
          <a:xfrm>
            <a:off x="731520" y="1874520"/>
            <a:ext cx="6126480" cy="4160520"/>
          </a:xfrm>
          <a:prstGeom prst="roundRect">
            <a:avLst>
              <a:gd name="adj" fmla="val 2198"/>
            </a:avLst>
          </a:prstGeom>
          <a:solidFill>
            <a:srgbClr val="F8FAFC"/>
          </a:solidFill>
          <a:ln w="12700">
            <a:solidFill>
              <a:srgbClr val="E2E8F0"/>
            </a:solidFill>
            <a:prstDash val="solid"/>
          </a:ln>
        </p:spPr>
      </p:sp>
      <p:sp>
        <p:nvSpPr>
          <p:cNvPr id="7" name="Text 4"/>
          <p:cNvSpPr/>
          <p:nvPr/>
        </p:nvSpPr>
        <p:spPr>
          <a:xfrm>
            <a:off x="1005840" y="2011680"/>
            <a:ext cx="3657600" cy="274320"/>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TRACKING TAGS</a:t>
            </a:r>
            <a:endParaRPr lang="en-US" sz="1000" dirty="0"/>
          </a:p>
        </p:txBody>
      </p:sp>
      <p:sp>
        <p:nvSpPr>
          <p:cNvPr id="8" name="Shape 5"/>
          <p:cNvSpPr/>
          <p:nvPr/>
        </p:nvSpPr>
        <p:spPr>
          <a:xfrm>
            <a:off x="1005840" y="2377440"/>
            <a:ext cx="5577840" cy="1554480"/>
          </a:xfrm>
          <a:prstGeom prst="roundRect">
            <a:avLst>
              <a:gd name="adj" fmla="val 4706"/>
            </a:avLst>
          </a:prstGeom>
          <a:solidFill>
            <a:srgbClr val="FFFFFF"/>
          </a:solidFill>
          <a:ln w="12700">
            <a:solidFill>
              <a:srgbClr val="E2E8F0"/>
            </a:solidFill>
            <a:prstDash val="solid"/>
          </a:ln>
        </p:spPr>
      </p:sp>
      <p:sp>
        <p:nvSpPr>
          <p:cNvPr id="9" name="Shape 6"/>
          <p:cNvSpPr/>
          <p:nvPr/>
        </p:nvSpPr>
        <p:spPr>
          <a:xfrm>
            <a:off x="1188720" y="2898648"/>
            <a:ext cx="512064" cy="512064"/>
          </a:xfrm>
          <a:prstGeom prst="ellipse">
            <a:avLst/>
          </a:prstGeom>
          <a:solidFill>
            <a:srgbClr val="10B981"/>
          </a:solidFill>
          <a:ln w="12700">
            <a:solidFill>
              <a:srgbClr val="10B981"/>
            </a:solidFill>
            <a:prstDash val="solid"/>
          </a:ln>
        </p:spPr>
      </p:sp>
      <p:sp>
        <p:nvSpPr>
          <p:cNvPr id="10" name="Text 7"/>
          <p:cNvSpPr/>
          <p:nvPr/>
        </p:nvSpPr>
        <p:spPr>
          <a:xfrm>
            <a:off x="1188720" y="2898648"/>
            <a:ext cx="512064" cy="512064"/>
          </a:xfrm>
          <a:prstGeom prst="rect">
            <a:avLst/>
          </a:prstGeom>
          <a:noFill/>
          <a:ln/>
        </p:spPr>
        <p:txBody>
          <a:bodyPr wrap="square" rtlCol="0" anchor="ctr"/>
          <a:lstStyle/>
          <a:p>
            <a:pPr algn="ctr" indent="0" marL="0">
              <a:buNone/>
            </a:pPr>
            <a:r>
              <a:rPr lang="en-US" sz="1800" b="1" dirty="0">
                <a:solidFill>
                  <a:srgbClr val="FFFFFF"/>
                </a:solidFill>
                <a:latin typeface="Plus Jakarta Sans" pitchFamily="34" charset="0"/>
                <a:ea typeface="Plus Jakarta Sans" pitchFamily="34" charset="-122"/>
                <a:cs typeface="Plus Jakarta Sans" pitchFamily="34" charset="-120"/>
              </a:rPr>
              <a:t>✔</a:t>
            </a:r>
            <a:endParaRPr lang="en-US" sz="1800" dirty="0"/>
          </a:p>
        </p:txBody>
      </p:sp>
      <p:sp>
        <p:nvSpPr>
          <p:cNvPr id="11" name="Text 8"/>
          <p:cNvSpPr/>
          <p:nvPr/>
        </p:nvSpPr>
        <p:spPr>
          <a:xfrm>
            <a:off x="1874520" y="2743200"/>
            <a:ext cx="2926080" cy="329184"/>
          </a:xfrm>
          <a:prstGeom prst="rect">
            <a:avLst/>
          </a:prstGeom>
          <a:noFill/>
          <a:ln/>
        </p:spPr>
        <p:txBody>
          <a:bodyPr wrap="square" rtlCol="0" anchor="ctr"/>
          <a:lstStyle/>
          <a:p>
            <a:pPr indent="0" marL="0">
              <a:buNone/>
            </a:pPr>
            <a:r>
              <a:rPr lang="en-US" sz="1500" b="1" dirty="0">
                <a:solidFill>
                  <a:srgbClr val="0F172A"/>
                </a:solidFill>
                <a:latin typeface="Outfit" pitchFamily="34" charset="0"/>
                <a:ea typeface="Outfit" pitchFamily="34" charset="-122"/>
                <a:cs typeface="Outfit" pitchFamily="34" charset="-120"/>
              </a:rPr>
              <a:t>Google Tag Manager</a:t>
            </a:r>
            <a:endParaRPr lang="en-US" sz="1500" dirty="0"/>
          </a:p>
        </p:txBody>
      </p:sp>
      <p:sp>
        <p:nvSpPr>
          <p:cNvPr id="12" name="Text 9"/>
          <p:cNvSpPr/>
          <p:nvPr/>
        </p:nvSpPr>
        <p:spPr>
          <a:xfrm>
            <a:off x="1874520" y="3099816"/>
            <a:ext cx="3017520" cy="457200"/>
          </a:xfrm>
          <a:prstGeom prst="rect">
            <a:avLst/>
          </a:prstGeom>
          <a:noFill/>
          <a:ln/>
        </p:spPr>
        <p:txBody>
          <a:bodyPr wrap="square" rtlCol="0" anchor="t"/>
          <a:lstStyle/>
          <a:p>
            <a:pPr indent="0" marL="0">
              <a:lnSpc>
                <a:spcPct val="110000"/>
              </a:lnSpc>
              <a:buNone/>
            </a:pPr>
            <a:r>
              <a:rPr lang="en-US" sz="1000" dirty="0">
                <a:solidFill>
                  <a:srgbClr val="64748B"/>
                </a:solidFill>
                <a:latin typeface="Plus Jakarta Sans" pitchFamily="34" charset="0"/>
                <a:ea typeface="Plus Jakarta Sans" pitchFamily="34" charset="-122"/>
                <a:cs typeface="Plus Jakarta Sans" pitchFamily="34" charset="-120"/>
              </a:rPr>
              <a:t>Manages your marketing and tracking tags in one place</a:t>
            </a:r>
            <a:endParaRPr lang="en-US" sz="1000" dirty="0"/>
          </a:p>
        </p:txBody>
      </p:sp>
      <p:sp>
        <p:nvSpPr>
          <p:cNvPr id="13" name="Shape 10"/>
          <p:cNvSpPr/>
          <p:nvPr/>
        </p:nvSpPr>
        <p:spPr>
          <a:xfrm>
            <a:off x="5074920" y="2807208"/>
            <a:ext cx="1371600" cy="292608"/>
          </a:xfrm>
          <a:prstGeom prst="roundRect">
            <a:avLst>
              <a:gd name="adj" fmla="val 50000"/>
            </a:avLst>
          </a:prstGeom>
          <a:solidFill>
            <a:srgbClr val="ECFDF5"/>
          </a:solidFill>
          <a:ln w="12700">
            <a:solidFill>
              <a:srgbClr val="10B981"/>
            </a:solidFill>
            <a:prstDash val="solid"/>
          </a:ln>
        </p:spPr>
      </p:sp>
      <p:sp>
        <p:nvSpPr>
          <p:cNvPr id="14" name="Text 11"/>
          <p:cNvSpPr/>
          <p:nvPr/>
        </p:nvSpPr>
        <p:spPr>
          <a:xfrm>
            <a:off x="5074920" y="2807208"/>
            <a:ext cx="1371600" cy="292608"/>
          </a:xfrm>
          <a:prstGeom prst="rect">
            <a:avLst/>
          </a:prstGeom>
          <a:noFill/>
          <a:ln/>
        </p:spPr>
        <p:txBody>
          <a:bodyPr wrap="square" rtlCol="0" anchor="ctr"/>
          <a:lstStyle/>
          <a:p>
            <a:pPr algn="ctr" indent="0" marL="0">
              <a:buNone/>
            </a:pPr>
            <a:r>
              <a:rPr lang="en-US" sz="1000" b="1" dirty="0">
                <a:solidFill>
                  <a:srgbClr val="047857"/>
                </a:solidFill>
                <a:latin typeface="Plus Jakarta Sans" pitchFamily="34" charset="0"/>
                <a:ea typeface="Plus Jakarta Sans" pitchFamily="34" charset="-122"/>
                <a:cs typeface="Plus Jakarta Sans" pitchFamily="34" charset="-120"/>
              </a:rPr>
              <a:t>Active</a:t>
            </a:r>
            <a:endParaRPr lang="en-US" sz="1000" dirty="0"/>
          </a:p>
        </p:txBody>
      </p:sp>
      <p:sp>
        <p:nvSpPr>
          <p:cNvPr id="15" name="Text 12"/>
          <p:cNvSpPr/>
          <p:nvPr/>
        </p:nvSpPr>
        <p:spPr>
          <a:xfrm>
            <a:off x="5074920" y="3200400"/>
            <a:ext cx="1371600" cy="274320"/>
          </a:xfrm>
          <a:prstGeom prst="rect">
            <a:avLst/>
          </a:prstGeom>
          <a:noFill/>
          <a:ln/>
        </p:spPr>
        <p:txBody>
          <a:bodyPr wrap="square" rtlCol="0" anchor="ctr"/>
          <a:lstStyle/>
          <a:p>
            <a:pPr algn="ctr" indent="0" marL="0">
              <a:buNone/>
            </a:pPr>
            <a:r>
              <a:rPr lang="en-US" sz="900" dirty="0">
                <a:solidFill>
                  <a:srgbClr val="64748B"/>
                </a:solidFill>
                <a:latin typeface="Consolas" pitchFamily="34" charset="0"/>
                <a:ea typeface="Consolas" pitchFamily="34" charset="-122"/>
                <a:cs typeface="Consolas" pitchFamily="34" charset="-120"/>
              </a:rPr>
              <a:t>GTM-5TGTCHLN</a:t>
            </a:r>
            <a:endParaRPr lang="en-US" sz="900" dirty="0"/>
          </a:p>
        </p:txBody>
      </p:sp>
      <p:sp>
        <p:nvSpPr>
          <p:cNvPr id="16" name="Shape 13"/>
          <p:cNvSpPr/>
          <p:nvPr/>
        </p:nvSpPr>
        <p:spPr>
          <a:xfrm>
            <a:off x="1005840" y="4114800"/>
            <a:ext cx="5577840" cy="1554480"/>
          </a:xfrm>
          <a:prstGeom prst="roundRect">
            <a:avLst>
              <a:gd name="adj" fmla="val 4706"/>
            </a:avLst>
          </a:prstGeom>
          <a:solidFill>
            <a:srgbClr val="FFFFFF"/>
          </a:solidFill>
          <a:ln w="12700">
            <a:solidFill>
              <a:srgbClr val="E2E8F0"/>
            </a:solidFill>
            <a:prstDash val="solid"/>
          </a:ln>
        </p:spPr>
      </p:sp>
      <p:sp>
        <p:nvSpPr>
          <p:cNvPr id="17" name="Shape 14"/>
          <p:cNvSpPr/>
          <p:nvPr/>
        </p:nvSpPr>
        <p:spPr>
          <a:xfrm>
            <a:off x="1188720" y="4636008"/>
            <a:ext cx="512064" cy="512064"/>
          </a:xfrm>
          <a:prstGeom prst="ellipse">
            <a:avLst/>
          </a:prstGeom>
          <a:solidFill>
            <a:srgbClr val="10B981"/>
          </a:solidFill>
          <a:ln w="12700">
            <a:solidFill>
              <a:srgbClr val="10B981"/>
            </a:solidFill>
            <a:prstDash val="solid"/>
          </a:ln>
        </p:spPr>
      </p:sp>
      <p:sp>
        <p:nvSpPr>
          <p:cNvPr id="18" name="Text 15"/>
          <p:cNvSpPr/>
          <p:nvPr/>
        </p:nvSpPr>
        <p:spPr>
          <a:xfrm>
            <a:off x="1188720" y="4636008"/>
            <a:ext cx="512064" cy="512064"/>
          </a:xfrm>
          <a:prstGeom prst="rect">
            <a:avLst/>
          </a:prstGeom>
          <a:noFill/>
          <a:ln/>
        </p:spPr>
        <p:txBody>
          <a:bodyPr wrap="square" rtlCol="0" anchor="ctr"/>
          <a:lstStyle/>
          <a:p>
            <a:pPr algn="ctr" indent="0" marL="0">
              <a:buNone/>
            </a:pPr>
            <a:r>
              <a:rPr lang="en-US" sz="1800" b="1" dirty="0">
                <a:solidFill>
                  <a:srgbClr val="FFFFFF"/>
                </a:solidFill>
                <a:latin typeface="Plus Jakarta Sans" pitchFamily="34" charset="0"/>
                <a:ea typeface="Plus Jakarta Sans" pitchFamily="34" charset="-122"/>
                <a:cs typeface="Plus Jakarta Sans" pitchFamily="34" charset="-120"/>
              </a:rPr>
              <a:t>✔</a:t>
            </a:r>
            <a:endParaRPr lang="en-US" sz="1800" dirty="0"/>
          </a:p>
        </p:txBody>
      </p:sp>
      <p:sp>
        <p:nvSpPr>
          <p:cNvPr id="19" name="Text 16"/>
          <p:cNvSpPr/>
          <p:nvPr/>
        </p:nvSpPr>
        <p:spPr>
          <a:xfrm>
            <a:off x="1874520" y="4480560"/>
            <a:ext cx="2926080" cy="329184"/>
          </a:xfrm>
          <a:prstGeom prst="rect">
            <a:avLst/>
          </a:prstGeom>
          <a:noFill/>
          <a:ln/>
        </p:spPr>
        <p:txBody>
          <a:bodyPr wrap="square" rtlCol="0" anchor="ctr"/>
          <a:lstStyle/>
          <a:p>
            <a:pPr indent="0" marL="0">
              <a:buNone/>
            </a:pPr>
            <a:r>
              <a:rPr lang="en-US" sz="1500" b="1" dirty="0">
                <a:solidFill>
                  <a:srgbClr val="0F172A"/>
                </a:solidFill>
                <a:latin typeface="Outfit" pitchFamily="34" charset="0"/>
                <a:ea typeface="Outfit" pitchFamily="34" charset="-122"/>
                <a:cs typeface="Outfit" pitchFamily="34" charset="-120"/>
              </a:rPr>
              <a:t>Google Analytics (GA4)</a:t>
            </a:r>
            <a:endParaRPr lang="en-US" sz="1500" dirty="0"/>
          </a:p>
        </p:txBody>
      </p:sp>
      <p:sp>
        <p:nvSpPr>
          <p:cNvPr id="20" name="Text 17"/>
          <p:cNvSpPr/>
          <p:nvPr/>
        </p:nvSpPr>
        <p:spPr>
          <a:xfrm>
            <a:off x="1874520" y="4837176"/>
            <a:ext cx="3017520" cy="457200"/>
          </a:xfrm>
          <a:prstGeom prst="rect">
            <a:avLst/>
          </a:prstGeom>
          <a:noFill/>
          <a:ln/>
        </p:spPr>
        <p:txBody>
          <a:bodyPr wrap="square" rtlCol="0" anchor="t"/>
          <a:lstStyle/>
          <a:p>
            <a:pPr indent="0" marL="0">
              <a:lnSpc>
                <a:spcPct val="110000"/>
              </a:lnSpc>
              <a:buNone/>
            </a:pPr>
            <a:r>
              <a:rPr lang="en-US" sz="1000" dirty="0">
                <a:solidFill>
                  <a:srgbClr val="64748B"/>
                </a:solidFill>
                <a:latin typeface="Plus Jakarta Sans" pitchFamily="34" charset="0"/>
                <a:ea typeface="Plus Jakarta Sans" pitchFamily="34" charset="-122"/>
                <a:cs typeface="Plus Jakarta Sans" pitchFamily="34" charset="-120"/>
              </a:rPr>
              <a:t>Records visits, sales and customer behaviour</a:t>
            </a:r>
            <a:endParaRPr lang="en-US" sz="1000" dirty="0"/>
          </a:p>
        </p:txBody>
      </p:sp>
      <p:sp>
        <p:nvSpPr>
          <p:cNvPr id="21" name="Shape 18"/>
          <p:cNvSpPr/>
          <p:nvPr/>
        </p:nvSpPr>
        <p:spPr>
          <a:xfrm>
            <a:off x="5074920" y="4544568"/>
            <a:ext cx="1371600" cy="292608"/>
          </a:xfrm>
          <a:prstGeom prst="roundRect">
            <a:avLst>
              <a:gd name="adj" fmla="val 50000"/>
            </a:avLst>
          </a:prstGeom>
          <a:solidFill>
            <a:srgbClr val="ECFDF5"/>
          </a:solidFill>
          <a:ln w="12700">
            <a:solidFill>
              <a:srgbClr val="10B981"/>
            </a:solidFill>
            <a:prstDash val="solid"/>
          </a:ln>
        </p:spPr>
      </p:sp>
      <p:sp>
        <p:nvSpPr>
          <p:cNvPr id="22" name="Text 19"/>
          <p:cNvSpPr/>
          <p:nvPr/>
        </p:nvSpPr>
        <p:spPr>
          <a:xfrm>
            <a:off x="5074920" y="4544568"/>
            <a:ext cx="1371600" cy="292608"/>
          </a:xfrm>
          <a:prstGeom prst="rect">
            <a:avLst/>
          </a:prstGeom>
          <a:noFill/>
          <a:ln/>
        </p:spPr>
        <p:txBody>
          <a:bodyPr wrap="square" rtlCol="0" anchor="ctr"/>
          <a:lstStyle/>
          <a:p>
            <a:pPr algn="ctr" indent="0" marL="0">
              <a:buNone/>
            </a:pPr>
            <a:r>
              <a:rPr lang="en-US" sz="1000" b="1" dirty="0">
                <a:solidFill>
                  <a:srgbClr val="047857"/>
                </a:solidFill>
                <a:latin typeface="Plus Jakarta Sans" pitchFamily="34" charset="0"/>
                <a:ea typeface="Plus Jakarta Sans" pitchFamily="34" charset="-122"/>
                <a:cs typeface="Plus Jakarta Sans" pitchFamily="34" charset="-120"/>
              </a:rPr>
              <a:t>Active</a:t>
            </a:r>
            <a:endParaRPr lang="en-US" sz="1000" dirty="0"/>
          </a:p>
        </p:txBody>
      </p:sp>
      <p:sp>
        <p:nvSpPr>
          <p:cNvPr id="23" name="Text 20"/>
          <p:cNvSpPr/>
          <p:nvPr/>
        </p:nvSpPr>
        <p:spPr>
          <a:xfrm>
            <a:off x="5074920" y="4937760"/>
            <a:ext cx="1371600" cy="274320"/>
          </a:xfrm>
          <a:prstGeom prst="rect">
            <a:avLst/>
          </a:prstGeom>
          <a:noFill/>
          <a:ln/>
        </p:spPr>
        <p:txBody>
          <a:bodyPr wrap="square" rtlCol="0" anchor="ctr"/>
          <a:lstStyle/>
          <a:p>
            <a:pPr algn="ctr" indent="0" marL="0">
              <a:buNone/>
            </a:pPr>
            <a:r>
              <a:rPr lang="en-US" sz="900" dirty="0">
                <a:solidFill>
                  <a:srgbClr val="64748B"/>
                </a:solidFill>
                <a:latin typeface="Consolas" pitchFamily="34" charset="0"/>
                <a:ea typeface="Consolas" pitchFamily="34" charset="-122"/>
                <a:cs typeface="Consolas" pitchFamily="34" charset="-120"/>
              </a:rPr>
              <a:t>G-BMBFXDXZX1</a:t>
            </a:r>
            <a:endParaRPr lang="en-US" sz="900" dirty="0"/>
          </a:p>
        </p:txBody>
      </p:sp>
      <p:sp>
        <p:nvSpPr>
          <p:cNvPr id="24" name="Shape 21"/>
          <p:cNvSpPr/>
          <p:nvPr/>
        </p:nvSpPr>
        <p:spPr>
          <a:xfrm>
            <a:off x="7178040" y="1874520"/>
            <a:ext cx="4297680" cy="4160520"/>
          </a:xfrm>
          <a:prstGeom prst="roundRect">
            <a:avLst>
              <a:gd name="adj" fmla="val 2198"/>
            </a:avLst>
          </a:prstGeom>
          <a:solidFill>
            <a:srgbClr val="F8FAFC"/>
          </a:solidFill>
          <a:ln w="12700">
            <a:solidFill>
              <a:srgbClr val="E2E8F0"/>
            </a:solidFill>
            <a:prstDash val="solid"/>
          </a:ln>
        </p:spPr>
      </p:sp>
      <p:sp>
        <p:nvSpPr>
          <p:cNvPr id="25" name="Text 22"/>
          <p:cNvSpPr/>
          <p:nvPr/>
        </p:nvSpPr>
        <p:spPr>
          <a:xfrm>
            <a:off x="7452360" y="2011680"/>
            <a:ext cx="3657600" cy="274320"/>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PAGE HEALTH DURING LOAD</a:t>
            </a:r>
            <a:endParaRPr lang="en-US" sz="1000" dirty="0"/>
          </a:p>
        </p:txBody>
      </p:sp>
      <p:sp>
        <p:nvSpPr>
          <p:cNvPr id="26" name="Shape 23"/>
          <p:cNvSpPr/>
          <p:nvPr/>
        </p:nvSpPr>
        <p:spPr>
          <a:xfrm>
            <a:off x="7498080" y="2697480"/>
            <a:ext cx="1600200" cy="1600200"/>
          </a:xfrm>
          <a:prstGeom prst="ellipse">
            <a:avLst/>
          </a:prstGeom>
          <a:solidFill>
            <a:srgbClr val="ECFDF5"/>
          </a:solidFill>
          <a:ln w="88900">
            <a:solidFill>
              <a:srgbClr val="10B981"/>
            </a:solidFill>
            <a:prstDash val="solid"/>
          </a:ln>
        </p:spPr>
      </p:sp>
      <p:sp>
        <p:nvSpPr>
          <p:cNvPr id="27" name="Text 24"/>
          <p:cNvSpPr/>
          <p:nvPr/>
        </p:nvSpPr>
        <p:spPr>
          <a:xfrm>
            <a:off x="7498080" y="2971800"/>
            <a:ext cx="1600200" cy="1005840"/>
          </a:xfrm>
          <a:prstGeom prst="rect">
            <a:avLst/>
          </a:prstGeom>
          <a:noFill/>
          <a:ln/>
        </p:spPr>
        <p:txBody>
          <a:bodyPr wrap="square" rtlCol="0" anchor="ctr"/>
          <a:lstStyle/>
          <a:p>
            <a:pPr algn="ctr" indent="0" marL="0">
              <a:buNone/>
            </a:pPr>
            <a:r>
              <a:rPr lang="en-US" sz="4400" b="1" dirty="0">
                <a:solidFill>
                  <a:srgbClr val="10B981"/>
                </a:solidFill>
                <a:latin typeface="Outfit" pitchFamily="34" charset="0"/>
                <a:ea typeface="Outfit" pitchFamily="34" charset="-122"/>
                <a:cs typeface="Outfit" pitchFamily="34" charset="-120"/>
              </a:rPr>
              <a:t>0</a:t>
            </a:r>
            <a:endParaRPr lang="en-US" sz="4400" dirty="0"/>
          </a:p>
        </p:txBody>
      </p:sp>
      <p:sp>
        <p:nvSpPr>
          <p:cNvPr id="28" name="Text 25"/>
          <p:cNvSpPr/>
          <p:nvPr/>
        </p:nvSpPr>
        <p:spPr>
          <a:xfrm>
            <a:off x="7315200" y="4434840"/>
            <a:ext cx="1965960" cy="292608"/>
          </a:xfrm>
          <a:prstGeom prst="rect">
            <a:avLst/>
          </a:prstGeom>
          <a:noFill/>
          <a:ln/>
        </p:spPr>
        <p:txBody>
          <a:bodyPr wrap="square" rtlCol="0" anchor="ctr"/>
          <a:lstStyle/>
          <a:p>
            <a:pPr algn="ctr" indent="0" marL="0">
              <a:buNone/>
            </a:pPr>
            <a:r>
              <a:rPr lang="en-US" sz="1300" b="1" dirty="0">
                <a:solidFill>
                  <a:srgbClr val="0F172A"/>
                </a:solidFill>
                <a:latin typeface="Outfit" pitchFamily="34" charset="0"/>
                <a:ea typeface="Outfit" pitchFamily="34" charset="-122"/>
                <a:cs typeface="Outfit" pitchFamily="34" charset="-120"/>
              </a:rPr>
              <a:t>Script errors</a:t>
            </a:r>
            <a:endParaRPr lang="en-US" sz="1300" dirty="0"/>
          </a:p>
        </p:txBody>
      </p:sp>
      <p:sp>
        <p:nvSpPr>
          <p:cNvPr id="29" name="Text 26"/>
          <p:cNvSpPr/>
          <p:nvPr/>
        </p:nvSpPr>
        <p:spPr>
          <a:xfrm>
            <a:off x="7315200" y="4727448"/>
            <a:ext cx="1965960" cy="274320"/>
          </a:xfrm>
          <a:prstGeom prst="rect">
            <a:avLst/>
          </a:prstGeom>
          <a:noFill/>
          <a:ln/>
        </p:spPr>
        <p:txBody>
          <a:bodyPr wrap="square" rtlCol="0" anchor="ctr"/>
          <a:lstStyle/>
          <a:p>
            <a:pPr algn="ctr" indent="0" marL="0">
              <a:buNone/>
            </a:pPr>
            <a:r>
              <a:rPr lang="en-US" sz="1000" dirty="0">
                <a:solidFill>
                  <a:srgbClr val="64748B"/>
                </a:solidFill>
                <a:latin typeface="Plus Jakarta Sans" pitchFamily="34" charset="0"/>
                <a:ea typeface="Plus Jakarta Sans" pitchFamily="34" charset="-122"/>
                <a:cs typeface="Plus Jakarta Sans" pitchFamily="34" charset="-120"/>
              </a:rPr>
              <a:t>Code problems on the page</a:t>
            </a:r>
            <a:endParaRPr lang="en-US" sz="1000" dirty="0"/>
          </a:p>
        </p:txBody>
      </p:sp>
      <p:sp>
        <p:nvSpPr>
          <p:cNvPr id="30" name="Shape 27"/>
          <p:cNvSpPr/>
          <p:nvPr/>
        </p:nvSpPr>
        <p:spPr>
          <a:xfrm>
            <a:off x="9464040" y="2697480"/>
            <a:ext cx="1600200" cy="1600200"/>
          </a:xfrm>
          <a:prstGeom prst="ellipse">
            <a:avLst/>
          </a:prstGeom>
          <a:solidFill>
            <a:srgbClr val="ECFDF5"/>
          </a:solidFill>
          <a:ln w="88900">
            <a:solidFill>
              <a:srgbClr val="10B981"/>
            </a:solidFill>
            <a:prstDash val="solid"/>
          </a:ln>
        </p:spPr>
      </p:sp>
      <p:sp>
        <p:nvSpPr>
          <p:cNvPr id="31" name="Text 28"/>
          <p:cNvSpPr/>
          <p:nvPr/>
        </p:nvSpPr>
        <p:spPr>
          <a:xfrm>
            <a:off x="9464040" y="2971800"/>
            <a:ext cx="1600200" cy="1005840"/>
          </a:xfrm>
          <a:prstGeom prst="rect">
            <a:avLst/>
          </a:prstGeom>
          <a:noFill/>
          <a:ln/>
        </p:spPr>
        <p:txBody>
          <a:bodyPr wrap="square" rtlCol="0" anchor="ctr"/>
          <a:lstStyle/>
          <a:p>
            <a:pPr algn="ctr" indent="0" marL="0">
              <a:buNone/>
            </a:pPr>
            <a:r>
              <a:rPr lang="en-US" sz="4400" b="1" dirty="0">
                <a:solidFill>
                  <a:srgbClr val="10B981"/>
                </a:solidFill>
                <a:latin typeface="Outfit" pitchFamily="34" charset="0"/>
                <a:ea typeface="Outfit" pitchFamily="34" charset="-122"/>
                <a:cs typeface="Outfit" pitchFamily="34" charset="-120"/>
              </a:rPr>
              <a:t>0</a:t>
            </a:r>
            <a:endParaRPr lang="en-US" sz="4400" dirty="0"/>
          </a:p>
        </p:txBody>
      </p:sp>
      <p:sp>
        <p:nvSpPr>
          <p:cNvPr id="32" name="Text 29"/>
          <p:cNvSpPr/>
          <p:nvPr/>
        </p:nvSpPr>
        <p:spPr>
          <a:xfrm>
            <a:off x="9281160" y="4434840"/>
            <a:ext cx="1965960" cy="292608"/>
          </a:xfrm>
          <a:prstGeom prst="rect">
            <a:avLst/>
          </a:prstGeom>
          <a:noFill/>
          <a:ln/>
        </p:spPr>
        <p:txBody>
          <a:bodyPr wrap="square" rtlCol="0" anchor="ctr"/>
          <a:lstStyle/>
          <a:p>
            <a:pPr algn="ctr" indent="0" marL="0">
              <a:buNone/>
            </a:pPr>
            <a:r>
              <a:rPr lang="en-US" sz="1300" b="1" dirty="0">
                <a:solidFill>
                  <a:srgbClr val="0F172A"/>
                </a:solidFill>
                <a:latin typeface="Outfit" pitchFamily="34" charset="0"/>
                <a:ea typeface="Outfit" pitchFamily="34" charset="-122"/>
                <a:cs typeface="Outfit" pitchFamily="34" charset="-120"/>
              </a:rPr>
              <a:t>Failed requests</a:t>
            </a:r>
            <a:endParaRPr lang="en-US" sz="1300" dirty="0"/>
          </a:p>
        </p:txBody>
      </p:sp>
      <p:sp>
        <p:nvSpPr>
          <p:cNvPr id="33" name="Text 30"/>
          <p:cNvSpPr/>
          <p:nvPr/>
        </p:nvSpPr>
        <p:spPr>
          <a:xfrm>
            <a:off x="9281160" y="4727448"/>
            <a:ext cx="1965960" cy="274320"/>
          </a:xfrm>
          <a:prstGeom prst="rect">
            <a:avLst/>
          </a:prstGeom>
          <a:noFill/>
          <a:ln/>
        </p:spPr>
        <p:txBody>
          <a:bodyPr wrap="square" rtlCol="0" anchor="ctr"/>
          <a:lstStyle/>
          <a:p>
            <a:pPr algn="ctr" indent="0" marL="0">
              <a:buNone/>
            </a:pPr>
            <a:r>
              <a:rPr lang="en-US" sz="1000" dirty="0">
                <a:solidFill>
                  <a:srgbClr val="64748B"/>
                </a:solidFill>
                <a:latin typeface="Plus Jakarta Sans" pitchFamily="34" charset="0"/>
                <a:ea typeface="Plus Jakarta Sans" pitchFamily="34" charset="-122"/>
                <a:cs typeface="Plus Jakarta Sans" pitchFamily="34" charset="-120"/>
              </a:rPr>
              <a:t>Files that did not load</a:t>
            </a:r>
            <a:endParaRPr lang="en-US" sz="1000" dirty="0"/>
          </a:p>
        </p:txBody>
      </p:sp>
      <p:sp>
        <p:nvSpPr>
          <p:cNvPr id="34" name="Text 31"/>
          <p:cNvSpPr/>
          <p:nvPr/>
        </p:nvSpPr>
        <p:spPr>
          <a:xfrm>
            <a:off x="7452360" y="5394960"/>
            <a:ext cx="3657600" cy="274320"/>
          </a:xfrm>
          <a:prstGeom prst="rect">
            <a:avLst/>
          </a:prstGeom>
          <a:noFill/>
          <a:ln/>
        </p:spPr>
        <p:txBody>
          <a:bodyPr wrap="square" rtlCol="0" anchor="ctr"/>
          <a:lstStyle/>
          <a:p>
            <a:pPr algn="ctr" indent="0" marL="0">
              <a:buNone/>
            </a:pPr>
            <a:r>
              <a:rPr lang="en-US" sz="1000" i="1" dirty="0">
                <a:solidFill>
                  <a:srgbClr val="64748B"/>
                </a:solidFill>
                <a:latin typeface="Plus Jakarta Sans" pitchFamily="34" charset="0"/>
                <a:ea typeface="Plus Jakarta Sans" pitchFamily="34" charset="-122"/>
                <a:cs typeface="Plus Jakarta Sans" pitchFamily="34" charset="-120"/>
              </a:rPr>
              <a:t>Checked automatically every month</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1097280"/>
            <a:ext cx="10515600" cy="914400"/>
          </a:xfrm>
          <a:prstGeom prst="rect">
            <a:avLst/>
          </a:prstGeom>
          <a:noFill/>
          <a:ln/>
        </p:spPr>
        <p:txBody>
          <a:bodyPr wrap="square" rtlCol="0" anchor="ctr"/>
          <a:lstStyle/>
          <a:p>
            <a:pPr indent="0" marL="0">
              <a:buNone/>
            </a:pPr>
            <a:r>
              <a:rPr lang="en-US" sz="4400" b="1" dirty="0">
                <a:solidFill>
                  <a:srgbClr val="0F172A"/>
                </a:solidFill>
                <a:latin typeface="Outfit" pitchFamily="34" charset="0"/>
                <a:ea typeface="Outfit" pitchFamily="34" charset="-122"/>
                <a:cs typeface="Outfit" pitchFamily="34" charset="-120"/>
              </a:rPr>
              <a:t>Thank You!</a:t>
            </a:r>
            <a:endParaRPr lang="en-US" sz="4400" dirty="0"/>
          </a:p>
        </p:txBody>
      </p:sp>
      <p:sp>
        <p:nvSpPr>
          <p:cNvPr id="4" name="Text 1"/>
          <p:cNvSpPr/>
          <p:nvPr/>
        </p:nvSpPr>
        <p:spPr>
          <a:xfrm>
            <a:off x="731520" y="2011680"/>
            <a:ext cx="10515600" cy="548640"/>
          </a:xfrm>
          <a:prstGeom prst="rect">
            <a:avLst/>
          </a:prstGeom>
          <a:noFill/>
          <a:ln/>
        </p:spPr>
        <p:txBody>
          <a:bodyPr wrap="square" rtlCol="0" anchor="ctr"/>
          <a:lstStyle/>
          <a:p>
            <a:pPr indent="0" marL="0">
              <a:buNone/>
            </a:pPr>
            <a:r>
              <a:rPr lang="en-US" sz="1600" dirty="0">
                <a:solidFill>
                  <a:srgbClr val="0EA5E9"/>
                </a:solidFill>
                <a:latin typeface="Outfit" pitchFamily="34" charset="0"/>
                <a:ea typeface="Outfit" pitchFamily="34" charset="-122"/>
                <a:cs typeface="Outfit" pitchFamily="34" charset="-120"/>
              </a:rPr>
              <a:t>We are committed to maintaining, future-proofing, and optimizing your web operations.</a:t>
            </a:r>
            <a:endParaRPr lang="en-US" sz="1600" dirty="0"/>
          </a:p>
        </p:txBody>
      </p:sp>
      <p:sp>
        <p:nvSpPr>
          <p:cNvPr id="5" name="Text 2"/>
          <p:cNvSpPr/>
          <p:nvPr/>
        </p:nvSpPr>
        <p:spPr>
          <a:xfrm>
            <a:off x="731520" y="2560320"/>
            <a:ext cx="9144000" cy="548640"/>
          </a:xfrm>
          <a:prstGeom prst="rect">
            <a:avLst/>
          </a:prstGeom>
          <a:noFill/>
          <a:ln/>
        </p:spPr>
        <p:txBody>
          <a:bodyPr wrap="square" rtlCol="0" anchor="ctr"/>
          <a:lstStyle/>
          <a:p>
            <a:pPr indent="0" marL="0">
              <a:lnSpc>
                <a:spcPts val="1800"/>
              </a:lnSpc>
              <a:buNone/>
            </a:pPr>
            <a:r>
              <a:rPr lang="en-US" sz="1350" dirty="0">
                <a:solidFill>
                  <a:srgbClr val="64748B"/>
                </a:solidFill>
                <a:latin typeface="Plus Jakarta Sans" pitchFamily="34" charset="0"/>
                <a:ea typeface="Plus Jakarta Sans" pitchFamily="34" charset="-122"/>
                <a:cs typeface="Plus Jakarta Sans" pitchFamily="34" charset="-120"/>
              </a:rPr>
              <a:t>If you have questions regarding the findings or recommendations in this audit report, please connect with your account engineer.</a:t>
            </a:r>
            <a:endParaRPr lang="en-US" sz="1350" dirty="0"/>
          </a:p>
        </p:txBody>
      </p:sp>
      <p:sp>
        <p:nvSpPr>
          <p:cNvPr id="6" name="Text 3"/>
          <p:cNvSpPr/>
          <p:nvPr/>
        </p:nvSpPr>
        <p:spPr>
          <a:xfrm>
            <a:off x="731520" y="3749040"/>
            <a:ext cx="4572000" cy="914400"/>
          </a:xfrm>
          <a:prstGeom prst="rect">
            <a:avLst/>
          </a:prstGeom>
          <a:noFill/>
          <a:ln/>
        </p:spPr>
        <p:txBody>
          <a:bodyPr wrap="square" rtlCol="0" anchor="ctr"/>
          <a:lstStyle/>
          <a:p>
            <a:pPr indent="0" marL="0">
              <a:buNone/>
            </a:pPr>
            <a:r>
              <a:rPr lang="en-US" sz="1300" dirty="0">
                <a:solidFill>
                  <a:srgbClr val="0F172A"/>
                </a:solidFill>
                <a:latin typeface="Plus Jakarta Sans" pitchFamily="34" charset="0"/>
                <a:ea typeface="Plus Jakarta Sans" pitchFamily="34" charset="-122"/>
                <a:cs typeface="Plus Jakarta Sans" pitchFamily="34" charset="-120"/>
              </a:rPr>
              <a:t>United States Office</a:t>
            </a:r>
            <a:endParaRPr lang="en-US" sz="1300" dirty="0"/>
          </a:p>
          <a:p>
            <a:pPr indent="0" marL="0">
              <a:buNone/>
            </a:pPr>
            <a:r>
              <a:rPr lang="en-US" sz="1300" dirty="0">
                <a:solidFill>
                  <a:srgbClr val="0F172A"/>
                </a:solidFill>
                <a:latin typeface="Plus Jakarta Sans" pitchFamily="34" charset="0"/>
                <a:ea typeface="Plus Jakarta Sans" pitchFamily="34" charset="-122"/>
                <a:cs typeface="Plus Jakarta Sans" pitchFamily="34" charset="-120"/>
              </a:rPr>
              <a:t>98 Cutter Mill Rd, Great Neck, NY 11021, USA</a:t>
            </a:r>
            <a:endParaRPr lang="en-US" sz="1300" dirty="0"/>
          </a:p>
        </p:txBody>
      </p:sp>
      <p:sp>
        <p:nvSpPr>
          <p:cNvPr id="7" name="Text 4"/>
          <p:cNvSpPr/>
          <p:nvPr/>
        </p:nvSpPr>
        <p:spPr>
          <a:xfrm>
            <a:off x="5943600" y="3749040"/>
            <a:ext cx="4572000" cy="914400"/>
          </a:xfrm>
          <a:prstGeom prst="rect">
            <a:avLst/>
          </a:prstGeom>
          <a:noFill/>
          <a:ln/>
        </p:spPr>
        <p:txBody>
          <a:bodyPr wrap="square" rtlCol="0" anchor="ctr"/>
          <a:lstStyle/>
          <a:p>
            <a:pPr indent="0" marL="0">
              <a:buNone/>
            </a:pPr>
            <a:r>
              <a:rPr lang="en-US" sz="1300" dirty="0">
                <a:solidFill>
                  <a:srgbClr val="0F172A"/>
                </a:solidFill>
                <a:latin typeface="Plus Jakarta Sans" pitchFamily="34" charset="0"/>
                <a:ea typeface="Plus Jakarta Sans" pitchFamily="34" charset="-122"/>
                <a:cs typeface="Plus Jakarta Sans" pitchFamily="34" charset="-120"/>
              </a:rPr>
              <a:t>Canada Office</a:t>
            </a:r>
            <a:endParaRPr lang="en-US" sz="1300" dirty="0"/>
          </a:p>
          <a:p>
            <a:pPr indent="0" marL="0">
              <a:buNone/>
            </a:pPr>
            <a:r>
              <a:rPr lang="en-US" sz="1300" dirty="0">
                <a:solidFill>
                  <a:srgbClr val="0F172A"/>
                </a:solidFill>
                <a:latin typeface="Plus Jakarta Sans" pitchFamily="34" charset="0"/>
                <a:ea typeface="Plus Jakarta Sans" pitchFamily="34" charset="-122"/>
                <a:cs typeface="Plus Jakarta Sans" pitchFamily="34" charset="-120"/>
              </a:rPr>
              <a:t>150 King Street W, Toronto, ON M5H 1J9, Canada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2026-10-16T10:04:53Z</dcterms:created>
  <dcterms:modified xsi:type="dcterms:W3CDTF">2026-10-16T10:04:53Z</dcterms:modified>
</cp:coreProperties>
</file>